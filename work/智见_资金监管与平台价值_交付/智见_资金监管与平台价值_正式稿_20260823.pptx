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开场：存量房资金监管两年间从单点强制走向全国多城标配，本报告论证监管不是平台价值的终结者，而是价值从沉淀收益迁移到确定性溢价的催化剂。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结尾：欢迎就验证协议（过户时长、资金类投诉、异常退款时长）展开季度跟踪，检验机制B/C的成立。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" y="952500"/>
            <a:ext cx="0" cy="4953000"/>
          </a:xfrm>
          <a:prstGeom prst="line">
            <a:avLst/>
          </a:prstGeom>
          <a:noFill/>
          <a:ln w="9525">
            <a:solidFill>
              <a:srgbClr val="DCDAD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952500"/>
            <a:ext cx="0" cy="4953000"/>
          </a:xfrm>
          <a:prstGeom prst="line">
            <a:avLst/>
          </a:prstGeom>
          <a:noFill/>
          <a:ln w="9525">
            <a:solidFill>
              <a:srgbClr val="DCDAD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0" y="952500"/>
            <a:ext cx="0" cy="4953000"/>
          </a:xfrm>
          <a:prstGeom prst="line">
            <a:avLst/>
          </a:prstGeom>
          <a:noFill/>
          <a:ln w="9525">
            <a:solidFill>
              <a:srgbClr val="DCDAD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34400" y="952500"/>
            <a:ext cx="0" cy="4953000"/>
          </a:xfrm>
          <a:prstGeom prst="line">
            <a:avLst/>
          </a:prstGeom>
          <a:noFill/>
          <a:ln w="9525">
            <a:solidFill>
              <a:srgbClr val="DCDAD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952500"/>
            <a:ext cx="0" cy="4953000"/>
          </a:xfrm>
          <a:prstGeom prst="line">
            <a:avLst/>
          </a:prstGeom>
          <a:noFill/>
          <a:ln w="9525">
            <a:solidFill>
              <a:srgbClr val="DCDAD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9525">
            <a:solidFill>
              <a:srgbClr val="DCDAD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9525">
            <a:solidFill>
              <a:srgbClr val="DCDAD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A4E72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077450" y="952500"/>
            <a:ext cx="1200150" cy="457200"/>
          </a:xfrm>
          <a:prstGeom prst="roundRect">
            <a:avLst>
              <a:gd name="adj" fmla="val 8333"/>
            </a:avLst>
          </a:prstGeom>
          <a:noFill/>
          <a:ln w="19050">
            <a:solidFill>
              <a:srgbClr val="0A4E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77450" y="952500"/>
            <a:ext cx="76200" cy="4572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4" name="Text 12"/>
          <p:cNvSpPr/>
          <p:nvPr/>
        </p:nvSpPr>
        <p:spPr>
          <a:xfrm>
            <a:off x="9296400" y="1049655"/>
            <a:ext cx="2895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A4E72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2426970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A4E72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钱不进平台，确权仍经过平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914400" y="3293745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A4E72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台</a:t>
            </a:r>
            <a:endParaRPr lang="en-US" sz="6300" dirty="0"/>
          </a:p>
        </p:txBody>
      </p:sp>
      <p:sp>
        <p:nvSpPr>
          <p:cNvPr id="17" name="Shape 15"/>
          <p:cNvSpPr/>
          <p:nvPr/>
        </p:nvSpPr>
        <p:spPr>
          <a:xfrm>
            <a:off x="914400" y="4314825"/>
            <a:ext cx="914400" cy="76200"/>
          </a:xfrm>
          <a:prstGeom prst="rect">
            <a:avLst/>
          </a:prstGeom>
          <a:solidFill>
            <a:srgbClr val="0A4E7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589145"/>
            <a:ext cx="112776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资金监管时代的平台价值重估 —— 智见点评 · 行业研究报告 ·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4979670"/>
            <a:ext cx="112776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5857875"/>
            <a:ext cx="6896100" cy="0"/>
          </a:xfrm>
          <a:prstGeom prst="line">
            <a:avLst/>
          </a:prstGeom>
          <a:noFill/>
          <a:ln w="13335">
            <a:solidFill>
              <a:srgbClr val="DCDA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6116955"/>
            <a:ext cx="11277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0A4E72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居住服务·Y · 专家研判</a:t>
            </a:r>
            <a:pPr algn="l" indent="0" marL="0">
              <a:buNone/>
            </a:pPr>
            <a:r>
              <a:rPr lang="en-US" sz="195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    ·    2026-08-23</a:t>
            </a:r>
            <a:pPr algn="l" indent="0" marL="0">
              <a:buNone/>
            </a:pPr>
            <a:r>
              <a:rPr lang="en-US" sz="195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    ·    1.0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关键结论：护城河从「持有资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609600" y="136398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金」迁往「释放条件确认权」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09600" y="2019300"/>
            <a:ext cx="457200" cy="0"/>
          </a:xfrm>
          <a:prstGeom prst="line">
            <a:avLst/>
          </a:prstGeom>
          <a:noFill/>
          <a:ln w="38100">
            <a:solidFill>
              <a:srgbClr val="C896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800" y="2019300"/>
            <a:ext cx="10515600" cy="0"/>
          </a:xfrm>
          <a:prstGeom prst="line">
            <a:avLst/>
          </a:prstGeom>
          <a:noFill/>
          <a:ln w="15240">
            <a:solidFill>
              <a:srgbClr val="DCDA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2209800"/>
            <a:ext cx="10363200" cy="0"/>
          </a:xfrm>
          <a:prstGeom prst="line">
            <a:avLst/>
          </a:prstGeom>
          <a:noFill/>
          <a:ln w="9525">
            <a:solidFill>
              <a:srgbClr val="DCDA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2190750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430780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资金流经平台还是绕过平台，不由「谁兜底」决定，由「释放条件确认权」的归属决定 ——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09600" y="2754630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政府管「钱的安全」，平台管「交易的确定性」，互补而非替代。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09600" y="36271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机制A已失效：清零的只是沉淀收益（伪价值）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0271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机制B为主通道：释放确权判断权留在服务端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600" y="44272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机制C为变现层：7.1万单拦截在前，确定性可货币化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48272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反证：监管窗口内贝壳Q2单量+25%，监管放大交易量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2476500"/>
                </a:moveTo>
                <a:lnTo>
                  <a:pt x="2476500" y="0"/>
                </a:lnTo>
                <a:arcTo hR="2476500" wR="2476500" stAng="16200000" swAng="-5400000"/>
                <a:close/>
              </a:path>
            </a:pathLst>
          </a:custGeom>
          <a:solidFill>
            <a:srgbClr val="0A4E72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A4E72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监管两年：从「单点强制」到「全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1922145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国多城标配 + 协同共治」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000250" y="4094607"/>
            <a:ext cx="8191500" cy="0"/>
          </a:xfrm>
          <a:prstGeom prst="line">
            <a:avLst/>
          </a:prstGeom>
          <a:noFill/>
          <a:ln w="19050">
            <a:solidFill>
              <a:srgbClr val="DCDA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4050" y="4018407"/>
            <a:ext cx="152400" cy="1524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9" name="Text 7"/>
          <p:cNvSpPr/>
          <p:nvPr/>
        </p:nvSpPr>
        <p:spPr>
          <a:xfrm>
            <a:off x="1924050" y="3744087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2024-10-01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4050" y="4239387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郑州办法施行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4050" y="4471797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地级市强制监管样本（大河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924050" y="4633722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网）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562350" y="4018407"/>
            <a:ext cx="152400" cy="1524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14" name="Text 12"/>
          <p:cNvSpPr/>
          <p:nvPr/>
        </p:nvSpPr>
        <p:spPr>
          <a:xfrm>
            <a:off x="1809750" y="3744087"/>
            <a:ext cx="365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2025-11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09750" y="4239387"/>
            <a:ext cx="365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长沙270亿元闭环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09750" y="4471797"/>
            <a:ext cx="3657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强二线体量样本（红网/长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809750" y="4633722"/>
            <a:ext cx="3657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沙晚报）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5200650" y="4018407"/>
            <a:ext cx="152400" cy="1524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19" name="Text 17"/>
          <p:cNvSpPr/>
          <p:nvPr/>
        </p:nvSpPr>
        <p:spPr>
          <a:xfrm>
            <a:off x="1809750" y="3744087"/>
            <a:ext cx="6934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2025-12-19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09750" y="4239387"/>
            <a:ext cx="6934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银川征求意见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09750" y="4471797"/>
            <a:ext cx="6934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制度扩散至中西部（银川住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09750" y="4633722"/>
            <a:ext cx="6934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建局）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838950" y="4018407"/>
            <a:ext cx="152400" cy="1524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24" name="Text 22"/>
          <p:cNvSpPr/>
          <p:nvPr/>
        </p:nvSpPr>
        <p:spPr>
          <a:xfrm>
            <a:off x="1809750" y="3744087"/>
            <a:ext cx="10210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2026-05-27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09750" y="4239387"/>
            <a:ext cx="10210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赤峰赋码办法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09750" y="4471797"/>
            <a:ext cx="10210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网签赋码合同为贷款/税费/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809750" y="4633722"/>
            <a:ext cx="10210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监管共同依据（赤峰市政府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809750" y="4795647"/>
            <a:ext cx="10210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）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8477250" y="4018407"/>
            <a:ext cx="152400" cy="1524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30" name="Text 28"/>
          <p:cNvSpPr/>
          <p:nvPr/>
        </p:nvSpPr>
        <p:spPr>
          <a:xfrm>
            <a:off x="3105150" y="3744087"/>
            <a:ext cx="10896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05150" y="4239387"/>
            <a:ext cx="10896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湖南佣金入专户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5150" y="4471797"/>
            <a:ext cx="10896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房款及经纪佣金一并纳入专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3105150" y="4633722"/>
            <a:ext cx="10896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户（湖南五部门）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10115550" y="4018407"/>
            <a:ext cx="152400" cy="1524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35" name="Text 33"/>
          <p:cNvSpPr/>
          <p:nvPr/>
        </p:nvSpPr>
        <p:spPr>
          <a:xfrm>
            <a:off x="1809750" y="3744087"/>
            <a:ext cx="8458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2026-08-04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09750" y="4239387"/>
            <a:ext cx="8458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上海全程网办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809750" y="4471797"/>
            <a:ext cx="8458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资金闭环边际成本趋零（上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809750" y="4633722"/>
            <a:ext cx="8458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海市房管局）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0" y="60502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覆盖层级从直辖市、省会下沉到地级市、县级市（晋江累计近14亿元，福建日报，2026-06）——监管成为全流通时代的公共基础设施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A4E72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0A4E72"/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A4E72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市场规模与交易暴露面：体量在涨，暴露面同步扩大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2528888"/>
            <a:ext cx="1600200" cy="19431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3252788"/>
            <a:ext cx="1200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270</a:t>
            </a:r>
            <a:pPr algn="l" indent="0" marL="0">
              <a:buNone/>
            </a:pPr>
            <a:r>
              <a:rPr lang="en-US" sz="1050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亿元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04900" y="3721418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长沙闭环规模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67000" y="2528888"/>
            <a:ext cx="1600200" cy="19431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857500" y="3214688"/>
            <a:ext cx="102489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25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≈14</a:t>
            </a:r>
            <a:pPr algn="l" indent="0" marL="0">
              <a:buNone/>
            </a:pPr>
            <a:r>
              <a:rPr lang="en-US" sz="1200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亿元</a:t>
            </a:r>
            <a:endParaRPr lang="en-US" sz="2625" dirty="0"/>
          </a:p>
        </p:txBody>
      </p:sp>
      <p:sp>
        <p:nvSpPr>
          <p:cNvPr id="14" name="Text 12"/>
          <p:cNvSpPr/>
          <p:nvPr/>
        </p:nvSpPr>
        <p:spPr>
          <a:xfrm>
            <a:off x="2857500" y="3721418"/>
            <a:ext cx="1024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晋江累计监管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19600" y="2528888"/>
            <a:ext cx="1600200" cy="19431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10100" y="3290888"/>
            <a:ext cx="84963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0.22</a:t>
            </a:r>
            <a:pPr algn="l" indent="0" marL="0">
              <a:buNone/>
            </a:pPr>
            <a:r>
              <a:rPr lang="en-US" sz="825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亿/年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4610100" y="3721418"/>
            <a:ext cx="849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在途利息·自算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528888"/>
            <a:ext cx="1600200" cy="19431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62700" y="3176588"/>
            <a:ext cx="67437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+25</a:t>
            </a:r>
            <a:pPr algn="l" indent="0" marL="0">
              <a:buNone/>
            </a:pPr>
            <a:r>
              <a:rPr lang="en-US" sz="1350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3119438"/>
            <a:ext cx="666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62700" y="3744278"/>
            <a:ext cx="6743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Q2单量同比·贝壳财报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7924800" y="2528888"/>
            <a:ext cx="1600200" cy="19431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115300" y="3290888"/>
            <a:ext cx="49911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38.79</a:t>
            </a:r>
            <a:pPr algn="l" indent="0" marL="0">
              <a:buNone/>
            </a:pPr>
            <a:r>
              <a:rPr lang="en-US" sz="825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亿元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8115300" y="3736657"/>
            <a:ext cx="49911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H1净利润·贝壳财经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77400" y="2528888"/>
            <a:ext cx="1600200" cy="194310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867900" y="3268028"/>
            <a:ext cx="32385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86.3</a:t>
            </a:r>
            <a:pPr algn="l" indent="0" marL="0">
              <a:buNone/>
            </a:pPr>
            <a:r>
              <a:rPr lang="en-US" sz="975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万元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867900" y="3729038"/>
            <a:ext cx="3238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累计垫付·媒体口径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关键读数：单量+25%发生在监管收紧窗口内——资金监管没有扼杀流通，反而在给卖一买一的换房链条清障（全流通判断的数据印证）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A4E72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平台行为：从「资金保管人」到「风险拦截者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819275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+ 兜底承诺人」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867400" y="2314575"/>
            <a:ext cx="457200" cy="28575"/>
          </a:xfrm>
          <a:prstGeom prst="roundRect">
            <a:avLst>
              <a:gd name="adj" fmla="val 50000"/>
            </a:avLst>
          </a:prstGeom>
          <a:solidFill>
            <a:srgbClr val="C8962E"/>
          </a:solidFill>
          <a:ln/>
        </p:spPr>
      </p:sp>
      <p:sp>
        <p:nvSpPr>
          <p:cNvPr id="7" name="Shape 5"/>
          <p:cNvSpPr/>
          <p:nvPr/>
        </p:nvSpPr>
        <p:spPr>
          <a:xfrm>
            <a:off x="1905000" y="2581275"/>
            <a:ext cx="19812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095500" y="2828925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27</a:t>
            </a:r>
            <a:pPr algn="l" indent="0" marL="0">
              <a:buNone/>
            </a:pPr>
            <a:r>
              <a:rPr lang="en-US" sz="1350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城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95500" y="3373755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「房款安全」覆盖城市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38600" y="2581275"/>
            <a:ext cx="19812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229100" y="2828925"/>
            <a:ext cx="9867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7.1</a:t>
            </a:r>
            <a:pPr algn="l" indent="0" marL="0">
              <a:buNone/>
            </a:pPr>
            <a:r>
              <a:rPr lang="en-US" sz="1350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万单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229100" y="3373755"/>
            <a:ext cx="9867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风险拦截单量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581275"/>
            <a:ext cx="19812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62700" y="2851785"/>
            <a:ext cx="7734300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86.3</a:t>
            </a:r>
            <a:pPr algn="l" indent="0" marL="0">
              <a:buNone/>
            </a:pPr>
            <a:r>
              <a:rPr lang="en-US" sz="1275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万元</a:t>
            </a:r>
            <a:endParaRPr lang="en-US" sz="2775" dirty="0"/>
          </a:p>
        </p:txBody>
      </p:sp>
      <p:sp>
        <p:nvSpPr>
          <p:cNvPr id="15" name="Text 13"/>
          <p:cNvSpPr/>
          <p:nvPr/>
        </p:nvSpPr>
        <p:spPr>
          <a:xfrm>
            <a:off x="6362700" y="3381375"/>
            <a:ext cx="773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累计垫付（每单约12元）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8305800" y="2581275"/>
            <a:ext cx="19812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96300" y="2905125"/>
            <a:ext cx="5600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≈1,400</a:t>
            </a:r>
            <a:pPr algn="l" indent="0" marL="0">
              <a:buNone/>
            </a:pPr>
            <a:r>
              <a:rPr lang="en-US" sz="1050" b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亿元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496300" y="3388995"/>
            <a:ext cx="5600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风险拦截面（自算框架值）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05000" y="3876675"/>
            <a:ext cx="8382000" cy="1609725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3876675"/>
            <a:ext cx="8382000" cy="57150"/>
          </a:xfrm>
          <a:custGeom>
            <a:avLst/>
            <a:gdLst/>
            <a:ahLst/>
            <a:cxnLst/>
            <a:rect l="l" t="t" r="r" b="b"/>
            <a:pathLst>
              <a:path w="8382000" h="57150">
                <a:moveTo>
                  <a:pt x="0" y="19050"/>
                </a:moveTo>
                <a:arcTo hR="19050" wR="19050" stAng="10800000" swAng="5400000"/>
                <a:lnTo>
                  <a:pt x="8362950" y="0"/>
                </a:lnTo>
                <a:arcTo hR="19050" wR="19050" stAng="16200000" swAng="5400000"/>
                <a:lnTo>
                  <a:pt x="83820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21" name="Text 19"/>
          <p:cNvSpPr/>
          <p:nvPr/>
        </p:nvSpPr>
        <p:spPr>
          <a:xfrm>
            <a:off x="2114550" y="4099560"/>
            <a:ext cx="1007745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A0E14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账本结构的经济实质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2114550" y="4427220"/>
            <a:ext cx="10077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事前拦截是主体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81350" y="4426268"/>
            <a:ext cx="90106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垫付金额之小恰恰说明规则与流程的价值大于兜底资金本身；大额风险已由监管专户承接，平台只兜缝隙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2114550" y="4770120"/>
            <a:ext cx="10077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实质是信息能力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81350" y="4769168"/>
            <a:ext cx="901065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兜底承诺的经济实质是信息能力而非资金能力；行业该警惕的是垫付金额快速膨胀——那说明事前拦截失效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2114550" y="5204460"/>
            <a:ext cx="1007745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数据来源：新快报/红网/央广网（2026-06-26）；湖南日报（2026-06）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2476500"/>
                </a:moveTo>
                <a:lnTo>
                  <a:pt x="2476500" y="0"/>
                </a:lnTo>
                <a:arcTo hR="2476500" wR="2476500" stAng="16200000" swAng="-5400000"/>
                <a:close/>
              </a:path>
            </a:pathLst>
          </a:custGeom>
          <a:solidFill>
            <a:srgbClr val="0A4E72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归因分析：机制B的四层论证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CDA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45346"/>
            <a:ext cx="2305050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373946"/>
            <a:ext cx="266700" cy="2667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33001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789236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职能分离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3000" y="4082606"/>
            <a:ext cx="119634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资金保管剥离为公共职能（公信力/执法权/零资金成本）；</a:t>
            </a:r>
            <a:endParaRPr lang="en-US" sz="525" dirty="0"/>
          </a:p>
        </p:txBody>
      </p:sp>
      <p:sp>
        <p:nvSpPr>
          <p:cNvPr id="12" name="Text 10"/>
          <p:cNvSpPr/>
          <p:nvPr/>
        </p:nvSpPr>
        <p:spPr>
          <a:xfrm>
            <a:off x="1143000" y="4177856"/>
            <a:ext cx="119634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专户只接管「钱」，接管不了「交易是否成立」</a:t>
            </a:r>
            <a:endParaRPr lang="en-US" sz="525" dirty="0"/>
          </a:p>
        </p:txBody>
      </p:sp>
      <p:sp>
        <p:nvSpPr>
          <p:cNvPr id="13" name="Shape 11"/>
          <p:cNvSpPr/>
          <p:nvPr/>
        </p:nvSpPr>
        <p:spPr>
          <a:xfrm>
            <a:off x="3600450" y="3145346"/>
            <a:ext cx="2305050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829050" y="3373946"/>
            <a:ext cx="266700" cy="2667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33001"/>
            <a:ext cx="6096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29050" y="3789236"/>
            <a:ext cx="92773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信息成本不灭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29050" y="4084511"/>
            <a:ext cx="92773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释放条件依赖的节点状态分散在银行、登记、税务各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829050" y="4189286"/>
            <a:ext cx="92773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系统——谁采集验证传递得快，谁掌握交易节奏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286500" y="3145346"/>
            <a:ext cx="2305050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5100" y="3373946"/>
            <a:ext cx="266700" cy="2667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433001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15100" y="3789236"/>
            <a:ext cx="65913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制度根源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15100" y="4086416"/>
            <a:ext cx="6591300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监管账户化是行业公信力缺位的制度补位；行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515100" y="4210241"/>
            <a:ext cx="6591300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业被从「靠资金背书」逼向「靠服务定价」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8972550" y="3145346"/>
            <a:ext cx="2305050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201150" y="3373946"/>
            <a:ext cx="266700" cy="266700"/>
          </a:xfrm>
          <a:prstGeom prst="ellipse">
            <a:avLst/>
          </a:prstGeom>
          <a:solidFill>
            <a:srgbClr val="0A4E72"/>
          </a:solidFill>
          <a:ln/>
        </p:spPr>
      </p:sp>
      <p:sp>
        <p:nvSpPr>
          <p:cNvPr id="27" name="Text 25"/>
          <p:cNvSpPr/>
          <p:nvPr/>
        </p:nvSpPr>
        <p:spPr>
          <a:xfrm>
            <a:off x="5562600" y="3433001"/>
            <a:ext cx="7543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01150" y="3789236"/>
            <a:ext cx="39052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国际对照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01150" y="4084511"/>
            <a:ext cx="39052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美国escrow/Title百年分离，NAR/MLS下经纪业繁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9201150" y="4189286"/>
            <a:ext cx="39052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荣至今——资金底座与经纪价值可分离且互相成就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295650" y="3826383"/>
            <a:ext cx="152400" cy="0"/>
          </a:xfrm>
          <a:prstGeom prst="line">
            <a:avLst/>
          </a:prstGeom>
          <a:noFill/>
          <a:ln w="14288">
            <a:solidFill>
              <a:srgbClr val="5D62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48050" y="37882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D626A"/>
          </a:solidFill>
          <a:ln/>
        </p:spPr>
      </p:sp>
      <p:sp>
        <p:nvSpPr>
          <p:cNvPr id="33" name="Shape 31"/>
          <p:cNvSpPr/>
          <p:nvPr/>
        </p:nvSpPr>
        <p:spPr>
          <a:xfrm>
            <a:off x="5981700" y="3826383"/>
            <a:ext cx="152400" cy="0"/>
          </a:xfrm>
          <a:prstGeom prst="line">
            <a:avLst/>
          </a:prstGeom>
          <a:noFill/>
          <a:ln w="14288">
            <a:solidFill>
              <a:srgbClr val="5D62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34100" y="37882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D626A"/>
          </a:solidFill>
          <a:ln/>
        </p:spPr>
      </p:sp>
      <p:sp>
        <p:nvSpPr>
          <p:cNvPr id="35" name="Shape 33"/>
          <p:cNvSpPr/>
          <p:nvPr/>
        </p:nvSpPr>
        <p:spPr>
          <a:xfrm>
            <a:off x="8667750" y="3826383"/>
            <a:ext cx="152400" cy="0"/>
          </a:xfrm>
          <a:prstGeom prst="line">
            <a:avLst/>
          </a:prstGeom>
          <a:noFill/>
          <a:ln w="14288">
            <a:solidFill>
              <a:srgbClr val="5D62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0150" y="37882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D626A"/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展望与验证协议：两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1971675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种情形平台都不出局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32040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短期（2季度，研判推断）：跟踪沪/湘/赤峰——过户时长、资金类投诉、异常退款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27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时长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27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若过户提速、投诉下降：机制B坐实；若过户变慢：机制C货币化窗口开启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3279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中期（研判推断）：「一码通」交易链成形，战场收缩到高复杂度场景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7280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长期（研判推断）：「资金监管元年」是「流量生意」转向「确定性生意」的分水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51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5D626A">
                    <a:alpha val="30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07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A4E7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不确定性：主基调下修的五种条件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2350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确权公共化（最大风险）：释放确权若收归公共流程，平台须迁移至机制C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508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上海式全程网办若封闭不开放接口，平台信息权被压缩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50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监管悖论：过户时长拉长且无法压缩，资金可能走向地下交割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50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佣金专户化拉长结算周期，加速行业集中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509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垫付86.3万规模极小，可持续性取决于风险模型表现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610100"/>
            <a:ext cx="10363200" cy="981075"/>
          </a:xfrm>
          <a:prstGeom prst="roundRect">
            <a:avLst>
              <a:gd name="adj" fmla="val 1942"/>
            </a:avLst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638675"/>
            <a:ext cx="10363200" cy="9525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3482" y="504337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509111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515461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3500" y="483679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以上为研判推断，须以官方口径数据验证；在途利息约2,200万/城/年、拦截面约1,400亿元为自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516064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算框架值。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对外话术：政府管底座，平台管节点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C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CDA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3022092"/>
            <a:ext cx="10363200" cy="0"/>
          </a:xfrm>
          <a:prstGeom prst="line">
            <a:avLst/>
          </a:prstGeom>
          <a:noFill/>
          <a:ln w="9525">
            <a:solidFill>
              <a:srgbClr val="DCDA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00" y="3003042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243072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资金监管不是平台价值的终结者，而是平台价值从「沉淀收益」迁移到「确定性溢价」的催化剂 ——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9600" y="3566922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是分工，不是替代。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A4E72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0A4E7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数据来源与口径说明（混合口径 · 逐条标注）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250012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[1] 上海市房管局：存量房资金监管平台全面升级（2026-08-04）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76682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[2] 湖南五部门：房款及经纪佣金纳入专户（2026-06，天心区转发2026-06-23）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03352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[3] 赤峰市政府：《存量房交易资金监管办法》（2026-05-27）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30022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[4] 银川住建局：两办法征求意见（2025-12-19）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56692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[5] 郑州办法（2024-10-01施行，大河网）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848862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[6] 红网/长沙晚报：长沙270亿元闭环（2025-11）；福建日报：晋江近14亿元（2026-06）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130802"/>
            <a:ext cx="1219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[7] 贝壳2026Q2财报（中国证券报2026-08-21）；贝壳财经（2026H1）；东方财富（2026-08-21）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405122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[8] 新快报/红网/央广网：「房款安全」27城/7.1万单/垫付86.3万（2026-06-26）；湖南日报（2026-06）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14400" y="463372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[9] 新华社/财经网：协同共治民生观察（2026-08-19/21）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自算框架值：在途利息2,200万/城/年（270亿×约15天×活期0.2%）；拦截面≈1,400亿（单均约200万×7.1万单，单均未披露，引用需谨慎）。预测部分均属研判推断。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DA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1.0 · 2026-08-23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Public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537210"/>
            <a:ext cx="115824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09600" y="3009900"/>
            <a:ext cx="115824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谢谢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609600" y="4953000"/>
            <a:ext cx="10972800" cy="0"/>
          </a:xfrm>
          <a:prstGeom prst="line">
            <a:avLst/>
          </a:prstGeom>
          <a:noFill/>
          <a:ln w="15240">
            <a:solidFill>
              <a:srgbClr val="DCDA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52959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Contact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5577840"/>
            <a:ext cx="11582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3262C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居住服务·Y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600" y="6347460"/>
            <a:ext cx="115824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D626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智见点评 ｜ 98wiki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