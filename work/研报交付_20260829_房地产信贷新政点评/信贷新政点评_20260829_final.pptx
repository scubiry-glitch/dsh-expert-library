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总纲页：文件性质、三条支撑主线、定性与观察锚。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供给端三条：主办银行、受托支付、资金封闭。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需求端与调控端三条：期限、时点、宏观审慎。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四卡讲背景：价格工具到极限、信贷资产收缩、量价双弱。70城价格并入页脚。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强调峰谷形态：2025Q1见顶后一路下行至36.29万亿，居民在主动去杠杆。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讲清利率已到平台期，价格工具空间有限，所以政策转向结构性工具。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三条负向柱说明量价双弱且跌幅二次走阔，市场仍处磨底。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四项共识是主基调的支撑。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三项分歧均降级为风险提示，不改变文件定性。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展望四条带条件。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八个指标用于事后验证，全部可从公开数据跟踪。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668905"/>
            <a:ext cx="115824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房地产信贷「制</a:t>
            </a:r>
            <a:endParaRPr lang="en-US" sz="3825" dirty="0"/>
          </a:p>
        </p:txBody>
      </p:sp>
      <p:sp>
        <p:nvSpPr>
          <p:cNvPr id="17" name="Text 15"/>
          <p:cNvSpPr/>
          <p:nvPr/>
        </p:nvSpPr>
        <p:spPr>
          <a:xfrm>
            <a:off x="609600" y="3192780"/>
            <a:ext cx="115824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度重构」：能拿</a:t>
            </a:r>
            <a:endParaRPr lang="en-US" sz="3825" dirty="0"/>
          </a:p>
        </p:txBody>
      </p:sp>
      <p:sp>
        <p:nvSpPr>
          <p:cNvPr id="18" name="Text 16"/>
          <p:cNvSpPr/>
          <p:nvPr/>
        </p:nvSpPr>
        <p:spPr>
          <a:xfrm>
            <a:off x="609600" y="3716655"/>
            <a:ext cx="115824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房、再还贷</a:t>
            </a:r>
            <a:endParaRPr lang="en-US" sz="3825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354580"/>
            <a:ext cx="6705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政策解读 · 正式稿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定位：制度重构，而非需求刺激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524000" y="1828800"/>
            <a:ext cx="68961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80975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053590"/>
            <a:ext cx="12192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不是又一轮需求端刺激，而是房地产金融从周期性调控转向制度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2396490"/>
            <a:ext cx="12192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性重构的标志性文件。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2990850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319563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1184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31794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文件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34385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央行、金融监管总局《意见》，2026-08-28 联合印发，七章36条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3895725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410051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1671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40843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主线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43434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「信贷跟着交付走、资金全程封闭管」，从销售回款驱动切换为竣工交付驱动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914400" y="4800600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1575" y="500538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12159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52600" y="49891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定性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52482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政策底已现、市场底未到，短期仍承压，成效取决于开发贷接续与执行刚性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取向：「先立制度、再稳市场」，主动适应存量时代，而非逆周期强刺激；条款以《意见》原文为准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六条核心条款速览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1809750" y="2209800"/>
            <a:ext cx="8572500" cy="10795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6925" y="256857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9750" y="268478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47950" y="255238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主办银行制度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647950" y="281146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单项目一家主办银行；预售最长5年、现房及商业地产最长7年；首次还本原则上在竣工备案后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809750" y="3422650"/>
            <a:ext cx="8572500" cy="10795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378142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9750" y="38976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47950" y="3765232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按揭与开发贷衔接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2647950" y="4024312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受托支付：现房付至主办银行账户，预售付至预售资金监管账户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809750" y="4635500"/>
            <a:ext cx="8572500" cy="10795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66925" y="499427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09750" y="511048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47950" y="497808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资金封闭管理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2647950" y="523716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监管与定金账户须在主办银行开立，相关资金纳入主办银行账户管理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来源：《意见》原文 · 供给端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需求端与调控端：期限、时点、宏观审慎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1599762"/>
            <a:ext cx="10363200" cy="137382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210569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22190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2089506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按揭期限 30→40 年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234858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借贷双方协商，边际降低月供门槛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3106934"/>
            <a:ext cx="10363200" cy="137382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3612871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2907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359667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延后放款时点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385575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现房备案后发放；预售严格在竣工备案后发放——「能拿房、再还贷」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914400" y="4614107"/>
            <a:ext cx="10363200" cy="1373822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1575" y="512004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3624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52600" y="5103851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宏观审慎制度化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536293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首付比例、利率、贷款集中度纳入央行会同相关部门的逆周期调节机制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来源：《意见》原文 · 需求端与调控端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数据底座：五组关键指标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914400" y="2825610"/>
            <a:ext cx="1981200" cy="2234565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3579038"/>
            <a:ext cx="120015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36.29万亿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3476168"/>
            <a:ext cx="1790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4900" y="4078148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个人住房贷款余额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4900" y="4287698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 · 央行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048000" y="2825610"/>
            <a:ext cx="1981200" cy="2234565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38500" y="3533318"/>
            <a:ext cx="9867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3.06%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3476168"/>
            <a:ext cx="3924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38500" y="4078148"/>
            <a:ext cx="9867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新发放按揭利率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38500" y="4287698"/>
            <a:ext cx="98679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 · 央行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5181600" y="2825610"/>
            <a:ext cx="1981200" cy="2234565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72100" y="3533318"/>
            <a:ext cx="7734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-11.8%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" y="3476168"/>
            <a:ext cx="6057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72100" y="4078148"/>
            <a:ext cx="7734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销售面积累计同比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72100" y="4287698"/>
            <a:ext cx="77343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 · 统计局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7315200" y="2825610"/>
            <a:ext cx="1981200" cy="2234565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05700" y="3533318"/>
            <a:ext cx="5600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-19.2%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4400" y="3476168"/>
            <a:ext cx="819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05700" y="4078148"/>
            <a:ext cx="560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开发投资累计同比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05700" y="4287698"/>
            <a:ext cx="5600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 · 统计局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914400" y="60426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口径：全国 · Wind EDB（央行/统计局）；70城新房价格同比-3.4%；余额较峰值累计-1.61万亿（-4.2%）；存量利率3.05%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按揭余额：先升后降，连续净减少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200150" y="3174873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3670173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4165473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4" name="svg2pptx-gradient-s0005-0000"/>
          <p:cNvSpPr/>
          <p:nvPr/>
        </p:nvSpPr>
        <p:spPr>
          <a:xfrm>
            <a:off x="1200150" y="2679573"/>
            <a:ext cx="10077450" cy="1981200"/>
          </a:xfrm>
          <a:custGeom>
            <a:avLst/>
            <a:gdLst/>
            <a:ahLst/>
            <a:cxnLst/>
            <a:rect l="l" t="t" r="r" b="b"/>
            <a:pathLst>
              <a:path w="10077450" h="1981200">
                <a:moveTo>
                  <a:pt x="0" y="17773"/>
                </a:moveTo>
                <a:lnTo>
                  <a:pt x="1439636" y="11500"/>
                </a:lnTo>
                <a:lnTo>
                  <a:pt x="2879271" y="0"/>
                </a:lnTo>
                <a:lnTo>
                  <a:pt x="4318907" y="8364"/>
                </a:lnTo>
                <a:lnTo>
                  <a:pt x="5758543" y="24046"/>
                </a:lnTo>
                <a:lnTo>
                  <a:pt x="7198179" y="46524"/>
                </a:lnTo>
                <a:lnTo>
                  <a:pt x="8637814" y="61684"/>
                </a:lnTo>
                <a:lnTo>
                  <a:pt x="10077450" y="84162"/>
                </a:lnTo>
                <a:lnTo>
                  <a:pt x="10077450" y="1981200"/>
                </a:lnTo>
                <a:lnTo>
                  <a:pt x="0" y="19812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20000"/>
                </a:srgbClr>
              </a:gs>
              <a:gs pos="100000">
                <a:srgbClr val="D4A017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200150" y="2679573"/>
            <a:ext cx="10077450" cy="84162"/>
          </a:xfrm>
          <a:custGeom>
            <a:avLst/>
            <a:gdLst/>
            <a:ahLst/>
            <a:cxnLst/>
            <a:rect l="l" t="t" r="r" b="b"/>
            <a:pathLst>
              <a:path w="10077450" h="84162">
                <a:moveTo>
                  <a:pt x="0" y="17773"/>
                </a:moveTo>
                <a:lnTo>
                  <a:pt x="1439636" y="11500"/>
                </a:lnTo>
                <a:lnTo>
                  <a:pt x="2879271" y="0"/>
                </a:lnTo>
                <a:lnTo>
                  <a:pt x="4318907" y="8364"/>
                </a:lnTo>
                <a:lnTo>
                  <a:pt x="5758543" y="24046"/>
                </a:lnTo>
                <a:lnTo>
                  <a:pt x="7198179" y="46524"/>
                </a:lnTo>
                <a:lnTo>
                  <a:pt x="8637814" y="61684"/>
                </a:lnTo>
                <a:lnTo>
                  <a:pt x="10077450" y="84162"/>
                </a:lnTo>
              </a:path>
            </a:pathLst>
          </a:cu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0150" y="4710303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2024Q3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14400" y="4710303"/>
            <a:ext cx="34507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2024Q4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14400" y="4710303"/>
            <a:ext cx="63300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2025Q1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14400" y="4710303"/>
            <a:ext cx="92093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14400" y="4710303"/>
            <a:ext cx="12088586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690257" y="4710303"/>
            <a:ext cx="94161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2025Q4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569529" y="4710303"/>
            <a:ext cx="65368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2026Q1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14400" y="4710303"/>
            <a:ext cx="10363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2026Q2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200150" y="2556376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37.56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14400" y="2622765"/>
            <a:ext cx="10363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36.29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1201400" y="2687535"/>
            <a:ext cx="152400" cy="152400"/>
          </a:xfrm>
          <a:prstGeom prst="ellipse">
            <a:avLst/>
          </a:prstGeom>
          <a:noFill/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39500" y="2725635"/>
            <a:ext cx="76200" cy="76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48157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14400" y="360540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914400" y="372922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央行（Wind EDB）：2025Q1见顶37.90万亿，此后连续5个季度净减少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按揭利率：历史低位平台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200150" y="2162175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150" y="2657475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3152775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8" name="svg2pptx-gradient-s0006-0000"/>
          <p:cNvSpPr/>
          <p:nvPr/>
        </p:nvSpPr>
        <p:spPr>
          <a:xfrm>
            <a:off x="1200150" y="1666875"/>
            <a:ext cx="10077450" cy="1981200"/>
          </a:xfrm>
          <a:custGeom>
            <a:avLst/>
            <a:gdLst/>
            <a:ahLst/>
            <a:cxnLst/>
            <a:rect l="l" t="t" r="r" b="b"/>
            <a:pathLst>
              <a:path w="10077450" h="1981200">
                <a:moveTo>
                  <a:pt x="0" y="0"/>
                </a:moveTo>
                <a:lnTo>
                  <a:pt x="1439636" y="136840"/>
                </a:lnTo>
                <a:lnTo>
                  <a:pt x="2879271" y="130890"/>
                </a:lnTo>
                <a:lnTo>
                  <a:pt x="4318907" y="142789"/>
                </a:lnTo>
                <a:lnTo>
                  <a:pt x="5758543" y="154688"/>
                </a:lnTo>
                <a:lnTo>
                  <a:pt x="7198179" y="160638"/>
                </a:lnTo>
                <a:lnTo>
                  <a:pt x="8637814" y="160638"/>
                </a:lnTo>
                <a:lnTo>
                  <a:pt x="10077450" y="160638"/>
                </a:lnTo>
                <a:lnTo>
                  <a:pt x="10077450" y="1981200"/>
                </a:lnTo>
                <a:lnTo>
                  <a:pt x="0" y="19812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20000"/>
                </a:srgbClr>
              </a:gs>
              <a:gs pos="100000">
                <a:srgbClr val="D4A017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1200150" y="1666875"/>
            <a:ext cx="10077450" cy="160638"/>
          </a:xfrm>
          <a:custGeom>
            <a:avLst/>
            <a:gdLst/>
            <a:ahLst/>
            <a:cxnLst/>
            <a:rect l="l" t="t" r="r" b="b"/>
            <a:pathLst>
              <a:path w="10077450" h="160638">
                <a:moveTo>
                  <a:pt x="0" y="0"/>
                </a:moveTo>
                <a:lnTo>
                  <a:pt x="1439636" y="136840"/>
                </a:lnTo>
                <a:lnTo>
                  <a:pt x="2879271" y="130890"/>
                </a:lnTo>
                <a:lnTo>
                  <a:pt x="4318907" y="142789"/>
                </a:lnTo>
                <a:lnTo>
                  <a:pt x="5758543" y="154688"/>
                </a:lnTo>
                <a:lnTo>
                  <a:pt x="7198179" y="160638"/>
                </a:lnTo>
                <a:lnTo>
                  <a:pt x="8637814" y="160638"/>
                </a:lnTo>
                <a:lnTo>
                  <a:pt x="10077450" y="160638"/>
                </a:lnTo>
              </a:path>
            </a:pathLst>
          </a:cu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0150" y="3697605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2024Q3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14400" y="3697605"/>
            <a:ext cx="34507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2024Q4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914400" y="3697605"/>
            <a:ext cx="63300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2025Q1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14400" y="3697605"/>
            <a:ext cx="92093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2025Q2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14400" y="3697605"/>
            <a:ext cx="12088586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2025Q3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690257" y="3697605"/>
            <a:ext cx="94161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2025Q4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569529" y="3697605"/>
            <a:ext cx="65368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2026Q1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14400" y="3697605"/>
            <a:ext cx="10363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2026Q2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200150" y="1525905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3.33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14400" y="1686543"/>
            <a:ext cx="10363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3.06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1201400" y="1751313"/>
            <a:ext cx="152400" cy="152400"/>
          </a:xfrm>
          <a:prstGeom prst="ellipse">
            <a:avLst/>
          </a:prstGeom>
          <a:noFill/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39500" y="1789413"/>
            <a:ext cx="76200" cy="76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259270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914400" y="4200525"/>
            <a:ext cx="10363200" cy="1190625"/>
          </a:xfrm>
          <a:prstGeom prst="roundRect">
            <a:avLst>
              <a:gd name="adj" fmla="val 1600"/>
            </a:avLst>
          </a:prstGeom>
          <a:solidFill>
            <a:srgbClr val="C8102E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" y="4229100"/>
            <a:ext cx="10363200" cy="116205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3625" y="4730750"/>
            <a:ext cx="158750" cy="158750"/>
          </a:xfrm>
          <a:prstGeom prst="ellipse">
            <a:avLst/>
          </a:pr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" y="4810125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4778375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3500" y="44424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利率弹性钝化：制约购房的不是利率，是房价预期与收入——这正是文件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333500" y="48710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转向期限、时点、结构三类结构性工具的背景（研判推断）。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央行季度（Wind EDB）；存量口径2026Q2为3.05%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同比三线：量价同向走弱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3750" y="3184017"/>
            <a:ext cx="5810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3750" y="3679317"/>
            <a:ext cx="5810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3750" y="4174617"/>
            <a:ext cx="5810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1850" y="2786796"/>
            <a:ext cx="1885950" cy="1157335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3048000" y="2664876"/>
            <a:ext cx="25336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-11.8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5295900" y="2786796"/>
            <a:ext cx="1885950" cy="33346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048000" y="2664876"/>
            <a:ext cx="63817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-3.4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219950" y="2786796"/>
            <a:ext cx="1885950" cy="1883121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20" name="Text 18"/>
          <p:cNvSpPr/>
          <p:nvPr/>
        </p:nvSpPr>
        <p:spPr>
          <a:xfrm>
            <a:off x="3048000" y="2664876"/>
            <a:ext cx="102298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-19.2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048000" y="4719447"/>
            <a:ext cx="63817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2026-07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048000" y="3614547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3333750" y="4917567"/>
            <a:ext cx="95250" cy="952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3486150" y="4928997"/>
            <a:ext cx="117538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商品房销售面积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572000" y="4917567"/>
            <a:ext cx="95250" cy="952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724400" y="4928997"/>
            <a:ext cx="10515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70城新房价格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5810250" y="4917567"/>
            <a:ext cx="95250" cy="9525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28" name="Text 26"/>
          <p:cNvSpPr/>
          <p:nvPr/>
        </p:nvSpPr>
        <p:spPr>
          <a:xfrm>
            <a:off x="5962650" y="4928997"/>
            <a:ext cx="92773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房地产开发投资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0" y="606552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国家统计局（Wind EDB）：销售面积2026-02曾探-13.5%；价格较2025-10最窄-2.6%再度走阔；投资2025-12为-17.2%、2026-06为-18.0%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共识：四项研判一致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914400" y="2350008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2554796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7100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2600" y="253860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制度重构定性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752600" y="279768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把「保交楼」事后应急转为事前制度，约束高周转预售、倒逼现房销售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14400" y="3254883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345967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7587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52600" y="344347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风险转移至银行体系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752600" y="370255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期房信用风险从购房者转移至银行，消除「付了钱拿不到房」的信用坍塌点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14400" y="4159758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1575" y="4364546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8075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2600" y="434835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预售回款节奏冲击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752600" y="460743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开发商预售现金回流锐减，需开发贷期限与还本安排同步对冲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914400" y="5064633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1575" y="5269421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8562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52600" y="525322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短期不改磨底格局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752600" y="551230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量价双弱、利率钝化，政策底≠市场底，止跌回稳尚需时间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09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综合五位专家研判（政策制度·宏观周期视角）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分歧与边界条件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1599762"/>
            <a:ext cx="10363200" cy="137382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210569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22190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2089506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40年按揭实效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2348586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月供下降（测算：100万、3.06%，30年约4247元→40年约3614元，降约15%），但总利息增约四成，解决还贷能力而非购房能力（测算口径）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3106934"/>
            <a:ext cx="10363200" cy="137382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3612871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2907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3596678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执行次序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385575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放款后移若先于开发贷供给到位，对预售依赖度高的房企是「先断粮、后补粮」，短期供给收缩可能加剧（研判推断）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914400" y="4614107"/>
            <a:ext cx="10363200" cy="1373822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1575" y="512004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3624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52600" y="5103851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公积金期限错配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5362931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多数城市公积金上限30年，与40年商贷组合出现期限错配，组合贷产品需配套跟进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边界条件：任一成立，市场筑底时点需相应下修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影响展望与观察指标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8197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254298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5919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52600" y="2526792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余额 · 研判推断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2785872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存量利率若跟进下调，净减少有望2026Q4前后触底，2027上半年止住净减少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14400" y="3243072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344786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6406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2600" y="3431667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节奏 · 研判推断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3690747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销售2026下半年有望筑底；投资见底或滞后2-3个季度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14400" y="4147947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435273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68939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2600" y="4336542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周期 · 研判推断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752600" y="4595622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2027年具备拐点条件，前提是制度底座、收库存、贴按揭三招齐备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914400" y="5052822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525761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7381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52600" y="5241417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结构 · 研判推断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752600" y="5500497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现房销售占比提升、预售渐进退出，银企关系转为主办银行全程管理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可验证观察指标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3141345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可验证观察指标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339465"/>
            <a:ext cx="104470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94710"/>
            <a:ext cx="104470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40年按揭占比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35302" y="333946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5302" y="3394710"/>
            <a:ext cx="1562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竣工备案后放款执行率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73602" y="3339465"/>
            <a:ext cx="14287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3602" y="3394710"/>
            <a:ext cx="14287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个贷余额月度净变动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78552" y="3339465"/>
            <a:ext cx="131140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8552" y="3394710"/>
            <a:ext cx="131140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70城价格同比收窄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66154" y="3339465"/>
            <a:ext cx="1295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6154" y="3394710"/>
            <a:ext cx="1295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主办行项目覆盖率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37754" y="3339465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7754" y="3394710"/>
            <a:ext cx="1162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开发贷余额同比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6004" y="3339465"/>
            <a:ext cx="1295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6004" y="3394710"/>
            <a:ext cx="1295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现房销售项目占比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3663315"/>
            <a:ext cx="1295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718560"/>
            <a:ext cx="1295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监管账户划转节奏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来源：综合五位专家研判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2659380"/>
            <a:ext cx="121920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政策底已现，市场底未到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0" y="599694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9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