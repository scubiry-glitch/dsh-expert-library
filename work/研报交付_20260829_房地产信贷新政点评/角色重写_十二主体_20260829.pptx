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开场：本报告分析 2026-08-27 央行、金监总局印发的《意见》及配套试行办法全集（开发贷、个贷、商业地产、城市更新四个办法，信托办法 2027-03-01 施行），以及证监会 2025-12-27 文件。结构：总论四节（为什么是现在 / 1+N 体系结构总览 / 阅读框架 / 数据底座）→ 十二章主体角色重写 → 总结章（三重再分配的完成时，九小节）→ 结语表。分析框架：这套文件体系重新分配的不是钱，而是知情权、控制权、责任三样更根本的东西，每个主体按旧身份、新身份、条款咬合、反直觉推论展开。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论·〇：先说破一层窗户纸——预售制是一项隐性金融制度，让购房者在房屋建成前向开发企业提供无抵押、无知情权、最后受偿的开发融资，全世界几乎独一份；烂尾不是消费纠纷，是没有认领的信用危机。1+N 的总钥匙是把这项制度显性化然后拆除：显性化即承认购房款是开发融资，进监管账户、受托支付、专款专用（个贷办法 20-22 条）；拆除即融资功能还给专业机构（开发贷、REITs、并购重组、不动产私募基金），消费功能还给购房者（能拿房、再还贷）。旧模式建立在三重错位上：融资主体错位、信息结构错位、激励错位。为什么是 1+N 文件群而不是一部大法：预售制金融化是全链条的，只改一环必被其他环套利，1+N 是全口径堵截加分工具适配，七个文件监管口径第一次完全对齐。为什么是现在：销售 -11.8%、投资 -19.2%、按揭余额较峰值净减 1.61 万亿（Wind EDB，2026-07/2026Q2），旧引擎熄火、补丁式监管谢幕——政策函数从 f(市场热度) 的周期调节变成 g(制度架构) 的恒定约束，不是又一轮调控，是给行业换了一部宪法。阅读框架（总论·二）：每章四段式——旧身份、新身份、条款咬合、反直觉推论；十二章之后的总结章回到三要素检验闭环。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论·一：七份文件各管一段——央行与金监总局的《意见》是信贷总纲内核；金监总局四个办法分别管供给端（开发贷）、需求端（个贷）、持有运营端（商业地产）、存量盘活（城市更新，与住建部联署）；信托办法 2027-03-01 施行收编影子端；证监会 2025-12-27 文件打开权益与退出通道。共同尺子是「基于项目」。同时废止 1998 年个贷办法与央行 2003-2016 年九个通知：补丁版时代结束、版本号时代开始。银行管过程、资本市场管结构、信托被收编、宏观审慎管总量——一次金融分工的操作系统升级。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总论·三：全国五组数据构成制度重构的基本盘——余额 36.29 万亿自峰值 37.90 连续净减、利率 3.06% 走平弹性钝化、销售 -11.8%、价格 -3.4% 再走阔、投资 -19.2% 探底。共同指向：价格工具用到极限、信贷资产收缩、量价双弱且跌幅二次走阔——这正是 1+N 放弃总量刺激、转向期限、时点、结构三类工具的现实背景；利率走平五个季度而余额仍降，说明周期性工具失效，只剩制度变量可用。分城市快照（2026-07）：北京销售面积累计同比 +1.4%（5 月起转正：+0.6→+2.0→+1.4）、二手 -4.5%（2026-01 探底 -8.7 后连续 6 个月收窄）、新房 -2.3%、开发投资 -11.6% 浅于全国；南京销售 -13.5%（2026-02，市统计局口径更新滞后如实标注）、二手 -5.4%（-8.6 收窄但深度仍显著大于北京）、新房 -1.8%（2026-03 探底 -4.1 后修复弹性两城最大）——市场底不是同一个底。详细月度序列见第九、十章及结语表。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总论·三数据底座的核心图：个人住房贷款余额八个季度从 37.56 升至 37.90 峰值（2025-03）后一路降到 36.29 万亿，累计净减 1.61 万亿、约 -4.2%。信贷资产本身在收缩——这解释了为什么 1+N 在需求端用期限与时点工具、在供给端用制度工具，而不是总量刺激。与总论·〇的政策函数判断互证：利率走平五个季度而余额仍降，说明周期性工具已经失效，只剩制度变量可用。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购房者章节：旧身份是体系的影子出资人（唯一没有风控部门的出资人）；新身份是被写进风控条款的消费者。条款咬合：放款时点后置（第22条）、受托支付进监管账户、带押过户（第20条）、存量利率可协商置换（第24条）、失收入可展期（第26条）、月房贷收入比≤50% 与全债务支出比≤60% 硬红线（第10条）、期限最长 40 年（第13条）。推论：40 年是让更多人过红线的技术手段；风险改形状，期房准现房化；展期上限是制度化出口。测算（100 万元、3.06%、等额本息）：30 年月供约 4247 元、总利息约 52.9 万；40 年月供约 3614 元、总利息约 73.5 万——月供降约 15%，总利息升约 39%（+20.6 万），与红线组合阅读才知道银行真正审核的是收入不是月供。存量利率经第 24 条下调 50bp，按 36.29 万亿余额测算年减负约 1814 亿元（测算口径）。 展期规则：累计不超原期限一半、合计不超 40 年（第26条），给收入中断留制度化出口。 测算明细（100 万元、3.06%、等额本息）：30 年月供约 4247 元、总利息约 52.9 万；40 年月供约 3614 元、总利息约 73.5 万——月供降约 15%，总利息升约 39%（+20.6 万）；降的是月供门槛，抬的是终身利息成本。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办银行的条款咬合：一项目一行、账户与主办行在贷款结清前原则上不得变更；放款进度与实物建设进度匹配；销售回款优先偿还本项目贷款；信托资金的用款审核与划拨由主办银行执行，托管行须与主办行同一法人，违规点名处罚。三个推论：工程监理岗与新 to-B 行业；数据垄断者地位；责任无限收益有限导致中小行让出主办行资格，出现项目资质分层。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开发商章节：项目单独建账、资金不得混同、不得划拨至集团或关联方、不得用于缴地价分红其他投资，集团风险与项目风险分开评估。ROE 公式里杠杆项被拆掉，只剩周转率与利润率。现金流表从融资驱动切换为经营驱动。土地市场因缴地价贷款全链条禁止而被釜底抽薪。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市房企章节：证监会文件全通道重开，含定增、并购重组、公司债、ABS/CMBS、REITs、不动产私募基金试点，财务造假零容忍、严格执行退市。真正的主角是并购重组：出险项目退出通道从法拍折价升级为上市公司收购加配套融资。第三方托管的项目报表让并购尽调成本骤降。看门人责任无限连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建筑央企是全文最容易被忽略的一颗雷，关键词是「参照涉房」四个字：可综合运用股份、定向可转债、现金收购涉房资产并募集配套资金。它有融资通道、有交付能力、有 REITs 出口，F+EPC+O 闭环第一次拿到合规弹药，代建从乙方生意升格为资产整合生意。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信托章节条款最密：非标准入三道杠是监管评级 2 级以上、净资产不低于 10 亿、近两年非连续亏损；资金必须进主办银行专户、托管行与主办行同一法人；集中度是房地产信托余额不超过信托实收规模 5%、单一企业不超过余额 20%；已建成项目例外且单一项目不超过信托净资产 25%；非标占比 50% 以上的产品投资者全部为非自然人；48 小时冷静期；不得设预期收益率。推论：资金出口被银行接管，但留了三个新物种身份；监管要的是小而精专业户，两万亿级通道行业将萎缩重生成两条专业赛道。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方政府章节：白名单项目直报城市房地产融资协调机制，债券违约处置配合注册地城市政府，风险联防联控机制；城市更新贷款办法要求项目入库、城市体检、经营性收入足额覆盖本息，不得用于净地供应前征收补偿，不得接受政府隐性增信。推论：有席位的同时资金链被掐，必须转向卖项目给资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持有与运营端第一次拿到全生命周期产品菜单：从租赁开发建设贷、团体购房贷、租赁经营性贷，到经营性物业贷、商业地产购买贷，再到 RMBS/CMBS/REITs 退出通道。运营阶段第一次拥有与开发阶段平起平坐的金融产品线。开发商与持有商物种分化，分派率要求若下调会抬高今天的收购定价，团租机构与建筑央企先受益。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经纪中介章节：旧身份吃两层钱——经纪佣金与衍生金融（赎楼过桥、按揭代办返点、首付包装、装修贷导流）。条款咬合后三刀切掉金融化收入；验真即护城河，数据平台从渠道升格为交易信用基础设施；带押过户加存量利率置换加速改善链，Wind 分城市数据验证流通性修复先于价格：全国 70 城二手住宅价格当月同比自 2026 年初 -6.3 筑底后连续 5 个月收窄至 -5.4（2026-07，指标 S2707425）；北京收窄更早更深（2026-01 探底 -8.7 到 -4.5，领先全国约 0.9 个百分点）、销售面积累计同比 2026-05 起转正（+0.6→+2.0→+1.4）；南京新房 -1.8% 修复弹性最大、二手 -5.4% 仍在出清——流通性拐点先于价格拐点，撮合类收入先于资产价格修复；现房分销账期重写；租赁与家装二 三曲线顺风；约束仍在：全国商品房销售面积累计同比仍为 -11.8%（2026-07，国家统计局/Wind EDB），政策决定谁能活下来吃增量，不创造增量本身。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数据与评估机构章节：抵押物价值按成交价与评估价孰低认定，押品每年重估、不得以再评估净值追加贷款，经营性物业贷封顶评估值 70%，信托不得仅以外部机构信息作为论证依据，意见第 34 条改革完善全口径房地产金融统计指标体系。四个推论：孰低原则终结按单流水线；存量重估是最大增量市场，36 万亿级存量按揭每年重估；工程量核验是第二生态位；不动产现金流数据服务是第三生态位。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第十章对标样本：Cotality（原 CoreLogic）约 30 年渐进建设，将全美房产数据加工成 157M+ 统一房产标识（CLIP，匹配率 99.2%）、22,000+ 数据源、550 亿+ 条记录（50 年纵深），以年 1,100 亿次 API 调用服务按揭、保险、MLS、资本市场、政府五大客群。五阶段路径：承继（县级公共记录：契据/税册/留置）、并购拼图（2011-2021，已披露对价约 11 亿美元、私有化估值约 59 亿美元）、CLIP 统一标识符（投入 2.5 年归并单一主键、先于模型层）、数据制造工厂（22,000 源+人在回路+审计线索）、保鲜机制（事件驱动 ingestion、AVM 每日重算+夜间盲测、客户贡献回灌）。经济门槛：全成本约 5-6 亿美元/年（约 35-42 亿元人民币），占年营收（约 115 亿 RMB）的 35-40%。中国的数据基建时刻：①需求侧不需要培育，制度已经开票——每项条款都是数据采购的法律授权书，Cotality 花三十年说服市场数据值钱，中国 1+N 直接规定数据必填；②供给侧禀赋不同——缺统一标识、富交易流水，中国版 CLIP 主键（不动产权单元号/网签合同编号）跨省归并者占 backbone，且中国有主办银行封闭账户交易级流水这层独有数据；③经济门槛决定格局——三强格局：监管驱动的国家队、平台型数据商、转型 AVM 运营商的头部评估所，中小评估所被整合或退守 niche；④护城河＝标识符统一×来源直采×持续保鲜的乘积，中国 1+N 用制度解决了来源一环，剩下标识统一与保鲜两环是未来五年全部竞争。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城投章节：城市更新贷款办法是负面清单加入场券——不得新增隐性债务、不得接受政府隐性增信、不得以政府应付款项和无收益公益性资产抵质押、借款人必须是市场化运营主体且经营性收入足额覆盖本息。两条旧现金管道（一级开发垫资、托底拿地）被同时拔掉。三条合法跑道：①保租房闭环（保障房开发贷→团购房贷→租赁经营性贷→REITs/扩募）；②城市更新市场化实施主体（入库＋经营性收入覆盖＋银团）；③持有型商业/产业园（经营性物业贷/CMBS/商业REITs），外加信托第29条信托+AMC处置通道。推论：资产负债表强制大扫除，大量城投「很大但很空」；资格生死线拆成城市运营商 vs 平台清退户；保租房闭环是二十年来第一个「投入有退出、退出有倍数」的盈利模型。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沉默角色章：AMC 从沉默接盘者变成有编制的风险处置合作方；灰色助贷市场被名单制和银行独立风控定点清除；散户因非标只卖非自然人加 48 小时冷静期加不得承诺收益而被请出餐桌，地产金融成为机构游戏；旧规则体系整体谢幕，中国房地产金融从补丁版时代进入版本号时代。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章一：三重再分配。知情权：信息从集团内部人流向项目托管人——过去最懂项目的是房企集团与地方政府，现在主办银行通过封闭账户成为第一知情人（第二章），并购市场降低尽调成本（第四章），评估与数据机构被要求可审计地知情（第十章），贝壳式平台真实成交数据升格为交易信用基础设施（第九章）——知情权从关系网络剥离，交给制度位置。控制权：资金控制权逐级上收至项目——集团资金池被拆掉（第三章）、项目封闭账户托管（第二章）、支付环节受托制（第六章）、终端购房资金进监管账户（第一章）；控制权终点不是监管机构而是项目本身。责任：从事后救火到事前签字——主办行签工程进度与资金流向、保荐审计签信息披露、信托签项目管理人、评估签价值结论、平台签房源真伪、地方政府签白名单；签字者薪酬递延、追索扣回、通报主管机关。更深一层是风险产权的界定（行业的科斯时刻）：旧模式真正的病根是风险产权不清——烂尾了谁承担？银行说购房人还贷、房企说资本金灭失、地方说保交楼维稳，每个主体都持有风险却不为风险付费，最后风险归零于全社会。新体系给每一类风险第一次明确了产权归属与定价机制：交付风险归房企（工程能力成为融资资格本身，开发贷优先支持好房子与现售项目）、项目信用风险归主办行（利差与拨备定价，银团可分散不可转嫁）、市场风险归购房人与投资者、流动性风险归资本市场（证监会通道）（RMBS/CMBS/REITs 折价就是价格）；此为研判推断，检验信号是高风险项目被要求更高利差或被拒贷，而非被平均定价。此为研判推断，检验信号是高风险项目被要求更高利差或被拒贷，而非被平均定价。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章二：付费者三层结构——显性付费者：高杠杆房企（杠杆红利清零）、通道型信托（准入与集中度三道杠）、灰色助贷与包装链条、小评估所（孰低原则+责任通报），它们的旧利润等于制度租金，租金随制度一并取消；隐性付费者：地方政府（土地金融杠杆被拔掉，转向卖项目）与银行体系（责任成本上升，以数据垄断与主办行地位获得对价），属于以短期成本换长期牌照价值；延期付费者：购房者以选择风险替换交付风险，对价是自担市场波动，且以 50%/60% 收入红线形式被强制预算约束。三个可证伪的预言（研判推断，各附验证锚）：预言一，三年内期房销售占比降至三成以下、准现房销售成主流，验证锚是新增预售证中封顶后/竣工后销售占比、期房与现房网签结构；预言二，主办银行制催生项目信贷二级市场——责任与资本占用集中在主办行一家，必然产生再分配需求，银团份额转让、开发贷资产流转将成为新市场，验证锚是银团份额转让平台成交量、开发贷 ABS 发行规模；预言三，出现 3-5 家 F+EPC+O 模式千亿级涉房建筑/城投运营商，验证锚是建筑央企年报涉房资产占比、REITs 发行规模、城投经营性收入/总债务比率中位数变化。三个预言若全数落空（期房占比仍高、二级市场无交易、建筑央企资产负债表不动），说明改革在执行层失速——见失灵条件。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总结章三：体系的失灵条件——四个执行变量：银行惜贷（责任压实但无资本与拨备对价，投资 -19.2% 下斜率能否在 2027 年收窄至 -10% 以内是第一检验）、并购通道容量不足（审批节奏跟不上出清速度则第四章剧本演不动）、项目现金流注水（财政性收入化妆成经营性收入，城更办法成新的隐性债务入口）、评估与核验被俘获（孰低原则形同虚设）；四个变量都不取决于文件，而取决于未来 12 个月各主体的选择。传导时序（研判推断）：新办法印发即适用于新签合同，个贷办法第 37 条新老划断——施行前已取得预售证的项目仍按原规定放款，切换期风险被制度性缓冲；信托办法 2027-03-01 施行、存量到期结清，影子端有一年过渡。观察节奏：2026Q4 看白名单覆盖率与主办行投放，2027H1 看按揭余额能否止跌，2027-03 看信托新旧切换。与宏观分城市数据互证：全国销售 -11.8%、投资 -19.2%（2026-07，国家统计局/Wind EDB），政策底不等于市场底，制度底座先行于市场出清完成；北京（销售转正、二手连续 6 个月收窄）与南京（新房 -1.8% 快速修复、二手 -5.4% 仍深）分化说明市场底分城市分环节到来——这份 1+N 体系不承诺统一的市场底，它承诺的是无论哪里先见底，每个角色都已在正确的位置上。收束全篇（重写版）：总论说这场改革是隐性金融制度的显性化与拆除；十二章证明每个角色的岗位说明书已经发放；本章把结论推到底——这是一次风险产权的界定（行业的科斯时刻）：交付风险归房企、信用风险归主办行、市场风险归购房者与投资者、流动性风险归资本市场，每一类风险第一次有了主人，也就第一次有了价格。付费者已经排队（显性的出清租金、隐性的换牌照、延期的交对价），预言已立验证锚，失灵条件已写明；旧模式赚预期的钱，新模式只能赚交付的钱——这份 1+N 文件体系就是交付的定价说明书。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结语收束：旧模式里所有人都在赚预期的钱，新模式里所有人只能赚交付的钱，这份 1+N 文件体系就是交付的定价说明书。十二主体的新身份与净效应见表，逐行过一遍即可收尾。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来源披露：条款引自文件原文；宏观数据取自 Wind CLI（Wind EDB：央行、国家统计局），月度截至 2026 年 7 月、季度截至 2026Q2，指标代码级可溯源（按揭余额 W1409719、按揭利率 M0058005/X1390479、全国新宅价格 S2707411、全国二手价格 S2707425、开发投资 S0029657、销售面积 S0073300、北京与南京分城市指标等）；南京销售面积市统计局口径更新滞后（最新 2026-02）已如实标注；贝壳政研通通道全程调用但未透出数值明细，定量以 Wind 指标交付，全程未编造数字；第十章 Cotality 部分引自对标研究 V1（公司公开口径，2026-08-28）仅作能力参照；测算口径为 100 万元/3.06%/等额本息与存量降 50bp×36.29 万亿；研判推论为分析性判断；政策条款以《意见》及各办法原文为准。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收尾：角色重写的本质是把赚预期的旧身份全部改写成赚交付的新身份。谢谢观看，欢迎就任一主体展开讨论。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535305" y="383857"/>
            <a:ext cx="1593533" cy="57912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9113" y="419100"/>
            <a:ext cx="1501140" cy="78867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9110" y="451485"/>
            <a:ext cx="1380173" cy="98488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298" y="481965"/>
            <a:ext cx="1234440" cy="116109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6723" y="507683"/>
            <a:ext cx="1066800" cy="131730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5290" y="529590"/>
            <a:ext cx="879158" cy="144970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0" y="547688"/>
            <a:ext cx="675323" cy="155448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853" y="561023"/>
            <a:ext cx="461010" cy="1631632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705" y="568643"/>
            <a:ext cx="235267" cy="167925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85020" y="5323522"/>
            <a:ext cx="2916555" cy="1675447"/>
          </a:xfrm>
          <a:custGeom>
            <a:avLst/>
            <a:gdLst/>
            <a:ahLst/>
            <a:cxnLst/>
            <a:rect l="l" t="t" r="r" b="b"/>
            <a:pathLst>
              <a:path w="2916555" h="1675447">
                <a:moveTo>
                  <a:pt x="2916555" y="1241108"/>
                </a:moveTo>
                <a:lnTo>
                  <a:pt x="2702243" y="1220153"/>
                </a:lnTo>
                <a:lnTo>
                  <a:pt x="2491740" y="1190625"/>
                </a:lnTo>
                <a:lnTo>
                  <a:pt x="2284095" y="1152525"/>
                </a:lnTo>
                <a:lnTo>
                  <a:pt x="2081212" y="1105853"/>
                </a:lnTo>
                <a:lnTo>
                  <a:pt x="1880235" y="1050608"/>
                </a:lnTo>
                <a:lnTo>
                  <a:pt x="1683068" y="986790"/>
                </a:lnTo>
                <a:lnTo>
                  <a:pt x="1489710" y="913447"/>
                </a:lnTo>
                <a:lnTo>
                  <a:pt x="1299210" y="831533"/>
                </a:lnTo>
                <a:lnTo>
                  <a:pt x="1112520" y="740093"/>
                </a:lnTo>
                <a:lnTo>
                  <a:pt x="928688" y="640080"/>
                </a:lnTo>
                <a:lnTo>
                  <a:pt x="748665" y="530543"/>
                </a:lnTo>
                <a:lnTo>
                  <a:pt x="571500" y="412433"/>
                </a:lnTo>
                <a:lnTo>
                  <a:pt x="398145" y="283845"/>
                </a:lnTo>
                <a:lnTo>
                  <a:pt x="227648" y="146685"/>
                </a:lnTo>
                <a:lnTo>
                  <a:pt x="60960" y="0"/>
                </a:lnTo>
                <a:lnTo>
                  <a:pt x="0" y="59055"/>
                </a:lnTo>
                <a:lnTo>
                  <a:pt x="152400" y="225743"/>
                </a:lnTo>
                <a:lnTo>
                  <a:pt x="311468" y="384810"/>
                </a:lnTo>
                <a:lnTo>
                  <a:pt x="474345" y="534353"/>
                </a:lnTo>
                <a:lnTo>
                  <a:pt x="642938" y="676275"/>
                </a:lnTo>
                <a:lnTo>
                  <a:pt x="817245" y="810578"/>
                </a:lnTo>
                <a:lnTo>
                  <a:pt x="997268" y="936308"/>
                </a:lnTo>
                <a:lnTo>
                  <a:pt x="1182053" y="1052513"/>
                </a:lnTo>
                <a:lnTo>
                  <a:pt x="1373505" y="1161097"/>
                </a:lnTo>
                <a:lnTo>
                  <a:pt x="1569720" y="1261110"/>
                </a:lnTo>
                <a:lnTo>
                  <a:pt x="1770698" y="1352550"/>
                </a:lnTo>
                <a:lnTo>
                  <a:pt x="1978343" y="1434465"/>
                </a:lnTo>
                <a:lnTo>
                  <a:pt x="2190750" y="1508760"/>
                </a:lnTo>
                <a:lnTo>
                  <a:pt x="2407920" y="1572578"/>
                </a:lnTo>
                <a:lnTo>
                  <a:pt x="2630805" y="1628775"/>
                </a:lnTo>
                <a:lnTo>
                  <a:pt x="2859405" y="1675447"/>
                </a:lnTo>
                <a:close/>
              </a:path>
            </a:pathLst>
          </a:custGeom>
          <a:solidFill>
            <a:srgbClr val="C8102E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73653" y="5350193"/>
            <a:ext cx="2217420" cy="1041082"/>
          </a:xfrm>
          <a:custGeom>
            <a:avLst/>
            <a:gdLst/>
            <a:ahLst/>
            <a:cxnLst/>
            <a:rect l="l" t="t" r="r" b="b"/>
            <a:pathLst>
              <a:path w="2217420" h="1041082">
                <a:moveTo>
                  <a:pt x="2217420" y="831532"/>
                </a:moveTo>
                <a:lnTo>
                  <a:pt x="2056448" y="820102"/>
                </a:lnTo>
                <a:lnTo>
                  <a:pt x="1898333" y="802005"/>
                </a:lnTo>
                <a:lnTo>
                  <a:pt x="1742123" y="778192"/>
                </a:lnTo>
                <a:lnTo>
                  <a:pt x="1587818" y="747713"/>
                </a:lnTo>
                <a:lnTo>
                  <a:pt x="1436370" y="711517"/>
                </a:lnTo>
                <a:lnTo>
                  <a:pt x="1285875" y="668655"/>
                </a:lnTo>
                <a:lnTo>
                  <a:pt x="1139190" y="620077"/>
                </a:lnTo>
                <a:lnTo>
                  <a:pt x="993458" y="564832"/>
                </a:lnTo>
                <a:lnTo>
                  <a:pt x="850583" y="503872"/>
                </a:lnTo>
                <a:lnTo>
                  <a:pt x="708660" y="435292"/>
                </a:lnTo>
                <a:lnTo>
                  <a:pt x="570548" y="360997"/>
                </a:lnTo>
                <a:lnTo>
                  <a:pt x="433388" y="280988"/>
                </a:lnTo>
                <a:lnTo>
                  <a:pt x="299085" y="193357"/>
                </a:lnTo>
                <a:lnTo>
                  <a:pt x="166688" y="100013"/>
                </a:lnTo>
                <a:lnTo>
                  <a:pt x="36195" y="0"/>
                </a:lnTo>
                <a:lnTo>
                  <a:pt x="0" y="43815"/>
                </a:lnTo>
                <a:lnTo>
                  <a:pt x="124778" y="153352"/>
                </a:lnTo>
                <a:lnTo>
                  <a:pt x="253365" y="256222"/>
                </a:lnTo>
                <a:lnTo>
                  <a:pt x="384810" y="353377"/>
                </a:lnTo>
                <a:lnTo>
                  <a:pt x="520065" y="444817"/>
                </a:lnTo>
                <a:lnTo>
                  <a:pt x="657225" y="530542"/>
                </a:lnTo>
                <a:lnTo>
                  <a:pt x="798195" y="609600"/>
                </a:lnTo>
                <a:lnTo>
                  <a:pt x="941070" y="681990"/>
                </a:lnTo>
                <a:lnTo>
                  <a:pt x="1087755" y="748665"/>
                </a:lnTo>
                <a:lnTo>
                  <a:pt x="1238250" y="809625"/>
                </a:lnTo>
                <a:lnTo>
                  <a:pt x="1390650" y="863917"/>
                </a:lnTo>
                <a:lnTo>
                  <a:pt x="1546860" y="911542"/>
                </a:lnTo>
                <a:lnTo>
                  <a:pt x="1705928" y="953452"/>
                </a:lnTo>
                <a:lnTo>
                  <a:pt x="1866900" y="988695"/>
                </a:lnTo>
                <a:lnTo>
                  <a:pt x="2032635" y="1018222"/>
                </a:lnTo>
                <a:lnTo>
                  <a:pt x="2200275" y="1041082"/>
                </a:lnTo>
                <a:close/>
              </a:path>
            </a:pathLst>
          </a:custGeom>
          <a:solidFill>
            <a:srgbClr val="1F3A5F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1905000"/>
                </a:moveTo>
                <a:lnTo>
                  <a:pt x="0" y="0"/>
                </a:lnTo>
                <a:lnTo>
                  <a:pt x="1905000" y="1905000"/>
                </a:lnTo>
                <a:close/>
              </a:path>
            </a:pathLst>
          </a:custGeom>
          <a:solidFill>
            <a:srgbClr val="004C38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" y="2752725"/>
            <a:ext cx="115824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75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一场「角色重写」</a:t>
            </a:r>
            <a:endParaRPr lang="en-US" sz="3375" dirty="0"/>
          </a:p>
        </p:txBody>
      </p:sp>
      <p:sp>
        <p:nvSpPr>
          <p:cNvPr id="17" name="Text 15"/>
          <p:cNvSpPr/>
          <p:nvPr/>
        </p:nvSpPr>
        <p:spPr>
          <a:xfrm>
            <a:off x="609600" y="3219450"/>
            <a:ext cx="115824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75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：1+N</a:t>
            </a:r>
            <a:endParaRPr lang="en-US" sz="3375" dirty="0"/>
          </a:p>
        </p:txBody>
      </p:sp>
      <p:sp>
        <p:nvSpPr>
          <p:cNvPr id="18" name="Text 16"/>
          <p:cNvSpPr/>
          <p:nvPr/>
        </p:nvSpPr>
        <p:spPr>
          <a:xfrm>
            <a:off x="609600" y="3686175"/>
            <a:ext cx="115824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75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新政与十二类主体</a:t>
            </a:r>
            <a:endParaRPr lang="en-US" sz="3375" dirty="0"/>
          </a:p>
        </p:txBody>
      </p:sp>
      <p:sp>
        <p:nvSpPr>
          <p:cNvPr id="19" name="Shape 17"/>
          <p:cNvSpPr/>
          <p:nvPr/>
        </p:nvSpPr>
        <p:spPr>
          <a:xfrm>
            <a:off x="5486400" y="1371600"/>
            <a:ext cx="228600" cy="2286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3563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486400" y="2133600"/>
            <a:ext cx="5791200" cy="0"/>
          </a:xfrm>
          <a:prstGeom prst="line">
            <a:avLst/>
          </a:prstGeom>
          <a:noFill/>
          <a:ln w="1333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407920"/>
            <a:ext cx="6705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智见点评团队 · 角色重写 · 十二主体完整报告 v4</a:t>
            </a:r>
            <a:pPr algn="l" indent="0" marL="0">
              <a:buNone/>
            </a:pPr>
            <a:r>
              <a:rPr lang="en-US" sz="14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2026-08-29</a:t>
            </a:r>
            <a:endParaRPr lang="en-US" sz="1425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总论·〇：为什么是现在，为什么是这个形状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24000" y="2190750"/>
            <a:ext cx="97536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171700"/>
            <a:ext cx="6096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4079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预售制不是销售方式，而是隐性金融制度——1+N 的总钥匙：把它显性化，然后拆除。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2971800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3176588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292793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52600" y="316039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融资主体错位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752600" y="341947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风险承受最弱的购房者承担链条最前端的风险；风控最强的银行躲在抵押物后面做第二顺位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914400" y="3876675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71575" y="4081463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197668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52600" y="4065270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信息结构错位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752600" y="432435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项目真实资金与进度信息混在集团资金池，外部无人可见——尽调靠关系，定价靠信仰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914400" y="4781550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171575" y="4986338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102543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52600" y="497014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激励错位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1752600" y="52292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所有人都在赚「预期」的钱，唯独「交付」最不被定价；烂尾损失无人认领，最后全社会兜底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总论·一：1+N 体系结构总览（谁在管什么）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028700" y="2422779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41363" y="2422779"/>
            <a:ext cx="1006503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发文主体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51493" y="2422779"/>
            <a:ext cx="845490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管什么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92286" y="2422779"/>
            <a:ext cx="451411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体系角色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2712339"/>
            <a:ext cx="10363200" cy="0"/>
          </a:xfrm>
          <a:prstGeom prst="line">
            <a:avLst/>
          </a:prstGeom>
          <a:noFill/>
          <a:ln w="19050">
            <a:solidFill>
              <a:srgbClr val="2B2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131439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550539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969639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388739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807839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5226939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5646039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8700" y="2857119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《意见》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41363" y="2857119"/>
            <a:ext cx="1006503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央行＋金监总局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51493" y="2857119"/>
            <a:ext cx="845490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品种总纲·主办行制·放款时点·宏观审慎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2286" y="2857119"/>
            <a:ext cx="451411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信贷总纲（内核）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8700" y="3276219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开发贷办法（试行）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41363" y="3276219"/>
            <a:ext cx="1006503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金监总局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51493" y="3276219"/>
            <a:ext cx="845490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四证/资本金/封闭账户/主办行/期限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92286" y="3276219"/>
            <a:ext cx="451411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供给端主战场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28700" y="3695319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个贷办法（试行）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41363" y="3695319"/>
            <a:ext cx="1006503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金监总局＋央行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51493" y="3695319"/>
            <a:ext cx="845490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首付·50%/60%红线·40年·放款时点·带押过户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92286" y="3695319"/>
            <a:ext cx="451411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需求端总规则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28700" y="4114419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商业地产办法（试行）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041363" y="4114419"/>
            <a:ext cx="1006503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金监总局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51493" y="4114419"/>
            <a:ext cx="845490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开发/购买/运营三段贷·经营性物业贷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92286" y="4114419"/>
            <a:ext cx="451411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持有运营端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28700" y="4533519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城市更新办法（试行）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041363" y="4533519"/>
            <a:ext cx="1006503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金监总局＋住建部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51493" y="4533519"/>
            <a:ext cx="845490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项目库·市场化实施主体·禁隐性增信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592286" y="4533519"/>
            <a:ext cx="451411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存量盘活通道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28700" y="4952619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信托办法（试行）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41363" y="4952619"/>
            <a:ext cx="1006503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金监总局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651493" y="4952619"/>
            <a:ext cx="845490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非标准入·入主办行专户·集中度·适当性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592286" y="4952619"/>
            <a:ext cx="451411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影子端收编 · 2027-03-01 施行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28700" y="5371719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证监会支持文件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041363" y="5371719"/>
            <a:ext cx="1006503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中国证监会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651493" y="5371719"/>
            <a:ext cx="845490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再融资/并购/公司债/ABS/REITs/私募基金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592286" y="5371719"/>
            <a:ext cx="451411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权益与退出通道 · 2025-12-27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14400" y="5745099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1+N 体系结构总览 · 七份文件监管口径第一次完全对齐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银行管过程·资本市场管结构·信托被收编·宏观审慎管总量——一次金融分工的「操作系统升级」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总论·三：数据底座——制度重构的基本盘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" y="2742819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52563" y="2742819"/>
            <a:ext cx="985383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最新值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24452" y="2742819"/>
            <a:ext cx="688194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关键变化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3032379"/>
            <a:ext cx="10363200" cy="0"/>
          </a:xfrm>
          <a:prstGeom prst="line">
            <a:avLst/>
          </a:prstGeom>
          <a:noFill/>
          <a:ln w="19050">
            <a:solidFill>
              <a:srgbClr val="2B2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451479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870579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289679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708779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127879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700" y="3177159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个人住房贷款余额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52563" y="3177159"/>
            <a:ext cx="985383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36.29 万亿（2026-06）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24452" y="3177159"/>
            <a:ext cx="688194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 37.90（2025-03）起连续净减 1.61 万亿、约 -4.2%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3596259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按揭加权平均利率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52563" y="3596259"/>
            <a:ext cx="985383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 3.05%/新发 3.06%（26Q2）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24452" y="3596259"/>
            <a:ext cx="688194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新发序列 3.33→3.06 走平，弹性钝化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8700" y="4015359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商品房销售面积累计同比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52563" y="4015359"/>
            <a:ext cx="985383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-11.8%（2026-07）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24452" y="4015359"/>
            <a:ext cx="688194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2025-07 为 -4.0%，2026-02 曾探 -13.5%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8700" y="4434459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 城新宅价格当月同比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52563" y="4434459"/>
            <a:ext cx="985383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-3.4%（2026-07）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24452" y="4434459"/>
            <a:ext cx="688194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2025-10 最窄 -2.6%，再度走阔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28700" y="4853559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开发投资累计同比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52563" y="4853559"/>
            <a:ext cx="985383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-19.2%（2026-07）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24452" y="4853559"/>
            <a:ext cx="688194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-17.2%→-18.0%→-19.2%，持续探底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5226939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口径：全国；Wind EDB（中国人民银行/国家统计局）· 月度至 2026-07、季度至 2026Q2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按揭余额：八个季度，从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914400" y="1971675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37.90 到 36.29</a:t>
            </a:r>
            <a:endParaRPr lang="en-US" sz="4500" dirty="0"/>
          </a:p>
        </p:txBody>
      </p:sp>
      <p:sp>
        <p:nvSpPr>
          <p:cNvPr id="13" name="Shape 11"/>
          <p:cNvSpPr/>
          <p:nvPr/>
        </p:nvSpPr>
        <p:spPr>
          <a:xfrm>
            <a:off x="1200150" y="3818573"/>
            <a:ext cx="8096250" cy="0"/>
          </a:xfrm>
          <a:prstGeom prst="line">
            <a:avLst/>
          </a:prstGeom>
          <a:noFill/>
          <a:ln w="9525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0150" y="4313873"/>
            <a:ext cx="8096250" cy="0"/>
          </a:xfrm>
          <a:prstGeom prst="line">
            <a:avLst/>
          </a:prstGeom>
          <a:noFill/>
          <a:ln w="9525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0150" y="4809172"/>
            <a:ext cx="8096250" cy="0"/>
          </a:xfrm>
          <a:prstGeom prst="line">
            <a:avLst/>
          </a:prstGeom>
          <a:noFill/>
          <a:ln w="9525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16" name="svg2pptx-gradient-s0004-0000"/>
          <p:cNvSpPr/>
          <p:nvPr/>
        </p:nvSpPr>
        <p:spPr>
          <a:xfrm>
            <a:off x="1200150" y="3323273"/>
            <a:ext cx="8096250" cy="1981200"/>
          </a:xfrm>
          <a:custGeom>
            <a:avLst/>
            <a:gdLst/>
            <a:ahLst/>
            <a:cxnLst/>
            <a:rect l="l" t="t" r="r" b="b"/>
            <a:pathLst>
              <a:path w="8096250" h="1981200">
                <a:moveTo>
                  <a:pt x="0" y="17773"/>
                </a:moveTo>
                <a:lnTo>
                  <a:pt x="1156607" y="11500"/>
                </a:lnTo>
                <a:lnTo>
                  <a:pt x="2313214" y="0"/>
                </a:lnTo>
                <a:lnTo>
                  <a:pt x="3469821" y="8364"/>
                </a:lnTo>
                <a:lnTo>
                  <a:pt x="4626429" y="24046"/>
                </a:lnTo>
                <a:lnTo>
                  <a:pt x="5783036" y="46524"/>
                </a:lnTo>
                <a:lnTo>
                  <a:pt x="6939643" y="61684"/>
                </a:lnTo>
                <a:lnTo>
                  <a:pt x="8096250" y="84162"/>
                </a:lnTo>
                <a:lnTo>
                  <a:pt x="8096250" y="1981200"/>
                </a:lnTo>
                <a:lnTo>
                  <a:pt x="0" y="1981200"/>
                </a:lnTo>
                <a:close/>
              </a:path>
            </a:pathLst>
          </a:custGeom>
          <a:gradFill rotWithShape="1">
            <a:gsLst>
              <a:gs pos="0">
                <a:srgbClr val="D4A017">
                  <a:alpha val="20000"/>
                </a:srgbClr>
              </a:gs>
              <a:gs pos="100000">
                <a:srgbClr val="D4A017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1200150" y="3323273"/>
            <a:ext cx="8096250" cy="84162"/>
          </a:xfrm>
          <a:custGeom>
            <a:avLst/>
            <a:gdLst/>
            <a:ahLst/>
            <a:cxnLst/>
            <a:rect l="l" t="t" r="r" b="b"/>
            <a:pathLst>
              <a:path w="8096250" h="84162">
                <a:moveTo>
                  <a:pt x="0" y="17773"/>
                </a:moveTo>
                <a:lnTo>
                  <a:pt x="1156607" y="11500"/>
                </a:lnTo>
                <a:lnTo>
                  <a:pt x="2313214" y="0"/>
                </a:lnTo>
                <a:lnTo>
                  <a:pt x="3469821" y="8364"/>
                </a:lnTo>
                <a:lnTo>
                  <a:pt x="4626429" y="24046"/>
                </a:lnTo>
                <a:lnTo>
                  <a:pt x="5783036" y="46524"/>
                </a:lnTo>
                <a:lnTo>
                  <a:pt x="6939643" y="61684"/>
                </a:lnTo>
                <a:lnTo>
                  <a:pt x="8096250" y="84162"/>
                </a:lnTo>
              </a:path>
            </a:pathLst>
          </a:cu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0150" y="5354003"/>
            <a:ext cx="119062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24Q3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914400" y="5354003"/>
            <a:ext cx="2884714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24Q4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914400" y="5354003"/>
            <a:ext cx="5197929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25Q1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914400" y="5354003"/>
            <a:ext cx="7511143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25Q2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914400" y="5354003"/>
            <a:ext cx="9824357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25Q3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914400" y="5354003"/>
            <a:ext cx="12137571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25Q4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173186" y="5354003"/>
            <a:ext cx="9933214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26Q1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914400" y="5354003"/>
            <a:ext cx="83820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26Q2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200150" y="3200076"/>
            <a:ext cx="119062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2B2020"/>
                </a:solidFill>
              </a:rPr>
              <a:t>37.56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914400" y="3266464"/>
            <a:ext cx="83820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25" dirty="0">
                <a:solidFill>
                  <a:srgbClr val="2B2020"/>
                </a:solidFill>
              </a:rPr>
              <a:t>36.29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9220200" y="3331234"/>
            <a:ext cx="152400" cy="152400"/>
          </a:xfrm>
          <a:prstGeom prst="ellipse">
            <a:avLst/>
          </a:prstGeom>
          <a:noFill/>
          <a:ln w="9525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58300" y="3369334"/>
            <a:ext cx="76200" cy="76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125278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914400" y="4249103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914400" y="4372928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6E5A50">
                    <a:alpha val="3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05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914400" y="6035040"/>
            <a:ext cx="112776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 EDB · 央行（W1409719）· 季度 · 2024Q3→2026Q2 · 自 2025-03 峰值 37.90 连续净减 1.61 万亿（约 -4.2%）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购房者：影子出资人→风控条款消费者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E7DCC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39000" y="1771650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E7DCC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39000" y="3933825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E7DCC8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39000" y="3819525"/>
            <a:ext cx="4038600" cy="0"/>
          </a:xfrm>
          <a:prstGeom prst="line">
            <a:avLst/>
          </a:prstGeom>
          <a:noFill/>
          <a:ln w="9525">
            <a:solidFill>
              <a:srgbClr val="E7DCC8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3021330"/>
            <a:ext cx="55626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002280"/>
            <a:ext cx="4572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215640"/>
            <a:ext cx="12192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旧：体系的影子出资人（唯一没有风控部门的出资人）→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3491865"/>
            <a:ext cx="12192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新：被写进风控条款的消费者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239000" y="2289239"/>
            <a:ext cx="2030159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39000" y="2344484"/>
            <a:ext cx="203015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月房贷收入比 ≤50%（第10条）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39000" y="2613089"/>
            <a:ext cx="2030159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39000" y="2668334"/>
            <a:ext cx="203015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全债务支出比 ≤60%（第10条）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45359" y="2613089"/>
            <a:ext cx="1820799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5359" y="2668334"/>
            <a:ext cx="182079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期限最长 40 年（第13条）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239000" y="4072128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buNone/>
            </a:pPr>
            <a:r>
              <a:rPr lang="en-US" sz="127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年不是福利：让更多人过 50%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7239000" y="4300728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红线的技术手段——银行第一次依法「保护性拒贷」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7239000" y="4605528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buNone/>
            </a:pPr>
            <a:r>
              <a:rPr lang="en-US" sz="127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风险改形状：期房「准现房化」，散户期房市场被制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7239000" y="4834128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度性劝退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7239000" y="5138928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buNone/>
            </a:pPr>
            <a:r>
              <a:rPr lang="en-US" sz="127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测算：月供 4247→3614 元；存量降 50bp＝年减负约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7239000" y="5367528"/>
            <a:ext cx="121920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1814 亿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个贷办法第10/13/20/22/24/26条 · 测算口径：100 万元/3.06%/等额本息 · 「准现房化」为研判推断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E7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主办银行：资金贩子→责任承包商</a:t>
            </a:r>
            <a:endParaRPr lang="en-US" sz="3750" dirty="0"/>
          </a:p>
        </p:txBody>
      </p:sp>
      <p:sp>
        <p:nvSpPr>
          <p:cNvPr id="12" name="Shape 10"/>
          <p:cNvSpPr/>
          <p:nvPr/>
        </p:nvSpPr>
        <p:spPr>
          <a:xfrm>
            <a:off x="1143000" y="1733550"/>
            <a:ext cx="105156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3400" y="1714500"/>
            <a:ext cx="6096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4" name="Text 12"/>
          <p:cNvSpPr/>
          <p:nvPr/>
        </p:nvSpPr>
        <p:spPr>
          <a:xfrm>
            <a:off x="533400" y="19507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旧：资金贩子 → 新：责任承包商——主办行身份第一次是负债而非资产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3400" y="28003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银行内部诞生「工程监理岗」：审的不是财报是工程进度——一个 to-B 行业被文件凭空创造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3400" y="31432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主办行垄断项目全部资金可见性，成为数据垄断者：「项目实时数据」成信贷定价新坐标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3400" y="34861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出现「银行不敢抢的项目」：责任无限、收益只有利差——出现「项目资质分层」，主办行向头部集中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开发贷办法第7-8/15/16/21条 · 信托办法第21-22/57条 · 《意见》第12条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Shape 9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开发商：金融家降维回项目经理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524000" y="1552575"/>
            <a:ext cx="97536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1533525"/>
            <a:ext cx="6096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1769745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集团信用被「没收」：八个瓶七个盖的资金调度终结，每个项目一个封闭水池——行业第一次被迫变得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2074545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像制造业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9241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从「垫资的甲方」变成「被垫资的乙方」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32670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现金流表从融资驱动切换为经营驱动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36099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缴地价贷款全链条禁止：土地买家只剩真资本金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开发贷办法第4/13条 · 《意见》第5条 · 证监会「基于项目」同口径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上市房企：「基于项目」再上市邀请函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524000" y="1847850"/>
            <a:ext cx="97536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828800"/>
            <a:ext cx="6096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0650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全通道重开的再上市邀请函，发行准入突出「基于项目」、募集资金穿透式专户监管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285750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912745"/>
            <a:ext cx="8953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定增再融资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85950" y="2857500"/>
            <a:ext cx="1356741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85950" y="2912745"/>
            <a:ext cx="135674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并购重组+配套融资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8891" y="285750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8891" y="2912745"/>
            <a:ext cx="1162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公司债滚动续发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57141" y="2857500"/>
            <a:ext cx="999363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7141" y="2912745"/>
            <a:ext cx="999363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ABS / CMBS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32704" y="2857500"/>
            <a:ext cx="1368743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32704" y="2912745"/>
            <a:ext cx="1368743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REITs 可发可扩募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77647" y="2857500"/>
            <a:ext cx="14287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77647" y="2912745"/>
            <a:ext cx="14287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不动产私募基金试点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4400" y="35433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真正主角是并购重组：项目资产被好公司批量接走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38862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第三方托管报表：尽调成本骤降、催生并购市场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42291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保荐审计承销变无限连带看门人，会计所分层拒单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证监会文件第6/8/9/11条（2025-12-27）· 「项目整合型房企」为研判推断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E7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建筑央企：「参照涉房」最被低估赢家</a:t>
            </a:r>
            <a:endParaRPr lang="en-US" sz="3750" dirty="0"/>
          </a:p>
        </p:txBody>
      </p:sp>
      <p:sp>
        <p:nvSpPr>
          <p:cNvPr id="12" name="Shape 10"/>
          <p:cNvSpPr/>
          <p:nvPr/>
        </p:nvSpPr>
        <p:spPr>
          <a:xfrm>
            <a:off x="1143000" y="1733550"/>
            <a:ext cx="105156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3400" y="1714500"/>
            <a:ext cx="6096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4" name="Text 12"/>
          <p:cNvSpPr/>
          <p:nvPr/>
        </p:nvSpPr>
        <p:spPr>
          <a:xfrm>
            <a:off x="533400" y="19507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出险项目最顺位的接盘者可能不是同行房企，而是建筑央企——行业洗牌终局里，真正的新玩家是穿工装的那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3400" y="22555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3400" y="31051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三有：融资通道（参照涉房）＋交付能力（交付确定性即信用）＋REITs 出口（持有运营）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3400" y="34480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「F+EPC+O」闭环第一次拿到合规弹药；代建从「乙方生意」升格为「资产整合生意」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证监会文件（二）：建筑等密切相关行业「参照上市房地产开发企业政策执行」 · 「最顺位接盘者」为研判推断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信托：影子通道被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914400" y="1971675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收编为外包资管</a:t>
            </a:r>
            <a:endParaRPr lang="en-US" sz="4500" dirty="0"/>
          </a:p>
        </p:txBody>
      </p:sp>
      <p:sp>
        <p:nvSpPr>
          <p:cNvPr id="13" name="Shape 11"/>
          <p:cNvSpPr/>
          <p:nvPr/>
        </p:nvSpPr>
        <p:spPr>
          <a:xfrm>
            <a:off x="1524000" y="2828925"/>
            <a:ext cx="77724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809875"/>
            <a:ext cx="6096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046095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被「收编」：资金出口被银行接管——从影子银行通道变成主办银行体系的外包资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350895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3914775"/>
            <a:ext cx="2340864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970020"/>
            <a:ext cx="2340864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准入：评级 2 级以上＋净资产≥10亿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31464" y="3914775"/>
            <a:ext cx="2139506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1464" y="3970020"/>
            <a:ext cx="213950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集中度：余额≤实收 5%·单一≤20%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47170" y="3914775"/>
            <a:ext cx="1880807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47170" y="3970020"/>
            <a:ext cx="188080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已建成项目单一≤净资产 25%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" y="4238625"/>
            <a:ext cx="1880807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293870"/>
            <a:ext cx="188080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非标≥50% 产品只卖非自然人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871407" y="4238625"/>
            <a:ext cx="1358075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71407" y="4293870"/>
            <a:ext cx="135807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小时投资冷静期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05681" y="4238625"/>
            <a:ext cx="1262063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05681" y="4293870"/>
            <a:ext cx="1262063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2027-03-01 施行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4400" y="46958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三个新物种：处置合作方·REITs 前置仓·服务信托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" y="50387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两万亿级通道重生为特殊机会投资＋服务信托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6E5A50">
                    <a:alpha val="3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11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914400" y="60198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信托办法第14/16/21-22/24/30/33/34/45/46/70条 · 不得设预期收益率、薪酬递延＋追索扣回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地方政府：有席位，但资金链被掐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1524000" y="1828800"/>
            <a:ext cx="68961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809750"/>
            <a:ext cx="6096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0459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第一次在金融监管文件里有了正式职能席位（白名单守门·联防联控·违约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3507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处置合伙人），同时资金链被掐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2004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缴地价贷款没了、一二级开发财政垫资没了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5433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从「卖地给开发商」转向「卖项目给资本」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8862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城市更新项目库＝新「招商产品手册」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城市更新贷款办法：入库＋城市体检＋经营性收入足额覆盖本息 · 不得接受任何政府隐性增信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C8102E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23" name="Shape 2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持有运营端：全生命周期产品菜单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028700" y="2139315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产品（按生命周期）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8906" y="2139315"/>
            <a:ext cx="807749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期限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49025" y="2139315"/>
            <a:ext cx="575737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成数 / 上限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2428875"/>
            <a:ext cx="10363200" cy="0"/>
          </a:xfrm>
          <a:prstGeom prst="line">
            <a:avLst/>
          </a:prstGeom>
          <a:noFill/>
          <a:ln w="19050">
            <a:solidFill>
              <a:srgbClr val="2B2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847975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267075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686175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105275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524375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943475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5362575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8700" y="25736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住房租赁开发建设贷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8906" y="2573655"/>
            <a:ext cx="807749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一般3年/最长5年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49025" y="2573655"/>
            <a:ext cx="57573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对象含园区、村集体、企事业单位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8700" y="29927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住房租赁团体购房贷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8906" y="2992755"/>
            <a:ext cx="807749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≤30 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49025" y="2992755"/>
            <a:ext cx="57573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评估值 80% · 批量收存量闲置房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8700" y="34118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租赁经营性贷（自有产权）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8906" y="3411855"/>
            <a:ext cx="807749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≤20 年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49025" y="3411855"/>
            <a:ext cx="57573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28700" y="38309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租赁经营性贷（非自有产权改造）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8906" y="3830955"/>
            <a:ext cx="807749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≤5 年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49025" y="3830955"/>
            <a:ext cx="57573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应收租金 70%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8700" y="42500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经营性物业贷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8906" y="4250055"/>
            <a:ext cx="807749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≤15 年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49025" y="4250055"/>
            <a:ext cx="57573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评估值 70% · 到期早于产权证≥5年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28700" y="46691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商业地产购买贷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8906" y="4669155"/>
            <a:ext cx="807749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一般10年/最长15年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49025" y="4669155"/>
            <a:ext cx="57573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企业自有资金付首付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28700" y="50882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RMBS / CMBS / REITs / 扩募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8906" y="5088255"/>
            <a:ext cx="807749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49025" y="5088255"/>
            <a:ext cx="57573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退出通道 · 分派率要求研究优化中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14400" y="5461635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《意见》四-五章 · 商业地产办法 · 证监会（保障房开发贷保本微利、利率一般低于商品住房开发贷）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开发-持有-退出闭环跑通：资管产业链开闸；分派率若下调将抬高今天收购定价（研判推断）——「开发商」与「持有商」物种分化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Shape 9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经纪中介：回归交易信用基础设施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524000" y="1552575"/>
            <a:ext cx="97536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1533525"/>
            <a:ext cx="6096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1769745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旧：信贷分销商（签约即放款即佣金）→ 新：交易信用基础设施（验真、撮合与数据价值回归）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280035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3907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三刀切掉金融化收入：赎楼被带押过户终结、预售按揭代办消失、返点渠道终结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342900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0194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验真即护城河：真房源/真成交/真带看成为银行风控数据外采对象，数据变现名正言顺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" y="405765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6480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改善链加速器：量的修复先于价——全国二手 -6.3→-5.4，北京 -8.7→-4.5 领先 0.9pct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4400" y="468630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2767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现房分销账期重写：「高费率＋长账期」取代「低费率＋快回款」，向头部平台集中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14400" y="531495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9053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租赁与家装二三曲线：团购房贷（≤30年/80%）推动机构化收房放量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55340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约束仍在：全国销售 -11.8%、二手价格 -5.4%（2026-07）——政策不创造增量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个贷第10/17/20/22/23/24条 · 开发贷第13/14条 · 全国二手序列指标 S2707425（国家统计局/Wind EDB）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数据评估：升格国家风控基础设施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E7DC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9200" y="173355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600" y="1714500"/>
            <a:ext cx="6096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19507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旧：额度的化妆师 → 新：国家风控基础设施——评估不再创造额度，只验证价值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9600" y="28003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「孰低原则」：按单流水线终结，责任定价开始——向「头部＋可担责」集中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1432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增量在存量重估：36 万亿级按揭每年重估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9600" y="34861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第二生态位：工程量核验（放款进度＝实物进度＋竣工备案）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9600" y="38290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第三生态位：不动产现金流数据服务——数据不撒谎者获得定价权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个贷第19/25条 · 商地第13/36条 · 信托第11/48/59-60条 · 证监会第9条 · 《意见》第34条（全口径统计指标体系）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数据评估对标：Cotality 数据底座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171700"/>
            <a:ext cx="1948815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226945"/>
            <a:ext cx="194881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157M+ CLIP · 匹配率 99.2%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39415" y="2171700"/>
            <a:ext cx="1171385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39415" y="2226945"/>
            <a:ext cx="117138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22,000+ 数据源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2495550"/>
            <a:ext cx="1758125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550795"/>
            <a:ext cx="175812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550 亿+ 记录 · 50 年纵深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8725" y="2495550"/>
            <a:ext cx="1706118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8725" y="2550795"/>
            <a:ext cx="170611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 1,100 亿次 API 调用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2819400"/>
            <a:ext cx="2323529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874645"/>
            <a:ext cx="232352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全成本 5-6 亿美元/年·35-40% 营收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48400" y="22288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对标样本：Cotality（原 CoreLogic）约 30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48400" y="24955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年渐进建设，服务按揭/保险/MLS/资本市场/政府五大客群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48400" y="28384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五阶段路径：承继（县级公共记录）→并购拼图→CLIP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48400" y="31051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统一标识→数据工厂→保鲜机制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48400" y="34480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中国时刻：制度已经开票——每项条款都是一份数据采购的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48400" y="37147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法律授权书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48400" y="40576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中国版 CLIP 主键：权籍/网签号跨省归并者占 backbone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48400" y="44005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三强格局：国家队·平台数据商·AVM 运营商（研判推断）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城投：降维为存量资产运营商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1371600" y="3213164"/>
            <a:ext cx="5465064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194114"/>
            <a:ext cx="4572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07474"/>
            <a:ext cx="12192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旧：土地财政的杠杆放大器 → 新：存量资产运营商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989064" y="1771650"/>
            <a:ext cx="4288536" cy="432435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9564" y="2419350"/>
            <a:ext cx="3907536" cy="89535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436739" y="2686050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9564" y="28022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17764" y="260794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跑道① 保租房闭环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8017764" y="2851785"/>
            <a:ext cx="113538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保障房开发贷（保本微利）→ 团购房贷批量收存量房 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17764" y="3013710"/>
            <a:ext cx="113538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租赁经营性贷 → REITs/扩募退出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79564" y="3448050"/>
            <a:ext cx="3907536" cy="97155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36739" y="3752850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9564" y="38690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17764" y="363664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跑道② 城更实施主体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8017764" y="38957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入库＋经营性收入覆盖＋银团＋经营权收费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8017764" y="409575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权质押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7179564" y="4552950"/>
            <a:ext cx="3907536" cy="97155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436739" y="4857750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9564" y="49739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17764" y="474154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跑道③ 持有型商业/产业园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8017764" y="50006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经营性物业贷 / CMBS / 商业 REITs ＋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8017764" y="520065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信托第29条「信托+AMC」处置通道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两条旧管道被拔掉；拆成城市运营商 vs 平台清退户；保租房闭环有退出有倍数（研判推断）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沉默角色：AMC 在编、散户退场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2053209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71575" y="2257997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374202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52600" y="2241804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AMC · 在编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752600" y="2500884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信托第29条官方盖章「共同处置、化解房地产项目存量风险」——从沉默接盘者变成有编制的风险处置合作方，特殊机会投资赛道制度化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914400" y="2958084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71575" y="3162872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279077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52600" y="3146679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灰色助贷 · 出局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752600" y="3405759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名单制＋「不得与非法贷款中介合作」＋风控核心银行独立开展——包装首付、包装收入的生意被定点清除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914400" y="3862959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171575" y="4067747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183952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52600" y="4051554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散户投资人 · 退场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752600" y="4310634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非标地产信托只卖非自然人（占比≥50% 即全部机构）＋48 小时冷静期＋不得承诺收益——散户被请出地产金融化餐桌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914400" y="4767834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171575" y="4972622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088827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52600" y="4956429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旧规则体系 · 终结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1752600" y="5215509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1998 年银发 190 号文、央行 2003-2016 九个通知、信托三项 2008-2010 旧规废止——「补丁版」时代结束，「版本号」时代开始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信托第29/30/34条 · 个贷第23条 · 废止条款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总结·一：三重再分配的完成时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24000" y="2190750"/>
            <a:ext cx="97536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171700"/>
            <a:ext cx="6096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4079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把十二章横向连起来看：不是十二个孤立的变化，而是同一件事在三个维度上的系统性完成。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2914650"/>
            <a:ext cx="5029200" cy="97155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3219450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3356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52600" y="310324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知情权 · 流向项目托管人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752600" y="33623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主办行封闭账户成为第一知情人；并购尽调降本；评估「可审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752600" y="356235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计地知情」；平台成交数据升格为交易信用基础设施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914400" y="4019550"/>
            <a:ext cx="5029200" cy="97155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171575" y="4324350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405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52600" y="420814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控制权 · 上收至项目层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752600" y="44672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集团资金池拆掉→项目封闭账户→支付受托制→购房款进监管账户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752600" y="466725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：钱跟项目走，不跟老板走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914400" y="5124450"/>
            <a:ext cx="5029200" cy="97155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5429250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5454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752600" y="531304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责任 · 从事后到事前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752600" y="55721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每个角色事前签字（进度/披露/管理人/价值/真伪/白名单），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752600" y="577215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薪酬递延＋追索扣回——写进岗位而非应急预案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6248400" y="29718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更深一层：风险产权的界定（行业的科斯时刻）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248400" y="33147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每类风险第一次有了主人与价格（研判推断）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Shape 9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1.19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总结·二：付费者三层与三个预言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14400" y="2358581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949006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显性付费者：高杠杆房企·通道信托·灰色助贷·小评估所——旧利润＝制度租金，随制度一并取消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2987231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577656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隐性付费者：地方政府·银行体系——以短期成本换长期牌照价值（付费被对冲部分补偿）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4400" y="3615881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206306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延期付费者：购房者以选择风险替换交付风险——50%/60% 红线＝强制预算约束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" y="4244531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83495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预言一：三年内期房销售占比降至三成以下，「准现房销售」成为主流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4873181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6360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预言二：主办银行制催生「项目信贷二级市场」（银团份额转让·开发贷 ABS）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509225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预言三：出现 3-5 家「F+EPC+O」千亿级涉房建筑/城投运营商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验证锚：封顶/竣工后销售占比 · 银团转让成交量 · 建筑央企涉房资产占比（均为研判推断）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总结·三：失灵条件、时序与互证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14400" y="2644521"/>
            <a:ext cx="75057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68246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四个失灵变量：银行惜贷·并购容量不足·现金流注水·核验被俘获——成败不在条文，在未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234946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 12 个月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3273171"/>
            <a:ext cx="75057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63596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传导时序：个贷第37条新老划断缓冲切换期；信托 2027-03-01 施行、存量到期结清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3901821"/>
            <a:ext cx="75057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492246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观察节奏：2026Q4 白名单覆盖与投放 · 2027H1 按揭余额止跌 · 2027-03 信托切换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4797171"/>
            <a:ext cx="75057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120896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数据互证：全国销售 -11.8%、投资 -19.2%（2026-07）——政策底 ≠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387596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市场底，制度底座先行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5016246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市场底分城市到来：北京 +1.4% 转正、南京新房 -1.8%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5282946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修复——每个角色已在正确的位置上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收束：交付风险归房企、信用风险归主办行、市场风险归购房者、流动性风险归资本市场——交付的定价说明书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C8102E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28" name="Shape 2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结语：谁获益、谁付费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028700" y="2272284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 → 新身份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31829" y="2272284"/>
            <a:ext cx="987457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一句话净效应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188716" y="2272284"/>
            <a:ext cx="791768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 → 新身份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91845" y="2272284"/>
            <a:ext cx="571455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一句话净效应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2561844"/>
            <a:ext cx="8382000" cy="0"/>
          </a:xfrm>
          <a:prstGeom prst="line">
            <a:avLst/>
          </a:prstGeom>
          <a:noFill/>
          <a:ln w="19050">
            <a:solidFill>
              <a:srgbClr val="2B2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980944"/>
            <a:ext cx="83820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400044"/>
            <a:ext cx="83820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819144"/>
            <a:ext cx="83820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238244"/>
            <a:ext cx="83820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657344"/>
            <a:ext cx="83820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076444"/>
            <a:ext cx="83820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700" y="270662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购房者 → 风控条款消费者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31829" y="2706624"/>
            <a:ext cx="987457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交付风险↓、选择风险↑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88716" y="2706624"/>
            <a:ext cx="791768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主办银行 → 责任承包商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91845" y="2704719"/>
            <a:ext cx="57145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责任↑、数据垄断↑、集中度↑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028700" y="3123819"/>
            <a:ext cx="12077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开发商 → 制造业化项目经理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3231829" y="3123819"/>
            <a:ext cx="98745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杠杆红利清零，产品力定价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5188716" y="3123819"/>
            <a:ext cx="79176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上市房企 → 重新获邀发行人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7391845" y="3125724"/>
            <a:ext cx="571455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并购重组是真主角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8700" y="3542919"/>
            <a:ext cx="12077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建筑央企 → 参照涉房准房企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3231829" y="3544824"/>
            <a:ext cx="987457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最被低估的赢家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88716" y="3544824"/>
            <a:ext cx="791768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 信托 → 被收编外包资管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91845" y="3544824"/>
            <a:ext cx="571455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通道终结；两赛道重生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28700" y="396392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 地方政府 → 有席位合伙人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31829" y="3963924"/>
            <a:ext cx="987457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权力↑、资金链↓；卖项目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88716" y="3962019"/>
            <a:ext cx="79176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 运营端 → 全周期菜单持有者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7391845" y="3963924"/>
            <a:ext cx="571455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资管产业链开闸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28700" y="438302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 经纪 → 交易信用基础设施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31829" y="4383024"/>
            <a:ext cx="987457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金融收入剥离；验真回归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88716" y="4383024"/>
            <a:ext cx="791768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 数据评估 → 风控基础设施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91845" y="4383024"/>
            <a:ext cx="571455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存量重估是最大增量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28700" y="480212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十一 城投 → 存量资产运营商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231829" y="4802124"/>
            <a:ext cx="987457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信用定价切换为资产定价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88716" y="4802124"/>
            <a:ext cx="791768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十二 沉默角色 → 分化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91845" y="4800219"/>
            <a:ext cx="57145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制度化、灰色清零、机构化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914400" y="5175504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结语表 · 十二主体（双栏排布，内容与完整报告一致）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总收束：旧模式赚「预期」的钱，新模式只能赚「交付」的钱——1+N 文件体系就是交付的定价说明书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601200" y="685800"/>
            <a:ext cx="1676400" cy="5410200"/>
          </a:xfrm>
          <a:prstGeom prst="roundRect">
            <a:avLst>
              <a:gd name="adj" fmla="val 6818"/>
            </a:avLst>
          </a:prstGeom>
          <a:solidFill>
            <a:srgbClr val="C8102E"/>
          </a:solidFill>
          <a:ln/>
        </p:spPr>
      </p:sp>
      <p:sp>
        <p:nvSpPr>
          <p:cNvPr id="49" name="Text 47"/>
          <p:cNvSpPr/>
          <p:nvPr/>
        </p:nvSpPr>
        <p:spPr>
          <a:xfrm>
            <a:off x="9829800" y="1005840"/>
            <a:ext cx="2362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1.21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8686800" y="2415540"/>
            <a:ext cx="3505200" cy="14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9600" dirty="0"/>
          </a:p>
        </p:txBody>
      </p:sp>
      <p:sp>
        <p:nvSpPr>
          <p:cNvPr id="51" name="Shape 49"/>
          <p:cNvSpPr/>
          <p:nvPr/>
        </p:nvSpPr>
        <p:spPr>
          <a:xfrm>
            <a:off x="9829800" y="5372100"/>
            <a:ext cx="2667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9829800" y="5608320"/>
            <a:ext cx="2362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10250" y="9906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12649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数据与条款来源披露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809750" y="296799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条款均引自《意见》及配套办法原文（条号以文件正文为准）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09750" y="3272790"/>
            <a:ext cx="121920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宏观数据：Wind CLI/EDB（央行、国家统计局）· 月度至 2026-07、季度至 2026Q2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809750" y="350139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指标代码可溯源（W1409719、S2707425 等六组序列）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809750" y="378333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 南京销售面积市统计局口径更新滞后（最新 2026-02），已如实标注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09750" y="4072890"/>
            <a:ext cx="121920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 第十章 Cotality 部分引自对标研究 V1（公司公开口径，2026-08-28），仅作能力参照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809750" y="430149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 测算口径：100 万/3.06%/等额本息 · 50bp×36.29 万亿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0" y="60198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贝壳政研通（zyt）通道全程调用，未透出数值明细——定量以 Wind 指标交付，全程未编造数字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535305" y="383857"/>
            <a:ext cx="1593533" cy="57912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9113" y="419100"/>
            <a:ext cx="1501140" cy="78867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9110" y="451485"/>
            <a:ext cx="1380173" cy="98488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298" y="481965"/>
            <a:ext cx="1234440" cy="116109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6723" y="507683"/>
            <a:ext cx="1066800" cy="131730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5290" y="529590"/>
            <a:ext cx="879158" cy="144970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0" y="547688"/>
            <a:ext cx="675323" cy="155448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853" y="561023"/>
            <a:ext cx="461010" cy="1631632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705" y="568643"/>
            <a:ext cx="235267" cy="167925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85020" y="5323522"/>
            <a:ext cx="2916555" cy="1675447"/>
          </a:xfrm>
          <a:custGeom>
            <a:avLst/>
            <a:gdLst/>
            <a:ahLst/>
            <a:cxnLst/>
            <a:rect l="l" t="t" r="r" b="b"/>
            <a:pathLst>
              <a:path w="2916555" h="1675447">
                <a:moveTo>
                  <a:pt x="2916555" y="1241108"/>
                </a:moveTo>
                <a:lnTo>
                  <a:pt x="2702243" y="1220153"/>
                </a:lnTo>
                <a:lnTo>
                  <a:pt x="2491740" y="1190625"/>
                </a:lnTo>
                <a:lnTo>
                  <a:pt x="2284095" y="1152525"/>
                </a:lnTo>
                <a:lnTo>
                  <a:pt x="2081212" y="1105853"/>
                </a:lnTo>
                <a:lnTo>
                  <a:pt x="1880235" y="1050608"/>
                </a:lnTo>
                <a:lnTo>
                  <a:pt x="1683068" y="986790"/>
                </a:lnTo>
                <a:lnTo>
                  <a:pt x="1489710" y="913447"/>
                </a:lnTo>
                <a:lnTo>
                  <a:pt x="1299210" y="831533"/>
                </a:lnTo>
                <a:lnTo>
                  <a:pt x="1112520" y="740093"/>
                </a:lnTo>
                <a:lnTo>
                  <a:pt x="928688" y="640080"/>
                </a:lnTo>
                <a:lnTo>
                  <a:pt x="748665" y="530543"/>
                </a:lnTo>
                <a:lnTo>
                  <a:pt x="571500" y="412433"/>
                </a:lnTo>
                <a:lnTo>
                  <a:pt x="398145" y="283845"/>
                </a:lnTo>
                <a:lnTo>
                  <a:pt x="227648" y="146685"/>
                </a:lnTo>
                <a:lnTo>
                  <a:pt x="60960" y="0"/>
                </a:lnTo>
                <a:lnTo>
                  <a:pt x="0" y="59055"/>
                </a:lnTo>
                <a:lnTo>
                  <a:pt x="152400" y="225743"/>
                </a:lnTo>
                <a:lnTo>
                  <a:pt x="311468" y="384810"/>
                </a:lnTo>
                <a:lnTo>
                  <a:pt x="474345" y="534353"/>
                </a:lnTo>
                <a:lnTo>
                  <a:pt x="642938" y="676275"/>
                </a:lnTo>
                <a:lnTo>
                  <a:pt x="817245" y="810578"/>
                </a:lnTo>
                <a:lnTo>
                  <a:pt x="997268" y="936308"/>
                </a:lnTo>
                <a:lnTo>
                  <a:pt x="1182053" y="1052513"/>
                </a:lnTo>
                <a:lnTo>
                  <a:pt x="1373505" y="1161097"/>
                </a:lnTo>
                <a:lnTo>
                  <a:pt x="1569720" y="1261110"/>
                </a:lnTo>
                <a:lnTo>
                  <a:pt x="1770698" y="1352550"/>
                </a:lnTo>
                <a:lnTo>
                  <a:pt x="1978343" y="1434465"/>
                </a:lnTo>
                <a:lnTo>
                  <a:pt x="2190750" y="1508760"/>
                </a:lnTo>
                <a:lnTo>
                  <a:pt x="2407920" y="1572578"/>
                </a:lnTo>
                <a:lnTo>
                  <a:pt x="2630805" y="1628775"/>
                </a:lnTo>
                <a:lnTo>
                  <a:pt x="2859405" y="1675447"/>
                </a:lnTo>
                <a:close/>
              </a:path>
            </a:pathLst>
          </a:custGeom>
          <a:solidFill>
            <a:srgbClr val="C8102E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73653" y="5350193"/>
            <a:ext cx="2217420" cy="1041082"/>
          </a:xfrm>
          <a:custGeom>
            <a:avLst/>
            <a:gdLst/>
            <a:ahLst/>
            <a:cxnLst/>
            <a:rect l="l" t="t" r="r" b="b"/>
            <a:pathLst>
              <a:path w="2217420" h="1041082">
                <a:moveTo>
                  <a:pt x="2217420" y="831532"/>
                </a:moveTo>
                <a:lnTo>
                  <a:pt x="2056448" y="820102"/>
                </a:lnTo>
                <a:lnTo>
                  <a:pt x="1898333" y="802005"/>
                </a:lnTo>
                <a:lnTo>
                  <a:pt x="1742123" y="778192"/>
                </a:lnTo>
                <a:lnTo>
                  <a:pt x="1587818" y="747713"/>
                </a:lnTo>
                <a:lnTo>
                  <a:pt x="1436370" y="711517"/>
                </a:lnTo>
                <a:lnTo>
                  <a:pt x="1285875" y="668655"/>
                </a:lnTo>
                <a:lnTo>
                  <a:pt x="1139190" y="620077"/>
                </a:lnTo>
                <a:lnTo>
                  <a:pt x="993458" y="564832"/>
                </a:lnTo>
                <a:lnTo>
                  <a:pt x="850583" y="503872"/>
                </a:lnTo>
                <a:lnTo>
                  <a:pt x="708660" y="435292"/>
                </a:lnTo>
                <a:lnTo>
                  <a:pt x="570548" y="360997"/>
                </a:lnTo>
                <a:lnTo>
                  <a:pt x="433388" y="280988"/>
                </a:lnTo>
                <a:lnTo>
                  <a:pt x="299085" y="193357"/>
                </a:lnTo>
                <a:lnTo>
                  <a:pt x="166688" y="100013"/>
                </a:lnTo>
                <a:lnTo>
                  <a:pt x="36195" y="0"/>
                </a:lnTo>
                <a:lnTo>
                  <a:pt x="0" y="43815"/>
                </a:lnTo>
                <a:lnTo>
                  <a:pt x="124778" y="153352"/>
                </a:lnTo>
                <a:lnTo>
                  <a:pt x="253365" y="256222"/>
                </a:lnTo>
                <a:lnTo>
                  <a:pt x="384810" y="353377"/>
                </a:lnTo>
                <a:lnTo>
                  <a:pt x="520065" y="444817"/>
                </a:lnTo>
                <a:lnTo>
                  <a:pt x="657225" y="530542"/>
                </a:lnTo>
                <a:lnTo>
                  <a:pt x="798195" y="609600"/>
                </a:lnTo>
                <a:lnTo>
                  <a:pt x="941070" y="681990"/>
                </a:lnTo>
                <a:lnTo>
                  <a:pt x="1087755" y="748665"/>
                </a:lnTo>
                <a:lnTo>
                  <a:pt x="1238250" y="809625"/>
                </a:lnTo>
                <a:lnTo>
                  <a:pt x="1390650" y="863917"/>
                </a:lnTo>
                <a:lnTo>
                  <a:pt x="1546860" y="911542"/>
                </a:lnTo>
                <a:lnTo>
                  <a:pt x="1705928" y="953452"/>
                </a:lnTo>
                <a:lnTo>
                  <a:pt x="1866900" y="988695"/>
                </a:lnTo>
                <a:lnTo>
                  <a:pt x="2032635" y="1018222"/>
                </a:lnTo>
                <a:lnTo>
                  <a:pt x="2200275" y="1041082"/>
                </a:lnTo>
                <a:close/>
              </a:path>
            </a:pathLst>
          </a:custGeom>
          <a:solidFill>
            <a:srgbClr val="1F3A5F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1066800"/>
            <a:ext cx="228600" cy="2286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10515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1575435"/>
            <a:ext cx="11277600" cy="150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900" i="1" dirty="0">
                <a:solidFill>
                  <a:srgbClr val="C810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从赚「预期」到赚</a:t>
            </a:r>
            <a:endParaRPr lang="en-US" sz="9900" dirty="0"/>
          </a:p>
        </p:txBody>
      </p:sp>
      <p:sp>
        <p:nvSpPr>
          <p:cNvPr id="17" name="Text 15"/>
          <p:cNvSpPr/>
          <p:nvPr/>
        </p:nvSpPr>
        <p:spPr>
          <a:xfrm>
            <a:off x="914400" y="2937510"/>
            <a:ext cx="11277600" cy="150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900" i="1" dirty="0">
                <a:solidFill>
                  <a:srgbClr val="C810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「交付」</a:t>
            </a:r>
            <a:endParaRPr lang="en-US" sz="9900" dirty="0"/>
          </a:p>
        </p:txBody>
      </p:sp>
      <p:sp>
        <p:nvSpPr>
          <p:cNvPr id="18" name="Shape 16"/>
          <p:cNvSpPr/>
          <p:nvPr/>
        </p:nvSpPr>
        <p:spPr>
          <a:xfrm>
            <a:off x="914400" y="5162550"/>
            <a:ext cx="10363200" cy="0"/>
          </a:xfrm>
          <a:prstGeom prst="line">
            <a:avLst/>
          </a:prstGeom>
          <a:noFill/>
          <a:ln w="13335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5054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806440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智见点评团队</a:t>
            </a:r>
            <a:endParaRPr lang="en-US" sz="21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