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开场：本报告分析 2026-08-27 央行、金监总局印发的《意见》及配套试行办法全集（开发贷、个贷、商业地产、城市更新四个办法，信托办法 2027-03-01 施行），以及证监会 2025-12-27 文件；九项 2003-2016 年央行旧通知与 1998 年《个人住房贷款管理办法》同步废止。分析框架：这套文件体系重新分配的不是钱，而是知情权、控制权、责任三样更根本的东西。v5.1 融合五位专家首轮评审＋第二轮深化增量修订。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这一页是全篇主基调。三个要点：一是政策函数切换有数据背书——利率走平五个季度而余额仍降，只剩制度变量；二是 g 与周期工具是并联关系，g 管十年、周期工具管当下十二个月，不能互相替代；三是制度底座先行、市场底未确认，L 型磨底仍需 2-3 年。另注意 v5.1 的两处精确化表述：收缩而非拆除，科斯式起点而非科斯时刻。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总论三要素：这套文件体系重新分配的不是钱，而是知情权、控制权、责任。每章按旧身份、新身份、条款咬合、反直觉推论四段展开，v5 增补第十三章新入场者七类主体。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为什么是现在、为什么是这个形状：预售制从来不是销售方式，而是一项隐性金融制度；1+N 把它显性化后收缩其融资功能。旧模式建立在三重错位之上，其中激励错位是制度变迁的根因。文件群形态是双刃剑——统一了监管口径，但执行依赖监管力度，行业宪法尚未成文。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数据底座五组数据：按揭余额连续八个季度净减、利率走平五个季度、量价双弱且跌幅二次走阔——这是 1+N 放弃总量刺激、转向期限时点结构三类工具的现实背景。分城市看，北京领先、南京滞后，市场底不是同一个底。增补口径来自专家评审：租金回报率约 2% 出头低于 3% 资金成本、净息差约 1.5%、土地出让金接近腰斩、收储贴息约 3 万亿规模。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购房者从体系的影子出资人变成被写进风控条款的消费者。关键反直觉：40 年期限降低的是月供门槛、抬高的是终身利息成本，银行真正审核的是收入不是月供；红线既是保护条款也是需求收缩条款。50%/60% 红线与 40 年期限对边际购房者的挤出尚未被量化。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主办银行从资金贩子变成责任承包商。三个要点：工程监理岗是新 to-B 行业；项目信息独占是项目级优势而非城市级垄断；惜贷是理性——净息差约 1.5% 叠加测算 B 的息差冲击，责任无限、对价稀薄。新数据租金之雷是下一轮制度设计必须回答的问题。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开发商集团信用被没收，从金融家降维回项目经理。新增第二轮内容：周转率语义从资金周转变成交付周期；存量土储处置——以地融资通道全断后，历史高价地减值与被动退地是行业出清的下一战场。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上市房企收到一封印着基于项目四个字的再上市邀请函。真正的主角不是再融资而是并购重组。第二轮补强：谁当整合者——三方竞争，整合者未必是同行，取决于谁能最先把项目级真实报表转化为整合能力。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建筑央企从最被低估的赢家降级为方向对、节奏慢、约束硬。三重证伪：通道不等于弹药、能不等于会、REITs 出口与坏资产矛盾。更现实的路径是轻资产先跑和以房抵债转自持。参照涉房是准入不是激励，预言三中位约 30%。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信托从影子银行通道变成被收编的外包资管。资金出口被银行接管，但留下三个新物种身份。监管要的是小而精的地产专业户。注意两万亿级通道为估算口径待核。2027 年 3 月 1 日施行，影子端有一年过渡。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地方政府从场外操盘手变成有席位的合伙人。两个关键：一是职能席位是条文固化而非首创；二是资金链被掐后必须从卖地转向卖项目，但过渡期现金流缺口——土地出让金接近腰斩——是第七章隐含的最大悬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持有与运营端第一次拿到全生命周期产品菜单。关键判断：资管产业链开工许可证发下来了，但两道闸门未答——租金回报率约 2% 出头低于 3% 资金成本的定价闸门，以及险资养老金偿二代约束的买方闸门。产品菜单的钱从哪来未答。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经纪中介从信贷分销商回归交易信用基础设施。三个层次：三刀切掉金融化收入；验真即护城河但方向性成立、时点性存疑——两座最真之山、23 条反向读法、谁为验真付费悬空；改善链加速器有机制归因——量的修复先于价的政策根源是需求导向存量市场。边界钉死：收窄不等于转正。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数据与评估机构升格为国家风控基础设施。评估不再单方面创造额度。三个生态位：存量重估、工程量核验、现金流数据服务。Cotality 对标说明中国数据基建需求被制度开票、缺统一标识而富制度性交易流水，三强格局定型。警惕新数据租金之雷。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城投两条旧现金管道被拔掉，留下三条合法跑道。托底拿地角色的死亡比房企暴雷更深刻。市场化运营主体资格是城投分化生死线——城市运营商对平台清退户。保租房闭环是第一个投入有退出、退出有倍数的盈利模型，但定价闸门未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沉默角色四件事：AMC 获得编制化处置通道、灰色助贷被定点清除、散户被请出地产金融化餐桌、旧规则体系谢幕。第二轮增补被看见的代价三类：滞留乘客、中小银行及储户股东、中小代理从业者——这是交付定价说明书的人力与损失分配背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第十三章补列七类在 v4 缺席或一笔带过的主体：公积金中心、险资养老金、物业公司、外资特殊机会基金、施工企业应收款链条、多套房持有者、卖旧买新存量业主。附好房子条款升格——开发贷优先支持好房子项目，品质供给第一次有了信贷价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六点：三重再分配、科斯式起点（含第二轮校准——拒贷是配给不是价格）、付费者三层、失灵五变量、传导时序、最大不确定性。科斯式起点的真检验是开发贷利差分项目评级分层序列；定价已落地、交易是半成品。收束：成败不在条文，在未来 12 个月每个签字者的选择。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三个可证伪预言的概率聚合：预言一中位约 45-55%、预言二约 50%（分歧最大）、预言三约 30%（最脆弱）。验证锚都做了修正：预言一要防供应收缩造成的分母萎缩被误读为现房化；预言二补了风险定价真检验——开发贷利差分项目评级分层序列；预言三千亿级按管理规模计。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来源披露：条款引自文件原文；宏观数据 Wind EDB 指标代码级可溯源；分城市数据 70 城指数与地方统计局；政研通通道调用验证但未透出明细，定量以 Wind 为准；测算与研判推断分标；Cotality 为公开口径对标。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收尾：旧模式里所有人都在赚预期的钱，新模式里所有人只能赚交付的钱——这份 1+N 文件体系就是交付的定价说明书。制度底座先行、市场底未确认；g 管十年、周期工具管当下十二个月，两者并联缺一不可。先立后破，立已到位，破在执行。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>
            <a:off x="535305" y="383857"/>
            <a:ext cx="1593533" cy="579120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9113" y="419100"/>
            <a:ext cx="1501140" cy="788670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9110" y="451485"/>
            <a:ext cx="1380173" cy="984885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298" y="481965"/>
            <a:ext cx="1234440" cy="1161098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6723" y="507683"/>
            <a:ext cx="1066800" cy="1317308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5290" y="529590"/>
            <a:ext cx="879158" cy="1449705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1000" y="547688"/>
            <a:ext cx="675323" cy="1554480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3853" y="561023"/>
            <a:ext cx="461010" cy="1631632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6705" y="568643"/>
            <a:ext cx="235267" cy="1679258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85020" y="5323522"/>
            <a:ext cx="2916555" cy="1675447"/>
          </a:xfrm>
          <a:custGeom>
            <a:avLst/>
            <a:gdLst/>
            <a:ahLst/>
            <a:cxnLst/>
            <a:rect l="l" t="t" r="r" b="b"/>
            <a:pathLst>
              <a:path w="2916555" h="1675447">
                <a:moveTo>
                  <a:pt x="2916555" y="1241108"/>
                </a:moveTo>
                <a:lnTo>
                  <a:pt x="2702243" y="1220153"/>
                </a:lnTo>
                <a:lnTo>
                  <a:pt x="2491740" y="1190625"/>
                </a:lnTo>
                <a:lnTo>
                  <a:pt x="2284095" y="1152525"/>
                </a:lnTo>
                <a:lnTo>
                  <a:pt x="2081212" y="1105853"/>
                </a:lnTo>
                <a:lnTo>
                  <a:pt x="1880235" y="1050608"/>
                </a:lnTo>
                <a:lnTo>
                  <a:pt x="1683068" y="986790"/>
                </a:lnTo>
                <a:lnTo>
                  <a:pt x="1489710" y="913447"/>
                </a:lnTo>
                <a:lnTo>
                  <a:pt x="1299210" y="831533"/>
                </a:lnTo>
                <a:lnTo>
                  <a:pt x="1112520" y="740093"/>
                </a:lnTo>
                <a:lnTo>
                  <a:pt x="928688" y="640080"/>
                </a:lnTo>
                <a:lnTo>
                  <a:pt x="748665" y="530543"/>
                </a:lnTo>
                <a:lnTo>
                  <a:pt x="571500" y="412433"/>
                </a:lnTo>
                <a:lnTo>
                  <a:pt x="398145" y="283845"/>
                </a:lnTo>
                <a:lnTo>
                  <a:pt x="227648" y="146685"/>
                </a:lnTo>
                <a:lnTo>
                  <a:pt x="60960" y="0"/>
                </a:lnTo>
                <a:lnTo>
                  <a:pt x="0" y="59055"/>
                </a:lnTo>
                <a:lnTo>
                  <a:pt x="152400" y="225743"/>
                </a:lnTo>
                <a:lnTo>
                  <a:pt x="311468" y="384810"/>
                </a:lnTo>
                <a:lnTo>
                  <a:pt x="474345" y="534353"/>
                </a:lnTo>
                <a:lnTo>
                  <a:pt x="642938" y="676275"/>
                </a:lnTo>
                <a:lnTo>
                  <a:pt x="817245" y="810578"/>
                </a:lnTo>
                <a:lnTo>
                  <a:pt x="997268" y="936308"/>
                </a:lnTo>
                <a:lnTo>
                  <a:pt x="1182053" y="1052513"/>
                </a:lnTo>
                <a:lnTo>
                  <a:pt x="1373505" y="1161097"/>
                </a:lnTo>
                <a:lnTo>
                  <a:pt x="1569720" y="1261110"/>
                </a:lnTo>
                <a:lnTo>
                  <a:pt x="1770698" y="1352550"/>
                </a:lnTo>
                <a:lnTo>
                  <a:pt x="1978343" y="1434465"/>
                </a:lnTo>
                <a:lnTo>
                  <a:pt x="2190750" y="1508760"/>
                </a:lnTo>
                <a:lnTo>
                  <a:pt x="2407920" y="1572578"/>
                </a:lnTo>
                <a:lnTo>
                  <a:pt x="2630805" y="1628775"/>
                </a:lnTo>
                <a:lnTo>
                  <a:pt x="2859405" y="1675447"/>
                </a:lnTo>
                <a:close/>
              </a:path>
            </a:pathLst>
          </a:custGeom>
          <a:solidFill>
            <a:srgbClr val="C8102E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173653" y="5350193"/>
            <a:ext cx="2217420" cy="1041082"/>
          </a:xfrm>
          <a:custGeom>
            <a:avLst/>
            <a:gdLst/>
            <a:ahLst/>
            <a:cxnLst/>
            <a:rect l="l" t="t" r="r" b="b"/>
            <a:pathLst>
              <a:path w="2217420" h="1041082">
                <a:moveTo>
                  <a:pt x="2217420" y="831532"/>
                </a:moveTo>
                <a:lnTo>
                  <a:pt x="2056448" y="820102"/>
                </a:lnTo>
                <a:lnTo>
                  <a:pt x="1898333" y="802005"/>
                </a:lnTo>
                <a:lnTo>
                  <a:pt x="1742123" y="778192"/>
                </a:lnTo>
                <a:lnTo>
                  <a:pt x="1587818" y="747713"/>
                </a:lnTo>
                <a:lnTo>
                  <a:pt x="1436370" y="711517"/>
                </a:lnTo>
                <a:lnTo>
                  <a:pt x="1285875" y="668655"/>
                </a:lnTo>
                <a:lnTo>
                  <a:pt x="1139190" y="620077"/>
                </a:lnTo>
                <a:lnTo>
                  <a:pt x="993458" y="564832"/>
                </a:lnTo>
                <a:lnTo>
                  <a:pt x="850583" y="503872"/>
                </a:lnTo>
                <a:lnTo>
                  <a:pt x="708660" y="435292"/>
                </a:lnTo>
                <a:lnTo>
                  <a:pt x="570548" y="360997"/>
                </a:lnTo>
                <a:lnTo>
                  <a:pt x="433388" y="280988"/>
                </a:lnTo>
                <a:lnTo>
                  <a:pt x="299085" y="193357"/>
                </a:lnTo>
                <a:lnTo>
                  <a:pt x="166688" y="100013"/>
                </a:lnTo>
                <a:lnTo>
                  <a:pt x="36195" y="0"/>
                </a:lnTo>
                <a:lnTo>
                  <a:pt x="0" y="43815"/>
                </a:lnTo>
                <a:lnTo>
                  <a:pt x="124778" y="153352"/>
                </a:lnTo>
                <a:lnTo>
                  <a:pt x="253365" y="256222"/>
                </a:lnTo>
                <a:lnTo>
                  <a:pt x="384810" y="353377"/>
                </a:lnTo>
                <a:lnTo>
                  <a:pt x="520065" y="444817"/>
                </a:lnTo>
                <a:lnTo>
                  <a:pt x="657225" y="530542"/>
                </a:lnTo>
                <a:lnTo>
                  <a:pt x="798195" y="609600"/>
                </a:lnTo>
                <a:lnTo>
                  <a:pt x="941070" y="681990"/>
                </a:lnTo>
                <a:lnTo>
                  <a:pt x="1087755" y="748665"/>
                </a:lnTo>
                <a:lnTo>
                  <a:pt x="1238250" y="809625"/>
                </a:lnTo>
                <a:lnTo>
                  <a:pt x="1390650" y="863917"/>
                </a:lnTo>
                <a:lnTo>
                  <a:pt x="1546860" y="911542"/>
                </a:lnTo>
                <a:lnTo>
                  <a:pt x="1705928" y="953452"/>
                </a:lnTo>
                <a:lnTo>
                  <a:pt x="1866900" y="988695"/>
                </a:lnTo>
                <a:lnTo>
                  <a:pt x="2032635" y="1018222"/>
                </a:lnTo>
                <a:lnTo>
                  <a:pt x="2200275" y="1041082"/>
                </a:lnTo>
                <a:close/>
              </a:path>
            </a:pathLst>
          </a:custGeom>
          <a:solidFill>
            <a:srgbClr val="1F3A5F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0"/>
            <a:ext cx="4876800" cy="685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95300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1905000"/>
                </a:moveTo>
                <a:lnTo>
                  <a:pt x="0" y="0"/>
                </a:lnTo>
                <a:lnTo>
                  <a:pt x="1905000" y="1905000"/>
                </a:lnTo>
                <a:close/>
              </a:path>
            </a:pathLst>
          </a:custGeom>
          <a:solidFill>
            <a:srgbClr val="004C38"/>
          </a:solidFill>
          <a:ln/>
        </p:spPr>
      </p:sp>
      <p:sp>
        <p:nvSpPr>
          <p:cNvPr id="16" name="Text 14"/>
          <p:cNvSpPr/>
          <p:nvPr/>
        </p:nvSpPr>
        <p:spPr>
          <a:xfrm>
            <a:off x="609600" y="2752725"/>
            <a:ext cx="115824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75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一场「角色重写」</a:t>
            </a:r>
            <a:endParaRPr lang="en-US" sz="3375" dirty="0"/>
          </a:p>
        </p:txBody>
      </p:sp>
      <p:sp>
        <p:nvSpPr>
          <p:cNvPr id="17" name="Text 15"/>
          <p:cNvSpPr/>
          <p:nvPr/>
        </p:nvSpPr>
        <p:spPr>
          <a:xfrm>
            <a:off x="609600" y="3219450"/>
            <a:ext cx="115824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75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：1+N</a:t>
            </a:r>
            <a:endParaRPr lang="en-US" sz="3375" dirty="0"/>
          </a:p>
        </p:txBody>
      </p:sp>
      <p:sp>
        <p:nvSpPr>
          <p:cNvPr id="18" name="Text 16"/>
          <p:cNvSpPr/>
          <p:nvPr/>
        </p:nvSpPr>
        <p:spPr>
          <a:xfrm>
            <a:off x="609600" y="3686175"/>
            <a:ext cx="115824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75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新政与十二类主体</a:t>
            </a:r>
            <a:endParaRPr lang="en-US" sz="3375" dirty="0"/>
          </a:p>
        </p:txBody>
      </p:sp>
      <p:sp>
        <p:nvSpPr>
          <p:cNvPr id="19" name="Shape 17"/>
          <p:cNvSpPr/>
          <p:nvPr/>
        </p:nvSpPr>
        <p:spPr>
          <a:xfrm>
            <a:off x="5486400" y="1371600"/>
            <a:ext cx="228600" cy="2286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0" y="1356360"/>
            <a:ext cx="11734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5486400" y="2133600"/>
            <a:ext cx="5791200" cy="0"/>
          </a:xfrm>
          <a:prstGeom prst="line">
            <a:avLst/>
          </a:prstGeom>
          <a:noFill/>
          <a:ln w="13335">
            <a:solidFill>
              <a:srgbClr val="E7DC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354580"/>
            <a:ext cx="67056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智见点评团队</a:t>
            </a:r>
            <a:pPr algn="l" indent="0" marL="0">
              <a:buNone/>
            </a:pPr>
            <a:r>
              <a:rPr lang="en-US" sz="195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·    2026-08-29</a:t>
            </a:r>
            <a:pPr algn="l" indent="0" marL="0">
              <a:buNone/>
            </a:pPr>
            <a:r>
              <a:rPr lang="en-US" sz="195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·    v5.1</a:t>
            </a:r>
            <a:endParaRPr lang="en-US" sz="19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0"/>
            <a:ext cx="12192000" cy="2133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80772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主基调：制度底座先行，市场底未确认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914400" y="3146679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政策函数：f(热度) → g(架构)——利率 3.06% 走平五季而余额仍降（Wind EDB，央行）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3489579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 管十年，周期工具管当下十二个月——并联，缺一不可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832479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制度底座先行，市场底未确认：销售 -11.8%、开发投资 -19.2%（2026-07）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4175379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「收缩融资功能、保留销售功能」；「科斯式起点」而非「科斯时刻」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主基调（五专家收敛）：制度底座先行，市场底未确认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v5.1 · 2026-08-29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810250" y="9906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0" y="1264920"/>
            <a:ext cx="121920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总论：重新分配的是知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0" y="1922145"/>
            <a:ext cx="121920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情权、控制权、责任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1809750" y="343452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知情权：谁能看见项目——主办银行独占项目级信息，平台与数据机构被要求「可审计地知情」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809750" y="377742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控制权：谁摸得着资金——一个项目一个封闭水池，用款审核与划拨收敛到主办银行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809750" y="412032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责任：谁为风险签字——主办行、评估、审计、管理人签字背书，责任第一次写进岗位而非应急预案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809750" y="446322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每个主体按「旧身份 → 新身份 → 条款咬合 → 反直觉推论」展开，共十三章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0" y="60198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分析框架：知情权 · 控制权 · 责任 ｜ 结构：总论 + 十三章 + 总结 + 结语表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v5.1 · 2026-08-29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10871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为什么是现在：隐性金融制度显性化与收缩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7086600" y="1771650"/>
            <a:ext cx="0" cy="4095750"/>
          </a:xfrm>
          <a:prstGeom prst="line">
            <a:avLst/>
          </a:prstGeom>
          <a:noFill/>
          <a:ln w="9525">
            <a:solidFill>
              <a:srgbClr val="E7DCC8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39000" y="1771650"/>
            <a:ext cx="4038600" cy="1933575"/>
          </a:xfrm>
          <a:prstGeom prst="roundRect">
            <a:avLst>
              <a:gd name="adj" fmla="val 2956"/>
            </a:avLst>
          </a:prstGeom>
          <a:noFill/>
          <a:ln w="9525">
            <a:solidFill>
              <a:srgbClr val="E7DCC8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39000" y="3933825"/>
            <a:ext cx="4038600" cy="1933575"/>
          </a:xfrm>
          <a:prstGeom prst="roundRect">
            <a:avLst>
              <a:gd name="adj" fmla="val 2956"/>
            </a:avLst>
          </a:prstGeom>
          <a:noFill/>
          <a:ln w="9525">
            <a:solidFill>
              <a:srgbClr val="E7DCC8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39000" y="3819525"/>
            <a:ext cx="4038600" cy="0"/>
          </a:xfrm>
          <a:prstGeom prst="line">
            <a:avLst/>
          </a:prstGeom>
          <a:noFill/>
          <a:ln w="9525">
            <a:solidFill>
              <a:srgbClr val="E7DCC8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683002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预售制是隐性金融制度：购房者无抵押、无知情权、最后受偿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3025902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总钥匙：显性化（监管账户/受托支付）＋收缩融资、保留销售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3368802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三重错位：融资主体、信息结构、激励错位（根因，诺斯式路径）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3711702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1+N 是口径统一非立法固化：能快进，也能快改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4054602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行业「宪法」尚未成文：住房/土地/财税三翼未联动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为什么是现在：销售 -11.8%、开发投资 -19.2%、余额净减 1.61 万亿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v5.1 · 2026-08-29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0"/>
            <a:ext cx="12192000" cy="2133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80772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数据底座：利率钝化、余额连降、投资探底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1028700" y="2415540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指标（Wind EDB）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248837" y="2415540"/>
            <a:ext cx="9857563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最新值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37055" y="2415540"/>
            <a:ext cx="676934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关键变化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14400" y="2705100"/>
            <a:ext cx="10363200" cy="0"/>
          </a:xfrm>
          <a:prstGeom prst="line">
            <a:avLst/>
          </a:prstGeom>
          <a:noFill/>
          <a:ln w="19050">
            <a:solidFill>
              <a:srgbClr val="2B20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124200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543300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962400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4381500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8700" y="28498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个人住房贷款余额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48837" y="2849880"/>
            <a:ext cx="985756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36.29 万亿（2026-06）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37055" y="2849880"/>
            <a:ext cx="676934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较峰值 37.90 万亿净减 1.61 万亿（-4.2%）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8700" y="32689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按揭利率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48837" y="3268980"/>
            <a:ext cx="985756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 3.05% / 新发放 3.06%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37055" y="3268980"/>
            <a:ext cx="676934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走平五季度，弹性钝化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28700" y="36880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销售面积累计同比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48837" y="3688080"/>
            <a:ext cx="985756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-11.8%（2026-07）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37055" y="3688080"/>
            <a:ext cx="676934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2026-02 曾探 -13.5%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28700" y="41071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 城新宅价格同比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48837" y="4107180"/>
            <a:ext cx="985756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-3.4%（2026-07）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37055" y="4107180"/>
            <a:ext cx="676934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2025-10 最窄 -2.6% 后走阔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4400" y="4480560"/>
            <a:ext cx="121920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 EDB（央行、国家统计局），月度至 2026-07、季度至 2026Q2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14400" y="47815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北京：销售 5 月转正 +1.4%、二手 -8.7→-4.5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14400" y="51244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南京：新房 -1.8%、二手 -5.4% 仍深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14400" y="54673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租金约 2% 出头 vs 3% 成本；净息差约 1.5%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制度变量只修供给侧，不创造需求——市场底未确认（研判推断）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v5.1 · 2026-08-29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10871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购房者：影子出资人→风控条款消费者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7086600" y="1771650"/>
            <a:ext cx="0" cy="4095750"/>
          </a:xfrm>
          <a:prstGeom prst="line">
            <a:avLst/>
          </a:prstGeom>
          <a:noFill/>
          <a:ln w="9525">
            <a:solidFill>
              <a:srgbClr val="E7DCC8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39000" y="1771650"/>
            <a:ext cx="4038600" cy="1933575"/>
          </a:xfrm>
          <a:prstGeom prst="roundRect">
            <a:avLst>
              <a:gd name="adj" fmla="val 2956"/>
            </a:avLst>
          </a:prstGeom>
          <a:noFill/>
          <a:ln w="9525">
            <a:solidFill>
              <a:srgbClr val="E7DCC8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39000" y="3933825"/>
            <a:ext cx="4038600" cy="1933575"/>
          </a:xfrm>
          <a:prstGeom prst="roundRect">
            <a:avLst>
              <a:gd name="adj" fmla="val 2956"/>
            </a:avLst>
          </a:prstGeom>
          <a:noFill/>
          <a:ln w="9525">
            <a:solidFill>
              <a:srgbClr val="E7DCC8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39000" y="3819525"/>
            <a:ext cx="4038600" cy="0"/>
          </a:xfrm>
          <a:prstGeom prst="line">
            <a:avLst/>
          </a:prstGeom>
          <a:noFill/>
          <a:ln w="9525">
            <a:solidFill>
              <a:srgbClr val="E7DCC8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5527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年期限＝过 50% 红线的技术手段；测算 A：购买力 +17.5%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28956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测算 C：久期 8-10→11-14 年，居民减负、银行加久期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32385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年月供 4247 元/利息 52.9 万 vs 40 年 3614/73.5 万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35814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月供降约 15%、总利息升约 39%（+20.6 万，测算口径）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39243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期房「挤出」而非「劝退」：现房化只能小步慢走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2672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存量降 50bp 年减负约 1814 亿，是「减负」非「引擎」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红线既是保护条款，也是需求收缩条款（测算口径）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v5.1 · 2026-08-29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810250" y="9906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0" y="1264920"/>
            <a:ext cx="121920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主办银行：资金贩子→责任承包商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809750" y="2766441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条款：一项目一行（第7-8条）、进度匹配放款（第15条）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809750" y="3109341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信托资金划拨由主办行执行（信托第21-22条）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809750" y="3452241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 to-B 行业：银行内部诞生「工程监理岗」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809750" y="3795141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项目信息独占：项目级优势，非城市级数据垄断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809750" y="4138041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惜贷是理性：净息差约 1.5%；测算 B：息差约 -4bp/-1~-2bp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809750" y="4480941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新数据租金之雷：谁审计数据垄断者？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0" y="60198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主办行身份第一次是负债而非资产（估算口径）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v5.1 · 2026-08-29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914400"/>
            <a:ext cx="38100" cy="5181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Shape 9"/>
          <p:cNvSpPr/>
          <p:nvPr/>
        </p:nvSpPr>
        <p:spPr>
          <a:xfrm>
            <a:off x="409575" y="847725"/>
            <a:ext cx="133350" cy="13335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18750"/>
            </a:avLst>
          </a:prstGeom>
          <a:solidFill>
            <a:srgbClr val="C8102E"/>
          </a:solidFill>
          <a:ln/>
        </p:spPr>
      </p:sp>
      <p:sp>
        <p:nvSpPr>
          <p:cNvPr id="13" name="Text 11"/>
          <p:cNvSpPr/>
          <p:nvPr/>
        </p:nvSpPr>
        <p:spPr>
          <a:xfrm>
            <a:off x="0" y="998220"/>
            <a:ext cx="2438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1.7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714500" y="885825"/>
            <a:ext cx="1047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开发商：金融家降维回项目经理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" y="2622233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条款：资金不得混同（第13条）、风险分评（第4条）、禁缴地价贷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2965133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八个瓶七个盖被没收：行业被迫变得像制造业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3308033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从垫资甲方变成被垫资乙方：现金流切换经营驱动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3650933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周转率语义在变：资金周转→交付周期，拉长 2-3 年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3993832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存量土储：「以地融资」全断，减值与被动退地是下一战场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土地市场被釜底抽薪（验证数据待补：城投拿地占比，中指口径）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v5.1 · 2026-08-29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685800"/>
            <a:ext cx="10363200" cy="838200"/>
          </a:xfrm>
          <a:prstGeom prst="roundRect">
            <a:avLst>
              <a:gd name="adj" fmla="val 2273"/>
            </a:avLst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950595"/>
            <a:ext cx="110490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上市房企：「基于项目」再上市邀请函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14400" y="2732913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条款：全通道重开＋「基于项目」（第6/8/9条）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3075813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真正的主角是并购重组：项目级资产被好公司批量接走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418713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项目级真实报表→并购尽调成本骤降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3761613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谁当整合者：同行/央企/城投三方竞争，未必是同行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104513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保荐审计变成无限连带看门人：会计所分层拒单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整合者身份决定出清后的行业结构（研判推断）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v5.1 · 2026-08-29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810250" y="9906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0" y="1264920"/>
            <a:ext cx="121920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建筑央企：方向对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0" y="1922145"/>
            <a:ext cx="121920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、节奏慢、约束硬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1809750" y="3304223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条款：「参照涉房」可收购涉房资产并募集配套资金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809750" y="3647123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三重证伪：通道≠弹药、能≠会、出口与坏资产矛盾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809750" y="3990023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负债率 75-80%、施工毛利 2-4%、2018-2021 减值教训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809750" y="4332923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路径：轻资产先跑（代建＋EPC+O）＋以房抵债转自持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809750" y="4675823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「参照涉房」是准入不是激励：预言三中位约 30%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0" y="60198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建筑央企：方向对、节奏慢、约束硬（研判推断）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v5.1 · 2026-08-29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838200"/>
            <a:ext cx="10363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352550"/>
            <a:ext cx="112776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信托：影子通道被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914400" y="1971675"/>
            <a:ext cx="112776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收编为外包资管</a:t>
            </a:r>
            <a:endParaRPr lang="en-US" sz="4500" dirty="0"/>
          </a:p>
        </p:txBody>
      </p:sp>
      <p:sp>
        <p:nvSpPr>
          <p:cNvPr id="13" name="Text 11"/>
          <p:cNvSpPr/>
          <p:nvPr/>
        </p:nvSpPr>
        <p:spPr>
          <a:xfrm>
            <a:off x="914400" y="3283267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条款：三道杠准入（第16条）、专户托管（第21-22条）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626167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集中度 ≤5%/≤20%（第45条）；散户退场＋48h 冷静期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3969067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2027-03-01 施行、存量到期结清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311967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三个新物种：AMC 合作方、私有 REITs 前置仓、服务信托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4654867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小而精地产专业户：特殊机会＋服务信托两条赛道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4997767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「两万亿通道」为估算口径，以信托业协会为准（待补）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0" y="5494020"/>
            <a:ext cx="112776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4800" dirty="0">
                <a:solidFill>
                  <a:srgbClr val="6E5A50">
                    <a:alpha val="30000"/>
                  </a:srgbClr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11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914400" y="60198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信托：被「收编」——影子端有一年过渡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v5.1 · 2026-08-29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139190"/>
            <a:ext cx="11277600" cy="43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地方政府：有席位，但资金链被掐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914400" y="2706624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条款：白名单直报（第26条）、联防联控（第12条）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3049524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城更办法：禁隐性增信、禁净地前补偿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3392424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职能席位条文固化——是「固化」非「首创」（2024 已有实践）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735324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资金链被掐：从「卖地」转向「卖项目给资本」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4078224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土地出让金自 8.7 万亿峰值接近腰斩——最大悬案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地方政府：有席位的合伙人——权力↑、资金链↓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801100" y="685800"/>
            <a:ext cx="2476500" cy="5410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8805863" y="690563"/>
            <a:ext cx="2466975" cy="5400675"/>
          </a:xfrm>
          <a:prstGeom prst="roundRect">
            <a:avLst>
              <a:gd name="adj" fmla="val 7722"/>
            </a:avLst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94520" y="2846070"/>
            <a:ext cx="1089660" cy="1089660"/>
          </a:xfrm>
          <a:prstGeom prst="ellipse">
            <a:avLst/>
          </a:prstGeom>
          <a:solidFill>
            <a:srgbClr val="C8102E">
              <a:alpha val="1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734550" y="420243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21" name="Shape 19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v5.1 · 2026-08-29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685800"/>
            <a:ext cx="10363200" cy="838200"/>
          </a:xfrm>
          <a:prstGeom prst="roundRect">
            <a:avLst>
              <a:gd name="adj" fmla="val 2273"/>
            </a:avLst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950595"/>
            <a:ext cx="110490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持有运营端：全生命周期产品菜单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14400" y="2732913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产品菜单：开发贷→团购房贷（≤30 年/80%）→经营贷→物业贷→REITs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3075813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「开发商」与「持有商」物种分化：资管产业链开工许可证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418713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两道闸门：定价（租金约 2% 出头 vs 3% 资金成本）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3761613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买方闸门：险资/养老金偿二代约束未讨论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104513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分派率若下调→收购定价抬升：团租与央企先受益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持有运营端：第一次拿到「全生命周期产品菜单」（测算口径）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v5.1 · 2026-08-29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914400"/>
            <a:ext cx="38100" cy="5181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Shape 9"/>
          <p:cNvSpPr/>
          <p:nvPr/>
        </p:nvSpPr>
        <p:spPr>
          <a:xfrm>
            <a:off x="409575" y="847725"/>
            <a:ext cx="133350" cy="13335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18750"/>
            </a:avLst>
          </a:prstGeom>
          <a:solidFill>
            <a:srgbClr val="C8102E"/>
          </a:solidFill>
          <a:ln/>
        </p:spPr>
      </p:sp>
      <p:sp>
        <p:nvSpPr>
          <p:cNvPr id="13" name="Text 11"/>
          <p:cNvSpPr/>
          <p:nvPr/>
        </p:nvSpPr>
        <p:spPr>
          <a:xfrm>
            <a:off x="0" y="998220"/>
            <a:ext cx="2438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714500" y="885825"/>
            <a:ext cx="1047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经纪中介：回归交易信用基础设施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" y="2491931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三刀切掉金融化收入：赎楼、期房代办、返点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2834831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验真即护城河：方向性成立、时点性存疑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3177731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两座「最真」的山：专户流水 vs 平台数据；23 条反向读法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3520631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谁为验真付费悬空：《意见》第 34 条是否列平台为法定来源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386353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量的修复先于价：全国 -6.3→-5.4、北京 -8.7→-4.5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20643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边界钉死：收窄≠转正；北京≠全国（研判推断）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贝壳式经纪：回归「交易信用基础设施」（方向性成立、时点性存疑）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v5.1 · 2026-08-29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09600" y="887730"/>
            <a:ext cx="115824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数据评估：升格国家风控基础设施</a:t>
            </a:r>
            <a:endParaRPr lang="en-US" sz="3450" dirty="0"/>
          </a:p>
        </p:txBody>
      </p:sp>
      <p:sp>
        <p:nvSpPr>
          <p:cNvPr id="11" name="Shape 9"/>
          <p:cNvSpPr/>
          <p:nvPr/>
        </p:nvSpPr>
        <p:spPr>
          <a:xfrm>
            <a:off x="609600" y="1543050"/>
            <a:ext cx="457200" cy="0"/>
          </a:xfrm>
          <a:prstGeom prst="line">
            <a:avLst/>
          </a:prstGeom>
          <a:noFill/>
          <a:ln w="38100">
            <a:solidFill>
              <a:srgbClr val="D4A01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6800" y="1543050"/>
            <a:ext cx="10515600" cy="0"/>
          </a:xfrm>
          <a:prstGeom prst="line">
            <a:avLst/>
          </a:prstGeom>
          <a:noFill/>
          <a:ln w="15240">
            <a:solidFill>
              <a:srgbClr val="E7DC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9600" y="245935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条款：孰低原则（第19条）、年重估（第25条）、封顶 70%（第36条）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9600" y="280225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评估不再单方面创造额度——仍是定价输入而非唯一坐标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9600" y="314515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三个生态位：存量重估、工程量核验、现金流数据服务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600" y="348805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Cotality 对标：157M+ 标识、22,000+ 源、成本约 35-42 亿/年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83095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三强格局：国家队、平台型数据商、AVM 化头部评估所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9600" y="417385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警惕新数据租金之雷（谁审计数据持有者）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09600" y="6400800"/>
            <a:ext cx="11582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数据与评估机构：升格「国家风控基础设施」（公司公开口径）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v5.1 · 2026-08-29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0934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城投：降维为存量资产运营商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914400" y="2639568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条款：禁隐性增信（第13条）、禁净地前补偿（第8条）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982468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市场化运营主体＋经营性收入覆盖（第7/11条）、银团（第9条）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3325368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两条旧管道被拔掉：一级垫资、托底拿地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668268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三条跑道：保租房闭环、城市更新主体、持有型商业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4011168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两个物种：城市运营商 vs 平台清退户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354068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保租房定价闸门未开：租金约 2% 出头 vs 3% 成本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60579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城投：降维（或升级）为「存量资产运营商」（测算口径）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v5.1 · 2026-08-29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685800"/>
            <a:ext cx="10363200" cy="838200"/>
          </a:xfrm>
          <a:prstGeom prst="roundRect">
            <a:avLst>
              <a:gd name="adj" fmla="val 2273"/>
            </a:avLst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950595"/>
            <a:ext cx="110490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沉默角色与三类被看见的代价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14400" y="2602611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AMC：信托第 29 条盖章——有编制的风险处置合作方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945511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灰色助贷：名单制＋独立核验——包装生意定点清除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288411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散户：只卖非自然人＋48h 冷静期——退出金融化餐桌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3631311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旧规则谢幕：「补丁版」结束，「版本号」开始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3974211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被看见的代价：滞留乘客、中小银行及储户股东、中小代理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4317111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三类代价：保障缺位、损失分配未定、收入断崖未量化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沉默角色：AMC 在编、助贷出局、散户退场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v5.1 · 2026-08-29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838200"/>
            <a:ext cx="10363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352550"/>
            <a:ext cx="112776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新入场者：七类主体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914400" y="1971675"/>
            <a:ext cx="112776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与「好房子」条款</a:t>
            </a:r>
            <a:endParaRPr lang="en-US" sz="4500" dirty="0"/>
          </a:p>
        </p:txBody>
      </p:sp>
      <p:sp>
        <p:nvSpPr>
          <p:cNvPr id="13" name="Text 11"/>
          <p:cNvSpPr/>
          <p:nvPr/>
        </p:nvSpPr>
        <p:spPr>
          <a:xfrm>
            <a:off x="914400" y="3283267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公积金中心：最重大缺席——红线衔接与利差优势待重估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626167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险资/养老金：终局买方，偿二代约束未讨论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3969067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物业公司：社区入口与存量服务端的隐藏受益者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311967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外资特殊机会基金：信贷二级市场与不良受让潜在买方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4654867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施工应收款链、多套房持有者、存量业主（省约 4.5 万/单）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4997767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「好房子」条款升格（开发贷第 13/14 条）：品质有信贷价格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0" y="5494020"/>
            <a:ext cx="112776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4800" dirty="0">
                <a:solidFill>
                  <a:srgbClr val="6E5A50">
                    <a:alpha val="30000"/>
                  </a:srgbClr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18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914400" y="60198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第十三章 新入场者（专家评审增补主体）——制度接续点与隐藏受益者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v5.1 · 2026-08-29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10871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总结：科斯式起点与五变量失灵条件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914400" y="2576322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三重再分配：知情权、控制权（钱跟项目走）、责任（事前签字）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919222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科斯式起点：四类风险归位，定价经利差/拨备/折价间接实现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3262122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真检验：开发贷利差分项目评级分层序列（拒贷是配给非价格）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605022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定价已落地（产品＞运营＞融资）；交易维度是半成品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3947922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失灵五变量：惜贷①、注水②、数据断供③、俘获④、通道⑤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290822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时序：2026Q4 白名单、2027H1 止跌（55-60% vs 70%+）；旧函数还魂是终局变量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收束：成败不在条文，在未来 12 个月每个签字者的选择（研判推断）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601200" y="685800"/>
            <a:ext cx="1676400" cy="5410200"/>
          </a:xfrm>
          <a:prstGeom prst="roundRect">
            <a:avLst>
              <a:gd name="adj" fmla="val 6818"/>
            </a:avLst>
          </a:prstGeom>
          <a:solidFill>
            <a:srgbClr val="C8102E"/>
          </a:solidFill>
          <a:ln/>
        </p:spPr>
      </p:sp>
      <p:sp>
        <p:nvSpPr>
          <p:cNvPr id="19" name="Text 17"/>
          <p:cNvSpPr/>
          <p:nvPr/>
        </p:nvSpPr>
        <p:spPr>
          <a:xfrm>
            <a:off x="9829800" y="1005840"/>
            <a:ext cx="23622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1.18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8686800" y="2415540"/>
            <a:ext cx="3505200" cy="1463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>
                    <a:alpha val="18000"/>
                  </a:srgbClr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01</a:t>
            </a:r>
            <a:endParaRPr lang="en-US" sz="9600" dirty="0"/>
          </a:p>
        </p:txBody>
      </p:sp>
      <p:sp>
        <p:nvSpPr>
          <p:cNvPr id="21" name="Shape 19"/>
          <p:cNvSpPr/>
          <p:nvPr/>
        </p:nvSpPr>
        <p:spPr>
          <a:xfrm>
            <a:off x="9829800" y="5372100"/>
            <a:ext cx="266700" cy="28575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829800" y="5608320"/>
            <a:ext cx="23622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v5.1 · 2026-08-29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685800"/>
            <a:ext cx="10363200" cy="838200"/>
          </a:xfrm>
          <a:prstGeom prst="roundRect">
            <a:avLst>
              <a:gd name="adj" fmla="val 2273"/>
            </a:avLst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950595"/>
            <a:ext cx="110490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三个可证伪预言：五专家概率聚合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028700" y="1958340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预言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305971" y="1958340"/>
            <a:ext cx="880042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五家概率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527061" y="1958340"/>
            <a:ext cx="557933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聚合判断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14400" y="2247900"/>
            <a:ext cx="10363200" cy="0"/>
          </a:xfrm>
          <a:prstGeom prst="line">
            <a:avLst/>
          </a:prstGeom>
          <a:noFill/>
          <a:ln w="19050">
            <a:solidFill>
              <a:srgbClr val="2B20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2667000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086100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505200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8700" y="23926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预言一：期房占比降至三成以下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05971" y="2392680"/>
            <a:ext cx="880042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65/55-65/45/40-50/30-40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27061" y="2392680"/>
            <a:ext cx="557933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中位约 45-55%，方向共识、量级分歧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8700" y="28117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预言二：项目信贷二级市场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05971" y="2811780"/>
            <a:ext cx="880042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35/35-45/55-60/55-60/50-60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27061" y="2811780"/>
            <a:ext cx="557933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中位约 50%，内部分歧最大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28700" y="32308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预言三：F+EPC+O 千亿级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05971" y="3230880"/>
            <a:ext cx="880042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50-55/20-30/30/40-50/25-30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527061" y="3230880"/>
            <a:ext cx="557933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中位约 30%，最脆弱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3604260"/>
            <a:ext cx="121920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v5.1 总结·六 五专家概率聚合（研判推断）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14400" y="41910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预言一主锚：封顶/竣工后取证占比＋归因分解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14400" y="45339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预言二主锚：开发贷 ABS 成交额＋利差分层序列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14400" y="48768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预言三先行信号：F+EPC 合同占比、合资项目数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三预言若全数落空，说明改革在执行层失速（研判推断）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v5.1 · 2026-08-29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810250" y="9906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0" y="1264920"/>
            <a:ext cx="121920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数据与条款来源披露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809750" y="2967990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[1] 条款引自《意见》及配套办法原文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809750" y="3234690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[2] 宏观数据：Wind EDB（央行/统计局），月度至 2026-07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809750" y="3501390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[3] 分城市：70 城房价指数与地方统计局；南京口径滞后已标注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809750" y="3768090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[4] 政研通通道验证，未透出明细——定量以 Wind 为准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809750" y="4034790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[5] 「测算」为测算口径；「研判推断」为分析性判断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809750" y="4301490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[6] Cotality 对标：公司公开口径（2026-08-28）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0" y="60198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v5.1 融合五专家首轮＋第二轮深化修订（2026-08-29）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v5.1 · 2026-08-29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>
            <a:off x="535305" y="383857"/>
            <a:ext cx="1593533" cy="579120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9113" y="419100"/>
            <a:ext cx="1501140" cy="788670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9110" y="451485"/>
            <a:ext cx="1380173" cy="984885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298" y="481965"/>
            <a:ext cx="1234440" cy="1161098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6723" y="507683"/>
            <a:ext cx="1066800" cy="1317308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5290" y="529590"/>
            <a:ext cx="879158" cy="1449705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1000" y="547688"/>
            <a:ext cx="675323" cy="1554480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3853" y="561023"/>
            <a:ext cx="461010" cy="1631632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6705" y="568643"/>
            <a:ext cx="235267" cy="1679258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85020" y="5323522"/>
            <a:ext cx="2916555" cy="1675447"/>
          </a:xfrm>
          <a:custGeom>
            <a:avLst/>
            <a:gdLst/>
            <a:ahLst/>
            <a:cxnLst/>
            <a:rect l="l" t="t" r="r" b="b"/>
            <a:pathLst>
              <a:path w="2916555" h="1675447">
                <a:moveTo>
                  <a:pt x="2916555" y="1241108"/>
                </a:moveTo>
                <a:lnTo>
                  <a:pt x="2702243" y="1220153"/>
                </a:lnTo>
                <a:lnTo>
                  <a:pt x="2491740" y="1190625"/>
                </a:lnTo>
                <a:lnTo>
                  <a:pt x="2284095" y="1152525"/>
                </a:lnTo>
                <a:lnTo>
                  <a:pt x="2081212" y="1105853"/>
                </a:lnTo>
                <a:lnTo>
                  <a:pt x="1880235" y="1050608"/>
                </a:lnTo>
                <a:lnTo>
                  <a:pt x="1683068" y="986790"/>
                </a:lnTo>
                <a:lnTo>
                  <a:pt x="1489710" y="913447"/>
                </a:lnTo>
                <a:lnTo>
                  <a:pt x="1299210" y="831533"/>
                </a:lnTo>
                <a:lnTo>
                  <a:pt x="1112520" y="740093"/>
                </a:lnTo>
                <a:lnTo>
                  <a:pt x="928688" y="640080"/>
                </a:lnTo>
                <a:lnTo>
                  <a:pt x="748665" y="530543"/>
                </a:lnTo>
                <a:lnTo>
                  <a:pt x="571500" y="412433"/>
                </a:lnTo>
                <a:lnTo>
                  <a:pt x="398145" y="283845"/>
                </a:lnTo>
                <a:lnTo>
                  <a:pt x="227648" y="146685"/>
                </a:lnTo>
                <a:lnTo>
                  <a:pt x="60960" y="0"/>
                </a:lnTo>
                <a:lnTo>
                  <a:pt x="0" y="59055"/>
                </a:lnTo>
                <a:lnTo>
                  <a:pt x="152400" y="225743"/>
                </a:lnTo>
                <a:lnTo>
                  <a:pt x="311468" y="384810"/>
                </a:lnTo>
                <a:lnTo>
                  <a:pt x="474345" y="534353"/>
                </a:lnTo>
                <a:lnTo>
                  <a:pt x="642938" y="676275"/>
                </a:lnTo>
                <a:lnTo>
                  <a:pt x="817245" y="810578"/>
                </a:lnTo>
                <a:lnTo>
                  <a:pt x="997268" y="936308"/>
                </a:lnTo>
                <a:lnTo>
                  <a:pt x="1182053" y="1052513"/>
                </a:lnTo>
                <a:lnTo>
                  <a:pt x="1373505" y="1161097"/>
                </a:lnTo>
                <a:lnTo>
                  <a:pt x="1569720" y="1261110"/>
                </a:lnTo>
                <a:lnTo>
                  <a:pt x="1770698" y="1352550"/>
                </a:lnTo>
                <a:lnTo>
                  <a:pt x="1978343" y="1434465"/>
                </a:lnTo>
                <a:lnTo>
                  <a:pt x="2190750" y="1508760"/>
                </a:lnTo>
                <a:lnTo>
                  <a:pt x="2407920" y="1572578"/>
                </a:lnTo>
                <a:lnTo>
                  <a:pt x="2630805" y="1628775"/>
                </a:lnTo>
                <a:lnTo>
                  <a:pt x="2859405" y="1675447"/>
                </a:lnTo>
                <a:close/>
              </a:path>
            </a:pathLst>
          </a:custGeom>
          <a:solidFill>
            <a:srgbClr val="C8102E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173653" y="5350193"/>
            <a:ext cx="2217420" cy="1041082"/>
          </a:xfrm>
          <a:custGeom>
            <a:avLst/>
            <a:gdLst/>
            <a:ahLst/>
            <a:cxnLst/>
            <a:rect l="l" t="t" r="r" b="b"/>
            <a:pathLst>
              <a:path w="2217420" h="1041082">
                <a:moveTo>
                  <a:pt x="2217420" y="831532"/>
                </a:moveTo>
                <a:lnTo>
                  <a:pt x="2056448" y="820102"/>
                </a:lnTo>
                <a:lnTo>
                  <a:pt x="1898333" y="802005"/>
                </a:lnTo>
                <a:lnTo>
                  <a:pt x="1742123" y="778192"/>
                </a:lnTo>
                <a:lnTo>
                  <a:pt x="1587818" y="747713"/>
                </a:lnTo>
                <a:lnTo>
                  <a:pt x="1436370" y="711517"/>
                </a:lnTo>
                <a:lnTo>
                  <a:pt x="1285875" y="668655"/>
                </a:lnTo>
                <a:lnTo>
                  <a:pt x="1139190" y="620077"/>
                </a:lnTo>
                <a:lnTo>
                  <a:pt x="993458" y="564832"/>
                </a:lnTo>
                <a:lnTo>
                  <a:pt x="850583" y="503872"/>
                </a:lnTo>
                <a:lnTo>
                  <a:pt x="708660" y="435292"/>
                </a:lnTo>
                <a:lnTo>
                  <a:pt x="570548" y="360997"/>
                </a:lnTo>
                <a:lnTo>
                  <a:pt x="433388" y="280988"/>
                </a:lnTo>
                <a:lnTo>
                  <a:pt x="299085" y="193357"/>
                </a:lnTo>
                <a:lnTo>
                  <a:pt x="166688" y="100013"/>
                </a:lnTo>
                <a:lnTo>
                  <a:pt x="36195" y="0"/>
                </a:lnTo>
                <a:lnTo>
                  <a:pt x="0" y="43815"/>
                </a:lnTo>
                <a:lnTo>
                  <a:pt x="124778" y="153352"/>
                </a:lnTo>
                <a:lnTo>
                  <a:pt x="253365" y="256222"/>
                </a:lnTo>
                <a:lnTo>
                  <a:pt x="384810" y="353377"/>
                </a:lnTo>
                <a:lnTo>
                  <a:pt x="520065" y="444817"/>
                </a:lnTo>
                <a:lnTo>
                  <a:pt x="657225" y="530542"/>
                </a:lnTo>
                <a:lnTo>
                  <a:pt x="798195" y="609600"/>
                </a:lnTo>
                <a:lnTo>
                  <a:pt x="941070" y="681990"/>
                </a:lnTo>
                <a:lnTo>
                  <a:pt x="1087755" y="748665"/>
                </a:lnTo>
                <a:lnTo>
                  <a:pt x="1238250" y="809625"/>
                </a:lnTo>
                <a:lnTo>
                  <a:pt x="1390650" y="863917"/>
                </a:lnTo>
                <a:lnTo>
                  <a:pt x="1546860" y="911542"/>
                </a:lnTo>
                <a:lnTo>
                  <a:pt x="1705928" y="953452"/>
                </a:lnTo>
                <a:lnTo>
                  <a:pt x="1866900" y="988695"/>
                </a:lnTo>
                <a:lnTo>
                  <a:pt x="2032635" y="1018222"/>
                </a:lnTo>
                <a:lnTo>
                  <a:pt x="2200275" y="1041082"/>
                </a:lnTo>
                <a:close/>
              </a:path>
            </a:pathLst>
          </a:custGeom>
          <a:solidFill>
            <a:srgbClr val="1F3A5F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1066800"/>
            <a:ext cx="228600" cy="2286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1051560"/>
            <a:ext cx="11734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14400" y="1575435"/>
            <a:ext cx="11277600" cy="1508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900" i="1" dirty="0">
                <a:solidFill>
                  <a:srgbClr val="C8102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从赚「预期」到赚</a:t>
            </a:r>
            <a:endParaRPr lang="en-US" sz="9900" dirty="0"/>
          </a:p>
        </p:txBody>
      </p:sp>
      <p:sp>
        <p:nvSpPr>
          <p:cNvPr id="17" name="Text 15"/>
          <p:cNvSpPr/>
          <p:nvPr/>
        </p:nvSpPr>
        <p:spPr>
          <a:xfrm>
            <a:off x="914400" y="2937510"/>
            <a:ext cx="11277600" cy="1508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900" i="1" dirty="0">
                <a:solidFill>
                  <a:srgbClr val="C8102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「交付」</a:t>
            </a:r>
            <a:endParaRPr lang="en-US" sz="9900" dirty="0"/>
          </a:p>
        </p:txBody>
      </p:sp>
      <p:sp>
        <p:nvSpPr>
          <p:cNvPr id="18" name="Shape 16"/>
          <p:cNvSpPr/>
          <p:nvPr/>
        </p:nvSpPr>
        <p:spPr>
          <a:xfrm>
            <a:off x="914400" y="5162550"/>
            <a:ext cx="10363200" cy="0"/>
          </a:xfrm>
          <a:prstGeom prst="line">
            <a:avLst/>
          </a:prstGeom>
          <a:noFill/>
          <a:ln w="13335">
            <a:solidFill>
              <a:srgbClr val="C810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50545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Contact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5806440"/>
            <a:ext cx="112776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智见点评团队</a:t>
            </a:r>
            <a:endParaRPr lang="en-US" sz="21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1980-01-01T00:00:00Z</dcterms:created>
  <dcterms:modified xsi:type="dcterms:W3CDTF">1980-01-01T00:00:00Z</dcterms:modified>
</cp:coreProperties>
</file>