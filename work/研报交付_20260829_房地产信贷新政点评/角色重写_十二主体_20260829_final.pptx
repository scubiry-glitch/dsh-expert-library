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开场：本报告分析 2026-08-27 央行、金监总局印发的《意见》及配套五部试行办法（开发贷、个贷、商业地产、城市更新，信托办法 2027-03-01 施行），加证监会 2025-12-27 文件；九项央行旧通知与 1998 年个贷办法同步废止。核心判断：这套文件重新分配的不是钱，而是知情权（谁能看见项目）、控制权（谁摸得着资金）、责任（谁为风险签字）三样更根本的东西。结构：总论（钥匙/三重错位/为什么 1+N/为什么现在/体系地图/数据底座/补充数据/观察清单）→十三章主体重写→总结（三重再分配/科斯式起点/三层付费者/预言表/失灵五变量/传导时序/数据互证/最大不确定性/收束）→结语表。精编版经五位独立评审专家两轮评审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论：先说破一层窗户纸——预售制从来不是销售方式，而是一项隐性金融制度，让购房者在房子建成前向开发商提供无抵押、无知情权、最后受偿的开发资金；烂尾不是消费纠纷，是没人认领的信用危机。钥匙：先显性化（购房款进监管账户、受托支付、专款专用，个贷 20-22 条），再收缩融资功能（还给开发贷、REITs、并购、不动产私募基金）、保留销售功能（能拿房、再还贷）；第 37 条新老划断决定收缩是渐进的，被拆掉的是预售的隐性融资属性。旧模式三重错位：融资主体、信息、激励。为什么是 1+N 不是一部大法：预售制金融化是全链条的，只能全口径堵截、分工具适配，七个文件第一次共用「基于项目」这把尺子；文件群的好处是快，代价是执行依赖监管力度——文件能快进，也能快改。为什么是现在：销售 -11.8%、投资 -19.2%、余额较峰值净减 1.61 万亿，旧引擎熄火、刺激边际收益归零。两句提醒连着说：g 管十年，周期工具（收库存、保主体、贴按揭）管当下十二个月，两者并联缺一不可；且这套文件只是金融子系统的总则，住房、土地、财税三翼配套尚未联动。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体系地图：央行与金监总局的《意见》是信贷总纲；金监总局四个办法分别管供给端（开发贷）、需求端（个贷）、持有运营端（商业地产）、存量盘活（城市更新，与住建部联署）；信托办法 2027-03-01 施行收编影子端；证监会 2025-12-27 文件打开权益与退出通道。文件群的好处是快（印发即适用于新签合同），代价是执行依赖监管力度。银行管过程、资本市场管结构、信托被收编、宏观审慎管总量——一次金融分工的升级，以下各章就是每个角色的岗位说明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数据底座：余额 36.29 万亿自峰值 37.90 连降 8 个季度、累计 -1.61 万亿（约 -4.2%）；利率存量 3.05%/新发 3.06% 连续四季走平、弹性钝化；销售 -11.8%（2 月曾探 -13.5%）；价格 -3.4% 再走阔；投资 -19.2% 持续探底。五组数据指向同一件事：利率走到历史低位而余额仍在降——周期性工具已经失效，只剩制度变量可用。但制度变量只修供给侧的风险归属，不创造需求：制度底座先行，市场底未确认，L 型磨底仍需 2-3 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图②：个人住房贷款余额八个季度从 37.56 升至 37.90 峰值（2025-03）后连降 8 个季度到 36.29 万亿，累计净减 1.61 万亿、约 -4.2%。信贷资产本身在收缩——这解释了为什么 1+N 在需求端用期限与时点工具、在供给端用制度工具，而不是总量刺激；与总论的政策函数判断互证：利率走平而余额仍降，周期性工具失效，只剩制度变量可用。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分城市快照：市场底不是一个底，是很多个。北京销售面积累计同比 +1.4%（5 月起转正 +0.6→+2.0→+1.4）、二手 -4.5%（1 月探底 -8.7 后连续 6 个月收窄）、新房 -2.3%、投资 -11.6% 浅于全国；南京销售 -13.5%（2026-02 口径滞后如实标注）、二手 -5.4%（探底 -8.6 后收窄但深度仍大于北京）、新房 -1.8%（3 月探底 -4.1 后修复弹性最大）、投资口径受限。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几组关键补充数据：租金回报率约 2% 出头对约 3% 资金成本，是持有型生意能否跑通的判据；土地出让金自 2021 年 8.7 万亿峰值接近腰斩；收储贴息测算约 3 万亿元、100-200 万套；商业银行净息差约 1.5%；存量按揭降 50bp 年减负约 1814 亿元、仅占居民可支配收入约 0.3%——是减负不是引擎；带押过户+利率置换单笔省约 4.5 万元（300 万贷款、30 天过桥、日万五测算口径）。观察清单（口径注明、待补）十三项：期房/现房占比基线、30 城二手成交量同比、涉宅用地成交与城投拿地占比、竣工面积同比、房企到位资金分项、新开工面积、克而瑞百强销售与集中度、白名单授信覆盖率、公积金贷款余额、货币化安置规模、收储专项债发行额、信托投向房地产余额、住户杠杆与收入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第一章 购房者：旧模式里购房者是全体系唯一没有风控部门的出资人；新规则补上风控部门——放款后置（22 条）、监管账户、带押过户（20 条）、存量利率置换（24 条）、展期（26 条）、50%/60% 硬红线（10 条）、40 年（13 条）。五个推论：①40 年是给「收入合格、月供不合格」的人扩容——月供降约 15%，同等月供能力可支撑本金上限提高约 17.5%，银行第一次依法保护性拒贷；红线也是需求收缩条款，挡掉多少边际购房者尚未有人量化。②居民端减负、银行端加久期：久期从约 8-10 年拉长到 11-14 年（估算），账簿利率风险与期限错配资本占用上升。③风险改形状：留下选择风险与时机风险，期房被挤出，第 37 条新老划断是缓冲垫，现房销售只能小步慢走。④存量利率经 24 条降 50bp，按 36.29 万亿余额年减负约 1814 亿元、占可支配收入约 0.3%。⑤购房者不是一个人：刚需/改善/投资客处境完全不同，红线按收入认定，一线刚需首当其冲。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 主办银行：一个项目只认一家主办行、账户结清前原则上不得变更（7-8 条）；放款与实物建设进度匹配（15 条）；销售回款优先还本项目贷款（16 条）；信托资金由主办行审核划拨、托管行与主办行同一法人（信托 21-22 条），违规点名处罚（57 条）。五个推论：①银行审工地，工程监理岗与第三方核验行业被凭空创造；②主办行成为项目信息独占者，实时数据成为信贷定价新坐标；③银行不敢抢的项目——中小行主动让出资格，出现项目资质分层；④惜贷是理性：净息差约 1.5%，存量再降 50bp 静态冲击约 -4bp、存款利率联动可对冲六七成、净影响约 -1~-2bp（估算）——责任无限对价稀薄，理性选择就是少做，这是全体系失灵的第一变量；⑤警惕新数据租金：主办行数据、平台数据、国家队统计三方并立，谁审计数据垄断者是下一轮制度设计必答题。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 开发商：项目单独建账、资金不得混同、不得划拨至集团或关联方、不得用于缴地价分红（13 条）；集团风险与项目风险分开评估（4 条）；全链条禁止缴土地出让金贷款（《意见》5 条）。五个推论：①行业第一次被迫变得像制造业，ROE 的杠杆项被拆掉；②开发商从垫资甲方变成被垫资乙方，现金流表从融资驱动切换为经营驱动；③土地市场釜底抽薪，土地买家集中在国资、城市更新基金和先有产业故事的主体；④周转率含义变了：期房转现房把项目周期拉长 2-3 年，只剩好房子溢价或轻资产化两条活路；⑤存量土储是下一个战场：以地融资通道全断，土储从融资工具变回纯成本项。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第四章 上市房企：证监会全通道重开——定增、并购重组（收购涉房资产+配套融资）、公司债滚动续发、ABS/CMBS、REITs 可发可扩募、不动产私募基金试点；准入突出基于项目、募集资金穿透监管、造假零容忍、严格执行退市。三个推论：①真正的主角是并购重组，出清终局是项目级资产被好公司批量接走；②封闭账户就是实时真实的第三方托管项目报表，尽调成本骤降；③中介变成无限连带看门人，出现会计所分层拒单。谁当整合者：同行头部房企（有能力但在缩表）、建筑央企（有通道有工程能力、受负债率考核约束）、城投（有地方协调力、受隐债红线约束）三方竞争——整合者未必是同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第五章 建筑央企：条款只有一句——建筑等密切相关行业的上市公司参照上市房企政策执行，可用股份、定向可转债、现金收购涉房资产并募集配套资金。方向对、节奏慢、约束硬，三道坎：①通道不等于弹药，负债率普遍 75-80%（行业口径）叠加两金压降与一利五率考核；②能干不等于会干，施工主业毛利 2-4%（行业口径）与重资产持有是两种回报结构；③REITs 出口与坏资产自相矛盾，2018-2021 央企纾困接盘的减值教训就在眼前。两条现实路径：轻资产先跑（代建+总承包+运营，不背融资）、以房抵债转自持（工程款债权换资产）。新玩家名单里会有穿工装的那批，但千亿级要按合同额和管理规模计。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第六章 信托：规则极严——非标准入三道杠（监管评级 2 级以上、净资产不低于 10 亿、近两年非连亏）；资金必须进主办行专户、托管行与主办行同一法人；集中度双限（房地产信托余额≤实收规模 5%、单一企业≤该余额 20%）；未上市股权原则禁止（已建成项目例外、单一项目≤净资产 25%）；非标过半只卖机构；48 小时冷静期；不得设预期收益率；薪酬递延加追索扣回；一项目一管理人。2027-03-01 施行、存量到期结清。两个判断：①资金出口被银行接管，但留了三个新身份——AMC 联手处置（29 条）、已建成优质资产投资（25% 条款开的门）、资产服务信托；②监管要小而精的地产专业户，行业收缩成特殊机会投资与不动产服务信托两条赛道（历史规模量级为估算口径）。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第七章 地方政府：新席位——白名单项目直报城市融资协调机制（开发贷 26 条）、债券违约处置配合注册地政府（证监会 11 条）、风险联防联控机制（12 条）、城市更新办法联署；协调机制和白名单 2024 年已是实践，新政的意义是第一次写进办法条文。被掐掉的资金链：缴地价贷款与一级开发财政垫资，必须从卖地给开发商转向卖项目给资本——城市更新项目库是新的招商产品手册。最大的悬案在过渡期：土地出让金自 2021 年 8.7 万亿峰值接近腰斩（财政部口径），卖项目的转型收益能否接得住下滑斜率，决定地方财政成色。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第八章 持有与运营端：完整产品线——租赁开发建设贷 3-5 年、租赁团体购房贷 ≤30 年/评估值 80%（批量收存量房）、租赁经营性贷（自有产权 ≤20 年/80%、改造 ≤5 年/应收租金 70%）、经营性物业贷 ≤15 年/评估值 70%、商业地产购买贷 10-15 年、RMBS/CMBS/REITs/扩募；保障房开发贷保本微利。运营阶段第一次与开发阶段平起平坐，资金闭环第一次在制度上跑通。但两道闸门未开：定价闸门——租金回报率约 2% 出头低于约 3% 资金成本（测算口径）；买方闸门——REITs 终局买家是保险养老金等长期资金，分派率要求若下调会反过来抬高今天的收购定价。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第九章 贝壳式经纪：旧模式平台吃两层钱——经纪佣金与衍生金融（赎楼过桥、按揭返点、首付包装、装修贷导流）。新政三刀：赎楼被带押过户终结（20 条）、新项目预售阶段按揭代办消失（22 条放款后置、存量按 37 条过渡）、返点渠道模式终结（23 条名单制+银行独立核验、17 条面谈+10 条红线）。价值回归两处各带问号：①验真与数据——专户流水是账户级的真、平台数据是更粗的补充真，平台不是唯一那座山；谁为验真付费取决于第 34 条全口径统计是否把平台数据列为法定来源，结论：方向成立、时点存疑。②撮合与换手——三件套让一揽子撮合深度翻倍，单笔省 15-30 天、约 4.5 万元（测算），换手摩擦下降理论上可提升均衡换手率 10-20%（必要不充分）；量的修复先于价有初步证据：全国二手 -6.3 筑底后连续 5 个月收窄至 -5.4（S2707425）、北京 -8.7→-4.5 领先约 0.9 个百分点、销售 5 月转正——新政在切换期客观上把需求导向存量市场。边界钉死：收窄不等于转正，北京是先行个案不能放大为全国。其余两笔账：现房分销高费率长账期、中小代理出局；租赁托管与家装是顺风第二曲线。底线：政策决定谁能活下来吃增量，不创造增量本身（销售 -11.8%、二手 -5.4%）。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第十章 数据与评估：规则密度最高——成交价与评估价孰低（19 条）、押品每年重估且不得以再评估净值追加贷款（25 条）、不得高估项目价值过度融资（商地 13 条）、经营性物业贷封顶评估值 70%（36 条）、信托不得仅凭外部信息论证（11 条）、服务机构违规通报主管（59-60 条）、《意见》34 条全口径统计。四个判断：①评估不再单方面创造额度，按单流水线终结，行业向头部+可担责集中；②最大增量在存量重估——36 万亿级按揭每年重估+物业贷/CMBS/REITs 持续估值+城市更新收益测算，常年滚动的全国不动产定价基础设施被文件顺手建成；③工程量核验是新物种；④现金流数据是第三个生态位——但记住第二章那颗雷：数据权力集中之后，谁来审计数据持有者？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第十一章 城投：城市更新办法是量身写的负面清单+入场券——不得新增隐性债务、不得接受政府隐性增信、不得以政府应付款项/无收益公益性资产抵质押（13 条）、不得用于净地供应前征收补偿（8 条）、借款人必须是市场化运营主体且经营性收入足额覆盖本息（7、11 条）；叠加全链条禁缴地价贷款，两条旧现金管道（一级开发垫资、托底拿地）同时拔掉。三条合法跑道：保租房闭环（保障房开发贷→团购房贷→租赁经营贷→REITs 退出）、城市更新市场化实施主体（入库+现金流覆盖+银团+经营权质押）、持有型商业与产业园（经营性物业贷/CMBS/商业 REITs），外加与 AMC 合作处置。四个推论：①资产负债表强制大扫除——很大但很空；②托底拿地的死亡比房企暴雷更深刻；③市场化运营主体资格是生死线，城投拆成城市运营商与平台清退户两个物种；④保租房闭环是二十年来第一个投入有退出退出有倍数的模型，但租金回报率 2% 出头对 3% 资金成本，定价闸门未开。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第十二章 沉默角色：AMC 进场——信托 29 条官方盖章共同处置存量风险，特殊机会投资赛道制度化；灰色助贷出局——名单制+不得与非法贷款中介合作+银行独立核验；散户投资人出局——非标只卖机构+48 小时冷静期+不得承诺收益；旧规则废止——1998 年个贷办法、九项央行旧通知、三项信托旧规集中废止。还有三类被忽略的人必须写进正面清单的反面：①存量期房已签约购房者——第 37 条新老划断下的滞留乘客，存量项目交付风险不变甚至恶化；②非主办行中小银行及其储户股东——让出主办行资格不等于让出风险，坏账最终落在存款保险与股东身上；③地方中小代理从业者——佣金结算后置+现房去化慢，无底薪佣金制从业者的收入断崖是交付定价说明书的人力成本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第十三章 补上的七类主体：①公积金中心最重大的缺席——50%/60% 红线按全部债务计，公积金贷款和组合贷怎么计入直接决定实际可贷空间；存量利率降到 3.05% 后利差优势收窄；从强制储蓄向政策性金融拓展是最顺理成章的制度接续点。②险资与养老金——REITs 和不动产私募最大潜在资金方，久期天然匹配。③物业公司——社区场景入口与存量服务端。④外资特殊机会基金——与 AMC 并肩的处置力量。⑤施工企业应收款链条——工程款拖欠与应收款证券化传导需单独监测。⑥多套房持有者——选择风险的定价主体、二手供给主源。⑦卖旧买新的存量业主——带押过户+利率置换单笔约省 4.5 万元（测算）。附：好房子第一次有了信贷价格——开发贷优先支持好房子项目（13/14 条），品质供给与利率额度分层挂钩；谁认证、什么标准、如何挂钩是 2027 年最值得跟踪的执行点。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对标 Cotality（原 CoreLogic）：约 30 年建设，157M+ 统一房产标识（CLIP，匹配率 99.2%）、22,000+ 数据源、550 亿+ 条记录（50 年纵深）、年 1,100 亿次 API 调用，服务按揭、保险、MLS、资本市场、政府五大客群。路径五步：承继县级公共记录→2011-2021 并购拼图（已披露对价约 11 亿美元、整体私有化估值约 59 亿美元）→CLIP 统一标识符（先于模型层建设）→数据制造工厂→保鲜机制（AVM 每日重算+夜间盲测）。经济门槛：全成本约 5-6 亿美元/年（约 35-42 亿元人民币），占年营收（约 115 亿 RMB）的 35-40%。中国三点不同：①需求不用培育，制度已经开票——每一条都是数据采购的法律授权书，Cotality 花三十年说服市场数据值钱，1+N 直接规定数据必填；②禀赋不同：缺统一标识富交易流水——谁完成不动产权单元/网签编号的跨省归并谁就占据主键位置，中国独有主办行封闭账户交易级流水+白名单报送这层账户动线数据；③门槛决定格局：对标 35-42 亿元/年运维成本，三类玩家——监管驱动的国家队、平台型数据商、转型估值模型运营商的头部评估所（评估师从出报告转向训练模型+复核疑难，收费从按单转向订阅）；中小评估所被整合或退守司法鉴定等细分。护城河=标识统一×来源直采×持续保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：三重再分配——知情权从集团内部人流向项目托管人（主办行第一知情人、并购尽调降本、评估可审计地知情、平台数据可能升格）；控制权逐级上收到项目这一层（集团资金池拆掉→封闭账户→受托制→监管账户），钱从此跟项目走不跟老板走；责任从事后救火到事前签字（薪酬递延、追索扣回、通报主管机关）。更深一层是风险产权的界定（行业的科斯式起点）：交付风险归房企（工程能力成为融资资格）、信用风险归主办行（利差与拨备定价，可分散不可转嫁）、市场风险归购房人与投资者（选择自负）、流动性风险归资本市场（RMBS/REITs 折价就是价格）。准确叫法是科斯式起点而非科斯时刻：本质是产权清晰化降低交易成本；风险产权不是民法上的财产权，不可转让、没有独立定价市场，定价只能经利差、拨备、折价间接实现。检验信号：不是高风险项目被拒贷（惜贷环境下拒贷是配给不是价格），而是开发贷利差是否出现分项目评级的可观察分层。一句话：定价维度已落地（核心竞争力排序翻转为产品＞运营＞融资），交易维度是半成品——风险有主、部分有价、暂不可易；谁是风险的主人，风险才有价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二：三层付费者——显性付费者（高杠杆房企、通道信托、灰色助贷、小评估所）旧利润就是制度租金，随制度一起取消；隐性付费者（地方政府拔掉土地金融杠杆、银行责任成本上升以信息地位换对价）短期成本换长期牌照；延期付费者（购房者以选择风险替换交付风险）50%/60% 红线是强制预算约束——既是保护也是收缩。三个可证伪的预言（研判推断）：预言一，三年内期房销售占比降至三成以下、准现房成主流，概率区间 30%-65%、中位约 45-55%（方向共识、量级分歧），主锚是新增预售证中封顶/竣工后取证销售占比，辅锚是期房网签金额占比与期房-现房价差收窄至 5% 以内，必须做归因分解防总量萎缩的分母假象、新老划断窗口的赶末班车会扭曲 2027 年数据；预言二，主办银行制催生项目信贷二级市场，区间 35%-60%、中位约 50%（内部分歧最大），主锚是开发贷 ABS 与信贷资产流转成交额，辅以双边报价与 AMC 受让量、监管是否出台转让后主办行责任移转细则——责任不随份额移转，二级市场就只在银团内部打转；预言三，出现 3-5 家 F+EPC+O 千亿级涉房建筑/城投运营商，区间 20%-55%、中位约 30%（最脆弱），主锚是央企新签合同中 F+EPC 类占比、央企-城投合资项目公司数，千亿级按管理规模/合同额计，轻资产先跑、REITs 扩募后再重资产。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图⑦ 预言概率区间表：预言一——三年内期房销售占比降至三成以下、准现房成为主流，概率区间 30%-65%、中位约 45-55%（方向共识、量级分歧），主锚是新增预售证中封顶/竣工后取证销售占比、辅锚是期房网签金额占比与期房-现房价差收窄至 5% 以内，必须做归因分解防总量萎缩造成的分母假象，新老划断窗口的赶末班车会扭曲 2027 年数据。预言二——主办银行制催生项目信贷二级市场，区间 35%-60%、中位约 50%（内部分歧最大），主锚是开发贷 ABS 与信贷资产流转成交额，辅以双边报价与 AMC 受让量，监管是否出台转让后主办行责任移转细则——责任不随份额移转，二级市场就只在银团内部打转。预言三——出现 3-5 家 F+EPC+O 千亿级涉房建筑/城投运营商，区间 20%-55%、中位约 30%（最脆弱——参照涉房是准入不是激励），主锚是央企新签合同中 F+EPC 类占比、央企-城投合资项目公司数；千亿级按管理规模/合同额计，轻资产先跑、REITs 扩募后再重资产。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总结三：体系的五个失灵变量（按风险权重排序，成败不在条文在执行）。①银行惜贷（启动器）：净息差约 1.5%、降息对息差静态冲击约 -4bp（对冲后 -1~-2bp），少做是理性；主办行不投放，放款时点、受托支付、进度匹配全部空转；第一检验是开发投资 -19.2% 的斜率能否在 2027 年收窄至 -10% 以内、2026Q4 白名单贷款覆盖率。②项目现金流注水（最危险）：把财政性收入化妆成经营性收入，城市更新通道就变成新的隐性债务入口——不是失灵是反向利用，且直接污染风险定价的信息底座，是永久性的。③知情权二次垄断（数据断供）：知情权再分配只完成房企→银行一半，银行→市场没有强制共享条款而银行有独占激励；一旦断供，并购尽调、评估基建、REITs 核验三处推论同时落空且不可政策自纠——通道容量是量的问题，数据断供是质的问题：盲购，通道再宽没人敢走。④评估核验被俘获（可对冲）：名单制、追索、头部化在降低概率，孰低原则也降低了对单一结论的依赖。⑤并购通道容量不足（可调节）：法拍、AMC 受让、信托合作处置都是替代通道，审批节奏监管可自主调节；防交互风险——惜贷×通道不足=出清停滞。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总结四：传导时序（研判推断）——新办法即行适用于新签合同；第 37 条新老划断缓冲存量；信托办法 2027-03-01 施行、存量结清。日历三个锚：2026Q4 看白名单覆盖率与主办行投放（检验惜贷）；2027H1 看按揭余额能否止跌——无周期工具并联止跌概率约 55-60%，收储贴息（约 3 万亿、100-200 万套）落地并联后可上修至 70% 以上（测算口径）；2027-03 看信托新旧切换，警惕过渡期抢跑。与数据互证：全国政策底不等于市场底（销售 -11.8%、投资 -19.2%）；北京（二手六连窄、销售转正）与南京（新房修复最快、二手仍在出清）的分化说明市场底分城市分环节到来——这份体系不承诺统一的市场底，它承诺的是无论哪里先见底，每个角色都已在正确的位置上。存量循环一张图：卖旧（带押过户+置换）→买新（现房+按揭衔接）→租赁吸收（团购/经营贷）→REITs 退出（分派率核验）——每一环的摩擦都被新政降低，但需求端基本面仍是决定项。最大的不确定性：旧函数借过渡安排还魂——若 2027 年下行压力超预期，新老划断弹性化、白名单扩容、利率窗口指导都可能让旧模式借壳回归；监管自身的执行是终局变量；短期回暖不急于加大供地，短期下行不重启总量刺激——两份定力是一枚硬币的两面。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表上半部分：购房者——受保护的消费者，交付风险下降选择风险上升，红线既是保护也是收缩；主办银行——项目监理+资金托管人，责任与信息独占上升，惜贷是理性；开发商——制造业化的项目经理，杠杆红利清零、土储从资产变包袱；上市房企——重新获邀的发行人，并购重组是真主角；建筑央企——参照涉房的准房企，方向对节奏慢约束硬，轻资产先跑；信托——被收编的外包资管，通道终结、特殊机会+服务信托重生；地方政府——有席位的合伙人，权力上升资金链下降，从卖地转向卖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表下半部分：租赁/运营端——全周期产品菜单持有者，资管产业链开闸，租金回报率与长钱是两道闸；贝壳式经纪——交易信用基础设施，金融收入剥离、验真与撮合价值回归；数据/评估——风控基础设施，责任定价、存量重估是最大增量；城投——存量资产运营商，信用定价切换为资产定价、拆成两个物种；沉默角色——AMC 进场/助贷出局/散户退场，处置制度化、灰色清零、金融化机构化；补列七类——公积金/险资/物企/外资/施工链/多套房/存量业主，制度接续点与隐藏受益者。总收束：制度底座先行，市场底未确认；先立后破——立已到位，破在执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来源披露：条款引自文件原文，条号以正文为准；宏观数据取自 Wind CLI（Wind EDB：中国人民银行、国家统计局），月度截至 2026-07、季度截至 2026Q2，指标代码可溯源（按揭余额 W1409719、按揭利率 M0058005/X1390479、新宅价格 S2707411、二手价格 S2707425、开发投资 S0029657、销售面积 S0073300、北京 S0147146/S0030589/S0073345/M0004504、南京 S0147156/S0030649 等）；分城市数据取自国家统计局 70 城指数与地方统计局序列，南京销售面积市统计局口径更新滞后（最新 2026-02）已如实标注；贝壳政研通通道全程调用验证但未透出数值明细，定量以 Wind 为准，全程未编造数字；Cotality 部分引自对标研究 V1（公司公开口径，2026-08-28）仅作能力参照；测算/估算/研判推断/待补四类口径分别标注；本报告经五位独立评审专家（行业研究、政策制度、宏观经济方向）两轮评审复核。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收尾：这是一次风险产权的界定——每一类风险第一次有了主人，也就第一次有机会有价格。旧模式里所有人都在赚预期的钱，新模式里所有人只能赚交付的钱——这份 1+N 文件体系，就是交付的定价说明书。谢谢观看，欢迎就任一主体展开讨论。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6" name="Text 14"/>
          <p:cNvSpPr/>
          <p:nvPr/>
        </p:nvSpPr>
        <p:spPr>
          <a:xfrm>
            <a:off x="609600" y="2838450"/>
            <a:ext cx="1158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一场「角色重写」：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9600" y="3248025"/>
            <a:ext cx="1158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房地产金融新政对行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9600" y="3657600"/>
            <a:ext cx="11582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业参与主体的影响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400300"/>
            <a:ext cx="670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 · 角色重写 · 十三章精编版 v5.2</a:t>
            </a:r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2026-08-29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总论：为什么是现在，为什么是这个形状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2190750"/>
            <a:ext cx="77724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21717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1905000" y="2407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钥匙：先把隐性制度显性化，再收缩融资功能、保留销售功能。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905000" y="2971800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162175" y="317658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5000" y="32927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1603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融资主体错位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2743200" y="34194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最扛不起风险的人承担最前端风险；风控最强的银行躲在抵押物后面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905000" y="3876675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2162175" y="408146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05000" y="419766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0652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信息错位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2743200" y="43243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真实资金与进度信息混在集团资金池——尽调靠关系，定价靠信仰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905000" y="4781550"/>
            <a:ext cx="83820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162175" y="498633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5000" y="51025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0" y="49701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激励错位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2743200" y="52292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所有人赚「预期」的钱，唯独交付最不被定价；烂尾损失无人认领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0" y="6065520"/>
            <a:ext cx="1219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政策函数：从 f(热度) 周期调节变成 g(架构) 恒定约束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表① 体系地图：谁在管什么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424303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45279" y="2424303"/>
            <a:ext cx="1006112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发文主体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8542" y="2424303"/>
            <a:ext cx="844785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管什么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86838" y="2424303"/>
            <a:ext cx="45195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2713863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1329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520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711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902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8093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2284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647563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" y="28586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45279" y="28586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央行＋金监总局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58542" y="28586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品种总纲·主办行制·放款时点·宏观审慎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86838" y="28586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信贷总纲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2777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开发贷办法（试行）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45279" y="32777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58542" y="32777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四证/资本金/封闭账户/主办行/期限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86838" y="32777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供给端主战场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8700" y="36968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个贷办法（试行）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45279" y="36968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金监总局＋央行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58542" y="36968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首付·收入红线·40年·放款时点·带押过户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86838" y="36968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需求端总规则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8700" y="41159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商业地产办法（试行）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45279" y="41159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58542" y="41159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开发/购买/运营三段贷·经营性物业贷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86838" y="41159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持有运营端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8700" y="45350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城市更新办法（试行）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45279" y="45350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金监总局＋住建部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58542" y="45350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项目库·市场化实施主体·禁隐性增信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86838" y="45350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存量盘活通道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8700" y="49541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信托办法（试行）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045279" y="49541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金监总局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58542" y="49541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非标准入·入主办行专户·集中度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586838" y="49541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影子端收编 · 2027-03-01 施行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8700" y="537324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证监会支持文件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045279" y="5373243"/>
            <a:ext cx="1006112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中国证监会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58542" y="5373243"/>
            <a:ext cx="844785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再融资/并购/公司债/ABS/REITs/私募基金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586838" y="5373243"/>
            <a:ext cx="45195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权益与退出通道 · 2025-12-27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" y="5746623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七个文件第一次共用同一把尺子：「基于项目」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数据底座：周期性工具已经失效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28700" y="2457831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27564" y="2457831"/>
            <a:ext cx="100788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98773" y="2457831"/>
            <a:ext cx="74076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747391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16649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8559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0469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42379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842891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" y="289217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个人住房贷款余额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27564" y="2892171"/>
            <a:ext cx="1007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36.29 万亿（2026-06）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98773" y="2892171"/>
            <a:ext cx="74076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 2025-03 峰值 37.90 连降 8 个季度，累计 -1.61 万亿（约 -4.2%）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331127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按揭加权平均利率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27564" y="3311271"/>
            <a:ext cx="1007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 3.05%/新发 3.06%（26Q2）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98773" y="3311271"/>
            <a:ext cx="74076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新发放 3.33→3.06 后连续四季走平，弹性钝化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373037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商品房销售面积累计同比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27564" y="3730371"/>
            <a:ext cx="1007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-11.8%（2026-07）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98773" y="3730371"/>
            <a:ext cx="74076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2026-02 曾探 -13.5%，跌幅二次走阔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414947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 城新宅价格当月同比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27564" y="4149471"/>
            <a:ext cx="1007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-3.4%（2026-07）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98773" y="4149471"/>
            <a:ext cx="74076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2025-10 最窄 -2.6% 后再度走阔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8700" y="456857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27564" y="4568571"/>
            <a:ext cx="100788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-19.2%（2026-07）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98773" y="4568571"/>
            <a:ext cx="74076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-17.2→-18.0→-19.2，持续探底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941951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EDB（央行/国家统计局）· 月度至 2026-07、季度至 2026Q2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制度底座先行，市场底未确认，L 型磨底仍需 2-3 年；制度变量只修风险归属，不创造需求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按揭余额：连降 8 个季度，从 37.90 到 36.29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200150" y="31748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36701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0150" y="4165473"/>
            <a:ext cx="10077450" cy="0"/>
          </a:xfrm>
          <a:prstGeom prst="line">
            <a:avLst/>
          </a:prstGeom>
          <a:noFill/>
          <a:ln w="9525">
            <a:solidFill>
              <a:srgbClr val="6E5A50">
                <a:alpha val="10000"/>
              </a:srgbClr>
            </a:solidFill>
            <a:prstDash val="solid"/>
          </a:ln>
        </p:spPr>
      </p:sp>
      <p:sp>
        <p:nvSpPr>
          <p:cNvPr id="14" name="svg2pptx-gradient-s0004-0000"/>
          <p:cNvSpPr/>
          <p:nvPr/>
        </p:nvSpPr>
        <p:spPr>
          <a:xfrm>
            <a:off x="1200150" y="2679573"/>
            <a:ext cx="10077450" cy="1981200"/>
          </a:xfrm>
          <a:custGeom>
            <a:avLst/>
            <a:gdLst/>
            <a:ahLst/>
            <a:cxnLst/>
            <a:rect l="l" t="t" r="r" b="b"/>
            <a:pathLst>
              <a:path w="10077450" h="1981200">
                <a:moveTo>
                  <a:pt x="0" y="17773"/>
                </a:moveTo>
                <a:lnTo>
                  <a:pt x="1439636" y="11500"/>
                </a:lnTo>
                <a:lnTo>
                  <a:pt x="2879271" y="0"/>
                </a:lnTo>
                <a:lnTo>
                  <a:pt x="4318907" y="8364"/>
                </a:lnTo>
                <a:lnTo>
                  <a:pt x="5758543" y="24046"/>
                </a:lnTo>
                <a:lnTo>
                  <a:pt x="7198179" y="46524"/>
                </a:lnTo>
                <a:lnTo>
                  <a:pt x="8637814" y="61684"/>
                </a:lnTo>
                <a:lnTo>
                  <a:pt x="10077450" y="84162"/>
                </a:lnTo>
                <a:lnTo>
                  <a:pt x="10077450" y="1981200"/>
                </a:lnTo>
                <a:lnTo>
                  <a:pt x="0" y="1981200"/>
                </a:lnTo>
                <a:close/>
              </a:path>
            </a:pathLst>
          </a:custGeom>
          <a:gradFill rotWithShape="1">
            <a:gsLst>
              <a:gs pos="0">
                <a:srgbClr val="D4A017">
                  <a:alpha val="20000"/>
                </a:srgbClr>
              </a:gs>
              <a:gs pos="100000">
                <a:srgbClr val="D4A017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200150" y="2679573"/>
            <a:ext cx="10077450" cy="84162"/>
          </a:xfrm>
          <a:custGeom>
            <a:avLst/>
            <a:gdLst/>
            <a:ahLst/>
            <a:cxnLst/>
            <a:rect l="l" t="t" r="r" b="b"/>
            <a:pathLst>
              <a:path w="10077450" h="84162">
                <a:moveTo>
                  <a:pt x="0" y="17773"/>
                </a:moveTo>
                <a:lnTo>
                  <a:pt x="1439636" y="11500"/>
                </a:lnTo>
                <a:lnTo>
                  <a:pt x="2879271" y="0"/>
                </a:lnTo>
                <a:lnTo>
                  <a:pt x="4318907" y="8364"/>
                </a:lnTo>
                <a:lnTo>
                  <a:pt x="5758543" y="24046"/>
                </a:lnTo>
                <a:lnTo>
                  <a:pt x="7198179" y="46524"/>
                </a:lnTo>
                <a:lnTo>
                  <a:pt x="8637814" y="61684"/>
                </a:lnTo>
                <a:lnTo>
                  <a:pt x="10077450" y="84162"/>
                </a:lnTo>
              </a:path>
            </a:pathLst>
          </a:cu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0150" y="4710303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24Q3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14400" y="4710303"/>
            <a:ext cx="34507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24Q4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14400" y="4710303"/>
            <a:ext cx="63300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25Q1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14400" y="4710303"/>
            <a:ext cx="920931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25Q2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14400" y="4710303"/>
            <a:ext cx="1208858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25Q3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690257" y="4710303"/>
            <a:ext cx="941614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25Q4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569529" y="4710303"/>
            <a:ext cx="653687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26Q1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914400" y="4710303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6E5A50"/>
                </a:solidFill>
              </a:rPr>
              <a:t>26Q2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200150" y="2556376"/>
            <a:ext cx="119062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37.56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4400" y="2622765"/>
            <a:ext cx="10363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825" dirty="0">
                <a:solidFill>
                  <a:srgbClr val="2B2020"/>
                </a:solidFill>
              </a:rPr>
              <a:t>36.29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11201400" y="2687535"/>
            <a:ext cx="152400" cy="152400"/>
          </a:xfrm>
          <a:prstGeom prst="ellipse">
            <a:avLst/>
          </a:prstGeom>
          <a:noFill/>
          <a:ln w="9525">
            <a:solidFill>
              <a:srgbClr val="D4A017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39500" y="2725635"/>
            <a:ext cx="76200" cy="762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48157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914400" y="360540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914400" y="372922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 EDB · 央行（W1409719）· 季度 · 2024Q3→2026Q2 · 金点为峰值（2025-03）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分城市快照：市场底不是一个底，是很多个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28700" y="259080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69887" y="2590800"/>
            <a:ext cx="1063651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北京（2026-07）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92938" y="2590800"/>
            <a:ext cx="75134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南京（2026-07）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75057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299460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718560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37660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56760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302323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销售面积累计同比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2469887" y="3025140"/>
            <a:ext cx="106365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+1.4%（5 月起转正：+0.6→+2.0→+1.4）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92938" y="3030855"/>
            <a:ext cx="751346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-13.5%（2026-02，市统计局口径更新滞后）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28700" y="344233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二手住宅价格同比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469887" y="3449955"/>
            <a:ext cx="1063651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-4.5%（2026-01 探底 -8.7 后连续 6 个月收窄）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92938" y="3449955"/>
            <a:ext cx="751346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-5.4%（探底 -8.6 后收窄，深度仍大于北京）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8700" y="387477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新建商品住宅价格同比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9887" y="3863340"/>
            <a:ext cx="106365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-2.3%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2938" y="3876675"/>
            <a:ext cx="751346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-1.8%（2026-03 探底 -4.1 后修复弹性最大）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028700" y="4280535"/>
            <a:ext cx="120777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开发投资累计同比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2469887" y="4282440"/>
            <a:ext cx="1063651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-11.6%（浅于全国 -19.2%）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2938" y="4282440"/>
            <a:ext cx="751346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—（口径受限）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65582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国家统计局 70 城指数与地方统计局序列 · Wind EDB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收窄不等于转正：全国销售仍 -11.8%；北京是先行个案，不能放大为全国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几组关键补充数据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232600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0" y="191643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持有生意的判据：租金回报率约 2% 出头，低于约 3% 的资金成本（测算口径）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600" y="295465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" y="254508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土地财政的斜率：土地出让金自 2021 年 8.7 万亿峰值接近腰斩（财政部口径）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358330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600" y="317373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收储贴息测算：约 3 万亿元、100-200 万套（测算口径）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9600" y="421195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380238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银行的约束：商业银行净息差约 1.5%（金监总局，2026Q2）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600" y="4840605"/>
            <a:ext cx="10972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600" y="443103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减负的量级：存量按揭降 50bp 年减负约 1814 亿元，仅占居民可支配收入约 0.3%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600" y="505968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换手的摩擦：带押过户+利率置换按 300 万贷款、30 天过桥、日万五测算，单笔省约 4.5 万元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观察清单（待补）：期房/现房占比基线 · 30 城二手成交量 · 竣工面积同比 · 白名单授信覆盖率等十三项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第一章 购房者：从「影子出资人」到「受保护的消费者」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10865"/>
            <a:ext cx="189680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66110"/>
            <a:ext cx="189680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月供收入比 ≤50%（第10条）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87409" y="3110865"/>
            <a:ext cx="203015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7409" y="3166110"/>
            <a:ext cx="203015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全债务支出比 ≤60%（第10条）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93767" y="3110865"/>
            <a:ext cx="1820799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3767" y="3166110"/>
            <a:ext cx="1820799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期限最长 40 年（第13条）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3434715"/>
            <a:ext cx="197815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89960"/>
            <a:ext cx="197815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放款后置竣工备案（第22条）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68752" y="3434715"/>
            <a:ext cx="144475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68752" y="3489960"/>
            <a:ext cx="144475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带押过户（第20条）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39000" y="2498217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年不是降月供，是扩容：月供 4247→3614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39000" y="273634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元（-15%），可贷本金上限 +17.5%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239000" y="3050667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总利息 52.9→73.5 万（+39%、+20.6 万）；久期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239000" y="328879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8-10 年拉长到 11-14 年（估算）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39000" y="3603117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风险改形状：期房被「挤出」而非「劝退」；第 37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39000" y="384124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条新老划断是缓冲垫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239000" y="4155567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存量降 50bp＝年减负约 1814 亿元（占可支配收入约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239000" y="4393692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0.3%）——减负不是刺激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测算口径：100 万/3.06%/等额本息 · 红线既是保护条款，也是需求收缩条款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371600"/>
            <a:ext cx="1219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第二章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0" y="1885950"/>
            <a:ext cx="1219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主办银行：从「资金贩子」到「责任承包商」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1809750" y="321564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银行审的不再是财报，是工地——「工程监理岗」诞生，第三方核验成标配外采（第 21 条接口）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750" y="355854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主办行成为项目信息独占者：比地方政府、房企集团更早知道真实去化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09750" y="390144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会出现「银行不敢抢的项目」：责任无限、收益只有利差——主办行向头部行集中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24434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惜贷不是失职，是理性：净息差约 1.5%，降 50bp 静态冲击约 -4bp、对冲后 -1~-2bp（估算）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09750" y="458724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警惕新数据租金：三方数据权力并立——谁审计数据垄断者？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 7-8/15/16/21 条 · 信托办法 21-22/57 条 · 惜贷是全体系失灵的第一变量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21130"/>
            <a:ext cx="112776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第三章</a:t>
            </a:r>
            <a:endParaRPr lang="en-US" sz="3825" dirty="0"/>
          </a:p>
        </p:txBody>
      </p:sp>
      <p:sp>
        <p:nvSpPr>
          <p:cNvPr id="12" name="Text 10"/>
          <p:cNvSpPr/>
          <p:nvPr/>
        </p:nvSpPr>
        <p:spPr>
          <a:xfrm>
            <a:off x="914400" y="1945005"/>
            <a:ext cx="11277600" cy="582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8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房地产开发企业：集团信用被「没收」</a:t>
            </a:r>
            <a:endParaRPr lang="en-US" sz="3825" dirty="0"/>
          </a:p>
        </p:txBody>
      </p:sp>
      <p:sp>
        <p:nvSpPr>
          <p:cNvPr id="13" name="Text 11"/>
          <p:cNvSpPr/>
          <p:nvPr/>
        </p:nvSpPr>
        <p:spPr>
          <a:xfrm>
            <a:off x="914400" y="33545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行业第一次被迫变得像制造业：八个瓶七个盖的资金调度被没收——ROE 只剩周转率和利润率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9741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从「垫资的甲方」变成「被垫资的乙方」：现金流从融资驱动切换为经营驱动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04031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土地市场被釜底抽薪：缴地价贷款全链条禁止，拿地只剩真资本金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38321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「周转率」变成交付周期：期房转现房拉长项目周期 2-3 年——只剩好房子溢价或轻资产化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726114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存量土储是下一个战场：高价地减值与「被动退地」先于新项目竞争出现在报表上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开发贷办法 4/13 条 · 《意见》5 条（全链条禁止缴土地出让金贷款）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第四章 上市房企与资本市场：「基于项目」的再上市邀请函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1885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真正的主角不是再融资，是并购重组：退出通道从「法拍折价」升级为「收购+配套融资」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228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封闭账户＝实时、真实、第三方托管的项目报表——并购尽调成本骤降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571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中介从通道费生意变成无限连带看门人：审计风险溢价飙升，会计所分层拒单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24000" y="339090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37185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080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整合者未必是同行：头部房企、建筑央企、城投三方竞争——谁先把「项目级真实报表」转化为整合能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912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力，谁就定义出清后的行业结构。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证监会文件：定增/并购/公司债/ABS·CMBS/REITs 可发可扩募/不动产私募基金试点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第五章 建筑央企：「参照涉房」是准入，不是激励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14400" y="2343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通道不等于弹药：负债率普遍 75-80%（行业口径）＋两金压降＋一利五率——门开了未必有钱进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686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能干不等于会干：施工主业毛利 2-4%（行业口径），与重资产持有是两种回报结构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289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 出口与坏资产自相矛盾：出险项目过不了分派率门槛——好资产不用你接、坏资产退不出去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24000" y="384810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2905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652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更现实的两条路径：轻资产先跑（代建+总承包+运营）；以房抵债转自持（用工程款债权换资产）。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「参照涉房」条款（证监会文件二）· 千亿级按合同额和管理规模计，不是营收和资产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Shape 9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第六章 信托公司：被「收编」的外包资管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288283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「资金出口」被银行接管：从「第二银行」变成主办银行体系的外包资金方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2573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三个新身份：与 AMC 联手处置存量（第 29 条）；已建成资产股权/物权投资（25% 条款）；资产服务信托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356863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监管要的是小而精的地产专业户：一项目一管理人+异地驻点——收缩成两条专业赛道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准入三道杠：评级 2 级以上·净资产≥10 亿·近两年非连亏 · 集中度 5%/20% · 单项目≤净资产 25% · 48 小时冷静期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第七章 地方政府：有了席位，也被掐了资金链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71700"/>
            <a:ext cx="103632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26003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165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52600" y="258413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新获得的席位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284321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白名单直报融资协调机制（26 条）·违约处置配合（11 条）·联防联控（12 条）·城市更新办法联署——第一次写进办法条文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3524250"/>
            <a:ext cx="103632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39528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690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2600" y="393668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被掐掉的资金链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4195762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缴地价贷款没了、一级开发垫资没了——从「卖地给开发商」转向「卖项目给资本」，产品力=经营性现金流测算书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14400" y="4876800"/>
            <a:ext cx="10363200" cy="121920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53054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216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2600" y="528923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最大的悬案在过渡期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752600" y="554831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土地出让金自 2021 年 8.7 万亿峰值接近腰斩——「卖项目」收益能否接得住下滑斜率，决定地方财政成色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第八章 持有与运营端：全生命周期产品菜单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110865"/>
            <a:ext cx="1332738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66110"/>
            <a:ext cx="1332738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租赁建设贷 3-5 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23338" y="3110865"/>
            <a:ext cx="147142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23338" y="3166110"/>
            <a:ext cx="147142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团购房贷 ≤30 年/80%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70960" y="3110865"/>
            <a:ext cx="160477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0960" y="3166110"/>
            <a:ext cx="160477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租赁经营贷 ≤20 年/80%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51932" y="3110865"/>
            <a:ext cx="1338072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1932" y="3166110"/>
            <a:ext cx="133807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物业贷 ≤15 年/70%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3434715"/>
            <a:ext cx="98336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89960"/>
            <a:ext cx="98336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REITs/扩募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39000" y="26395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运营第一次与开发平起平坐——资管产业链许可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39000" y="29062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证下发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39000" y="32491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定价闸门：租金回报率约 2% 出头低于约 3%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39000" y="35158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资金成本（测算）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39000" y="38587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买方闸门：REITs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39000" y="4125468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终局买家是长钱，配置约束决定钱从哪来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《意见》四-五章＋商业地产办法 · 改造贷 ≤5 年/应收租金 70% · 购买贷 10-15 年 · 保障房开发贷保本微利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4478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第九章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0" y="1857375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贝壳式经纪：从「信贷分销商」到「交易信用基础设施」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09750" y="328098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三刀切掉金融化收入：赎楼·预售代办·返点渠道全终结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750" y="362388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验真与数据：方向成立、时点存疑（第 34 条定付费）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09750" y="396678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撮合与换手：单笔省 15-30 天、约 4.5 万元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09750" y="430968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量的修复先于价：全国 -6.3→-5.4，北京 -8.7→-4.5 领先 0.9pct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 17/20/22/23 条 · 《意见》34 条 · 新政在切换期客观上把需求导向了存量市场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第十章 数据与评估机构：从「额度的化妆师」到「风控基础设施」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28632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评估不再单方面创造额度：孰低原则管押品认定——「按单流水线」终结，责任定价开始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2061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最大增量在存量重估：36 万亿级按揭年重估＋持续估值——定价基础设施被顺手建成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5490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工程量核验是新物种：放款与实物进度匹配——造价咨询、工程监理切入金融核验市场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891915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现金流数据是第三个生态位：REITs 分派率、租金流水都要「可审计的现金流」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个贷 19/25 条 · 商地 13/36 条 · 信托 11/59-60 条 · 《意见》34 条全口径统计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第十一章 城投：到「存量资产运营商」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290017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资产负债表强制大扫除：政府应付款与无收益公益资产「不可质押」——大量城投「很大，但很空」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24307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「托底拿地」的死亡比房企暴雷更深刻：土地市场失去最后护盘资金，价格发现彻底真实化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58597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「市场化运营主体」资格是生死线：城投拆成两个物种——城市运营商 vs 平台清退户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92887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保租房闭环是二十年来第一个「投入有退出、退出有倍数」的模型——但定价闸门未开（2% 出头对 3%）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城更办法 7/8/11/13 条 · 三条跑道：保租房闭环 · 城更实施主体 · 持有型商业与产业园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59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第十二章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914400" y="193548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沉默角色：谁在进场，谁在出局，谁被忽略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14400" y="2667000"/>
            <a:ext cx="8382000" cy="1054100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30130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292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52600" y="2996882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进场：AMC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752600" y="325596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 29 条盖章「共同处置存量风险」——特殊机会投资制度化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914400" y="3854450"/>
            <a:ext cx="8382000" cy="1054100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420052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1673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52600" y="418433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出局：助贷与散户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752600" y="444341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名单制核验清除包装；非标只卖机构＋48 小时冷静期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914400" y="5041900"/>
            <a:ext cx="8382000" cy="1054100"/>
          </a:xfrm>
          <a:prstGeom prst="roundRect">
            <a:avLst>
              <a:gd name="adj" fmla="val 1807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5387975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04180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2600" y="5371783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三类被忽略者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752600" y="5630863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存量期房购房者 · 非主办行中小行 · 中小代理从业者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6E5A50">
                    <a:alpha val="3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19</a:t>
            </a:r>
            <a:endParaRPr lang="en-US" sz="4800" dirty="0"/>
          </a:p>
        </p:txBody>
      </p:sp>
      <p:sp>
        <p:nvSpPr>
          <p:cNvPr id="29" name="Text 27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旧规集中废止；让出资格不等于让出风险——人力成本的背面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第十三章 补上的七类主体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25763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公积金中心（最重大的缺席）：红线按「全部债务」计、组合贷怎么计入决定实际可贷空间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9192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险资与养老金：REITs 与不动产私募最大潜在资金方，配置约束决定「钱从哪来」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2621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物业公司：社区场景入口——存量时代的隐藏受益者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050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外资特殊机会基金：价格出清到位后的资产与不良债权买方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9479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施工企业应收款链条：既是接盘者也是上游风险暴露者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90822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多套房持有者与卖旧买新业主：出清速度的决定者；单笔交易成本约省 4.5 万元（测算）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附：「好房子」第一次有了信贷价格（开发贷 13/14 条）——2027 年最值得跟踪的执行点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1.19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600" dirty="0"/>
          </a:p>
        </p:txBody>
      </p:sp>
      <p:sp>
        <p:nvSpPr>
          <p:cNvPr id="21" name="Shape 19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对标：Cotality 的数据底座（公司公开口径研究）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71700"/>
            <a:ext cx="194881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26945"/>
            <a:ext cx="194881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157M+ CLIP · 匹配率 99.2%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39415" y="2171700"/>
            <a:ext cx="117138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9415" y="2226945"/>
            <a:ext cx="117138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22,000+ 数据源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2495550"/>
            <a:ext cx="1758125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50795"/>
            <a:ext cx="17581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550 亿+ 记录 · 50 年纵深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8725" y="2495550"/>
            <a:ext cx="1392746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8725" y="2550795"/>
            <a:ext cx="139274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1,100 亿次 API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819400"/>
            <a:ext cx="1970151" cy="2476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74645"/>
            <a:ext cx="197015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5-6 亿美元/年 · 35-40% 营收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48400" y="22288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对标口径：公司公开口径研究（2026-08-28）· 约 30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48400" y="24955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年建设 · 五大客群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8400" y="28384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五步路径：承继县级公共记录→并购拼图（约 11 亿/59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48400" y="31051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亿美元）→CLIP（先于模型层）→数据工厂→保鲜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48400" y="34480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中国三点不同：制度已经开票 · 缺统一标识富交易流水 ·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48400" y="37147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门槛决定格局（35-42 亿元/年）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48400" y="40576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三类玩家：国家队 · 平台型数据商 ·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48400" y="432435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转型估值模型运营商的头部评估所（研判推断）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总结·一：三重再分配与科斯式起点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524000" y="1847850"/>
            <a:ext cx="97536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288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65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把各章横过来看：不是十二个孤立变化，而是同一件事在三个维度上的完成。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2628900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1575" y="283368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4989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600" y="281749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知情权 · 流向项目托管人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752600" y="307657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主办行封闭账户成为第一知情人；并购尽调降本；评估「可审计地知情」；平台成交数据可能升格为基础设施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914400" y="3533775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3738563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54768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52600" y="3722370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控制权 · 上收到项目层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752600" y="3981450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集团资金池拆掉→项目封闭账户→支付受托制→购房款进监管账户：钱从此跟项目走，不跟老板走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914400" y="4438650"/>
            <a:ext cx="10363200" cy="771525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71575" y="4643438"/>
            <a:ext cx="361950" cy="361950"/>
          </a:xfrm>
          <a:prstGeom prst="ellipse">
            <a:avLst/>
          </a:prstGeom>
          <a:noFill/>
          <a:ln w="14288">
            <a:solidFill>
              <a:srgbClr val="6E5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759643"/>
            <a:ext cx="87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52600" y="4627245"/>
            <a:ext cx="113538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责任 · 从事后到事前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752600" y="4886325"/>
            <a:ext cx="11353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每个角色事前签字＋薪酬递延＋追索扣回——责任第一次被写进岗位，而不是写进应急预案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科斯式起点：检验信号＝开发贷利差分项目评级分层——风险有主、部分有价、暂不可易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总结·二：三层付费者与三个可证伪的预言（图⑦）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7DCC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E7DCC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E7DCC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136011"/>
            <a:ext cx="6019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2643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显性付费者：房企·通道信托·灰色助贷·小评估所——旧利润＝制度租金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3764661"/>
            <a:ext cx="60198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508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隐性付费者：地方政府与银行——短期成本换长期牌照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983736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延期付费者：购房者以选择风险替换交付风险——红线是强制预算约束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验证锚（主）：封顶/竣工后取证占比 · 开发贷 ABS 与信贷流转成交额 · 央企 F+EPC 类合同占比（均为研判推断）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总结·二b：三个可证伪的预言（图⑦·概率区间表）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306133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预言（研判推断）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42720" y="3061335"/>
            <a:ext cx="896368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概率判断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34065" y="3061335"/>
            <a:ext cx="68723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验证锚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3350895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6999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8909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608195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349567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期房占比降至三成以下，准现房成主流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42720" y="3501390"/>
            <a:ext cx="896368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 30%-65% · 中位约 45-55%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34065" y="3493770"/>
            <a:ext cx="68723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封顶/竣工后取证销售占比（主锚）；期房-现房价差收窄至 5% 以内（辅锚）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28700" y="391477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主办银行制催生项目信贷二级市场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42720" y="3914775"/>
            <a:ext cx="89636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 35%-60% · 中位约 50%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34065" y="3914775"/>
            <a:ext cx="6872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开发贷 ABS 与信贷流转成交额；转让后主办行责任移转细则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339590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家 F+EPC+O 千亿级涉房建筑/城投运营商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42720" y="4333875"/>
            <a:ext cx="89636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 20%-55% · 中位约 30%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4065" y="4333875"/>
            <a:ext cx="687233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央企 F+EPC 类合同占比；央企-城投合资项目公司数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70725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图⑦·三个可证伪的预言 · 概率区间表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2273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总结·三：体系的五个失灵变量（图⑧）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2708148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29857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银行惜贷（启动器）：净息差约 1.5%、降息静态冲击约 -4bp（对冲后 -1~-2bp）——少做是理性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336798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272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项目现金流注水（最危险）：财政性收入化妆成经营性收入——不是失灵，是反向利用，且是永久性的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965448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5587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知情权二次垄断·数据断供（质变·不可自纠）：银行→市场没有强制共享条款——盲购，通道再宽没人敢走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594098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8452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评估核验被俘获（可对冲）：名单制、追索、头部化在降低概率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813173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并购通道容量不足（可调节）：但要防交互风险——惜贷×通道不足＝出清停滞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第一检验：投资 -19.2% 斜率能否 2027 年收窄至 -10% 以内 · 2026Q4 白名单贷款覆盖率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总结·四：传导时序、数据互证与最大不确定性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14400" y="18669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时序：即行适用新签合同 · 37 条划断缓冲 · 信托 27-03-01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20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日历锚：26Q4 白名单与投放 · 27H1 余额止跌 · 27-03 信托切换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25527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止跌概率：无并联约 55-60%；收储并联后上修至 70% 以上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8956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互证：政策底≠市场底（-11.8%/-19.2%）；京宁分化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2385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存量循环：卖旧→买新→租赁吸收→REITs 退出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24000" y="4057650"/>
            <a:ext cx="77724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038600"/>
            <a:ext cx="609600" cy="38100"/>
          </a:xfrm>
          <a:prstGeom prst="rect">
            <a:avLst/>
          </a:prstGeom>
          <a:solidFill>
            <a:srgbClr val="6E5A5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2748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最大的不确定性：旧函数借过渡安排还魂——监管自身的执行，是终局变量。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存量循环每一环的摩擦都被新政降低，但需求端基本面仍是决定项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1.25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9600" dirty="0"/>
          </a:p>
        </p:txBody>
      </p:sp>
      <p:sp>
        <p:nvSpPr>
          <p:cNvPr id="23" name="Shape 21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结语：谁获益、谁付费（上）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28700" y="2170938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01964" y="2170938"/>
            <a:ext cx="1120443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新身份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67232" y="2170938"/>
            <a:ext cx="91391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一句话净效应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2460498"/>
            <a:ext cx="75057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8795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2986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177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1368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5559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750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394198"/>
            <a:ext cx="75057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26052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购房者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01964" y="26052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受保护的消费者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67232" y="26052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交付风险↓、选择风险↑；红线既是保护也是收缩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0243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主办银行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01964" y="30243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项目监理+资金托管人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67232" y="30243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责任↑↑、信息独占↑；惜贷是理性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34434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开发商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01964" y="34434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制造业化的项目经理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67232" y="34434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杠杆红利清零；土储从资产变包袱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38625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上市房企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01964" y="38625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重新获邀的发行人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67232" y="38625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并购重组是真主角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42816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建筑央企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901964" y="42816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参照涉房的准房企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67232" y="42816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方向对、节奏慢、约束硬；轻资产先跑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8700" y="47007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901964" y="47007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被收编的外包资管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67232" y="47007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通道终结；特殊机会+服务信托重生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8700" y="511987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01964" y="5119878"/>
            <a:ext cx="112044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有席位的合伙人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67232" y="5119878"/>
            <a:ext cx="91391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权力↑、资金链↓；从卖地转向卖项目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5493258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结语表（上）：七个主体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48" name="Shape 4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结语：谁获益、谁付费（下）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028700" y="2335530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26986" y="2335530"/>
            <a:ext cx="1087941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新身份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02573" y="2335530"/>
            <a:ext cx="61038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一句话净效应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2625090"/>
            <a:ext cx="10363200" cy="0"/>
          </a:xfrm>
          <a:prstGeom prst="line">
            <a:avLst/>
          </a:prstGeom>
          <a:noFill/>
          <a:ln w="19050">
            <a:solidFill>
              <a:srgbClr val="2B2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441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4632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8823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3014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7205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39690"/>
            <a:ext cx="10363200" cy="0"/>
          </a:xfrm>
          <a:prstGeom prst="line">
            <a:avLst/>
          </a:prstGeom>
          <a:noFill/>
          <a:ln w="9525">
            <a:solidFill>
              <a:srgbClr val="E7DC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8700" y="27698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租赁/运营端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26986" y="27698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全周期产品菜单持有者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02573" y="27698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资管产业链开闸；租金回报率与长钱是两道闸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31889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贝壳式经纪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26986" y="31889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交易信用基础设施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02573" y="31889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金融收入剥离；验真与撮合价值回归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8700" y="36080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数据/评估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26986" y="36080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风控基础设施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2573" y="36080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责任定价；存量重估是最大增量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40271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6986" y="40271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存量资产运营商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02573" y="40271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信用定价切换为资产定价；拆成两个物种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8700" y="44462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沉默角色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26986" y="44462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AMC 进场/助贷出局/散户退场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02573" y="44462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处置制度化、灰色清零、金融化机构化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8700" y="486537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补列七类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6986" y="4865370"/>
            <a:ext cx="1087941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公积金/险资/物企/外资/施工链/多套房/存量业主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02573" y="4865370"/>
            <a:ext cx="610382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制度接续点与隐藏受益者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238750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结语表（下）：六个主体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总收束：制度底座先行，市场底未确认；先立后破——立已到位，破在执行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11574780" y="464820"/>
            <a:ext cx="318135" cy="978218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319510" y="443865"/>
            <a:ext cx="526732" cy="88392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096625" y="413385"/>
            <a:ext cx="708660" cy="744855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0916603" y="374333"/>
            <a:ext cx="856298" cy="568643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788015" y="328613"/>
            <a:ext cx="962025" cy="365760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18482" y="279083"/>
            <a:ext cx="1018223" cy="143827"/>
          </a:xfrm>
          <a:prstGeom prst="line">
            <a:avLst/>
          </a:prstGeom>
          <a:noFill/>
          <a:ln w="1143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85750" y="6075045"/>
            <a:ext cx="2392680" cy="744855"/>
          </a:xfrm>
          <a:custGeom>
            <a:avLst/>
            <a:gdLst/>
            <a:ahLst/>
            <a:cxnLst/>
            <a:rect l="l" t="t" r="r" b="b"/>
            <a:pathLst>
              <a:path w="2392680" h="744855">
                <a:moveTo>
                  <a:pt x="0" y="744855"/>
                </a:moveTo>
                <a:lnTo>
                  <a:pt x="172403" y="737235"/>
                </a:lnTo>
                <a:lnTo>
                  <a:pt x="341948" y="723900"/>
                </a:lnTo>
                <a:lnTo>
                  <a:pt x="510540" y="704850"/>
                </a:lnTo>
                <a:lnTo>
                  <a:pt x="677228" y="680085"/>
                </a:lnTo>
                <a:lnTo>
                  <a:pt x="842963" y="649605"/>
                </a:lnTo>
                <a:lnTo>
                  <a:pt x="1005840" y="613410"/>
                </a:lnTo>
                <a:lnTo>
                  <a:pt x="1166813" y="572453"/>
                </a:lnTo>
                <a:lnTo>
                  <a:pt x="1326833" y="524828"/>
                </a:lnTo>
                <a:lnTo>
                  <a:pt x="1483995" y="472440"/>
                </a:lnTo>
                <a:lnTo>
                  <a:pt x="1640205" y="414338"/>
                </a:lnTo>
                <a:lnTo>
                  <a:pt x="1794510" y="350520"/>
                </a:lnTo>
                <a:lnTo>
                  <a:pt x="1946910" y="281940"/>
                </a:lnTo>
                <a:lnTo>
                  <a:pt x="2097405" y="207645"/>
                </a:lnTo>
                <a:lnTo>
                  <a:pt x="2245995" y="126683"/>
                </a:lnTo>
                <a:lnTo>
                  <a:pt x="2392680" y="41910"/>
                </a:lnTo>
                <a:lnTo>
                  <a:pt x="2369820" y="0"/>
                </a:lnTo>
                <a:lnTo>
                  <a:pt x="2219325" y="76200"/>
                </a:lnTo>
                <a:lnTo>
                  <a:pt x="2068830" y="146685"/>
                </a:lnTo>
                <a:lnTo>
                  <a:pt x="1916430" y="212408"/>
                </a:lnTo>
                <a:lnTo>
                  <a:pt x="1763077" y="271463"/>
                </a:lnTo>
                <a:lnTo>
                  <a:pt x="1607820" y="324803"/>
                </a:lnTo>
                <a:lnTo>
                  <a:pt x="1452563" y="372428"/>
                </a:lnTo>
                <a:lnTo>
                  <a:pt x="1295400" y="415290"/>
                </a:lnTo>
                <a:lnTo>
                  <a:pt x="1137285" y="452438"/>
                </a:lnTo>
                <a:lnTo>
                  <a:pt x="978218" y="482918"/>
                </a:lnTo>
                <a:lnTo>
                  <a:pt x="818198" y="508635"/>
                </a:lnTo>
                <a:lnTo>
                  <a:pt x="657225" y="528638"/>
                </a:lnTo>
                <a:lnTo>
                  <a:pt x="494348" y="543878"/>
                </a:lnTo>
                <a:lnTo>
                  <a:pt x="330518" y="552450"/>
                </a:lnTo>
                <a:lnTo>
                  <a:pt x="165735" y="556260"/>
                </a:lnTo>
                <a:lnTo>
                  <a:pt x="0" y="554355"/>
                </a:lnTo>
                <a:close/>
              </a:path>
            </a:pathLst>
          </a:custGeom>
          <a:solidFill>
            <a:srgbClr val="C8102E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20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数据与条款来源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809750" y="29679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条款引自文件原文，条号以正文为准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09750" y="327279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宏观数据：Wind CLI/EDB（央行、国家统计局）· 月度至 2026-07、季度至 2026Q2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809750" y="35013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指标代码可溯源（W1409719、S2707425 等八组序列）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09750" y="37833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南京销售面积市统计局口径更新滞后（最新 2026-02），已如实标注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09750" y="4057650"/>
            <a:ext cx="12192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Cotality 引自对标研究 V1（公司公开口径，2026-08-28），仅作能力参照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809750" y="43014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B2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「测算」「估算」「研判推断」「待补」四类口径分别标注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本报告经五位独立评审专家（行业研究、政策制度、宏观经济方向）两轮评审复核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7DC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0"/>
          </a:solidFill>
          <a:ln/>
        </p:spPr>
      </p:sp>
      <p:sp>
        <p:nvSpPr>
          <p:cNvPr id="3" name="Shape 1"/>
          <p:cNvSpPr/>
          <p:nvPr/>
        </p:nvSpPr>
        <p:spPr>
          <a:xfrm>
            <a:off x="535305" y="383857"/>
            <a:ext cx="1593533" cy="57912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9113" y="419100"/>
            <a:ext cx="1501140" cy="78867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110" y="451485"/>
            <a:ext cx="1380173" cy="98488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298" y="481965"/>
            <a:ext cx="1234440" cy="116109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723" y="507683"/>
            <a:ext cx="1066800" cy="131730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5290" y="529590"/>
            <a:ext cx="879158" cy="1449705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1000" y="547688"/>
            <a:ext cx="675323" cy="1554480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3853" y="561023"/>
            <a:ext cx="461010" cy="1631632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705" y="568643"/>
            <a:ext cx="235267" cy="1679258"/>
          </a:xfrm>
          <a:prstGeom prst="line">
            <a:avLst/>
          </a:prstGeom>
          <a:noFill/>
          <a:ln w="12383">
            <a:solidFill>
              <a:srgbClr val="D4A0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85020" y="5323522"/>
            <a:ext cx="2916555" cy="1675447"/>
          </a:xfrm>
          <a:custGeom>
            <a:avLst/>
            <a:gdLst/>
            <a:ahLst/>
            <a:cxnLst/>
            <a:rect l="l" t="t" r="r" b="b"/>
            <a:pathLst>
              <a:path w="2916555" h="1675447">
                <a:moveTo>
                  <a:pt x="2916555" y="1241108"/>
                </a:moveTo>
                <a:lnTo>
                  <a:pt x="2702243" y="1220153"/>
                </a:lnTo>
                <a:lnTo>
                  <a:pt x="2491740" y="1190625"/>
                </a:lnTo>
                <a:lnTo>
                  <a:pt x="2284095" y="1152525"/>
                </a:lnTo>
                <a:lnTo>
                  <a:pt x="2081212" y="1105853"/>
                </a:lnTo>
                <a:lnTo>
                  <a:pt x="1880235" y="1050608"/>
                </a:lnTo>
                <a:lnTo>
                  <a:pt x="1683068" y="986790"/>
                </a:lnTo>
                <a:lnTo>
                  <a:pt x="1489710" y="913447"/>
                </a:lnTo>
                <a:lnTo>
                  <a:pt x="1299210" y="831533"/>
                </a:lnTo>
                <a:lnTo>
                  <a:pt x="1112520" y="740093"/>
                </a:lnTo>
                <a:lnTo>
                  <a:pt x="928688" y="640080"/>
                </a:lnTo>
                <a:lnTo>
                  <a:pt x="748665" y="530543"/>
                </a:lnTo>
                <a:lnTo>
                  <a:pt x="571500" y="412433"/>
                </a:lnTo>
                <a:lnTo>
                  <a:pt x="398145" y="283845"/>
                </a:lnTo>
                <a:lnTo>
                  <a:pt x="227648" y="146685"/>
                </a:lnTo>
                <a:lnTo>
                  <a:pt x="60960" y="0"/>
                </a:lnTo>
                <a:lnTo>
                  <a:pt x="0" y="59055"/>
                </a:lnTo>
                <a:lnTo>
                  <a:pt x="152400" y="225743"/>
                </a:lnTo>
                <a:lnTo>
                  <a:pt x="311468" y="384810"/>
                </a:lnTo>
                <a:lnTo>
                  <a:pt x="474345" y="534353"/>
                </a:lnTo>
                <a:lnTo>
                  <a:pt x="642938" y="676275"/>
                </a:lnTo>
                <a:lnTo>
                  <a:pt x="817245" y="810578"/>
                </a:lnTo>
                <a:lnTo>
                  <a:pt x="997268" y="936308"/>
                </a:lnTo>
                <a:lnTo>
                  <a:pt x="1182053" y="1052513"/>
                </a:lnTo>
                <a:lnTo>
                  <a:pt x="1373505" y="1161097"/>
                </a:lnTo>
                <a:lnTo>
                  <a:pt x="1569720" y="1261110"/>
                </a:lnTo>
                <a:lnTo>
                  <a:pt x="1770698" y="1352550"/>
                </a:lnTo>
                <a:lnTo>
                  <a:pt x="1978343" y="1434465"/>
                </a:lnTo>
                <a:lnTo>
                  <a:pt x="2190750" y="1508760"/>
                </a:lnTo>
                <a:lnTo>
                  <a:pt x="2407920" y="1572578"/>
                </a:lnTo>
                <a:lnTo>
                  <a:pt x="2630805" y="1628775"/>
                </a:lnTo>
                <a:lnTo>
                  <a:pt x="2859405" y="1675447"/>
                </a:lnTo>
                <a:close/>
              </a:path>
            </a:pathLst>
          </a:custGeom>
          <a:solidFill>
            <a:srgbClr val="C8102E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73653" y="5350193"/>
            <a:ext cx="2217420" cy="1041082"/>
          </a:xfrm>
          <a:custGeom>
            <a:avLst/>
            <a:gdLst/>
            <a:ahLst/>
            <a:cxnLst/>
            <a:rect l="l" t="t" r="r" b="b"/>
            <a:pathLst>
              <a:path w="2217420" h="1041082">
                <a:moveTo>
                  <a:pt x="2217420" y="831532"/>
                </a:moveTo>
                <a:lnTo>
                  <a:pt x="2056448" y="820102"/>
                </a:lnTo>
                <a:lnTo>
                  <a:pt x="1898333" y="802005"/>
                </a:lnTo>
                <a:lnTo>
                  <a:pt x="1742123" y="778192"/>
                </a:lnTo>
                <a:lnTo>
                  <a:pt x="1587818" y="747713"/>
                </a:lnTo>
                <a:lnTo>
                  <a:pt x="1436370" y="711517"/>
                </a:lnTo>
                <a:lnTo>
                  <a:pt x="1285875" y="668655"/>
                </a:lnTo>
                <a:lnTo>
                  <a:pt x="1139190" y="620077"/>
                </a:lnTo>
                <a:lnTo>
                  <a:pt x="993458" y="564832"/>
                </a:lnTo>
                <a:lnTo>
                  <a:pt x="850583" y="503872"/>
                </a:lnTo>
                <a:lnTo>
                  <a:pt x="708660" y="435292"/>
                </a:lnTo>
                <a:lnTo>
                  <a:pt x="570548" y="360997"/>
                </a:lnTo>
                <a:lnTo>
                  <a:pt x="433388" y="280988"/>
                </a:lnTo>
                <a:lnTo>
                  <a:pt x="299085" y="193357"/>
                </a:lnTo>
                <a:lnTo>
                  <a:pt x="166688" y="100013"/>
                </a:lnTo>
                <a:lnTo>
                  <a:pt x="36195" y="0"/>
                </a:lnTo>
                <a:lnTo>
                  <a:pt x="0" y="43815"/>
                </a:lnTo>
                <a:lnTo>
                  <a:pt x="124778" y="153352"/>
                </a:lnTo>
                <a:lnTo>
                  <a:pt x="253365" y="256222"/>
                </a:lnTo>
                <a:lnTo>
                  <a:pt x="384810" y="353377"/>
                </a:lnTo>
                <a:lnTo>
                  <a:pt x="520065" y="444817"/>
                </a:lnTo>
                <a:lnTo>
                  <a:pt x="657225" y="530542"/>
                </a:lnTo>
                <a:lnTo>
                  <a:pt x="798195" y="609600"/>
                </a:lnTo>
                <a:lnTo>
                  <a:pt x="941070" y="681990"/>
                </a:lnTo>
                <a:lnTo>
                  <a:pt x="1087755" y="748665"/>
                </a:lnTo>
                <a:lnTo>
                  <a:pt x="1238250" y="809625"/>
                </a:lnTo>
                <a:lnTo>
                  <a:pt x="1390650" y="863917"/>
                </a:lnTo>
                <a:lnTo>
                  <a:pt x="1546860" y="911542"/>
                </a:lnTo>
                <a:lnTo>
                  <a:pt x="1705928" y="953452"/>
                </a:lnTo>
                <a:lnTo>
                  <a:pt x="1866900" y="988695"/>
                </a:lnTo>
                <a:lnTo>
                  <a:pt x="2032635" y="1018222"/>
                </a:lnTo>
                <a:lnTo>
                  <a:pt x="2200275" y="1041082"/>
                </a:lnTo>
                <a:close/>
              </a:path>
            </a:pathLst>
          </a:custGeom>
          <a:solidFill>
            <a:srgbClr val="1F3A5F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 · 行业研究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1575435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制度底座先行，市</a:t>
            </a:r>
            <a:endParaRPr lang="en-US" sz="9900" dirty="0"/>
          </a:p>
        </p:txBody>
      </p:sp>
      <p:sp>
        <p:nvSpPr>
          <p:cNvPr id="17" name="Text 15"/>
          <p:cNvSpPr/>
          <p:nvPr/>
        </p:nvSpPr>
        <p:spPr>
          <a:xfrm>
            <a:off x="914400" y="2937510"/>
            <a:ext cx="11277600" cy="150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900" i="1" dirty="0">
                <a:solidFill>
                  <a:srgbClr val="C8102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场底未确认</a:t>
            </a:r>
            <a:endParaRPr lang="en-US" sz="9900" dirty="0"/>
          </a:p>
        </p:txBody>
      </p:sp>
      <p:sp>
        <p:nvSpPr>
          <p:cNvPr id="18" name="Shape 16"/>
          <p:cNvSpPr/>
          <p:nvPr/>
        </p:nvSpPr>
        <p:spPr>
          <a:xfrm>
            <a:off x="914400" y="5162550"/>
            <a:ext cx="10363200" cy="0"/>
          </a:xfrm>
          <a:prstGeom prst="line">
            <a:avLst/>
          </a:prstGeom>
          <a:noFill/>
          <a:ln w="13335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0545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E5A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80644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智见点评团队</a:t>
            </a:r>
            <a:endParaRPr lang="en-US" sz="21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