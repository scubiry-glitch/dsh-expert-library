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个人住房贷款余额</c:v>
                </c:pt>
              </c:strCache>
            </c:strRef>
          </c:tx>
          <c:spPr>
            <a:ln w="28575">
              <a:solidFill>
                <a:srgbClr val="0E6A55"/>
              </a:solidFill>
            </a:ln>
          </c:spPr>
          <c:cat>
            <c:strRef>
              <c:f>Sheet1!$A$2:$A$9</c:f>
              <c:strCache>
                <c:ptCount val="8"/>
                <c:pt idx="0">
                  <c:v>①</c:v>
                </c:pt>
                <c:pt idx="1">
                  <c:v>②</c:v>
                </c:pt>
                <c:pt idx="2">
                  <c:v>③</c:v>
                </c:pt>
                <c:pt idx="3">
                  <c:v>④</c:v>
                </c:pt>
                <c:pt idx="4">
                  <c:v>⑤</c:v>
                </c:pt>
                <c:pt idx="5">
                  <c:v>⑥</c:v>
                </c:pt>
                <c:pt idx="6">
                  <c:v>⑦</c:v>
                </c:pt>
                <c:pt idx="7">
                  <c:v>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37.56</c:v>
                </c:pt>
                <c:pt idx="1">
                  <c:v>37.68</c:v>
                </c:pt>
                <c:pt idx="2">
                  <c:v>37.9</c:v>
                </c:pt>
                <c:pt idx="3">
                  <c:v>37.74</c:v>
                </c:pt>
                <c:pt idx="4">
                  <c:v>37.44</c:v>
                </c:pt>
                <c:pt idx="5">
                  <c:v>37.01</c:v>
                </c:pt>
                <c:pt idx="6">
                  <c:v>36.72</c:v>
                </c:pt>
                <c:pt idx="7">
                  <c:v>36.29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050">
                  <a:solidFill>
                    <a:srgbClr val="1F293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8.4"/>
          <c:min val="36.0"/>
        </c:scaling>
        <c:delete val="0"/>
        <c:axPos val="l"/>
        <c:majorGridlines>
          <c:spPr>
            <a:ln w="6350">
              <a:solidFill>
                <a:srgbClr val="E4E9E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rgbClr val="1F2933"/>
          </a:solidFill>
          <a:latin typeface="Times New Roman"/>
          <a:ea typeface="宋体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探底/筑底</c:v>
                </c:pt>
              </c:strCache>
            </c:strRef>
          </c:tx>
          <c:spPr>
            <a:solidFill>
              <a:srgbClr val="B9C8C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全国</c:v>
                </c:pt>
                <c:pt idx="1">
                  <c:v>北京</c:v>
                </c:pt>
                <c:pt idx="2">
                  <c:v>南京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-6.3</c:v>
                </c:pt>
                <c:pt idx="1">
                  <c:v>-8.7</c:v>
                </c:pt>
                <c:pt idx="2">
                  <c:v>-8.6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最新</c:v>
                </c:pt>
              </c:strCache>
            </c:strRef>
          </c:tx>
          <c:spPr>
            <a:solidFill>
              <a:srgbClr val="0E6A5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全国</c:v>
                </c:pt>
                <c:pt idx="1">
                  <c:v>北京</c:v>
                </c:pt>
                <c:pt idx="2">
                  <c:v>南京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-5.4</c:v>
                </c:pt>
                <c:pt idx="1">
                  <c:v>-4.5</c:v>
                </c:pt>
                <c:pt idx="2">
                  <c:v>-5.4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50">
                  <a:solidFill>
                    <a:srgbClr val="1F29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E9E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1F2933"/>
          </a:solidFill>
          <a:latin typeface="Times New Roman"/>
          <a:ea typeface="宋体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月供（元/月）</c:v>
                </c:pt>
              </c:strCache>
            </c:strRef>
          </c:tx>
          <c:spPr>
            <a:solidFill>
              <a:srgbClr val="0E6A55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30 年</c:v>
                </c:pt>
                <c:pt idx="1">
                  <c:v>40 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4247</c:v>
                </c:pt>
                <c:pt idx="1">
                  <c:v>3614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50">
                  <a:solidFill>
                    <a:srgbClr val="1F29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E9E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1F2933"/>
          </a:solidFill>
          <a:latin typeface="Times New Roman"/>
          <a:ea typeface="宋体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总利息（万元）</c:v>
                </c:pt>
              </c:strCache>
            </c:strRef>
          </c:tx>
          <c:spPr>
            <a:solidFill>
              <a:srgbClr val="A9741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30 年</c:v>
                </c:pt>
                <c:pt idx="1">
                  <c:v>40 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52.9</c:v>
                </c:pt>
                <c:pt idx="1">
                  <c:v>73.5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50">
                  <a:solidFill>
                    <a:srgbClr val="1F29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E9E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D2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1F2933"/>
          </a:solidFill>
          <a:latin typeface="Times New Roman"/>
          <a:ea typeface="宋体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开场三十秒定调：这套 1+N 文件重新分配的不是钱，而是三样更根本的东西——知情权，谁能看见项目；控制权，谁摸得着资金；责任，谁为风险签字。封面这四个数字是旧引擎熄火的证据链：按揭余额 36.29 万亿、较峰值 -4.2%，销售面积 -11.8%，开发投资 -19.2%，而净息差只剩约 1.5%。报告用十三章拆完十三类主体的角色重写，最后给出三个可证伪预言。整场只记一句话：旧模式赚预期的钱，新模式赚交付的钱。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三十秒读者。不逐行念，抓三组对照：第一组购房者与主办银行——一边拿到保护与选择风险，一边责任上升到只能惜贷；第二组开发商与建筑央企——一边杠杆被拆加速出清，一边拿到参照涉房的准入却受负债率 75-80% 约束；第三组地方政府与城投——一边有了席位也被掐了资金链，一边大扫除后「很大，但很空」。关键数字列每项的口径在对应章节和来源披露页，测算与估算均已标注。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先把全书的悬念摆在台面上。三个预言都是研判推断，全部给了概率区间与中位：期房占比三年内降到三成以下，中位约 45-55%，方向共识、量级分歧；项目信贷二级市场，中位约 50%，是分歧最大的一个；3-5 家 F+EPC+O 千亿级运营商，中位约 30%，最脆弱——因为「参照涉房」是准入不是激励。每个预言的验证锚在总结章。五个失灵变量按风险权重排序，银行惜贷是启动器：主办行不投放，后面全部空转。总纲两句是全书坐标系，读完十三章我们回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论从一层窗户纸开始：预售制不是销售方式，是一项隐性金融制度。购房者无抵押、无知情权、最后受偿，这种安排在主要经济体里几乎独一份。所以烂尾不是消费纠纷，是没人认领的信用危机。读懂全部条文的钥匙一句话：先显性化，再收缩融资功能、保留销售功能。显性化落在个贷办法 20-22 条——监管账户、受托支付、专款专用；收缩是把融资还给开发贷、REITs、并购和不动产私募基金；保留是「能拿房、再还贷」。第 37 条新老划断决定了收缩是渐进的，被拆掉的是隐性融资属性。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模式为什么撑不住？三重错位。第一融资主体错位：链条最前端的风险压给了最扛不起的购房者，风控最强的银行反而躲在抵押物后面做第二顺位。第二信息错位：真实资金与进度混在集团资金池，外人看不见，尽调靠关系、定价靠信仰。第三激励错位：所有人都在赚预期的钱——房企赚地价上涨、银行赚抵押物升值、中介赚成交频次、地方赚土地财政，唯独交付最不被定价。变革时点符合经济学老道理：维持旧制度的成本超过重建成本，变革才发生；人口与城镇化拐点打破地价自我实现，旧模式就走到了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一部文件群而不是一部大法？因为预售制的金融化是全链条的：只管银行，资金改走信托；只管信贷，融资改走资本市场；只管增量，存量没人接。所以只能全口径堵截、分工具适配，七个文件共用同一把尺子——基于项目。文件群的好处是快，印发即适用于新签合同；代价是执行依赖监管力度，文件能快进也能快改。为什么是现在？销售面积 -11.8%、开发投资 -19.2%、按揭余额较峰值净减 1.61 万亿，旧引擎熄火；同时旧通知集中废止。政策的函数从 f 变成 g——但要连着说：g 管十年，周期工具管十二个月，并联才成立；这只是金融子系统的总则，三翼尚未联动。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这张地图是后面十三章的检索表。按四个象限记：银行管过程——开发贷、个贷两个办法把放款时点、账户、进度全部管起来；资本市场管结构——证监会文件打开再融资、并购、ABS、REITs 的股权与退出通道；信托被收编——非标进主办行专户，2027 年 3 月 1 日施行；宏观审慎管总量——央行和金监总局的意见兜住总纲。城市更新办法由住建部联署，是存量盘活的通道。每个文件管什么、什么定位，翻回这页查。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这是全书的数据底座，五组数请记住。按揭余额 36.29 万亿元，自 2025 年 3 月峰值 37.90 万亿连降八个季度，累计减 1.61 万亿、约 -4.2%；利率端存量 3.05%、新发放 3.06%，从 3.33 降下来后连续四季走平——历史低位、弹性钝化；销售面积 -11.8%，二月曾探 -13.5%，跌幅二次走阔；七十城新宅价格 -3.4%；开发投资 -19.2% 持续探底。右图是余额的连降通道。利率走到低位而余额仍在降，说明周期性工具失效，只剩制度变量。但制度变量不创造需求——所以是 L 型磨底，仍需 2-3 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市场底不是一个底，是很多个。北京销售面积五月起转正，+0.6、+2.0、+1.4；二手价格 2026 年 1 月探底 -8.7 后连续六个月收窄到 -4.5；新房 -2.3%；开发投资 -11.6%，浅于全国。南京销售 -13.5% 且口径更新滞后、如实标注；二手 -5.4%，探底 -8.6 后收窄但深度仍大于北京；新房 -1.8%，修复弹性最大。左图是三个锚点的对比：全国 -6.3 到 -5.4、北京 -8.7 到 -4.5、南京 -8.6 到 -5.4，中间月份未披露、只连锚点。成交动能是独立验证：京宁二手成交量同比三到六月连续四个月为正——量先于价。右下六条补充数据各有口径，后面章节会反复引用。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第一章讲购房者，身份从影子出资人变成受条款保护的消费者。关键测算一组四个数：一百万本金、3.06% 利率、等额本息——30 年月供约 4247 元、总利息约 52.9 万；40 年月供约 3614 元、总利息约 73.5 万。月供降约 15%，总利息升约 39%。所以 40 年不是降月供，是给收入合格、月供不合格的人扩容：50% 红线下，同等月供能力支撑的本金上限提高约 17.5%。红线的另一面要看见：它挡掉多少边际购房者，尚未有人量化。久期从 8-10 年拉长到 11-14 年，这是银行审慎的微观原因；存量降 50bp 年减负约 1814 亿元，占可支配收入约 0.3%——是减负不是刺激。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主办银行，一句话：审的不再是财报，是工地。条款把银行焊在项目上：一项目一行、放款进度等于实物进度、回款先还本项目贷款、信托资金由主办行审核划拨。由此诞生工程监理岗和第三方核验外采。第四条是本章证据核：净息差约 1.5%，这是金监总局 2026 年二季度的水位；此时存量按揭降 50bp，行业息差静态再收约 4bp，存款利率联动能对冲六七成、净影响约 1 到 2bp——这是估算口径。责任无限、对价稀薄，少做是理性，惜贷螺旋指向总结的失灵变量一。最后留一个问题：拆掉旧制度租金的同时，谁审计新的数据垄断者？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第三章开发商。条款的核心是把集团信用没收：项目单独建账、不得混同、不得划拨集团、不得缴地价、不得分红——每个项目一个封闭水池。ROE 公式里杠杆项被拆掉，只剩周转率和利润率可以卷，行业第一次被迫像制造业一样赚钱。图③是定性示意：杠杆、周转、利润率三因子，杠杆被划掉，剩下两条活路——好房子溢价，或轻资产化。两个连带结果：缴地价贷款全链条禁止，拿地只剩真资本金；期房转现房把项目周期拉长 2-3 年。提醒一句：历史高价地的存货减值和被动退地，会先于新项目竞争出现在报表上。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上市房企。监管基调从限制翻成基于项目加穿透监管加零容忍，全通道重开。但真正的主角不是再融资，是并购重组。逻辑链四步：封闭账户让每个项目有一份实时、真实、第三方托管的项目报表；报表真实让尽调成本骤降；成本骤降让收购加配套融资跑起来；终局是项目级整合——A 股会出现项目整合型房企。谁当整合者？三方竞争：同行头部房企有能力但在缩表，再融资资格存疑；建筑央企有通道有工程能力，但受负债率 75-80% 和一利五率约束；城投有地方协调力，受隐债红线约束。谁能最先把项目级真实报表转化成整合能力，谁就定义出清后的行业结构。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章建筑央企，从全文最容易被忽略的一句话开始：证监会文件第二部分写明，建筑等与房地产密切相关行业的上市公司，参照上市房地产开发企业政策执行。但参照涉房是准入不是激励，过三道坎：第一道弹药坎，负债率普遍 75-80%，还有两金压降和一利五率，收购要真资本金；第二道能力坎，施工毛利 2-4%，与重资产持有是两种回报结构；第三道出口坎，REITs 分派率门槛——出险项目恰恰现金流断裂，好资产不需要你接、坏资产退不出去，2018 到 2021 年的减值教训就在眼前。现实路径是轻资产先跑和以房抵债转自持。三家中位概率约 30%，是全书最脆弱的预言。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第六章信托。一句话：资金出口被银行接管之后，要么做深，要么出局。准入三道杠——监管评级 2 级以上、净资产不低于 10 亿、近两年非连亏；资金进主办行专户、托管行与主办行同一法人；集中度双限——余额不超过信托实收规模的 5%、单一企业不超过 20%；未上市股权原则禁止、已建成项目例外不超过净资产 25%，这一条相当于私有 REITs 的前置仓。还有 48 小时冷静期、不得设预期收益率、薪酬递延加追索扣回、一项目一管理人。日历锚是 2027 年 3 月 1 日施行、存量到期结清。转型后剩两条赛道：特殊机会投资与不动产服务信托——监管要的是小而精的地产专业户。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第七章地方政府，一升一降并陈。升的是席位：白名单直报、联防联控、违约处置配合，2024 年已是实践，这次是写进办法、可问责。降的是资金链：缴地价贷款没了，一级开发垫资没了，旧循环的工具全部收回。最大悬案在过渡期：土地出让金自 2021 年8.7 万亿的峰值接近腰斩——财政部口径，现值未披露，图上只画峰值和下滑带、不做数字推断。「卖项目」的新引擎——城市更新项目库招商——能否接得住下滑斜率，决定地方财政成色。风险是项目注水诱惑，把财政性收入化妆成经营性收入，这指向总结的失灵变量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第八章持有与运营端。第一次，运营阶段拿到和开发阶段平起平坐的产品线：开发端租赁开发建设贷 3 到 5 年，保障房开发贷保本微利、利率低于商品房；收储端团体购房贷最长 30 年、评估值八成；运营端租赁经营贷自有产权 20 年、改造 5 年，经营性物业贷 15 年、评估值七成；退出端 RMBS、CMBS、REITs 和扩募。但菜单挂了两道闸门：定价闸门——租金回报率约 2% 出头、低于约 3% 资金成本，这是测算口径，菜单每一档都以租金覆盖本息为前提；买方闸门——终局买家是保险和养老金，它们的配置约束决定钱从哪来。分派率要求若下调，会反过来抬高今天的收购定价。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九章经纪行业，篇幅最长，分两页。三刀：赎楼被带押过户终结——过桥是金融化利润的大头；放款后置让新项目预售阶段的按揭代办消失；名单制加银行独立核验掐断返点通道。切掉的是租金，留下的是本事。验真的生意方向成立、时点存疑：专户流水是账户级的真，平台数据只是颗粒度更粗的补充真，悬在谁付费——看《意见》34 条是否把平台数据列为法定来源。量的修复先于价：全国从 -6.3 收窄到 -5.4，北京从 -8.7 到 -4.5、领先约 0.9 个百分点；带押过户单笔省 15-30 天、约 4.5 万元，换手率弹性 10-20% 是必要不充分条件；京宁成交量三到六月连续四个月为正，量修复是主动过程。边界钉死：收窄不等于转正，北京不等于全国。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第九章下半场看出清。返佣断流是双重挤压：一边 23 条名单制掐断返点，一边现房分销把低费率快回款换成高费率长账期。出清顺序先小后大、先返佣依赖型、后服务能力型——无底薪佣金制从业者的收入断崖从这里发生，这是第十二章三类被忽略者之一。图⑨是定性示意：旧收入五段堆叠被三把刀切过，新收入四段——撮合、验真、数据、家装租赁；右下角两个锚点线：全国 -6.3 到 -5.4、北京 -8.7 到 -4.5，中间月份未披露、如实标注。第二三曲线是顺风：团购房贷推动机构化收房、保租房 REITs 扩募要可审计现金流、好房子带动翻新装修。约束没变：政策决定谁吃增量，不创造增量本身。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十章数据与评估。旧模式里评估是额度的化妆师，按贷款额倒推报告；新体系给评估装上责任：孰低原则管押品认定、押品每年重估且不得以再评估净值追加贷款、物业贷封顶评估值七成、违规通报主管部门。按单流水线的生意终结，责任定价开始，小评估所出局。最大的增量在存量：36 万亿级按揭每年重估，加上物业贷、CMBS、REITs 的持续估值和城市更新收益测算，一个常年滚动的全国不动产定价基础设施被文件顺手建成。工程量核验是新物种，造价咨询和工程监理切入金融核验。最后留个钩子：谁来审计数据持有者——下一页用 Cotality 当镜子。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用全球最深的数据底座当镜子。Cotality，原来的 CoreLogic，约 30 年建成：157M+ 统一房产标识 CLIP、匹配率 99.2%，22,000+ 数据源、550 亿+ 条记录、五十多年纵深、年 1,100 亿次 API 调用。路径五步：承继县级公共记录、2011 到 2021 年的并购拼图——对价约 11 亿美元、私有化估值约 59 亿美元——然后 CLIP 统一标识、数据工厂、保鲜机制。经济门槛：全成本每年 5-6 亿美元，约合 35-42 亿元人民币，占年营收 35-40%。照进中国：需求不用培育，制度已经开票；我们缺统一标识、富交易流水，还有专户流水这层独有制度数据；门槛决定格局，未来是国家队、平台数据商和转型头部评估所的牌桌。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十一章城投。隐性担保没了、垫资管道没了，大扫除之后很多城投会发现自己很大，但很空——资产很多，能进金融市场的只有真经营性现金流，政府应付款和公益资产一夜之间不可质押。托底拿地的死亡比房企暴雷更深刻：土地市场失去最后的护盘资金，价格发现彻底真实化。生死线是市场化运营主体资格——经营性收入足额覆盖本息。活的模型是保租房闭环：保障房开发贷保本微利，团购房贷批量收房，租赁经营贷运营，REITs 退出——二十年来第一个投入有退出、退出有倍数的模型。但闸门没开：租金回报率 2% 出头对 3% 资金成本，算大账看分派率要求和利率走向。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第十二章讲沉默角色。进场的两个：AMC，信托 29 条盖章合作处置，特殊机会投资从此制度化；还有机构投资人。出局的三个：灰色助贷被名单制和银行独立核验定点清除；散户被请出地产金融化的餐桌——非标只卖机构，外加 48 小时冷静期；1998 年个贷办法、九项央行旧通知、三项信托旧规同步废止，补丁版时代结束。但账单的背面写着三类人的名字：存量期房的已签约购房者，是第 37 条的滞留乘客，新制度保护增量、不管存量；非主办行中小银行，让出资格不等于让出风险，坏账落在存款保险和股东身上；地方中小代理从业者，收入断崖。三类代价长期没有制度回应，会侵蚀改革的合法性。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第十三章把灯外的人请出来。最重大的缺席是公积金中心，三个待答问题：50%、60% 红线按全部债务计，公积金贷款和组合贷怎么计入，直接决定实际可贷空间；存量利率降到 3.05% 之后，公积金的利差优势收窄，配置偏差需要重估；从强制储蓄向政策性金融拓展——保障房、城市更新——是 1+N 之后最顺理成章的制度接续点。险资与养老金决定钱从哪来；物业公司是隐藏受益者；外资特殊机会基金等价格出清；施工应收款链条需要单独监测；多套房持有者握着二手供给；卖旧买新的存量业主单笔约省 4.5 万元。附卡记住一句话：好房子第一次有了信贷价格，谁认证、什么标准、如何挂钩，是 2027 年最值得跟踪的执行点。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三章横过来看，是同一件事在三个维度上的完成。第一知情权：信息从集团内部人流向项目托管人，主办行靠封闭账户成为第一知情人，并购尽调、评估问责、平台验真都从这里长出来。第二控制权：逐级上收到项目这一层——集团资金池被拆掉、项目封闭账户、支付受托制、购房款进监管账户；终点不是监管机构，是项目本身。第三责任：从事后救火到事前签字，六个角色六种签字，签字者薪酬递延、追索扣回、通报主管机关。收口两句话：钱从此跟项目走，不跟老板走；责任被写进岗位，而不是写进应急预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总结推到理论层：这是行业的科斯式起点。旧模式的病根是风险产权不清——烂尾了银行说购房人还贷、房企说资本金没了、地方说要维稳，人人持有风险、无人付费。新体系给四类风险定了主人：交付风险归房企，工程能力就是融资资格；项目信用风险归主办行，利差与拨备定价，银团可分散、不可转嫁；市场风险归购房人和投资者，选择自负；流动性风险归资本市场，RMBS、CMBS、REITs 的折价就是价格。注意两个精确性：一叫科斯式起点不叫科斯时刻——风险产权不可转让、没有独立定价市场；二检验信号不是拒贷——惜贷环境下拒贷是配给，要看开发贷利差有没有分项目评级的分层。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谁在买单，分三层。显性付费者：高杠杆房企、通道信托、灰色助贷、小评估所——旧利润就是制度租金，租金随制度一起取消。隐性付费者：地方政府拔掉土地金融杠杆，银行体系责任成本上升；如果数据变现不兑现，叠加净息差约 1.5%，惜贷就是唯一理性选择。延期付费者：购房者用选择风险替换交付风险，红线既是保护也是收缩。三个预言全部可证伪：期房占比，区间 30% 到 65%、中位约 45-55%；项目信贷二级市场，区间 35% 到 60%、中位约 50%、分歧最大；F+EPC+O 千亿级运营商，区间 20% 到 55%、中位约 30%、最脆弱。验证锚盯两处：预售证取证时点结构，和开发贷 ABS 成交额；期房那个务必做归因分解，防分母假象。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压力测试按风险权重排序。第一银行惜贷，启动器：净息差约 1.5%、降息静态冲击约 4bp、对冲后 1 到 2bp，少做是理性；它一启动，放款时点、受托支付、进度匹配全部空转。检验锚两个：开发投资 -19.2% 的斜率能否在 2027 年收窄到 -10% 以内，和 2026 年四季度白名单贷款覆盖率。第二项目现金流注水，最危险：财政性收入化妆成经营性收入，城市更新通道就变成新的隐性债务入口——这是永久性的。第三数据断供：银行到市场这半程没有强制共享条款，断供则并购、评估、REITs 三处推论同时落空。第四核验被俘获，可对冲。第五并购通道不足，可调节。交互风险记住一条：惜贷乘通道不足，等于出清停滞。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传导时序钉三个日历锚。2026 年四季度：看白名单贷款覆盖率和主办行投放，这是检验惜贷的总开关。2027 年上半年：看按揭余额能否止跌——没有周期工具并联，止跌概率约 55% 到 60%；如果约 3 万亿、100 到 200 万套的收储贴息落地并联，可以上修到 70% 以上，这是测算口径的研判推断。2027 年 3 月：信托办法施行、存量结清，警惕过渡期抢跑。底下这张存量循环图收拢全文：卖旧、买新、租赁吸收、REITs 退出，每一环的摩擦都被新政降低，但需求端基本面仍是决定项。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收束三段。第一，与数据互证：全国政策底不等于市场底，销售 -11.8%、投资 -19.2%；北京六连窄加销售转正，南京新房修复最快、二手仍在出清——市场底分城市、分环节到来；这份体系不承诺统一的市场底，它承诺每个角色都已在正确的位置上。第二，最大的不确定性是旧函数借过渡安排还魂：划断弹性化、白名单扩容、利率窗口指导，都可能让旧模式借壳回归——监管自身的执行是终局变量；两份定力是一枚硬币的两面。第三，收束：成败不在条文，在未来十二个月每个签字者的选择。旧模式赚预期的钱，新模式只能赚交付的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语表是全书的索引。不建议逐行念，横向看「新身份」这一列的角色跃迁：购房者变成受保护的消费者，银行变成项目监理加资金托管人，开发商变成制造业化的项目经理，上市房企变成重新获邀的发行人，建筑央企是参照涉房的准房企，信托成了被收编的外包资管，地方政府是有席位的合伙人，运营端拿到全周期菜单，经纪行业变成交易信用基础设施，数据评估升格为风控基础设施，城投拆成两个物种。净效应列每句都可回查对应章节。总收束一句：制度底座先行，市场底未确认；先立后破——立已到位，破在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来源披露页交代可追责性。条款引自文件原文，条号以正文为准。宏观数据走 Wind CLI，Wind EDB 口径，月度到 2026 年 7 月、季度到 2026 年二季度，指标代码逐项可溯源：按揭余额 W1409719、二手价格 S2707425 等。分城市用统计局 70 城指数加地方局序列，南京销售面积口径更新滞后到 2026 年 2 月、如实标注。贝壳政研通采用趋势性结论——京宁二手成交动能三到六月同比连续为正，定量仍以 Wind 为准，全程未编造数字。Cotality 引自公开口径对标研究，仅作能力参照。四级标注：测算、估算、研判推断、待补；观察清单十三项口径注明。本报告经五位独立评审专家两轮评审复核。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最后一页留给那句话：这份 1+N 文件体系，就是交付的定价说明书。它给交付风险、信用风险、市场风险、流动性风险各自定了主人，也让每一类风险第一次有机会有价格。行动指引一条：盯 2026 年四季度白名单贷款覆盖率和主办行投放——惜贷是全书失灵变量的启动器。本报告为行业研究，不构成投资建议；测算、估算、研判推断均非官方统计，口径见来源披露页。谢谢各位。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68680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6523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一场「角色重写」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房地产金融新政对行业参与主体的影响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7004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完整报告 v5.4 · 2026-08-29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127248"/>
            <a:ext cx="10765231" cy="475488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旧模式赚预期的钱，新模式赚交付的钱。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950208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36.29 万亿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较峰值-4.2%</a:t>
            </a:r>
          </a:p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个人住房贷款余额（2026-06）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144" y="3950208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-11.8%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累计同比</a:t>
            </a:r>
          </a:p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商品房销售面积（2026-07）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3950208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-19.2%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累计同比</a:t>
            </a:r>
          </a:p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开发投资（2026-07）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87967" y="3950208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约1.5%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行业水位</a:t>
            </a:r>
          </a:p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商业银行净息差（2026Q2）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80644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口径：Wind EDB 2026-07/2026Q2；金监总局 2026Q2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卷首速览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一页读完：十三类主体的一句话结论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188720"/>
          <a:ext cx="10765229" cy="46634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68461"/>
                <a:gridCol w="5747538"/>
                <a:gridCol w="3649230"/>
              </a:tblGrid>
              <a:tr h="33310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主体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一句话结论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关键数字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购房者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交付风险换成选择风险；40 年是给「收入合格、月供不合格」的人扩容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月供 -15%、总利息 +39%、本金上限 +17.5%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主办银行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审的不再是财报，是工地；惜贷是理性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净息差约 1.5%；降 50bp=息差 -4bp（估算）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杠杆被拆，行业第一次像制造业；土储从资产变包袱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项目周期拉长 2-3 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上市房企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并购重组才是真主角；整合者未必是同行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尽调成本因项目真实报表骤降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建筑央企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方向对、节奏慢、约束硬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负债率 75-80%、施工毛利 2-4%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信托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资金出口被银行接管；转行特殊机会+服务信托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非标余额≤5%、单一企业≤20%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地方政府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有了席位，也被掐了资金链；从卖地转向卖项目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土地出让金自 8.7 万亿峰值近腰斩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租赁/运营端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拿到全生命周期产品菜单；卡在租金回报率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约 2% 回报 vs 3% 资金成本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经纪行业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金融化的钱被切；返佣依赖的小中介首当其冲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带押过户单笔省约 4.5 万元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数据/评估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从额度的化妆师到风控基础设施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36 万亿级按揭年度重估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城投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大扫除之后：「很大，但很空」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经营性收入覆盖本息=生死线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沉默角色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AMC 进场、助贷出局、散户退场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非标产品只卖机构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补列七类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公积金是最重大缺席；险资决定「钱从哪来」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存量利率 3.05% 收窄公积金利差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5961888"/>
            <a:ext cx="1076523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口径：Wind EDB 2026-07/2026Q2；金监总局 2026Q2；测算/估算/研判推断项见各章与来源披露。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02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卷首速览 · 全书坐标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预言、失灵与总纲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三个可证伪预言（研判推断）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① 期房占比三年内降至三成以下</a:t>
            </a: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　—　中位约 45-55%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75688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② 项目信贷二级市场</a:t>
            </a: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　—　中位约 50%，分歧最大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51176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③ 3-5 家 F+EPC+O 千亿级运营商</a:t>
            </a: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　—　中位约 30%，最脆弱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200400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体系的五个失灵变量（按风险权重排序）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0752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银行惜贷 ＞ 现金流注水 ＞ 数据断供 ＞ 核验被俘获 ＞ 并购通道不足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315968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526280"/>
            <a:ext cx="1076523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制度底座先行，市场底未确认；</a:t>
            </a:r>
          </a:p>
          <a:p>
            <a:pPr algn="l">
              <a:lnSpc>
                <a:spcPct val="125000"/>
              </a:lnSpc>
            </a:pPr>
            <a:r>
              <a:rPr sz="30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先立后破——立已到位，破在执行。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03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总论 · 为什么是现在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预售制是一项隐性金融制度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88720"/>
            <a:ext cx="50292" cy="658368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88720"/>
            <a:ext cx="10714939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读懂全部条文的钥匙只有一句话：先把这项隐性制度显性化，再收缩它的融资功能、保留它的销售功能。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先说破一层窗户纸：预售制从来不是一种「销售方式」，而是一项隐性金融制度。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让购房者在房子建成之前，向开发商提供无抵押、无知情权、最后受偿的开发资金——这种安排在主要经济体里几乎独一份。过去二十年，中国社会靠它完成了「居民储蓄→开发融资」的大规模转化，代价是把金融风险伪装成消费行为。</a:t>
            </a:r>
          </a:p>
          <a:p>
            <a:pPr algn="l">
              <a:lnSpc>
                <a:spcPct val="140000"/>
              </a:lnSpc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烂尾不是消费纠纷，是一场没人认领的信用危机。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57400"/>
            <a:ext cx="5394960" cy="9144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显性化</a:t>
            </a:r>
          </a:p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承认购房款就是开发融资——必须进监管账户、受托支付、专款专用（个贷办法 20-22 条）。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3081528"/>
            <a:ext cx="5394960" cy="9144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收缩</a:t>
            </a:r>
          </a:p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把融资功能还给专业机构——开发贷、REITs、并购、不动产私募基金。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4105656"/>
            <a:ext cx="5394960" cy="9144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保留</a:t>
            </a:r>
          </a:p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把消费功能还给购房者——「能拿房、再还贷」；第 37 条新老划断决定收缩是渐进的，被拆掉的是预售的隐性融资属性。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257800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413248"/>
            <a:ext cx="107652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预售作为销售方式不会消失。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显性化之后，金融的归金融、消费的归消费——这是十三章所有角色重写的总起点。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04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总论 · 为什么是现在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旧模式为什么撑不住：三重错位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融资主体错位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267712"/>
            <a:ext cx="3429000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95728"/>
            <a:ext cx="3429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最扛不起风险的人（购房者）承担链条最前端的风险；风控最强的机构（银行）躲在抵押物后面做第二顺位。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280160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192024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信息错位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2267712"/>
            <a:ext cx="3429000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2395728"/>
            <a:ext cx="3429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项目真实的资金与进度混在集团资金池里，外人看不见——尽调靠关系，定价靠信仰。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280160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92024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激励错位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2267712"/>
            <a:ext cx="3429000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2395728"/>
            <a:ext cx="3429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所有人都在赚「预期」的钱——房企赚地价上涨、银行赚抵押物升值、中介赚成交频次、地方赚土地财政，唯独「交付」最不被定价。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120640"/>
            <a:ext cx="10765231" cy="1143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经济学的老道理：当维持旧制度的成本（保交楼、兜底）超过重建成本，变革才会发生。</a:t>
            </a:r>
          </a:p>
          <a:p>
            <a:pPr algn="l">
              <a:lnSpc>
                <a:spcPct val="140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人口与城镇化拐点打破了地价的自我实现，旧模式就走到了头。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05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总论 · 为什么是这个形状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为什么是 1+N 文件群，为什么是现在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为什么是 1+N：预售制的金融化是全链条的，只堵一处必然改道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3429000" cy="56692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只管银行，</a:t>
            </a: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资金改走信托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9976" y="1572768"/>
            <a:ext cx="3429000" cy="56692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只管信贷，</a:t>
            </a: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融资改走资本市场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19" y="1572768"/>
            <a:ext cx="3429000" cy="56692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只管增量，</a:t>
            </a: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存量没人接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04288"/>
            <a:ext cx="1076523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所以只能全口径堵截、分工具适配：央行出总纲，金监总局按条线出四个办法，住建部联署管城市更新，证监会打开股权通道——七个文件第一次共用同一把尺子：</a:t>
            </a:r>
            <a:r>
              <a:rPr sz="12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「基于项目」。</a:t>
            </a:r>
          </a:p>
          <a:p>
            <a:pPr algn="l">
              <a:lnSpc>
                <a:spcPct val="140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文件群的好处是快（印发即适用于新签合同），代价是执行依赖监管力度——文件能快进，也能快改。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520440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75887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为什么是现在：旧引擎熄火，刺激的边际收益归零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98678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-11.8%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462272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销售面积累计同比</a:t>
            </a: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（Wind EDB，2026-07/2026Q2）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98678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-19.2%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4462272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开发投资累计同比</a:t>
            </a: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（Wind EDB，2026-07/2026Q2）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98678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1.61 万亿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4462272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按揭余额较峰值净减</a:t>
            </a: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（Wind EDB，2026-07/2026Q2）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956048"/>
            <a:ext cx="10765231" cy="502920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政策的函数变了：过去是 f(市场热度) 的周期调节，现在是 g(制度架构) 的恒定约束。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596128"/>
            <a:ext cx="1076523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记得连着说两句：g 管十年，周期工具（收库存、保主体、贴按揭）管当下十二个月，并联才成立；这套文件只是金融子系统的总则，住房、土地、财税三翼尚未联动。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06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总论 · 体系地图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谁在管什么：七个文件共用一把尺子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207008"/>
          <a:ext cx="10765229" cy="4160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9859"/>
                <a:gridCol w="1973625"/>
                <a:gridCol w="3947251"/>
                <a:gridCol w="1704494"/>
              </a:tblGrid>
              <a:tr h="52006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文件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发文主体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管什么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定位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《关于改革完善房地产信贷管理…的意见》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央行 + 金监总局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贷款品种总纲、主办银行制、放款时点、宏观审慎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A9741F"/>
                          </a:solidFill>
                          <a:latin typeface="Times New Roman"/>
                          <a:ea typeface="宋体"/>
                          <a:cs typeface="宋体"/>
                        </a:rPr>
                        <a:t>信贷总纲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《商品住房开发贷款管理办法（试行）》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金监总局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四证/资本金/封闭账户/主办行/期限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A9741F"/>
                          </a:solidFill>
                          <a:latin typeface="Times New Roman"/>
                          <a:ea typeface="宋体"/>
                          <a:cs typeface="宋体"/>
                        </a:rPr>
                        <a:t>供给端主战场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《个人住房贷款管理办法（试行）》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金监总局 + 央行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首付、收入红线、40 年、放款时点、带押过户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A9741F"/>
                          </a:solidFill>
                          <a:latin typeface="Times New Roman"/>
                          <a:ea typeface="宋体"/>
                          <a:cs typeface="宋体"/>
                        </a:rPr>
                        <a:t>需求端总规则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《商业地产贷款管理办法（试行）》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金监总局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开发/购买/运营三段贷款、经营性物业贷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A9741F"/>
                          </a:solidFill>
                          <a:latin typeface="Times New Roman"/>
                          <a:ea typeface="宋体"/>
                          <a:cs typeface="宋体"/>
                        </a:rPr>
                        <a:t>持有运营端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《城市更新项目贷款管理办法（试行）》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金监总局 + 住建部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项目库、市场化实施主体、禁隐性增信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A9741F"/>
                          </a:solidFill>
                          <a:latin typeface="Times New Roman"/>
                          <a:ea typeface="宋体"/>
                          <a:cs typeface="宋体"/>
                        </a:rPr>
                        <a:t>存量盘活通道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《信托公司房地产信托业务管理办法（试行）》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金监总局（2027-03-01 施行）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非标准入、资金入主办行专户、集中度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A9741F"/>
                          </a:solidFill>
                          <a:latin typeface="Times New Roman"/>
                          <a:ea typeface="宋体"/>
                          <a:cs typeface="宋体"/>
                        </a:rPr>
                        <a:t>影子端收编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证监会资本市场支持文件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中国证监会（2025-12-27）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再融资/并购/公司债/ABS/REITs/私募基金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A9741F"/>
                          </a:solidFill>
                          <a:latin typeface="Times New Roman"/>
                          <a:ea typeface="宋体"/>
                          <a:cs typeface="宋体"/>
                        </a:rPr>
                        <a:t>权益与退出通道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3232" y="5532120"/>
            <a:ext cx="10765231" cy="566928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银行管过程、资本市场管结构、信托被收编、宏观审慎管总量。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总论 · 数据底座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利率走到低位而余额仍在降：周期工具已经失效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207008"/>
          <a:ext cx="5806439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2335"/>
                <a:gridCol w="1633061"/>
                <a:gridCol w="2631043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指标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最新值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关键变化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个人住房贷款余额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36.29 万亿元（2026-06）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自 2025-03 峰值 37.90 万亿连降 8 个季度，累计 -1.61 万亿（约 -4.2%）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按揭加权平均利率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存量 3.05% / 新发放 3.06%（2026Q2）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新发放 3.33→3.06 后连续四季走平，历史低位、弹性钝化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商品房销售面积累计同比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-11.8%（2026-07）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2026-02 曾探 -13.5%，跌幅二次走阔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70 城新宅价格当月同比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-3.4%（2026-07）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2025-10 最窄 -2.6% 后再度走阔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开发投资累计同比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-19.2%（2026-07）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-17.2→-18.0→-19.2，持续探底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4160520"/>
            <a:ext cx="5806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利率走到历史低位而余额仍在降——周期性工具已经失效，只剩制度变量可用。</a:t>
            </a:r>
          </a:p>
          <a:p>
            <a:pPr algn="l">
              <a:lnSpc>
                <a:spcPct val="135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制度变量只修供给侧的风险归属，不创造需求：制度底座先行，市场底未确认，L 型磨底仍需 2-3 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2070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图A｜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个人住房贷款余额：连降通道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444752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单位：万亿元　来源：Wind EDB（W1409719）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720840" y="1783080"/>
          <a:ext cx="48920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12280" y="4754880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季度序列 37.56→37.68→37.90→37.74→37.44→37.01→36.72→36.29；横轴 ①…⑧ 为季度序号（2025-03 为峰值 37.90、最新 2026-06 为 36.29）。数据底座口径：月度截至 2026-07、季度截至 2026Q2。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08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总论 · 分城市快照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市场底不是一个底，是很多个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188720"/>
          <a:ext cx="10765229" cy="1783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94205"/>
                <a:gridCol w="4485512"/>
                <a:gridCol w="4485512"/>
              </a:tblGrid>
              <a:tr h="35661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北京（2026-07）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南京（2026-07）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销售面积累计同比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+1.4%（5 月起转正：+0.6→+2.0→+1.4）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-13.5%（2026-02，市统计局口径更新滞后）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二手住宅价格同比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-4.5%（2026-01 探底 -8.7 后连续 6 个月收窄）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-5.4%（探底 -8.6 后收窄，深度仍大于北京）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新建商品住宅价格同比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-2.3%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-1.8%（2026-03 探底 -4.1 后修复弹性最大）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开发投资累计同比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-11.6%（浅于全国 -19.2%）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—（口径受限）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312724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图B｜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70 城二手住宅价格同比：探底→最新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64991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单位：%　来源：Wind EDB（S2707425 等）；锚点对比，中间月份未披露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" y="3611880"/>
          <a:ext cx="539496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3127248"/>
            <a:ext cx="5303520" cy="312724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关键补充数据（口径随行）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· 成交动能（贝壳政研通口径，趋势性信号）：京宁二手成交量同比 2026 年 3-6 月连续四个月为正——北京 4 月冲高后回落企稳、南京逐月放缓；「量先于价」获成交端独立验证。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· 租金回报率约 2% 出头、低于约 3% 资金成本（测算口径）——持有型生意的判据。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· 土地出让金自 2021 年 8.7 万亿峰值接近腰斩（财政部口径）。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· 收储贴息测算约 3 万亿元、100-200 万套（测算口径）。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· 商业银行净息差约 1.5%（金监总局，2026Q2）。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· 存量按揭降 50bp 年减负约 1814 亿元，仅占居民可支配收入约 0.3%——是「减负」不是「引擎」。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· 带押过户按 300 万贷款、30 天过桥、日万五测算，单笔省约 4.5 万元（测算口径）。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09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第一章｜购房者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购房者：从「影子出资人」到「受保护的消费者」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交房之前先还贷的时代结束了——购房者第一次有了风控部门。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身份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开发商的影子出资人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受条款保护的消费者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风控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无（无抵押权、无知情权、最后受偿）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放款后置+监管账户+收入红线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救济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利率置换、展期协商入办法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40 年不是降月供，是扩容：30 年月供约 4247 元、总利息约 52.9 万；40 年月供约 3614 元、总利息约 73.5 万——月供降约 15%、总利息升约 39%；50% 红线下本金上限提高约 17.5%（测算口径，100 万、3.06%、等额本息）。银行将第一次依法「保护性拒贷」——红线既是保护条款，也是需求收缩条款。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居民端减负，银行端加久期：按揭久期从约 8-10 年拉长到 11-14 年（估算口径）。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风险没有消失，只是改了形状：留下「选择风险」与「时机风险」；第 37 条新老划断是缓冲垫——现房销售只能小步慢走。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存量救济量级有限：经第 24 条降 50bp，按 36.29 万亿余额测算年减负约 1814 亿元，约占居民可支配收入 0.3%——是减负不是刺激。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交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个贷 22/20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放款后置；带押过户；受托支付。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391156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个贷 24/26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77439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利率偏离可协商置换；失收可协商展期。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715768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个贷 10/13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702051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月供收入比 ≤50%；期限最长 40 年。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821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图①｜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30 年 vs 40 年：月供与总利息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19856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测算口径：100 万、3.06%、等额本息　来源：本报告测算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7013448" y="3730752"/>
          <a:ext cx="4498848" cy="1133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013448" y="4937760"/>
          <a:ext cx="4498848" cy="113385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第二章｜主办银行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主办银行：从「资金贩子」到「责任承包商」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银行审的不再是财报，是工地。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岗位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抵押物估价师、资金贩子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项目监理+资金托管人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审什么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集团财报、押品估值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工程进度、资金流向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责任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事后清收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事前签字：异常处置+代管信托资金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一个新的 to-B 行业被凭空创造：银行内部诞生「工程监理岗」，第三方工程核验机构成为标配外采（21 条预留接口）。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项目信息独占者：主办行比地方政府、比集团更早知道真实去化——项目实时数据成为信贷定价的新坐标。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会出现「银行不敢抢的项目」：主办行向有工程风控能力的头部行集中——项目资质分层，而不是客户资质分层。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惜贷不是失职，是理性：净息差约 1.5%（金监总局，2026Q2）；此时存量按揭若降 50bp，行业息差静态再收约 -4bp，存款利率联动可对冲六七成、净影响约 -1~-2bp（估算口径）。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5.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警惕新数据租金：主办行项目数据、平台成交数据、国家队全口径统计三方并立——谁审计数据垄断者？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信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开发贷 7-8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一项目一行、账户结清前不变更。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391156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开发贷 15/16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77439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放款进度=实物进度；回款先还本项目贷款。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715768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信托 21-22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702051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资金由主办行审核划拨；托管与主办同一法人。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3040379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开发贷 57 条等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026663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违规点名处罚；重大事项事先告知主办行（《意见》12 条）。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图②｜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息差水位：基线、冲击与对冲后净值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822191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估算口径　来源：金监总局 2026Q2；本报告估算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096512"/>
            <a:ext cx="4389120" cy="402336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净息差基线 约 1.5%（金监总局，2026Q2）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4572000"/>
            <a:ext cx="2721254" cy="384048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降 50bp：静态 -4bp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5010912"/>
            <a:ext cx="3950208" cy="384048"/>
          </a:xfrm>
          <a:prstGeom prst="rect">
            <a:avLst/>
          </a:prstGeom>
          <a:solidFill>
            <a:srgbClr val="B9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对冲后：约 -1~-2bp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486400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静态冲击为估算；对冲幅度「六七成」为估算口径——若不联动，冲击不容忽视。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第三章｜房地产开发企业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开发商：集团信用被「没收」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八个瓶七个盖的时代结束了——行业第一次被迫变得像制造业。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核心能力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资金调度（八个瓶七个盖）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产品力+交付周期管理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现金流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融资驱动（借新还旧）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经营驱动（回款还贷）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土储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融资工具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纯成本项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ROE 公式里的杠杆项被拆掉：每个项目一个封闭水池，只剩周转率和利润率可以卷。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从「垫资的甲方」到「被垫资的乙方」：资本金先到位、贷款按进度放、还本等竣工、回款先还贷。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土地市场被釜底抽薪：缴地价贷款全链条禁止——拿地只剩真资本金，买家骤然集中在国资、城市更新基金和「先有产业故事」的主体。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「周转率」变成「交付周期」：期房转现房把项目周期拉长 2-3 年；两条活路=好房子溢价或轻资产化。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5.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存量土储是下一个战场：土储从融资工具变回纯成本项——历史高价地的存货减值与「被动退地」会先出现在报表上。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开发贷 13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项目单独建账；不得混同/划拨集团；不得缴地价/分红。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610612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开发贷 4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96896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集团风险与项目风险分开评估。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935224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《意见》5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921508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全链条禁缴土地出让金贷款。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5983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图③｜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ROE 三因子：杠杆项被移除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97580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机制示意　定性示意（无数字）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771900"/>
            <a:ext cx="1371600" cy="475488"/>
          </a:xfrm>
          <a:prstGeom prst="rect">
            <a:avLst/>
          </a:prstGeom>
          <a:solidFill>
            <a:srgbClr val="F1E4DF"/>
          </a:solidFill>
          <a:ln w="15240">
            <a:solidFill>
              <a:srgbClr val="8C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杠杆</a:t>
            </a:r>
          </a:p>
        </p:txBody>
      </p:sp>
      <p:cxnSp>
        <p:nvCxnSpPr>
          <p:cNvPr id="22" name="Connector 21"/>
          <p:cNvCxnSpPr>
            <a:stCxn id="21" idx="1"/>
            <a:endCxn id="21" idx="3"/>
          </p:cNvCxnSpPr>
          <p:nvPr/>
        </p:nvCxnSpPr>
        <p:spPr>
          <a:xfrm flipV="1">
            <a:off x="7086600" y="4009644"/>
            <a:ext cx="1371600" cy="0"/>
          </a:xfrm>
          <a:prstGeom prst="line">
            <a:avLst/>
          </a:prstGeom>
          <a:ln w="20320">
            <a:solidFill>
              <a:srgbClr val="8C3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595360" y="3771900"/>
            <a:ext cx="1371600" cy="475488"/>
          </a:xfrm>
          <a:prstGeom prst="rect">
            <a:avLst/>
          </a:prstGeom>
          <a:solidFill>
            <a:srgbClr val="F7F5F0"/>
          </a:solidFill>
          <a:ln w="15240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周转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3771900"/>
            <a:ext cx="1371600" cy="475488"/>
          </a:xfrm>
          <a:prstGeom prst="rect">
            <a:avLst/>
          </a:prstGeom>
          <a:solidFill>
            <a:srgbClr val="F7F5F0"/>
          </a:solidFill>
          <a:ln w="15240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利润率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86600" y="4375404"/>
            <a:ext cx="4389120" cy="256032"/>
          </a:xfrm>
          <a:prstGeom prst="rightArrow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4686300"/>
            <a:ext cx="4389120" cy="384048"/>
          </a:xfrm>
          <a:prstGeom prst="rect">
            <a:avLst/>
          </a:prstGeom>
          <a:noFill/>
          <a:ln w="15240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只剩两条活路：好房子溢价 ／ 轻资产化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314700"/>
            <a:ext cx="841248" cy="219456"/>
          </a:xfrm>
          <a:prstGeom prst="rect">
            <a:avLst/>
          </a:prstGeom>
          <a:solidFill>
            <a:srgbClr val="F7F5F0"/>
          </a:solidFill>
          <a:ln w="9525">
            <a:solidFill>
              <a:srgbClr val="5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定性示意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第四章｜上市房企与资本市场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上市房企：一封印着「基于项目」的再上市邀请函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真正的主角不是再融资，是并购重组。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融资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股债闸门实际关闭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全通道重开（定增/并购/公司债/ABS/REITs/私募）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出清方式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法拍折价、违约清算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上市公司收购+配套融资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监管基调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限制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「基于项目」+穿透监管+零容忍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出清终局不是倒闭清算，而是项目级资产被好公司批量接走——出险项目退出通道从法拍升级为「收购+配套融资」，A 股将出现「项目整合型房企」。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每个项目的封闭账户，就是一份实时、真实、第三方托管的项目报表——并购尽调成本骤降、信息不对称骤减，这比任何鼓励政策都更能催生并购市场。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中介从通道费生意变成无限连带看门人（9 条）——房企年审的审计风险溢价飙升，会出现「会计所分层拒单」。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谁当整合者：同行头部房企（有能力但在缩表）、建筑央企（有通道有工程能力）、城投（有地方协调力）三方竞争——整合者未必是同行。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并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证监会 6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发行准入突出「基于项目」。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391156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证监会 8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77439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募集资金穿透式专户监管。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715768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证监会 9/11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702051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第三方配合造假零容忍；严格执行退市。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089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图④｜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并购链条与三方整合者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34670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机制示意　条款依据：证监会文件 6/8 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602736"/>
            <a:ext cx="4213555" cy="29260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项目封闭账户=实时真实报表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3950208"/>
            <a:ext cx="4213555" cy="29260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→  尽调成本骤降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297680"/>
            <a:ext cx="4213555" cy="29260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→  收购+配套融资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4645152"/>
            <a:ext cx="4213555" cy="292608"/>
          </a:xfrm>
          <a:prstGeom prst="rect">
            <a:avLst/>
          </a:prstGeom>
          <a:solidFill>
            <a:srgbClr val="0E6A55"/>
          </a:solidFill>
          <a:ln w="9525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→  项目级整合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5065776"/>
            <a:ext cx="4213555" cy="256032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同行房企｜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约束：缩表通道、再融资资格存疑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5376672"/>
            <a:ext cx="4213555" cy="256032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建筑央企｜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约束：负债率 75-80%、「一利五率」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5687568"/>
            <a:ext cx="4213555" cy="256032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城投｜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约束：隐债红线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6053328"/>
            <a:ext cx="4213555" cy="256032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整合者未必是同行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第五章｜建筑央企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建筑央企：「参照涉房」是准入，不是激励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门开了，未必有钱进；能干，未必该干。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身份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施工总包乙方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名义上的「准房企」（通道许可）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能用的工具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无涉房融资通道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股份/定向可转债/现金收购+配套融资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现实约束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负债率、「两金压降」、「一利五率」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通道不等于弹药：负债率普遍 75-80%（行业口径），叠加「两金压降」与「一利五率」考核——收购要真资本金。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能干不等于会干：施工主业毛利 2-4%（行业口径），与重资产持有是两种回报结构，与央企考核目标不匹配。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REITs 出口与坏资产自相矛盾：出险项目恰恰现金流断裂，过不了分派率门槛——好资产不需要你接，坏资产退不出去；2018-2021 年央企纾困接盘的减值教训就在眼前。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更现实的两条路径：轻资产先跑（代建+总承包+运营，不背融资）、以房抵债转自持（用工程款债权换资产）。千亿级要按合同额和管理规模计——三家中位概率约 30%，是最脆弱的预言（研判推断）。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F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证监会文件（二）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「建筑等与房地产密切相关行业的上市公司，参照上市房地产开发企业政策执行」——一句话，全文最容易被忽略。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0040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图⑤｜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三道坎：准入 ≠ 激励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43814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行业口径　参照涉房：证监会文件（二）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3694176"/>
            <a:ext cx="4213555" cy="58521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坎1 </a:t>
            </a: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负债率 75-80%</a:t>
            </a:r>
          </a:p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行业口径·叠加「两金压降」「一利五率」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4352544"/>
            <a:ext cx="4213555" cy="58521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坎2 </a:t>
            </a: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施工毛利 2-4%</a:t>
            </a:r>
          </a:p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与重资产持有是两种回报结构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5010912"/>
            <a:ext cx="4213555" cy="58521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坎3 </a:t>
            </a: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REITs 分派率门槛</a:t>
            </a:r>
          </a:p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坏资产退不出去，好资产不需要接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5724144"/>
            <a:ext cx="4213555" cy="274320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准入 ≠ 激励：门开了，未必有钱进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第六章｜信托公司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信托：被「收编」的外包资管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资金出口被银行接管之后，信托要么做深，要么出局。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身份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「第二银行」、非标通道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主办银行体系的外包资金方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资金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自行保管、自行划拨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进主办行专户、主办行审核划拨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客群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散户+机构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只剩机构（非标过半即全机构）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三个新物种身份：与 AMC 联手处置存量风险（29 条）——从风险制造者转行特殊机会投资；已建成优质资产的股权/物权投资——25% 条款是私有 REITs 前置仓；资产服务信托——财富管理/行政管理。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监管要的是小而精的地产专业户：一项目一管理人+异地驻点（44 条）——收缩成特殊机会投资、不动产服务信托两条赛道（历史规模量级为估算口径，以信托业协会披露为准）。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特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信托 16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非标三道杠：评级 2 级以上、净资产≥10 亿、近两年非连亏。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610612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信托 21-22/45/24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96896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专户+同一法人；集中度余额≤5%、单一≤20%。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935224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施行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921508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2027-03-01 施行、存量到期结清。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5983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图⑥｜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资金路径：收编前后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97580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机制示意　条款依据：信托办法 21-22 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753612"/>
            <a:ext cx="4213555" cy="457200"/>
          </a:xfrm>
          <a:prstGeom prst="rect">
            <a:avLst/>
          </a:prstGeom>
          <a:solidFill>
            <a:srgbClr val="F1E4DF"/>
          </a:solidFill>
          <a:ln w="12700">
            <a:solidFill>
              <a:srgbClr val="8C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旧：自行保管、自行划拨（「第二银行」）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930030" y="4265676"/>
            <a:ext cx="274320" cy="274320"/>
          </a:xfrm>
          <a:prstGeom prst="downArrow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4594860"/>
            <a:ext cx="4213555" cy="457200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新：进主办行专户、主办行审核划拨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180076"/>
            <a:ext cx="4389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三个新物种身份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5417820"/>
            <a:ext cx="4213555" cy="292608"/>
          </a:xfrm>
          <a:prstGeom prst="rect">
            <a:avLst/>
          </a:prstGeom>
          <a:noFill/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与 AMC 联手处置存量风险（29 条）——特殊机会投资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5765292"/>
            <a:ext cx="4213555" cy="292608"/>
          </a:xfrm>
          <a:prstGeom prst="rect">
            <a:avLst/>
          </a:prstGeom>
          <a:noFill/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已建成优质资产股权/物权投资——25% 条款=私有 REITs 前置仓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6112764"/>
            <a:ext cx="4213555" cy="292608"/>
          </a:xfrm>
          <a:prstGeom prst="rect">
            <a:avLst/>
          </a:prstGeom>
          <a:noFill/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5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资产服务信托——财富管理/行政管理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第七章｜地方政府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地方政府：有了席位，也被掐了资金链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从「卖地给开发商」到「卖项目给资本」——城市更新项目库就是新的招商产品手册。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身份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场外操盘手（土地财政）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有席位的合伙人（条文固化）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收入引擎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土地出让金+一级开发垫资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项目经营性收入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责任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事后维稳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白名单守门+联防联控+违约处置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席位是「条文固化」而非「首创」：协调机制与白名单 2024 年已是实践——新政的意义是写进办法、可问责。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资金链被掐：缴地价贷款没了、一级开发垫资没了——旧循环的资金工具全部收回。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最大悬案在过渡期：土地出让金自 2021 年 8.7 万亿峰值接近腰斩（财政部口径），「卖项目」的转型收益能否接得住下滑斜率，决定地方财政成色。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开发贷 26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白名单直报城市融资协调机制。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391156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证监会 11/12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77439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违约处置配合注册地政府；风险联防联控。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715768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城市更新办法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702051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项目入库+城市体检；经营性收入足额覆盖本息；禁隐性增信；不得用于净地供应前征收补偿。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5983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图⑦｜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土地出让金：峰值到「接近腰斩」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97580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财政部口径　带形为定性示意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771900"/>
            <a:ext cx="4213555" cy="402336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2021 年峰值 8.7 万亿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03336" y="4210812"/>
            <a:ext cx="2896819" cy="329184"/>
          </a:xfrm>
          <a:prstGeom prst="rect">
            <a:avLst/>
          </a:prstGeom>
          <a:solidFill>
            <a:srgbClr val="6E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4576572"/>
            <a:ext cx="2018995" cy="329184"/>
          </a:xfrm>
          <a:prstGeom prst="rect">
            <a:avLst/>
          </a:prstGeom>
          <a:solidFill>
            <a:srgbClr val="B9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4265676"/>
            <a:ext cx="2633472" cy="60350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「接近腰斩」</a:t>
            </a: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（现值未披露，不作数字推断）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86600" y="4978908"/>
            <a:ext cx="4213555" cy="237744"/>
          </a:xfrm>
          <a:prstGeom prst="rightArrow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5289804"/>
            <a:ext cx="4213555" cy="384048"/>
          </a:xfrm>
          <a:prstGeom prst="rect">
            <a:avLst/>
          </a:prstGeom>
          <a:noFill/>
          <a:ln w="1524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新引擎接力：「卖项目」——城市更新项目库招商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314700"/>
            <a:ext cx="841248" cy="219456"/>
          </a:xfrm>
          <a:prstGeom prst="rect">
            <a:avLst/>
          </a:prstGeom>
          <a:solidFill>
            <a:srgbClr val="F7F5F0"/>
          </a:solidFill>
          <a:ln w="9525">
            <a:solidFill>
              <a:srgbClr val="5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定性示意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第八章｜持有与运营端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持有与运营端：第一次拿到全生命周期产品菜单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运营阶段第一次拥有与开发阶段平起平坐的金融产品线——不动产资管产业链的开工许可证发下来了。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融资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开发贷一条道走到竣工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开发→持有→退出全周期菜单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退出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无制度化出口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REITs/CMBS/扩募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定价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无锚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租金现金流覆盖本息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「开发商」与「持有商」物种分化：开发-持有-退出闭环第一次在制度上跑通。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两道闸门未开：定价闸门——租金回报率约 2% 出头、低于约 3% 资金成本（测算口径），菜单每一档都以租金覆盖本息为前提；买方闸门——REITs 的终局买家是保险、养老金等长期资金，其监管规则下的配置约束决定「钱从哪来」。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分派率要求若下调，更多资产够得着退出通道，反过来抬高今天的收购定价——团租机构与建筑央企是定价权转移的先受益者。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持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《意见》四-五章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四段接力菜单（期限/成数见图⑧）；保障房开发贷保本微利、利率更低。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610612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商业地产办法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96896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购买贷 10-15 年；物业贷封顶评估值 70%。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15468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图⑧｜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全生命周期产品菜单：四段接力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9242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期限/成数如标注　来源：《意见》四-五章+商业地产办法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3648456"/>
            <a:ext cx="4213555" cy="438912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开发端｜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租赁开发建设贷 3-5 年；保障房开发贷：保本微利、利率低于商品房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4142232"/>
            <a:ext cx="4213555" cy="438912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收储端｜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租赁团体购房贷 ≤30 年 / 评估值 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4636008"/>
            <a:ext cx="4213555" cy="438912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运营端｜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租赁经营贷：自有产权 ≤20 年/80%、改造 ≤5 年/应收租金 70%；经营性物业贷 ≤15 年/评估值 70%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129784"/>
            <a:ext cx="4213555" cy="438912"/>
          </a:xfrm>
          <a:prstGeom prst="rect">
            <a:avLst/>
          </a:prstGeom>
          <a:solidFill>
            <a:srgbClr val="0E6A55"/>
          </a:solidFill>
          <a:ln w="9525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退出端｜</a:t>
            </a:r>
            <a:r>
              <a:rPr sz="900" b="0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RMBS/CMBS/REITs/扩募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5696712"/>
            <a:ext cx="4213555" cy="310896"/>
          </a:xfrm>
          <a:prstGeom prst="rect">
            <a:avLst/>
          </a:prstGeom>
          <a:noFill/>
          <a:ln w="1524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定价闸门：租金回报率约 2% vs 资金成本约 3%（测算口径）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6062472"/>
            <a:ext cx="4213555" cy="310896"/>
          </a:xfrm>
          <a:prstGeom prst="rect">
            <a:avLst/>
          </a:prstGeom>
          <a:noFill/>
          <a:ln w="12700">
            <a:solidFill>
              <a:srgbClr val="5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买方闸门：长钱（保险/养老金）配置约束决定「钱从哪来」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第九章｜经纪行业（上）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经纪行业：三刀切掉金融化收入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金融化的钱被三刀切掉——切掉的是租金，留下的是本事。（本章讨论经纪行业整体；头部平台仅作案例参照，参照不等于豁免）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收入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佣金+衍生金融（赎楼/返点/包装）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撮合+验真+数据服务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新房分销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信贷获客渠道（签约即放款即佣金）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现房去化渠道（放款后结佣）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小中介生态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靠返点与代办费活着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返佣断流，向服务能力转型或出局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三刀（条款依据）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①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赎楼被带押过户终结（个贷 20 条）——过桥是金融化利润大头；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②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新项目预售阶段按揭代办消失（放款后置 22 条；存量按 37 条过渡）；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③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返点渠道终结（名单制+追偿+风控核心银行独立 23 条）。</a:t>
            </a:r>
          </a:p>
          <a:p>
            <a:pPr algn="l">
              <a:lnSpc>
                <a:spcPct val="130000"/>
              </a:lnSpc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验真的悬点：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主办行专户流水是「账户级的真」，平台数据只是「颗粒度更粗的补充真」；谁为验真付费，取决于《意见》34 条全口径统计是否把平台数据列为法定来源——方向成立，时点存疑。头部平台的应对是把「通道费」换成「服务费」，转型路径对全行业有参照意义，但参照不等于豁免。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量的修复先于价（机制上政策使然）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03120"/>
            <a:ext cx="4389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全国 70 城二手价格同比：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2026 年初 -6.3 筑底后连续 5 个月收窄至 -5.4（S2707425）。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北京更早更深：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-8.7→-4.5，领先约 0.9 个百分点；销售面积 5 月转正。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摩擦下降：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带押过户单笔省 15-30 天、约 4.5 万元（测算口径）；理论上提升均衡换手率 10-20%（必要不充分条件）。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成交动能：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京宁二手成交量同比 2026 年 3-6 月连续四个月为正（贝壳政研通口径，趋势性信号）——「量修复」是成交放量的主动过程。</a:t>
            </a:r>
          </a:p>
          <a:p>
            <a:pPr algn="l">
              <a:lnSpc>
                <a:spcPct val="130000"/>
              </a:lnSpc>
            </a:pPr>
            <a:r>
              <a:rPr sz="105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新房杠杆后置 vs 带押过户+利率置换+40 年扩容同向发力，把切换期需求导向存量市场。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833872"/>
            <a:ext cx="10765231" cy="566928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边界钉死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收窄不等于转正（-5.4% 仍深度负增长）；北京是先行个案，不能放大为全国（全国销售 -11.8%）。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第九章｜经纪行业（下）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出清顺序与第二、三曲线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返佣断流，出清先小后大——政策决定谁能活下来吃增量，不创造增量本身。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199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4892039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推论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要点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返佣断流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返点/代办费/返佣是中小门店生命线；现房分销改「高费率+长账期」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第二曲线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团购房贷推动机构化收房放量；REITs 扩募要可审计现金流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第三曲线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「好房子」带动存量翻新与改善装修——入口+家装飞轮同向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出清顺序：先小后大、先返佣依赖型、后服务能力型——无底薪佣金制从业者的收入断崖从这里发生（第十二章三类被忽略者之一）；新房分销份额向绑定现房与「好房子」项目的头部平台集中。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约束仍是那条：交易频次取决于基本面——政策决定谁能活下来吃增量，不创造增量本身。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验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1089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图⑨｜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经纪行业收入结构变迁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34670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定性示意（无金额刻度）　条款依据：个贷 20/22/23 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3602736"/>
            <a:ext cx="2018995" cy="1188720"/>
          </a:xfrm>
          <a:prstGeom prst="rect">
            <a:avLst/>
          </a:prstGeom>
          <a:solidFill>
            <a:srgbClr val="F1E4DF"/>
          </a:solidFill>
          <a:ln w="12700">
            <a:solidFill>
              <a:srgbClr val="8C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旧收入堆叠</a:t>
            </a:r>
          </a:p>
          <a:p>
            <a:pPr algn="l">
              <a:lnSpc>
                <a:spcPct val="120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佣金/赎楼过桥/按揭返点/首付包装/装修贷导流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93377" y="4050791"/>
            <a:ext cx="702259" cy="292608"/>
          </a:xfrm>
          <a:prstGeom prst="rightArrow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83419" y="3602736"/>
            <a:ext cx="1316736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新收入</a:t>
            </a:r>
          </a:p>
          <a:p>
            <a:pPr algn="l">
              <a:lnSpc>
                <a:spcPct val="120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撮合/验真/数据/家装租赁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8463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三把刀：带押过户 20 条｜放款后置 22 条｜名单制+独立核验 23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5138928"/>
            <a:ext cx="4213555" cy="3291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返佣依赖型小中介：首当其冲——出清先小后大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431536"/>
            <a:ext cx="4389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二手价格同比锚点（图注：中间月份未披露）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78040" y="5742431"/>
            <a:ext cx="2011680" cy="146304"/>
          </a:xfrm>
          <a:prstGeom prst="rightArrow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2" y="559612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全国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-6.3→-5.4</a:t>
            </a: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（收窄）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78040" y="6163055"/>
            <a:ext cx="2926080" cy="146304"/>
          </a:xfrm>
          <a:prstGeom prst="rightArrow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6016752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北京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-8.7→-4.5</a:t>
            </a: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（收窄）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第十章｜数据与评估机构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数据与评估：从「额度的化妆师」到「风控基础设施」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评估从此不再创造额度，只负责说真话——说真话第一次有了责任价格。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评估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按贷款额倒推出报告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孰低原则下的价值验证+年度重估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卖咨询报告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可审计现金流与工程核验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责任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几乎为零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名单制+违规通报+连带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孰低原则管押品认定，额度仍由抵押率上限与银行风险偏好决定——但「按单流水线」的生意终结：责任定价开始，评估费因责任溢价上涨，小评估所出局。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最大的增量在存量重估：36 万亿级按揭每年重估+物业贷/CMBS/REITs 持续估值+城市更新收益测算——一个常年滚动的全国不动产定价基础设施，被文件顺手建成。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工程量核验是新物种：放款与实物进度匹配、竣工备案成为全体系关键节点——造价咨询、工程监理机构切入金融核验市场。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现金流数据是第三个生态位——但记住第二章那颗雷：数据权力集中之后，谁来审计数据持有者？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存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个贷 19/25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成交价与评估价孰低；押品每年重估、不得以再评估净值追加贷款。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610612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商地 13/36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96896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不得高估项目价值过度融资；经营性物业贷封顶评估值 70%。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3154680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信托 11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140964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不得仅凭外部信息论证。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3479292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59-60 条·《意见》34 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465576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服务机构违规通报主管部门；全口径统计+严防数据造假。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114800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对标样本 Cotality 数据底座（公司公开口径研究，2026-08-28）见下页：约 30 年建设、157M+ 统一房产标识（CLIP，匹配率 99.2%）、22,000+ 数据源、550 亿+ 条记录、年 1,100 亿次 API 调用、全成本约 5-6 亿美元/年（约 35-42 亿元人民币）。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第十章续 · 对标样本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Cotality 之镜：数据底座的门槛与路径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护城河公式=标识统一×来源直采×持续保鲜——制度解决了「来源」，剩下两环就是未来五年的全部竞争。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底座数字（公司公开口径，2026-08-28）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103120"/>
            <a:ext cx="2834640" cy="87782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157M+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统一房产标识（CLIP）</a:t>
            </a:r>
          </a:p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匹配率 99.2%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0752" y="2103120"/>
            <a:ext cx="2834640" cy="87782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22,000+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数据源</a:t>
            </a:r>
          </a:p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550 亿+ 条记录（50+ 年纵深）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072384"/>
            <a:ext cx="2834640" cy="87782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1,100 亿次/年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API 调用</a:t>
            </a:r>
          </a:p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约 30 年建设·服务五大客群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0752" y="3072384"/>
            <a:ext cx="2834640" cy="87782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5-6 亿美元/年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全成本（约 35-42 亿元人民币）</a:t>
            </a:r>
          </a:p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占年营收（约 115 亿 RMB）35-40%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6052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并购拼图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434840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路径五步：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承继县级公共记录→并购拼图（2011-2021，已披露对价约 11 亿美元、私有化估值约 59 亿美元）→CLIP 统一标识→数据制造工厂→保鲜机制（AVM 每日重算+夜间盲测）。</a:t>
            </a:r>
          </a:p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中美对照：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美国靠市场并购拼图，中国靠制度强制报送+平台数据。</a:t>
            </a:r>
          </a:p>
          <a:p>
            <a:pPr algn="l">
              <a:lnSpc>
                <a:spcPct val="130000"/>
              </a:lnSpc>
            </a:pP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门槛决定格局：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对标 35-42 亿元/年，未来是国家队、平台型数据商、转型估值模型运营商的头部评估所三类玩家；中小评估所要么被整合进估值链，要么退守司法鉴定等细分。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照这面镜子看中国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103120"/>
            <a:ext cx="4389120" cy="859536"/>
          </a:xfrm>
          <a:prstGeom prst="rect">
            <a:avLst/>
          </a:prstGeom>
          <a:noFill/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① 需求不用培育</a:t>
            </a:r>
          </a:p>
          <a:p>
            <a:pPr algn="l">
              <a:lnSpc>
                <a:spcPct val="120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制度已经开票——每一条条款都是数据采购的法律授权书。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035808"/>
            <a:ext cx="4389120" cy="859536"/>
          </a:xfrm>
          <a:prstGeom prst="rect">
            <a:avLst/>
          </a:prstGeom>
          <a:noFill/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② 缺统一标识、富交易流水</a:t>
            </a:r>
          </a:p>
          <a:p>
            <a:pPr algn="l">
              <a:lnSpc>
                <a:spcPct val="120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中国版 CLIP 的主键（不动产权单元/网签编号）谁来跨省归并，谁占 backbone；同时中国独有主办行专户流水这一层制度性数据。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3968496"/>
            <a:ext cx="4389120" cy="859536"/>
          </a:xfrm>
          <a:prstGeom prst="rect">
            <a:avLst/>
          </a:prstGeom>
          <a:noFill/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③ 门槛决定格局</a:t>
            </a:r>
          </a:p>
          <a:p>
            <a:pPr algn="l">
              <a:lnSpc>
                <a:spcPct val="120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35-42 亿元/年对标——头部三类玩家与中小评估所的分化。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86460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图⑩｜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五阶段路径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10235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公司公开口径研究（2026-08-28）　仅作能力参照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5340096"/>
            <a:ext cx="4213555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承继县级公共记录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5577840"/>
            <a:ext cx="421355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并购拼图（2011-2021）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815583"/>
            <a:ext cx="4213555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CLIP 统一标识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053328"/>
            <a:ext cx="421355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数据工厂+保鲜（AVM 每日重算+盲测）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第十一章｜城投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城投：从「杠杆放大器」到「存量资产运营商」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大扫除之后，很多城投会发现自己「很大，但很空」。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200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606040"/>
                <a:gridCol w="2651760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新角色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信用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政府隐性担保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资产收益率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现金管道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一级开发垫资+托底拿地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保租房/城市更新/持有型物业三跑道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分化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铁板一块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城市运营商 vs 平台清退户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资产负债表强制大扫除：能进金融市场的只剩真经营性现金流——政府应付款和公益资产一夜之间「不可质押」。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「托底拿地」的死亡比房企暴雷更深刻：土地市场失去最后护盘资金，价格发现彻底真实化。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生死线是「市场化运营主体」资格：够格者切换为资产收益率定价；不够格者退出房地产金融视野。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4.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保租房闭环是二十年来第一个「投入有退出、退出有倍数」的模型：保障房开发贷（保本微利）→团购房贷批量收房→租赁经营贷→REITs 退出；但定价闸门未开：租金回报率 2% 出头对 3% 资金成本——「算大账」能否成立，看分派率要求与利率走向。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三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66543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城市更新 13/8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52827"/>
            <a:ext cx="32186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禁新增隐性债务/隐性增信；政府应付款项与无收益公益资产不得抵质押。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610612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城市更新 7/11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96896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市场化运营主体+经营性收入足额覆盖本息=入场券。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935224"/>
            <a:ext cx="1078992" cy="201168"/>
          </a:xfrm>
          <a:prstGeom prst="rect">
            <a:avLst/>
          </a:prstGeom>
          <a:noFill/>
          <a:ln w="1270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城市更新 9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921508"/>
            <a:ext cx="3218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大额项目银团。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5983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图⑪｜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保租房闭环与定价闸门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97580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机制示意　条款依据：城市更新办法+保障房政策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753612"/>
            <a:ext cx="3370844" cy="402336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保障房开发贷（保本微利）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625986" y="3781044"/>
            <a:ext cx="219456" cy="292608"/>
          </a:xfrm>
          <a:prstGeom prst="downArrow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4210812"/>
            <a:ext cx="3370844" cy="402336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团购房贷批量收房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625986" y="4238244"/>
            <a:ext cx="219456" cy="292608"/>
          </a:xfrm>
          <a:prstGeom prst="downArrow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4668012"/>
            <a:ext cx="3370844" cy="402336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 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租赁经营贷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625986" y="4695444"/>
            <a:ext cx="219456" cy="292608"/>
          </a:xfrm>
          <a:prstGeom prst="downArrow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5125212"/>
            <a:ext cx="3370844" cy="402336"/>
          </a:xfrm>
          <a:prstGeom prst="rect">
            <a:avLst/>
          </a:prstGeom>
          <a:solidFill>
            <a:srgbClr val="0E6A55"/>
          </a:solidFill>
          <a:ln w="9525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05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4 </a:t>
            </a:r>
            <a:r>
              <a:rPr sz="9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REITs 退出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86600" y="5600700"/>
            <a:ext cx="4045012" cy="219456"/>
          </a:xfrm>
          <a:prstGeom prst="rightArrow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838444"/>
            <a:ext cx="42135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资金滚动（投入有退出、退出有倍数）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6076188"/>
            <a:ext cx="4045012" cy="329184"/>
          </a:xfrm>
          <a:prstGeom prst="rect">
            <a:avLst/>
          </a:prstGeom>
          <a:noFill/>
          <a:ln w="1524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定价闸门：租金回报率 2% 出头 vs 资金成本 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第十二章｜沉默角色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谁在进场，谁在出局，谁被忽略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处置制度化、灰色清零、金融化机构化——但账单的背面写着三类人的名字。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199" cy="106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4892039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方向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主体与机制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进场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AMC——信托 29 条盖章合作处置，特殊机会投资制度化；机构投资人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出局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灰色助贷被名单制+独立核验清除；散户退场（非标只卖机构+冷静期）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旧规废止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1998 年个贷办法、九项央行旧通知、三项信托旧规一并废止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2918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6172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存量期房的已签约购房者——第 37 条「滞留乘客」：新制度保护增量，存量项目交付风险不变甚至恶化（银行资源向新体系项目倾斜）。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非主办行中小银行及其储户股东——「让出主办行资格」的背面：让出资格不等于让出风险，坏账最终落在存款保险与股东身上。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3.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地方中小代理从业者——佣金结算后置+现房去化慢，返佣通道又被名单制掐断，无底薪佣金制的收入断崖，是「交付定价说明书」的人力成本背面。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A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15468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图⑫｜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进场/出局天平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39242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格局示意　底座：三类被忽略者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9486" y="3703320"/>
            <a:ext cx="54864" cy="1371600"/>
          </a:xfrm>
          <a:prstGeom prst="rect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5020056"/>
            <a:ext cx="4213555" cy="54864"/>
          </a:xfrm>
          <a:prstGeom prst="rect">
            <a:avLst/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3758183"/>
            <a:ext cx="3335731" cy="54864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3867911"/>
            <a:ext cx="1931212" cy="822960"/>
          </a:xfrm>
          <a:prstGeom prst="rect">
            <a:avLst/>
          </a:prstGeom>
          <a:solidFill>
            <a:srgbClr val="F7F5F0"/>
          </a:solidFill>
          <a:ln w="9525">
            <a:solidFill>
              <a:srgbClr val="0E6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进场</a:t>
            </a:r>
          </a:p>
          <a:p>
            <a:pPr algn="l">
              <a:lnSpc>
                <a:spcPct val="120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AMC（信托 29 条·特殊机会制度化）
机构投资人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8942" y="3977639"/>
            <a:ext cx="1931212" cy="822960"/>
          </a:xfrm>
          <a:prstGeom prst="rect">
            <a:avLst/>
          </a:prstGeom>
          <a:solidFill>
            <a:srgbClr val="F1E4DF"/>
          </a:solidFill>
          <a:ln w="9525">
            <a:solidFill>
              <a:srgbClr val="8C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出局</a:t>
            </a:r>
          </a:p>
          <a:p>
            <a:pPr algn="l">
              <a:lnSpc>
                <a:spcPct val="115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灰色助贷·散户投资人（48 小时冷静期）
1998 年个贷办法·九项央行旧通知·三项信托旧规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5148072"/>
            <a:ext cx="4213555" cy="566928"/>
          </a:xfrm>
          <a:prstGeom prst="rect">
            <a:avLst/>
          </a:prstGeom>
          <a:noFill/>
          <a:ln w="1524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底座·三类被忽略者：</a:t>
            </a: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存量期房已签约购房者｜非主办行中小银行及其储户股东｜地方中小代理从业者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第十三章｜补列七类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补上的七类主体：灯外的人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120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12064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十二个座位之外，还有七个人站在灯外——公积金是最大的那个缺席。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角色对照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066543"/>
          <a:ext cx="6172199" cy="1325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4892039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主体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待答问题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公积金中心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红线按「全部债务」计：公积金/组合贷怎么计入；存量 3.05% 利差收窄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险资与养老金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REITs 与私募最大潜在资金方；配置约束决定「钱从哪来」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其他五类+附卡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物业公司/外资特殊机会基金/施工应收款链条/多套房/卖旧买新业主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附：「好房子」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开发贷优先支持（13/14 条）——品质供给与利率、额度分层挂钩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557016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推论与数据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31336"/>
            <a:ext cx="6172200" cy="1837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1.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公积金中心（最重大缺席）：红线按「全部债务」计，公积金贷款与组合贷怎么计入，直接决定实际可贷空间；存量利率降到 3.05% 后公积金利差优势收窄，配置偏差需要重估；从强制储蓄向政策性金融拓展（保障房、城市更新）是 1+N 之后最顺理成章的制度接续点。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2. 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「好房子」第一次有了信贷价格：开发贷优先支持「好房子」项目（13/14 条）——谁认证、什么标准、如何挂钩，是 2027 年最值得跟踪的执行点。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742432"/>
            <a:ext cx="6172200" cy="676656"/>
          </a:xfrm>
          <a:prstGeom prst="rect">
            <a:avLst/>
          </a:prstGeom>
          <a:noFill/>
          <a:ln w="12700">
            <a:solidFill>
              <a:srgbClr val="5B6B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机会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政</a:t>
            </a:r>
            <a:r>
              <a:rPr sz="105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　|　风险 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1272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图⑬｜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制度接续卡阵（2×4）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364991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每卡一行待答问题　高亮=最重大缺席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3621024"/>
            <a:ext cx="2139696" cy="566928"/>
          </a:xfrm>
          <a:prstGeom prst="rect">
            <a:avLst/>
          </a:prstGeom>
          <a:solidFill>
            <a:srgbClr val="ECF2EF"/>
          </a:solidFill>
          <a:ln w="20320">
            <a:solidFill>
              <a:srgbClr val="A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公积金中心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红线按「全部债务」计：公积金/组合贷怎么计入？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36024" y="3621024"/>
            <a:ext cx="2139696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险资与养老金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配置约束决定「钱从哪来」？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261104"/>
            <a:ext cx="2139696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物业公司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存量服务与现金流核验场景？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36024" y="4261104"/>
            <a:ext cx="2139696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外资特殊机会基金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价格出清到位后的买方？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4901183"/>
            <a:ext cx="2139696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施工应收款链条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工程款拖欠与证券化传导如何监测？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6024" y="4901183"/>
            <a:ext cx="2139696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多套房持有者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「选择风险」定价主体、二手供给主源？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5541264"/>
            <a:ext cx="2139696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卖旧买新存量业主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带押过户+置换省约 4.5 万/单（测算口径）？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36024" y="5541264"/>
            <a:ext cx="2139696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C9D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「好房子」信贷价格</a:t>
            </a:r>
          </a:p>
          <a:p>
            <a:pPr algn="l">
              <a:lnSpc>
                <a:spcPct val="112000"/>
              </a:lnSpc>
            </a:pPr>
            <a:r>
              <a:rPr sz="9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谁认证、什么标准、如何挂钩（2027 执行点）？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总结 · 收口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三重再分配：知情权、控制权、责任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68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lang="zh-CN">
                <a:solidFill>
                  <a:srgbClr val="2A5549"/>
                </a:solidFill>
                <a:latin typeface="Times New Roman"/>
                <a:ea typeface="宋体"/>
                <a:cs typeface="宋体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207008"/>
            <a:ext cx="99879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知情权：</a:t>
            </a: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信息从「集团内部人」流向「项目托管人」</a:t>
            </a:r>
          </a:p>
          <a:p>
            <a:pPr algn="l">
              <a:lnSpc>
                <a:spcPct val="130000"/>
              </a:lnSpc>
            </a:pPr>
            <a:r>
              <a:rPr sz="1050" b="0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主办行通过封闭账户成为第一知情人，并购市场因此降低尽调成本，评估机构被要求「可审计地知情」，平台的真实成交数据有了升格为基础设施的可能——知情权从关系网络中剥离，交给了制度位置。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95728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505456"/>
            <a:ext cx="68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lang="zh-CN">
                <a:solidFill>
                  <a:srgbClr val="2A5549"/>
                </a:solidFill>
                <a:latin typeface="Times New Roman"/>
                <a:ea typeface="宋体"/>
                <a:cs typeface="宋体"/>
              </a:rPr>
              <a:t>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505456"/>
            <a:ext cx="99879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控制权：</a:t>
            </a: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资金控制权逐级上收到「项目」这一层</a:t>
            </a:r>
          </a:p>
          <a:p>
            <a:pPr algn="l">
              <a:lnSpc>
                <a:spcPct val="130000"/>
              </a:lnSpc>
            </a:pPr>
            <a:r>
              <a:rPr sz="1050" b="0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集团资金池被拆掉（第三章）→项目封闭账户（第二章）→支付环节受托制（第二、六章）→购房款进监管账户（第一章）——控制权的终点不是监管机构，而是项目本身。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694176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03904"/>
            <a:ext cx="68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lang="zh-CN">
                <a:solidFill>
                  <a:srgbClr val="2A5549"/>
                </a:solidFill>
                <a:latin typeface="Times New Roman"/>
                <a:ea typeface="宋体"/>
                <a:cs typeface="宋体"/>
              </a:rPr>
              <a:t>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803904"/>
            <a:ext cx="99879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责任：</a:t>
            </a: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从「事后救火」到「事前签字」</a:t>
            </a:r>
          </a:p>
          <a:p>
            <a:pPr algn="l">
              <a:lnSpc>
                <a:spcPct val="130000"/>
              </a:lnSpc>
            </a:pPr>
            <a:r>
              <a:rPr sz="1050" b="0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主办行签工程进度、保荐审计签披露、信托签项目管理人、评估签价值结论、平台签房源真伪、地方政府签白名单——签字者薪酬递延、追索扣回、通报主管机关。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5230368"/>
            <a:ext cx="10765231" cy="786384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钱从此跟项目走，不跟老板走；责任第一次被写进岗位，而不是写进应急预案。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总结 · 更深一层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风险产权的界定：行业的科斯式起点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50292" cy="548640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" y="1152144"/>
            <a:ext cx="10714939" cy="5486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旧模式真正的病根是风险产权不清——每个主体都持有风险却不为风险付费，最后风险归零于全社会。新体系第一次给每类风险定了主人。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874519"/>
          <a:ext cx="10765229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9538"/>
                <a:gridCol w="2007076"/>
                <a:gridCol w="6568615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风险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归属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定价机制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交付风险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房企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工程能力=融资资格（开发贷优先「好房子」与现售）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项目信用风险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主办银行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利差与拨备；银团可分散、不可转嫁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市场风险（价格/时机）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购房人与投资者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选择自负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流动性风险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资本市场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RMBS/CMBS/REITs 的折价就是价格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3977639"/>
            <a:ext cx="1076523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准确叫法是「科斯式起点」而非「科斯时刻」：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本质是产权清晰化降低交易成本；风险产权不是民法上的财产权，不可转让、没有独立定价市场，定价只能经利差、拨备、折价间接实现。</a:t>
            </a:r>
          </a:p>
          <a:p>
            <a:pPr algn="l">
              <a:lnSpc>
                <a:spcPct val="140000"/>
              </a:lnSpc>
            </a:pPr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检验信号要定准：</a:t>
            </a: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不是「高风险项目被拒贷」（惜贷环境下拒贷是配给，不是价格），而是开发贷利差是否出现分项目评级的可观察分层。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86400"/>
            <a:ext cx="10765231" cy="566928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定价维度已落地（核心竞争力排序翻转为产品＞运营＞融资），交易维度是半成品——风险有主、部分有价、暂不可易。谁是风险的主人，风险才有价格。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总结 · 代价与预言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谁在买单，预言立在哪儿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88720"/>
            <a:ext cx="3429000" cy="13716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显性付费者</a:t>
            </a:r>
          </a:p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高杠杆房企、通道信托、灰色助贷、小评估所——旧利润就是制度租金，租金随制度一起取消。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188720"/>
            <a:ext cx="3429000" cy="13716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隐性付费者</a:t>
            </a:r>
          </a:p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地方政府（拔掉土地金融杠杆）、银行体系（责任成本上升，以信息地位换对价）——若数据变现不兑现，叠加净息差约 1.5%，惜贷就是唯一理性选择。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19" y="1188720"/>
            <a:ext cx="3429000" cy="13716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延期付费者</a:t>
            </a:r>
          </a:p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购房者以「选择风险」替换「交付风险」——50%/60% 红线就是强制预算约束：既是保护，也是收缩。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249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三个可证伪的预言（研判推断）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3017520"/>
          <a:ext cx="10765230" cy="16276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22923"/>
                <a:gridCol w="3284307"/>
                <a:gridCol w="3558000"/>
              </a:tblGrid>
              <a:tr h="4069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预言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概率判断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验证锚（节选）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① 三年内期房销售占比降至三成以下，准现房成为主流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区间 30%-65%，中位约 45-55%：方向共识、量级分歧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新增预售证中「封顶/竣工后取证」销售占比（主锚）；必须做归因分解——防「总量萎缩的分母假象」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② 主办银行制催生项目信贷二级市场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区间 35%-60%，中位约 50%：分歧最大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开发贷 ABS 与信贷资产流转成交额（主锚）；责任不随份额移转，二级市场只在银团内部打转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③ 出现 3-5 家「F+EPC+O」千亿级涉房建筑/城投运营商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区间 20%-55%，中位约 30%：最脆弱——「参照涉房」是准入不是激励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央企新签合同中 F+EPC 类占比；千亿级按管理规模/合同额计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" y="471830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三条区间标尺（研判推断）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95604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概率区间与中位　验证锚见讲稿与总结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120640"/>
            <a:ext cx="107652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期房占比三年内降至三成以下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5358384"/>
            <a:ext cx="8181575" cy="109728"/>
          </a:xfrm>
          <a:prstGeom prst="rect">
            <a:avLst/>
          </a:prstGeom>
          <a:solidFill>
            <a:srgbClr val="E4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58625" y="5330952"/>
            <a:ext cx="3579439" cy="164592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4019" y="5276088"/>
            <a:ext cx="45720" cy="274320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7959" y="5303520"/>
            <a:ext cx="2473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中位约 45-55%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555894"/>
            <a:ext cx="107652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项目信贷二级市场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93638"/>
            <a:ext cx="8181575" cy="109728"/>
          </a:xfrm>
          <a:prstGeom prst="rect">
            <a:avLst/>
          </a:prstGeom>
          <a:solidFill>
            <a:srgbClr val="E4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9974" y="5766206"/>
            <a:ext cx="2556742" cy="164592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4019" y="5711342"/>
            <a:ext cx="45720" cy="274320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7959" y="5738774"/>
            <a:ext cx="2473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中位约 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991148"/>
            <a:ext cx="107652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3-5 家 F+EPC+O 千亿级运营商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28892"/>
            <a:ext cx="8181575" cy="109728"/>
          </a:xfrm>
          <a:prstGeom prst="rect">
            <a:avLst/>
          </a:prstGeom>
          <a:solidFill>
            <a:srgbClr val="E4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35928" y="6201460"/>
            <a:ext cx="3579439" cy="164592"/>
          </a:xfrm>
          <a:prstGeom prst="rect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58625" y="6146596"/>
            <a:ext cx="45720" cy="274320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7959" y="6174028"/>
            <a:ext cx="24739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中位约 30%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总结 · 压力测试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体系的五个失灵变量（按风险权重排序）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2070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银行惜贷</a:t>
            </a:r>
          </a:p>
          <a:p>
            <a:pPr algn="l"/>
            <a:r>
              <a:rPr sz="9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启动器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752" y="1188720"/>
            <a:ext cx="77477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净息差约 1.5%、降息静态冲击约 -4bp（对冲后 -1~-2bp）之下，少做是理性；主办行不投放，放款时点、受托支付、进度匹配全部空转。第一检验：开发投资 -19.2% 的斜率能否在 2027 年收窄至 -10% 以内；2026Q4 白名单贷款覆盖率。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103120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194560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项目现金流注水</a:t>
            </a:r>
          </a:p>
          <a:p>
            <a:pPr algn="l"/>
            <a:r>
              <a:rPr sz="900" b="1" i="0" lang="zh-CN">
                <a:solidFill>
                  <a:srgbClr val="8C3A2B"/>
                </a:solidFill>
                <a:latin typeface="Times New Roman"/>
                <a:ea typeface="宋体"/>
                <a:cs typeface="宋体"/>
              </a:rPr>
              <a:t>最危险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176272"/>
            <a:ext cx="77477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把财政性收入化妆成经营性收入，城市更新通道就变成新的隐性债务入口——不是失灵，是反向利用；且直接污染风险定价的信息底座。立竿见影的不如它，但它是永久性的。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090672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638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1821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知情权二次垄断/数据断供</a:t>
            </a:r>
          </a:p>
          <a:p>
            <a:pPr algn="l"/>
            <a:r>
              <a:rPr sz="9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质变风险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163824"/>
            <a:ext cx="77477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知情权再分配只完成「房企→银行」一半，「银行→市场」没有强制共享条款；一旦断供，并购尽调、评估基建、REITs 核验三处推论同时落空——盲购，通道再宽没人敢走。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07822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15137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169663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评估核验被俘获</a:t>
            </a:r>
          </a:p>
          <a:p>
            <a:pPr algn="l"/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可对冲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4151376"/>
            <a:ext cx="77477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名单制、追索、头部化在降低概率；孰低原则也降低了对单一结论的依赖。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065776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1389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DDE5E1"/>
                </a:solidFill>
                <a:latin typeface="Times New Roman"/>
                <a:ea typeface="宋体"/>
                <a:cs typeface="宋体"/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5157216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并购通道容量不足</a:t>
            </a:r>
          </a:p>
          <a:p>
            <a:pPr algn="l"/>
            <a:r>
              <a:rPr sz="900" b="1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可调节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5138928"/>
            <a:ext cx="77477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法拍、AMC 受让、信托合作处置都是替代通道，审批节奏监管可自主调节。但防交互风险：惜贷×通道不足=出清停滞。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总结 · 传导时序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日历上钉三个锚（研判推断）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新办法即行适用于新签合同；第 37 条新老划断缓冲存量；信托办法 2027-03-01 施行、存量结清。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148840"/>
            <a:ext cx="10582351" cy="45720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066543"/>
            <a:ext cx="219456" cy="219456"/>
          </a:xfrm>
          <a:prstGeom prst="ellipse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7744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2026Q4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白名单覆盖率与主办行投放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089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检验惜贷：主办行投放是全部空转链路的总开关。</a:t>
            </a:r>
          </a:p>
        </p:txBody>
      </p:sp>
      <p:sp>
        <p:nvSpPr>
          <p:cNvPr id="11" name="Oval 10"/>
          <p:cNvSpPr/>
          <p:nvPr/>
        </p:nvSpPr>
        <p:spPr>
          <a:xfrm>
            <a:off x="4599432" y="2066543"/>
            <a:ext cx="219456" cy="219456"/>
          </a:xfrm>
          <a:prstGeom prst="ellipse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37744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2027H1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81635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按揭余额能否止跌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1089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无周期工具并联，止跌概率约 55-60%；收储贴息（约 3 万亿、100-200 万套，测算口径）落地并联后可上修至 70% 以上。</a:t>
            </a:r>
          </a:p>
        </p:txBody>
      </p:sp>
      <p:sp>
        <p:nvSpPr>
          <p:cNvPr id="15" name="Oval 14"/>
          <p:cNvSpPr/>
          <p:nvPr/>
        </p:nvSpPr>
        <p:spPr>
          <a:xfrm>
            <a:off x="8211312" y="2066543"/>
            <a:ext cx="219456" cy="219456"/>
          </a:xfrm>
          <a:prstGeom prst="ellipse">
            <a:avLst/>
          </a:prstGeom>
          <a:solidFill>
            <a:srgbClr val="0E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37744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2027-03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281635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信托新旧切换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31089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警惕过渡期抢跑。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22452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图｜</a:t>
            </a:r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止跌概率：并联前与并联后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62272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研判推断·区间　上修条件=收储贴息落地并联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773168"/>
            <a:ext cx="6400800" cy="274320"/>
          </a:xfrm>
          <a:prstGeom prst="rect">
            <a:avLst/>
          </a:prstGeom>
          <a:solidFill>
            <a:srgbClr val="B9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791455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无周期工具并联：约 55-60%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15200" y="4754880"/>
            <a:ext cx="3931920" cy="329184"/>
          </a:xfrm>
          <a:prstGeom prst="rightArrow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515721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收储贴息落地并联后：可上修至 70% 以上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5486400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5623560"/>
            <a:ext cx="10765231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30000"/>
              </a:lnSpc>
            </a:pPr>
            <a:r>
              <a:rPr sz="105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存量循环收拢成一张图：</a:t>
            </a: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卖旧（带押过户+置换）→买新（现房+按揭衔接）→租赁吸收（团购/经营贷）→REITs 退出（分派率核验）——每一环的摩擦都被新政降低，但需求端基本面仍是决定项。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总结 · 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与数据的互证，与终局的距离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与数据的互证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76523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全国政策底不等于市场底（销售 -11.8%、投资 -19.2%）；北京（二手六连窄、销售转正）与南京（新房修复最快、二手仍在出清）的分化说明市场底分城市、分环节到来——这份体系不承诺统一的市场底，它承诺的是：无论哪里先见底，每个角色都已在正确的位置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33472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779776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最大的不确定性：旧函数借过渡安排还魂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0"/>
            <a:ext cx="1076523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若 2027 年下行压力超预期，新老划断弹性化、白名单扩容、利率窗口指导都可能让旧模式借壳回归。监管自身的执行，是终局变量。短期回暖不急于加大供地，短期下行不重启总量刺激——两份定力，是一枚硬币的两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206240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39826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收束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700016"/>
            <a:ext cx="1076523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这是一次风险产权的界定——交付风险归房企、信用风险归主办行、市场风险归购房人与投资者、流动性风险归资本市场，每一类风险第一次有了主人，也就第一次有机会有价格。</a:t>
            </a:r>
          </a:p>
          <a:p>
            <a:pPr algn="l">
              <a:lnSpc>
                <a:spcPct val="135000"/>
              </a:lnSpc>
            </a:pPr>
            <a:r>
              <a:rPr sz="1400" b="1" i="0" lang="zh-CN">
                <a:solidFill>
                  <a:srgbClr val="0E6A55"/>
                </a:solidFill>
                <a:latin typeface="Times New Roman"/>
                <a:ea typeface="宋体"/>
                <a:cs typeface="宋体"/>
              </a:rPr>
              <a:t>成败不在条文，在未来十二个月每个签字者的选择。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5650992"/>
            <a:ext cx="10765231" cy="603504"/>
          </a:xfrm>
          <a:prstGeom prst="rect">
            <a:avLst/>
          </a:prstGeom>
          <a:solidFill>
            <a:srgbClr val="0A3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旧模式里所有人都在赚「预期」的钱，新模式里所有人只能赚「交付」的钱。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谁获益、谁付费：十三类主体的净效应清单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188720"/>
          <a:ext cx="10765230" cy="4480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0923"/>
                <a:gridCol w="3101846"/>
                <a:gridCol w="6112461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主体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新身份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一句话净效应</a:t>
                      </a:r>
                    </a:p>
                  </a:txBody>
                  <a:tcPr anchor="ctr" marL="54864" marR="54864" marT="18288" marB="18288">
                    <a:solidFill>
                      <a:srgbClr val="0E6A5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购房者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受保护的消费者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交付风险↓、选择风险↑；红线既是保护也是收缩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主办银行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项目监理+资金托管人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责任↑↑、信息独占↑；惜贷是理性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开发商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制造业化的项目经理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杠杆红利清零；土储从资产变包袱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上市房企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重新获邀的发行人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并购重组是真主角；整合者未必是同行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建筑央企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参照涉房的准房企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方向对、节奏慢、约束硬；轻资产先跑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信托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被收编的外包资管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通道终结；特殊机会+服务信托重生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地方政府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有席位的合伙人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权力↑、资金链↓；从卖地转向卖项目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租赁/运营端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全周期产品菜单持有者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资管产业链开闸；回报率与长钱是两道闸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经纪行业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交易信用基础设施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金融收入剥离；返佣断流、出清先小后大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数据/评估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风控基础设施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责任定价；存量重估是最大增量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城投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存量资产运营商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信用定价切换为资产定价；拆成两个物种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沉默角色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AMC 进场/助贷出局/散户退场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处置制度化、灰色清零、金融化机构化</a:t>
                      </a:r>
                    </a:p>
                  </a:txBody>
                  <a:tcPr anchor="ctr" marL="54864" marR="54864" marT="18288" marB="18288">
                    <a:solidFill>
                      <a:srgbClr val="F7F5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1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补列七类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公积金/险资/物企/外资/施工链/多套房/存量业主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marR="0" indent="0">
                        <a:lnSpc>
                          <a:spcPct val="100000"/>
                        </a:lnSpc>
                      </a:pPr>
                      <a:r>
                        <a:rPr sz="1050" b="0" i="0" lang="zh-CN">
                          <a:solidFill>
                            <a:srgbClr val="1F2933"/>
                          </a:solidFill>
                          <a:latin typeface="Times New Roman"/>
                          <a:ea typeface="宋体"/>
                          <a:cs typeface="宋体"/>
                        </a:rPr>
                        <a:t>制度接续点与隐藏受益者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3232" y="5760720"/>
            <a:ext cx="10765231" cy="502920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总收束：制度底座先行，市场底未确认；先立后破——立已到位，破在执行。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74320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来源披露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数据与条款来源：口径、代码与四级标注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条款依据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35608"/>
            <a:ext cx="524545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条款引自文件原文，条号以正文为准。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宏观数据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5245455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Wind CLI（Wind EDB：中国人民银行、国家统计局），月度截至 2026-07、季度截至 2026Q2，指标代码可溯源：按揭余额 W1409719、按揭利率 M0058005/X1390479、新宅价格 S2707411、二手价格 S2707425、开发投资 S0029657、销售面积 S0073300、北京 S0147146/S0030589/S0073345/M0004504、南京 S0147156/S0030649 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09544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分城市数据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56432"/>
            <a:ext cx="5245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国家统计局 70 城指数与地方统计局序列；南京销售面积市统计局口径更新滞后（最新 2026-02），已如实标注。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959352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贝壳政研通（zyt）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0"/>
            <a:ext cx="5245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通道经修复后已可透出数值明细，本报告采用其趋势性结论（京宁二手成交动能：3-6 月同比连续为正），价格与信贷定量仍以 Wind 为准，全程未编造数字。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709160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Cotality 对标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956048"/>
            <a:ext cx="5245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引自《Cotality 数据基建深度分析 V1》（公司公开口径，2026-08-28），仅作能力参照。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1188720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四级标注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1435608"/>
            <a:ext cx="5245455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「测算」为模型测算（100 万/3.06%/等额本息；存量降 50bp×36.29 万亿；过桥 4.5 万/单；收储 3 万亿/100-200 万套）；「估算」为量级推断；「研判推断」为分析性判断；「待补」为观察清单项。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112264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观察清单（口径注明，待补）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9152"/>
            <a:ext cx="524545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期房/现房占比基线；30 城二手成交量同比（京宁已补：贝壳政研通口径 3-6 月同比连续为正；30 城口径待补）；涉宅用地成交与城投拿地占比；竣工面积同比；房企到位资金分项（定金及预收款占比）；新开工面积；克而瑞百强销售与集中度；白名单授信覆盖率；公积金贷款余额；货币化安置规模；收储专项债发行额；信托投向房地产余额；住户杠杆与收入分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3383280"/>
            <a:ext cx="5245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评审说明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3630168"/>
            <a:ext cx="524545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zh-CN">
                <a:solidFill>
                  <a:srgbClr val="1F2933"/>
                </a:solidFill>
                <a:latin typeface="Times New Roman"/>
                <a:ea typeface="宋体"/>
                <a:cs typeface="宋体"/>
              </a:rPr>
              <a:t>本报告经五位独立评审专家（行业研究、政策制度、宏观经济方向）两轮评审复核。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6455664"/>
            <a:ext cx="10765231" cy="12801"/>
          </a:xfrm>
          <a:prstGeom prst="rect">
            <a:avLst/>
          </a:prstGeom>
          <a:solidFill>
            <a:srgbClr val="C9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663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zh-CN">
                <a:solidFill>
                  <a:srgbClr val="5B6B73"/>
                </a:solidFill>
                <a:latin typeface="Times New Roman"/>
                <a:ea typeface="宋体"/>
                <a:cs typeface="宋体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A9741F"/>
                </a:solidFill>
                <a:latin typeface="Times New Roman"/>
                <a:ea typeface="宋体"/>
                <a:cs typeface="宋体"/>
              </a:rPr>
              <a:t>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10765231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这份 1+N 文件体系，</a:t>
            </a:r>
          </a:p>
          <a:p>
            <a:pPr algn="l">
              <a:lnSpc>
                <a:spcPct val="130000"/>
              </a:lnSpc>
            </a:pPr>
            <a:r>
              <a:rPr sz="3000" b="1" i="0" lang="zh-CN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就是交付的定价说明书。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703320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931920"/>
            <a:ext cx="10765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1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《一场「角色重写」——房地产金融新政对行业参与主体的影响》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完整报告 v5.4 · 2026-08-29｜分析对象：房地产金融 1+N 文件体系（2026-08-27 印发）</a:t>
            </a:r>
          </a:p>
          <a:p>
            <a:pPr algn="l">
              <a:lnSpc>
                <a:spcPct val="140000"/>
              </a:lnSpc>
            </a:pPr>
            <a:r>
              <a:rPr sz="105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数据口径：Wind EDB 月度截至 2026-07、季度截至 2026Q2；金监总局 2026Q2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48640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zh-CN">
                <a:solidFill>
                  <a:srgbClr val="8FB5A8"/>
                </a:solidFill>
                <a:latin typeface="Times New Roman"/>
                <a:ea typeface="宋体"/>
                <a:cs typeface="宋体"/>
              </a:rPr>
              <a:t>行业研究，不构成投资建议；测算/估算/研判推断非官方统计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897880"/>
            <a:ext cx="10765231" cy="12801"/>
          </a:xfrm>
          <a:prstGeom prst="rect">
            <a:avLst/>
          </a:prstGeom>
          <a:solidFill>
            <a:srgbClr val="2A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3504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lang="zh-CN">
                <a:solidFill>
                  <a:srgbClr val="EFF4F1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