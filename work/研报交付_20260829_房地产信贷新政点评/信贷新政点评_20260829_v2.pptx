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开场：2026-08-28 央行与金融监管总局联合印发《意见》（七章36条）。本版为完整展开版：六条核心条款逐条展开、五位专家完整研判、全国数据底座与京宁双城深潜。基调一句话——信贷跟着交付走、资金全程封闭管。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总纲页：先给文件定性质——制度重构而非需求刺激。主线一句话落在交付逻辑。基本面四个数字均为 2026-07（月度）/2026-06（余额）口径：销售面积累计同比 -11.8%、70 城新房价格同比 -3.4%、开发投资 -19.2%、按揭余额 36.29 万亿较 2025-03 峰值 37.90 万亿净减 1.61 万亿。定调：政策底已现、市场底未到。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六条条款上半场，聚焦供给端资金链。第一条是全文的枢纽：主办银行制把银企关系从多行授信转为全程管理，还本后置到竣工备案。第二条受托支付让资金全程定向。第三条 30 转 40 年是最明确的需求端信号——价格工具用到头了，改用时间工具。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下半场三条落在需求端与调控框架。第四条「能拿房、再还贷」是对购房人最大的保护，也是对高周转模式的釜底抽薪——回款后移 2-4 年为测算口径。第五条封闭管理让资金池透明化，主办行议价能力上升。第六条把需求管理升级为制度化逆周期调节，弹性与可预期性双升。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格物讲师用九字方针做映射：控增量对应宏观审慎制度化；去库存落在信心端——先解决不敢买期房；优供给是主办行绑定交付。数据检验的锚点是利率 3.06% 已走平五个季度，所以政策转向期限与时点工具是必然。他给出一个可检验的时点判断：2027H1 按揭余额才可能止住净减少，属研判推断。另提示公积金 30 年上限与 40 年商贷的组合贷错配。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政策翻译官给出条款分组：一、二、四、五条重构供给端资金链，三、六条重构需求端与调控框架，合起来是先立制度、再稳市场。风险提示三条按重要性递减：40 年按揭的实际承接、回款后移的阶段性压力、价格筑底反复。观察信号五个，落到数据上均可逐月验证。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存量猎手的框架是上半场、下半场。上半场交付确定性与资金安全，本文件已经修好；下半场卖旧买新卡在二手房出清——旧房卖不掉、新房首付就没着落，所以信贷制度解决不了根本症结。利率 3.06% 处平台，再大幅下调空间不存在。差异化冲击提醒：增量换引擎、存量断粮，存量收缩或先于增量修复，属研判推断。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周期班长一页四件事。第一，测算一：100 万、3.06%、等额本息，30 年月供 4247 元对 40 年 3614 元，月供降约 15%，但总利息 52.9 万升到 73.5 万、+39%——时间换空间。第二，测算二：36.29 万亿余额降 50bp 年减负约 1814 亿。第三，组合信号：利率走平加余额净减少，说明居民在修复资产负债表。第四，时滞与拐点：销售先承压 0-2 个季度、投资 2-4 个季度后受益，2027 年具备拐点条件但制度底座、收库存、贴按揭三招须齐备，最大风险是主办行惜贷。全部标注测算或研判推断。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批判教授先破两种误读：当托市利好的高估者忽略了文件无降首付、无收储、无存量利率调整；低估者没看到宏观审慎章节预留的制度接口。三重错配点在节奏、期限、风险转移。四问是实操清单：年龄错配怎么办、切换期既无房也无贷怎么办、主办行执行漏洞怎么补、哪些条款要一步到位哪些要渐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四项共识是五位专家独立研判后的交集：定性上是制度重构而非刺激；风险分配上由居民部门挪到银行体系；节奏上执行时序错配才是真风险；短期都不改磨底判断——政策底不等于市场底。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分歧没有被丢弃，而是降级为边界条件处理：40 年按揭的实效上限、先断粮后补粮的执行次序、公积金组合贷错配。它们提示的是结论在什么条件下需要打折，不与四项共识并列。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数据底座五组指标构成文件出台的现实背景：余额 36.29 万亿且连续净减少、利率 3.06% 走平弹性钝化、销售 -11.8%、价格 -3.4% 再走阔、投资 -19.2% 探底。合起来的指向是价格工具用到极限，所以政策改用期限、时点、结构三类工具。三去叠加的判断帮助听众理解为什么这不是刺激文件。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这条线是全篇最重要的宏观事实：八个季度从 37.56 升至 37.90 峰值（2025-03）后一路降到 36.29 万亿，累计净减 1.61 万亿、-4.2%。它解释了为什么文件要在需求端用时间工具、在供给端用制度工具——信贷资产本身在收缩。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北京是修复前段的一线样本。四个数：销售 +1.4% 转正且 2026-05 起连续三个月正增长；二手 -4.5%，2026-01 探底 -8.7 后连续 6 个月收窄，柱图只列披露月份，2025 年 8-12 月未逐月披露；新房 -2.3% 好于全国 -3.4%；投资 -11.6% 仍深但浅于全国 -19.2%。对《意见》的含义：北京大概率是主办银行制的标杆落地城市，40 年按揭在高总价市场摊薄效应绝对额最大。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南京是循环下半场的典型样本：新房 2026-03 探底 -4.1 后快速修复到 -1.8，跌幅修复弹性两城最大；二手 2026-01 探底 -8.6 后收窄到 -5.4，绝对深度仍显著深于北京；剪刀差约 3.6 个百分点。销售面积 -13.5% 是市统计局口径、只更新到 2026-02，时效受限如实标注。含义：南京卡在二手房出清——旧房折价未到位，改善链条就被卡住；主办行开发贷能否接上回款空窗，是观察先断粮后补粮的最好窗口。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两城对照表把分歧的周期位置放在一起：北京修复前段、南京补跌后修复；销售一正一深负；价差北京 2.2 个百分点、南京 3.6 个百分点。结论：市场底是分城市、分环节的，总量工具无法兼顾，所以制度路径是合理选择。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展望四条全部标注研判推断：余额 2026Q4 前后触底、2027H1 止跌；销售 2026 下半年筑底、投资滞后 2-3 个季度；2027 年拐点观察年；现房占比提升、预售渐进退出。观察指标七个，最早信号是 40 年期按揭占比，两城领先指标盯北京销售转正的持续性与南京二手收窄斜率。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风险提示五条收尾：惜贷、切换期、40 年按揭错配、误读为收紧、三四线承压。来源披露强调三点：全部数据取自 Wind EDB 且指标代码级可溯源；南京销售口径更新滞后已如实标注；测算与研判推断分别标注。全程未编造数字。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收尾回到主线：信贷跟着交付走、资金全程封闭管。先立制度、再稳市场——制度底座立起来之后，市场底的确认仍要交给时间与数据。谢谢各位。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>
            <a:off x="535305" y="383857"/>
            <a:ext cx="1593533" cy="579120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9113" y="419100"/>
            <a:ext cx="1501140" cy="788670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9110" y="451485"/>
            <a:ext cx="1380173" cy="984885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298" y="481965"/>
            <a:ext cx="1234440" cy="1161098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6723" y="507683"/>
            <a:ext cx="1066800" cy="1317308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5290" y="529590"/>
            <a:ext cx="879158" cy="1449705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1000" y="547688"/>
            <a:ext cx="675323" cy="1554480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3853" y="561023"/>
            <a:ext cx="461010" cy="1631632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6705" y="568643"/>
            <a:ext cx="235267" cy="1679258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85020" y="5323522"/>
            <a:ext cx="2916555" cy="1675447"/>
          </a:xfrm>
          <a:custGeom>
            <a:avLst/>
            <a:gdLst/>
            <a:ahLst/>
            <a:cxnLst/>
            <a:rect l="l" t="t" r="r" b="b"/>
            <a:pathLst>
              <a:path w="2916555" h="1675447">
                <a:moveTo>
                  <a:pt x="2916555" y="1241108"/>
                </a:moveTo>
                <a:lnTo>
                  <a:pt x="2702243" y="1220153"/>
                </a:lnTo>
                <a:lnTo>
                  <a:pt x="2491740" y="1190625"/>
                </a:lnTo>
                <a:lnTo>
                  <a:pt x="2284095" y="1152525"/>
                </a:lnTo>
                <a:lnTo>
                  <a:pt x="2081212" y="1105853"/>
                </a:lnTo>
                <a:lnTo>
                  <a:pt x="1880235" y="1050608"/>
                </a:lnTo>
                <a:lnTo>
                  <a:pt x="1683068" y="986790"/>
                </a:lnTo>
                <a:lnTo>
                  <a:pt x="1489710" y="913447"/>
                </a:lnTo>
                <a:lnTo>
                  <a:pt x="1299210" y="831533"/>
                </a:lnTo>
                <a:lnTo>
                  <a:pt x="1112520" y="740093"/>
                </a:lnTo>
                <a:lnTo>
                  <a:pt x="928688" y="640080"/>
                </a:lnTo>
                <a:lnTo>
                  <a:pt x="748665" y="530543"/>
                </a:lnTo>
                <a:lnTo>
                  <a:pt x="571500" y="412433"/>
                </a:lnTo>
                <a:lnTo>
                  <a:pt x="398145" y="283845"/>
                </a:lnTo>
                <a:lnTo>
                  <a:pt x="227648" y="146685"/>
                </a:lnTo>
                <a:lnTo>
                  <a:pt x="60960" y="0"/>
                </a:lnTo>
                <a:lnTo>
                  <a:pt x="0" y="59055"/>
                </a:lnTo>
                <a:lnTo>
                  <a:pt x="152400" y="225743"/>
                </a:lnTo>
                <a:lnTo>
                  <a:pt x="311468" y="384810"/>
                </a:lnTo>
                <a:lnTo>
                  <a:pt x="474345" y="534353"/>
                </a:lnTo>
                <a:lnTo>
                  <a:pt x="642938" y="676275"/>
                </a:lnTo>
                <a:lnTo>
                  <a:pt x="817245" y="810578"/>
                </a:lnTo>
                <a:lnTo>
                  <a:pt x="997268" y="936308"/>
                </a:lnTo>
                <a:lnTo>
                  <a:pt x="1182053" y="1052513"/>
                </a:lnTo>
                <a:lnTo>
                  <a:pt x="1373505" y="1161097"/>
                </a:lnTo>
                <a:lnTo>
                  <a:pt x="1569720" y="1261110"/>
                </a:lnTo>
                <a:lnTo>
                  <a:pt x="1770698" y="1352550"/>
                </a:lnTo>
                <a:lnTo>
                  <a:pt x="1978343" y="1434465"/>
                </a:lnTo>
                <a:lnTo>
                  <a:pt x="2190750" y="1508760"/>
                </a:lnTo>
                <a:lnTo>
                  <a:pt x="2407920" y="1572578"/>
                </a:lnTo>
                <a:lnTo>
                  <a:pt x="2630805" y="1628775"/>
                </a:lnTo>
                <a:lnTo>
                  <a:pt x="2859405" y="1675447"/>
                </a:lnTo>
                <a:close/>
              </a:path>
            </a:pathLst>
          </a:custGeom>
          <a:solidFill>
            <a:srgbClr val="C8102E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173653" y="5350193"/>
            <a:ext cx="2217420" cy="1041082"/>
          </a:xfrm>
          <a:custGeom>
            <a:avLst/>
            <a:gdLst/>
            <a:ahLst/>
            <a:cxnLst/>
            <a:rect l="l" t="t" r="r" b="b"/>
            <a:pathLst>
              <a:path w="2217420" h="1041082">
                <a:moveTo>
                  <a:pt x="2217420" y="831532"/>
                </a:moveTo>
                <a:lnTo>
                  <a:pt x="2056448" y="820102"/>
                </a:lnTo>
                <a:lnTo>
                  <a:pt x="1898333" y="802005"/>
                </a:lnTo>
                <a:lnTo>
                  <a:pt x="1742123" y="778192"/>
                </a:lnTo>
                <a:lnTo>
                  <a:pt x="1587818" y="747713"/>
                </a:lnTo>
                <a:lnTo>
                  <a:pt x="1436370" y="711517"/>
                </a:lnTo>
                <a:lnTo>
                  <a:pt x="1285875" y="668655"/>
                </a:lnTo>
                <a:lnTo>
                  <a:pt x="1139190" y="620077"/>
                </a:lnTo>
                <a:lnTo>
                  <a:pt x="993458" y="564832"/>
                </a:lnTo>
                <a:lnTo>
                  <a:pt x="850583" y="503872"/>
                </a:lnTo>
                <a:lnTo>
                  <a:pt x="708660" y="435292"/>
                </a:lnTo>
                <a:lnTo>
                  <a:pt x="570548" y="360997"/>
                </a:lnTo>
                <a:lnTo>
                  <a:pt x="433388" y="280988"/>
                </a:lnTo>
                <a:lnTo>
                  <a:pt x="299085" y="193357"/>
                </a:lnTo>
                <a:lnTo>
                  <a:pt x="166688" y="100013"/>
                </a:lnTo>
                <a:lnTo>
                  <a:pt x="36195" y="0"/>
                </a:lnTo>
                <a:lnTo>
                  <a:pt x="0" y="43815"/>
                </a:lnTo>
                <a:lnTo>
                  <a:pt x="124778" y="153352"/>
                </a:lnTo>
                <a:lnTo>
                  <a:pt x="253365" y="256222"/>
                </a:lnTo>
                <a:lnTo>
                  <a:pt x="384810" y="353377"/>
                </a:lnTo>
                <a:lnTo>
                  <a:pt x="520065" y="444817"/>
                </a:lnTo>
                <a:lnTo>
                  <a:pt x="657225" y="530542"/>
                </a:lnTo>
                <a:lnTo>
                  <a:pt x="798195" y="609600"/>
                </a:lnTo>
                <a:lnTo>
                  <a:pt x="941070" y="681990"/>
                </a:lnTo>
                <a:lnTo>
                  <a:pt x="1087755" y="748665"/>
                </a:lnTo>
                <a:lnTo>
                  <a:pt x="1238250" y="809625"/>
                </a:lnTo>
                <a:lnTo>
                  <a:pt x="1390650" y="863917"/>
                </a:lnTo>
                <a:lnTo>
                  <a:pt x="1546860" y="911542"/>
                </a:lnTo>
                <a:lnTo>
                  <a:pt x="1705928" y="953452"/>
                </a:lnTo>
                <a:lnTo>
                  <a:pt x="1866900" y="988695"/>
                </a:lnTo>
                <a:lnTo>
                  <a:pt x="2032635" y="1018222"/>
                </a:lnTo>
                <a:lnTo>
                  <a:pt x="2200275" y="1041082"/>
                </a:lnTo>
                <a:close/>
              </a:path>
            </a:pathLst>
          </a:custGeom>
          <a:solidFill>
            <a:srgbClr val="1F3A5F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0"/>
            <a:ext cx="4876800" cy="6858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953000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1905000"/>
                </a:moveTo>
                <a:lnTo>
                  <a:pt x="0" y="0"/>
                </a:lnTo>
                <a:lnTo>
                  <a:pt x="1905000" y="1905000"/>
                </a:lnTo>
                <a:close/>
              </a:path>
            </a:pathLst>
          </a:custGeom>
          <a:solidFill>
            <a:srgbClr val="004C38"/>
          </a:solidFill>
          <a:ln/>
        </p:spPr>
      </p:sp>
      <p:sp>
        <p:nvSpPr>
          <p:cNvPr id="16" name="Text 14"/>
          <p:cNvSpPr/>
          <p:nvPr/>
        </p:nvSpPr>
        <p:spPr>
          <a:xfrm>
            <a:off x="609600" y="2668905"/>
            <a:ext cx="11582400" cy="582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825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房地产信贷「制</a:t>
            </a:r>
            <a:endParaRPr lang="en-US" sz="3825" dirty="0"/>
          </a:p>
        </p:txBody>
      </p:sp>
      <p:sp>
        <p:nvSpPr>
          <p:cNvPr id="17" name="Text 15"/>
          <p:cNvSpPr/>
          <p:nvPr/>
        </p:nvSpPr>
        <p:spPr>
          <a:xfrm>
            <a:off x="609600" y="3192780"/>
            <a:ext cx="11582400" cy="582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825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度重构」：能拿</a:t>
            </a:r>
            <a:endParaRPr lang="en-US" sz="3825" dirty="0"/>
          </a:p>
        </p:txBody>
      </p:sp>
      <p:sp>
        <p:nvSpPr>
          <p:cNvPr id="18" name="Text 16"/>
          <p:cNvSpPr/>
          <p:nvPr/>
        </p:nvSpPr>
        <p:spPr>
          <a:xfrm>
            <a:off x="609600" y="3716655"/>
            <a:ext cx="11582400" cy="582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825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房、再还贷</a:t>
            </a:r>
            <a:endParaRPr lang="en-US" sz="3825" dirty="0"/>
          </a:p>
        </p:txBody>
      </p:sp>
      <p:sp>
        <p:nvSpPr>
          <p:cNvPr id="19" name="Shape 17"/>
          <p:cNvSpPr/>
          <p:nvPr/>
        </p:nvSpPr>
        <p:spPr>
          <a:xfrm>
            <a:off x="5486400" y="1371600"/>
            <a:ext cx="228600" cy="2286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0" y="1356360"/>
            <a:ext cx="11734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5486400" y="2133600"/>
            <a:ext cx="5791200" cy="0"/>
          </a:xfrm>
          <a:prstGeom prst="line">
            <a:avLst/>
          </a:prstGeom>
          <a:noFill/>
          <a:ln w="13335">
            <a:solidFill>
              <a:srgbClr val="E7DC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2385060"/>
            <a:ext cx="67056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智见点评团队 · 政策解读 · 完整展开版 v3</a:t>
            </a:r>
            <a:pPr algn="l" indent="0" marL="0">
              <a:buNone/>
            </a:pPr>
            <a:r>
              <a:rPr lang="en-US" sz="165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·    2026-08-29</a:t>
            </a:r>
            <a:endParaRPr lang="en-US" sz="165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139190"/>
            <a:ext cx="11277600" cy="43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定位：制度性重构，而非需求刺激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1524000" y="1828800"/>
            <a:ext cx="68961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1809750"/>
            <a:ext cx="609600" cy="38100"/>
          </a:xfrm>
          <a:prstGeom prst="rect">
            <a:avLst/>
          </a:prstGeom>
          <a:solidFill>
            <a:srgbClr val="6E5A5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0459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不是需求端刺激，而是房地产金融从「周期性调控」转向「制度性重构」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23507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的标志性文件——信贷跟着交付走、资金全程封闭管。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2914650"/>
            <a:ext cx="7505700" cy="771525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171575" y="3119438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235643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52600" y="3103245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文件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1752600" y="3362325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央行、金融监管总局 2026-08-28 印发，七章 36 条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914400" y="3819525"/>
            <a:ext cx="7505700" cy="771525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1171575" y="4024313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140518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752600" y="4008120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主线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1752600" y="4267200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销售回款驱动 → 竣工交付驱动，金融制度率先系统落地</a:t>
            </a:r>
            <a:endParaRPr lang="en-US" sz="1125" dirty="0"/>
          </a:p>
        </p:txBody>
      </p:sp>
      <p:sp>
        <p:nvSpPr>
          <p:cNvPr id="25" name="Shape 23"/>
          <p:cNvSpPr/>
          <p:nvPr/>
        </p:nvSpPr>
        <p:spPr>
          <a:xfrm>
            <a:off x="914400" y="4724400"/>
            <a:ext cx="7505700" cy="771525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1171575" y="4929188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045393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752600" y="4912995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定性</a:t>
            </a:r>
            <a:endParaRPr lang="en-US" sz="1425" dirty="0"/>
          </a:p>
        </p:txBody>
      </p:sp>
      <p:sp>
        <p:nvSpPr>
          <p:cNvPr id="29" name="Text 27"/>
          <p:cNvSpPr/>
          <p:nvPr/>
        </p:nvSpPr>
        <p:spPr>
          <a:xfrm>
            <a:off x="1752600" y="5172075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政策底已现、市场底未到；成效看开发贷接续与执行刚性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914400" y="6080760"/>
            <a:ext cx="112776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基本面（26-07/26-06，Wind EDB）：销售 -11.8%、价格 -3.4%、投资 -19.2%、余额 36.29 万亿（峰值 37.90）；先立制度、再稳市场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801100" y="685800"/>
            <a:ext cx="2476500" cy="5410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8805863" y="690563"/>
            <a:ext cx="2466975" cy="5400675"/>
          </a:xfrm>
          <a:prstGeom prst="roundRect">
            <a:avLst>
              <a:gd name="adj" fmla="val 7722"/>
            </a:avLst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94520" y="2846070"/>
            <a:ext cx="1089660" cy="1089660"/>
          </a:xfrm>
          <a:prstGeom prst="ellipse">
            <a:avLst/>
          </a:prstGeom>
          <a:solidFill>
            <a:srgbClr val="C8102E">
              <a:alpha val="1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9734550" y="420243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35" name="Shape 33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108710"/>
            <a:ext cx="112776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六条核心条款（上）：供给端资金链重构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7086600" y="1771650"/>
            <a:ext cx="0" cy="4095750"/>
          </a:xfrm>
          <a:prstGeom prst="line">
            <a:avLst/>
          </a:prstGeom>
          <a:noFill/>
          <a:ln w="9525">
            <a:solidFill>
              <a:srgbClr val="E7DCC8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39000" y="1771650"/>
            <a:ext cx="4038600" cy="1933575"/>
          </a:xfrm>
          <a:prstGeom prst="roundRect">
            <a:avLst>
              <a:gd name="adj" fmla="val 2956"/>
            </a:avLst>
          </a:prstGeom>
          <a:noFill/>
          <a:ln w="9525">
            <a:solidFill>
              <a:srgbClr val="E7DCC8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39000" y="3933825"/>
            <a:ext cx="4038600" cy="1933575"/>
          </a:xfrm>
          <a:prstGeom prst="roundRect">
            <a:avLst>
              <a:gd name="adj" fmla="val 2956"/>
            </a:avLst>
          </a:prstGeom>
          <a:noFill/>
          <a:ln w="9525">
            <a:solidFill>
              <a:srgbClr val="E7DCC8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39000" y="3819525"/>
            <a:ext cx="4038600" cy="0"/>
          </a:xfrm>
          <a:prstGeom prst="line">
            <a:avLst/>
          </a:prstGeom>
          <a:noFill/>
          <a:ln w="9525">
            <a:solidFill>
              <a:srgbClr val="E7DCC8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1771650"/>
            <a:ext cx="6019800" cy="1244600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171575" y="2212975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329180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52600" y="2134870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① 开发贷款主办银行制度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1752600" y="2378710"/>
            <a:ext cx="113538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一项目一行、单独或牵头银团；期限覆盖开工至竣工备案（预售最长 5 年、现房/商业地产最长 7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752600" y="2540635"/>
            <a:ext cx="113538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年），首次还本原则上在竣工备案后——风控重心从抵押物前移至项目本体，信用分层加速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14400" y="3149600"/>
            <a:ext cx="6019800" cy="1320800"/>
          </a:xfrm>
          <a:prstGeom prst="roundRect">
            <a:avLst>
              <a:gd name="adj" fmla="val 1442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1171575" y="3629025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745230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752600" y="3512820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② 按揭与开发贷衔接（受托支付）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1752600" y="3771900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现房销售付至项目公司在主办银行的账户，预售付至预售资金监管账户——「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1752600" y="3971925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钱跟项目走」，从支付端杜绝挪用与钱房分离</a:t>
            </a:r>
            <a:endParaRPr lang="en-US" sz="1125" dirty="0"/>
          </a:p>
        </p:txBody>
      </p:sp>
      <p:sp>
        <p:nvSpPr>
          <p:cNvPr id="27" name="Shape 25"/>
          <p:cNvSpPr/>
          <p:nvPr/>
        </p:nvSpPr>
        <p:spPr>
          <a:xfrm>
            <a:off x="914400" y="4603750"/>
            <a:ext cx="6019800" cy="1263650"/>
          </a:xfrm>
          <a:prstGeom prst="roundRect">
            <a:avLst>
              <a:gd name="adj" fmla="val 1508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1171575" y="5054600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170805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752600" y="4966970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③ 按揭期限 30 → 40 年</a:t>
            </a:r>
            <a:endParaRPr lang="en-US" sz="1425" dirty="0"/>
          </a:p>
        </p:txBody>
      </p:sp>
      <p:sp>
        <p:nvSpPr>
          <p:cNvPr id="31" name="Text 29"/>
          <p:cNvSpPr/>
          <p:nvPr/>
        </p:nvSpPr>
        <p:spPr>
          <a:xfrm>
            <a:off x="1752600" y="5212715"/>
            <a:ext cx="113538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利率已在历史低位平台（新发放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1752600" y="5384165"/>
            <a:ext cx="113538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3.06%），期限成为需求端主要调节工具；借款人月供降、总利息增，银行资产久期拉长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条款要义摘自《意见》原文；展开为专家解读（研判推断）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914400"/>
            <a:ext cx="38100" cy="5181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Shape 9"/>
          <p:cNvSpPr/>
          <p:nvPr/>
        </p:nvSpPr>
        <p:spPr>
          <a:xfrm>
            <a:off x="409575" y="847725"/>
            <a:ext cx="133350" cy="13335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914400"/>
            <a:ext cx="609600" cy="304800"/>
          </a:xfrm>
          <a:prstGeom prst="roundRect">
            <a:avLst>
              <a:gd name="adj" fmla="val 18750"/>
            </a:avLst>
          </a:prstGeom>
          <a:solidFill>
            <a:srgbClr val="C8102E"/>
          </a:solidFill>
          <a:ln/>
        </p:spPr>
      </p:sp>
      <p:sp>
        <p:nvSpPr>
          <p:cNvPr id="13" name="Text 11"/>
          <p:cNvSpPr/>
          <p:nvPr/>
        </p:nvSpPr>
        <p:spPr>
          <a:xfrm>
            <a:off x="0" y="998220"/>
            <a:ext cx="2438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714500" y="885825"/>
            <a:ext cx="1047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六条核心条款（下）：期限、时点与审慎框架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914400" y="1533525"/>
            <a:ext cx="10363200" cy="1498600"/>
          </a:xfrm>
          <a:prstGeom prst="roundRect">
            <a:avLst>
              <a:gd name="adj" fmla="val 1271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171575" y="2101850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218055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52600" y="1985645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④ 延后放款时点：能拿房、再还贷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1752600" y="2244725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现房销售备案后发放；预售严格在竣工备案后发放——烂尾断贷风险制度性清零；房企按揭回款整体后移，回款周期拉长 2-4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1752600" y="2444750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年（测算口径），现房/准现房优势上升</a:t>
            </a:r>
            <a:endParaRPr lang="en-US" sz="1125" dirty="0"/>
          </a:p>
        </p:txBody>
      </p:sp>
      <p:sp>
        <p:nvSpPr>
          <p:cNvPr id="21" name="Shape 19"/>
          <p:cNvSpPr/>
          <p:nvPr/>
        </p:nvSpPr>
        <p:spPr>
          <a:xfrm>
            <a:off x="914400" y="3165475"/>
            <a:ext cx="10363200" cy="1298575"/>
          </a:xfrm>
          <a:prstGeom prst="roundRect">
            <a:avLst>
              <a:gd name="adj" fmla="val 1467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1171575" y="3633787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749992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752600" y="3617595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⑤ 开发建设阶段资金封闭管理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1752600" y="3876675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预售资金监管账户与定金账户须在主办行开立，项目全部相关资金纳入主办行管理，重大事项事先告知——「以丰补歉」的腾挪被制度性切断</a:t>
            </a:r>
            <a:endParaRPr lang="en-US" sz="1125" dirty="0"/>
          </a:p>
        </p:txBody>
      </p:sp>
      <p:sp>
        <p:nvSpPr>
          <p:cNvPr id="26" name="Shape 24"/>
          <p:cNvSpPr/>
          <p:nvPr/>
        </p:nvSpPr>
        <p:spPr>
          <a:xfrm>
            <a:off x="914400" y="4597400"/>
            <a:ext cx="10363200" cy="1498600"/>
          </a:xfrm>
          <a:prstGeom prst="roundRect">
            <a:avLst>
              <a:gd name="adj" fmla="val 1271"/>
            </a:avLst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1171575" y="5165725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5281930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752600" y="5049520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⑥ 新设「房地产金融宏观审慎管理」章节</a:t>
            </a:r>
            <a:endParaRPr lang="en-US" sz="1425" dirty="0"/>
          </a:p>
        </p:txBody>
      </p:sp>
      <p:sp>
        <p:nvSpPr>
          <p:cNvPr id="30" name="Text 28"/>
          <p:cNvSpPr/>
          <p:nvPr/>
        </p:nvSpPr>
        <p:spPr>
          <a:xfrm>
            <a:off x="1752600" y="5308600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首付比例、利率、贷款集中度等由央行会同相关部门建立逆周期调节机制——从行政限购时代切换为宏观审慎工具时代，为后续需求端工具保留法理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1752600" y="5508625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条款要义摘自《意见》原文；展开为专家解读（研判推断）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09347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格物讲师：九字方针的金融端映射</a:t>
            </a:r>
            <a:endParaRPr lang="en-US" sz="3300" dirty="0"/>
          </a:p>
        </p:txBody>
      </p:sp>
      <p:sp>
        <p:nvSpPr>
          <p:cNvPr id="11" name="Shape 9"/>
          <p:cNvSpPr/>
          <p:nvPr/>
        </p:nvSpPr>
        <p:spPr>
          <a:xfrm>
            <a:off x="1524000" y="1790700"/>
            <a:ext cx="97536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1771650"/>
            <a:ext cx="609600" cy="3810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0078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结论：金融制度的结构性重构，「先立后破」的制度供给；未来一至两个季度按揭余额与销售仍承压，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23126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真正价值是为下一轮周期提供可逆周期调节的制度底座。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31623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控增量 = 宏观审慎逆周期调节制度化（第六章把「控」从运动式变成工具箱）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35052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去库存 = 按揭 40 年 + 竣工备案后放款，从信心端去库存（先解决「不敢买期房」）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38481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优供给 = 主办银行制绑定「交付」而非「开工」，金融资源只流向能交付的项目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4400" y="4648200"/>
            <a:ext cx="10363200" cy="1133475"/>
          </a:xfrm>
          <a:prstGeom prst="roundRect">
            <a:avLst>
              <a:gd name="adj" fmla="val 1681"/>
            </a:avLst>
          </a:prstGeom>
          <a:solidFill>
            <a:srgbClr val="C8102E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4676775"/>
            <a:ext cx="10363200" cy="110490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063625" y="5149850"/>
            <a:ext cx="158750" cy="158750"/>
          </a:xfrm>
          <a:prstGeom prst="ellipse">
            <a:avLst/>
          </a:prstGeom>
          <a:noFill/>
          <a:ln w="15875">
            <a:solidFill>
              <a:srgbClr val="C8102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3000" y="5229225"/>
            <a:ext cx="5953" cy="31750"/>
          </a:xfrm>
          <a:custGeom>
            <a:avLst/>
            <a:gdLst/>
            <a:ahLst/>
            <a:cxnLst/>
            <a:rect l="l" t="t" r="r" b="b"/>
            <a:pathLst>
              <a:path w="5953" h="31750">
                <a:moveTo>
                  <a:pt x="0" y="31750"/>
                </a:moveTo>
                <a:lnTo>
                  <a:pt x="0" y="0"/>
                </a:lnTo>
              </a:path>
            </a:pathLst>
          </a:custGeom>
          <a:noFill/>
          <a:ln w="15875">
            <a:solidFill>
              <a:srgbClr val="C810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43000" y="5197475"/>
            <a:ext cx="5953" cy="5953"/>
          </a:xfrm>
          <a:custGeom>
            <a:avLst/>
            <a:gdLst/>
            <a:ahLst/>
            <a:cxnLst/>
            <a:rect l="l" t="t" r="r" b="b"/>
            <a:pathLst>
              <a:path w="5953" h="5953">
                <a:moveTo>
                  <a:pt x="0" y="0"/>
                </a:moveTo>
                <a:lnTo>
                  <a:pt x="79" y="0"/>
                </a:lnTo>
              </a:path>
            </a:pathLst>
          </a:custGeom>
          <a:noFill/>
          <a:ln w="15875">
            <a:solidFill>
              <a:srgbClr val="C810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33500" y="486727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数据检验：利率 3.06% 走平五个季度后，转向期限/时点/结构工具是必然；预计 2027H1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33500" y="513397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按揭余额才可能止住净减少（研判推断）。制度衔接提醒：多数城市公积金贷款上限仍为 30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33500" y="540067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年，组合贷期限错配是下一道制度题。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4400" y="60579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格物讲师 · 制度研究派 · 九字方针映射框架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108710"/>
            <a:ext cx="112776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政策翻译官：整体判断与观察信号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7086600" y="1771650"/>
            <a:ext cx="0" cy="4095750"/>
          </a:xfrm>
          <a:prstGeom prst="line">
            <a:avLst/>
          </a:prstGeom>
          <a:noFill/>
          <a:ln w="9525">
            <a:solidFill>
              <a:srgbClr val="E7DCC8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39000" y="1771650"/>
            <a:ext cx="4038600" cy="4095750"/>
          </a:xfrm>
          <a:prstGeom prst="roundRect">
            <a:avLst>
              <a:gd name="adj" fmla="val 1415"/>
            </a:avLst>
          </a:prstGeom>
          <a:noFill/>
          <a:ln w="9525">
            <a:solidFill>
              <a:srgbClr val="E7DCC8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3021330"/>
            <a:ext cx="55626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02280"/>
            <a:ext cx="457200" cy="38100"/>
          </a:xfrm>
          <a:prstGeom prst="rect">
            <a:avLst/>
          </a:prstGeom>
          <a:solidFill>
            <a:srgbClr val="6E5A50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215640"/>
            <a:ext cx="121920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结论：供给端资金链重构（①②④⑤）+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14400" y="3491865"/>
            <a:ext cx="121920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需求端与调控重构（③⑥）=「先立制度、再稳市场」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7239000" y="2419350"/>
            <a:ext cx="40386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39000" y="20097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风险提示：40 年按揭实际承接存疑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239000" y="3048000"/>
            <a:ext cx="40386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39000" y="263842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延后放款挤压房企回款，需开发贷期限对冲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239000" y="3676650"/>
            <a:ext cx="40386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39000" y="32670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价格筑底仍在反复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239000" y="4305300"/>
            <a:ext cx="40386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39000" y="389572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观察信号：40 年按揭占比、监管划转节奏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239000" y="4933950"/>
            <a:ext cx="40386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39000" y="452437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现房项目占比、70 城价格同比收窄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239000" y="515302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按揭余额降幅收窄时点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政策翻译官 · 政策解读派 · 整体判断与观察信号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838200"/>
            <a:ext cx="10363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352550"/>
            <a:ext cx="112776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存量猎手：修复上半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914400" y="1971675"/>
            <a:ext cx="112776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场，下半场待接力</a:t>
            </a:r>
            <a:endParaRPr lang="en-US" sz="4500" dirty="0"/>
          </a:p>
        </p:txBody>
      </p:sp>
      <p:sp>
        <p:nvSpPr>
          <p:cNvPr id="13" name="Shape 11"/>
          <p:cNvSpPr/>
          <p:nvPr/>
        </p:nvSpPr>
        <p:spPr>
          <a:xfrm>
            <a:off x="1524000" y="2828925"/>
            <a:ext cx="77724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809875"/>
            <a:ext cx="609600" cy="38100"/>
          </a:xfrm>
          <a:prstGeom prst="rect">
            <a:avLst/>
          </a:prstGeom>
          <a:solidFill>
            <a:srgbClr val="6E5A50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046095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结论：把房地产金融从「发动机」改造成「稳定器」——修复存量循环上半场（交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3350895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付确定性 + 资金安全），下半场（卖旧买新）仍需二手房端政策接力。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397192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核心论证：个贷余额 37.90 → 36.29 万亿（-4.2%）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431482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连续净减少是「卖旧买新」循环断裂的镜像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465772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年按揭只是边际降月供，解不了二手房去化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500062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利率 3.06% 已处平台，再大幅下调空间不存在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534352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增量项目「换引擎」，存量项目「断粮风险」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4400" y="568642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存量收缩或先于增量修复（研判推断）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0" y="5494020"/>
            <a:ext cx="112776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4800" dirty="0">
                <a:solidFill>
                  <a:srgbClr val="6E5A50">
                    <a:alpha val="30000"/>
                  </a:srgbClr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07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914400" y="6073140"/>
            <a:ext cx="112776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存量猎手 · 存量循环派 · 央行（Wind EDB）· 可验证指标：个贷余额增速转正、二手房挂牌量与议价空间、租金回报率（3-4% 基准）、竣工备案后放款执行率</a:t>
            </a:r>
            <a:endParaRPr lang="en-US" sz="975" dirty="0"/>
          </a:p>
        </p:txBody>
      </p:sp>
      <p:sp>
        <p:nvSpPr>
          <p:cNvPr id="25" name="Shape 23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09600" y="887730"/>
            <a:ext cx="115824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周期班长：磨底期测算与传导时滞</a:t>
            </a:r>
            <a:endParaRPr lang="en-US" sz="3450" dirty="0"/>
          </a:p>
        </p:txBody>
      </p:sp>
      <p:sp>
        <p:nvSpPr>
          <p:cNvPr id="11" name="Shape 9"/>
          <p:cNvSpPr/>
          <p:nvPr/>
        </p:nvSpPr>
        <p:spPr>
          <a:xfrm>
            <a:off x="609600" y="1543050"/>
            <a:ext cx="457200" cy="0"/>
          </a:xfrm>
          <a:prstGeom prst="line">
            <a:avLst/>
          </a:prstGeom>
          <a:noFill/>
          <a:ln w="38100">
            <a:solidFill>
              <a:srgbClr val="D4A01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6800" y="1543050"/>
            <a:ext cx="10515600" cy="0"/>
          </a:xfrm>
          <a:prstGeom prst="line">
            <a:avLst/>
          </a:prstGeom>
          <a:noFill/>
          <a:ln w="15240">
            <a:solidFill>
              <a:srgbClr val="E7DC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9600" y="1714500"/>
            <a:ext cx="2628900" cy="11430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00100" y="1962150"/>
            <a:ext cx="12001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4247</a:t>
            </a:r>
            <a:pPr algn="l" indent="0" marL="0">
              <a:buNone/>
            </a:pPr>
            <a:r>
              <a:rPr lang="en-US" sz="1350" b="1" dirty="0">
                <a:solidFill>
                  <a:srgbClr val="6E5A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元/月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00100" y="2514600"/>
            <a:ext cx="12001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年月供（100 万·3.06%·测算）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3390900" y="1714500"/>
            <a:ext cx="2628900" cy="11430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3581400" y="1962150"/>
            <a:ext cx="9220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3614</a:t>
            </a:r>
            <a:pPr algn="l" indent="0" marL="0">
              <a:buNone/>
            </a:pPr>
            <a:r>
              <a:rPr lang="en-US" sz="1350" b="1" dirty="0">
                <a:solidFill>
                  <a:srgbClr val="6E5A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元/月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581400" y="2506980"/>
            <a:ext cx="92202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年月供 · 降约 15%（测算）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1714500"/>
            <a:ext cx="2628900" cy="11430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362700" y="1962150"/>
            <a:ext cx="64389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52.9</a:t>
            </a:r>
            <a:pPr algn="l" indent="0" marL="0">
              <a:buNone/>
            </a:pPr>
            <a:r>
              <a:rPr lang="en-US" sz="1350" b="1" dirty="0">
                <a:solidFill>
                  <a:srgbClr val="6E5A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万元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362700" y="2506980"/>
            <a:ext cx="6438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年总利息（测算）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953500" y="1714500"/>
            <a:ext cx="2628900" cy="11430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0" y="1962150"/>
            <a:ext cx="36576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73.5</a:t>
            </a:r>
            <a:pPr algn="l" indent="0" marL="0">
              <a:buNone/>
            </a:pPr>
            <a:r>
              <a:rPr lang="en-US" sz="1350" b="1" dirty="0">
                <a:solidFill>
                  <a:srgbClr val="6E5A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万元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144000" y="2529840"/>
            <a:ext cx="36576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年总利息 · +39%（+20.6 万，测算）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609600" y="30670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测算二：36.29 万亿降 50bp，年减负约 1814 亿（测算）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09600" y="34099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组合信号：利率 3.05% 走平 + 余额净减少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09600" y="37528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居民在修复资产负债表，非等更低利率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09600" y="40957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时滞：销售 0-2 季度先承压、投资 2-4 季度后受益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09600" y="44386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-19.2% 斜率 2027 年有望收窄至 -10% 内（研判推断）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09600" y="47815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拐点：2027 年三招齐备；最大执行风险=主办行惜贷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09600" y="6400800"/>
            <a:ext cx="11582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周期班长 · 宏观经济 · 周期定位：2021H2 起算第 5 年磨底、二次探底中；拐点前提=制度底座+收库存+贴按揭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07823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批判教授：双重误读、三重错配、四问</a:t>
            </a:r>
            <a:endParaRPr lang="en-US" sz="3450" dirty="0"/>
          </a:p>
        </p:txBody>
      </p:sp>
      <p:sp>
        <p:nvSpPr>
          <p:cNvPr id="11" name="Shape 9"/>
          <p:cNvSpPr/>
          <p:nvPr/>
        </p:nvSpPr>
        <p:spPr>
          <a:xfrm>
            <a:off x="914400" y="1638300"/>
            <a:ext cx="685800" cy="381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1847850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2288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年按揭：30 岁还至 70 岁、35 岁至 75 岁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25717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 50 岁以上不适用、LTV 与期限联动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29146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切换期：付了首付不放款，停工则无房也无贷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32575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</a:t>
            </a:r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建议存量豁免、新项目设 2-3 年过渡期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36004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</a:t>
            </a:r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主办行：事先告知 ≠ 审批；建议职责清单+失职追责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39433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</a:t>
            </a:r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一步到位（制度框架）vs 渐进（市场冲击条款）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48400" y="2171700"/>
            <a:ext cx="5029200" cy="1933575"/>
          </a:xfrm>
          <a:prstGeom prst="roundRect">
            <a:avLst>
              <a:gd name="adj" fmla="val 985"/>
            </a:avLst>
          </a:prstGeom>
          <a:solidFill>
            <a:srgbClr val="DC2626"/>
          </a:solidFill>
          <a:ln/>
        </p:spPr>
      </p:sp>
      <p:sp>
        <p:nvSpPr>
          <p:cNvPr id="20" name="Shape 18"/>
          <p:cNvSpPr/>
          <p:nvPr/>
        </p:nvSpPr>
        <p:spPr>
          <a:xfrm>
            <a:off x="6248400" y="2200275"/>
            <a:ext cx="5029200" cy="190500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397482" y="3081227"/>
            <a:ext cx="158877" cy="142986"/>
          </a:xfrm>
          <a:custGeom>
            <a:avLst/>
            <a:gdLst/>
            <a:ahLst/>
            <a:cxnLst/>
            <a:rect l="l" t="t" r="r" b="b"/>
            <a:pathLst>
              <a:path w="158877" h="142986">
                <a:moveTo>
                  <a:pt x="156750" y="119173"/>
                </a:moveTo>
                <a:lnTo>
                  <a:pt x="93250" y="8048"/>
                </a:lnTo>
                <a:arcTo hR="15875" wR="15875" stAng="19827518" swAng="-7255037"/>
                <a:lnTo>
                  <a:pt x="2127" y="119173"/>
                </a:lnTo>
                <a:arcTo hR="15875" wR="15875" stAng="12600161" swAng="-7231094"/>
                <a:lnTo>
                  <a:pt x="143018" y="142985"/>
                </a:lnTo>
                <a:arcTo hR="15875" wR="15875" stAng="5396476" swAng="-7196478"/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77000" y="3128963"/>
            <a:ext cx="5953" cy="31750"/>
          </a:xfrm>
          <a:custGeom>
            <a:avLst/>
            <a:gdLst/>
            <a:ahLst/>
            <a:cxnLst/>
            <a:rect l="l" t="t" r="r" b="b"/>
            <a:pathLst>
              <a:path w="5953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77000" y="3192463"/>
            <a:ext cx="5953" cy="5953"/>
          </a:xfrm>
          <a:custGeom>
            <a:avLst/>
            <a:gdLst/>
            <a:ahLst/>
            <a:cxnLst/>
            <a:rect l="l" t="t" r="r" b="b"/>
            <a:pathLst>
              <a:path w="5953" h="5953">
                <a:moveTo>
                  <a:pt x="0" y="0"/>
                </a:moveTo>
                <a:lnTo>
                  <a:pt x="79" y="0"/>
                </a:lnTo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67500" y="239077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双重误读：无降首付、无增量收储、无存量利率调整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667500" y="265747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，反而收紧销售端融资；但宏观审慎章节为中央下场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667500" y="292417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预留制度接口——文件是起点不是终点。三重错配：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667500" y="319087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节奏错配、期限错配（月供 -15% 但总利息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667500" y="345757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+四成）、风险转移而非消除。最大误读风险：被解读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667500" y="3724275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为收紧信号、销售二次探底。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838200"/>
            <a:ext cx="10363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352550"/>
            <a:ext cx="112776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共识：四项研判一致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914400" y="289941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</a:t>
            </a:r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制度重构定性：保交楼应急转为事前制度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324231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</a:t>
            </a:r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金融纪律约束高周转、倒逼现房/准现房销售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58521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</a:t>
            </a:r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风险大挪移：期房信用风险移至银行体系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392811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</a:t>
            </a:r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制度性消除「付了钱拿不到房」坍塌点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27101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</a:t>
            </a:r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回款节奏冲击：设计配套、执行错配是风险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461391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</a:t>
            </a:r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短期不改磨底：政策底 ≠ 市场底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0" y="5494020"/>
            <a:ext cx="112776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4800" dirty="0">
                <a:solidFill>
                  <a:srgbClr val="6E5A50">
                    <a:alpha val="30000"/>
                  </a:srgbClr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10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914400" y="60198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五位专家融合处理结果 · 共识部分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108710"/>
            <a:ext cx="112776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分歧与边界条件：降级处理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7086600" y="1771650"/>
            <a:ext cx="0" cy="4095750"/>
          </a:xfrm>
          <a:prstGeom prst="line">
            <a:avLst/>
          </a:prstGeom>
          <a:noFill/>
          <a:ln w="9525">
            <a:solidFill>
              <a:srgbClr val="E7DCC8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39000" y="1771650"/>
            <a:ext cx="4038600" cy="4095750"/>
          </a:xfrm>
          <a:prstGeom prst="roundRect">
            <a:avLst>
              <a:gd name="adj" fmla="val 1415"/>
            </a:avLst>
          </a:prstGeom>
          <a:noFill/>
          <a:ln w="9525">
            <a:solidFill>
              <a:srgbClr val="E7DCC8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683002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年按揭实效：月供改善 vs 总利息+约四成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025902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年龄错配——按揭工具实际拉动存在上限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3368802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执行次序「先断粮、后补粮」（研判推断）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3711702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</a:t>
            </a:r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放款后移先于开发贷到位，供给或再下探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4054602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</a:t>
            </a:r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公积金 30 年上限的组合贷错配待解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239000" y="2897315"/>
            <a:ext cx="4038600" cy="1133475"/>
          </a:xfrm>
          <a:prstGeom prst="roundRect">
            <a:avLst>
              <a:gd name="adj" fmla="val 1681"/>
            </a:avLst>
          </a:prstGeom>
          <a:solidFill>
            <a:srgbClr val="C8102E"/>
          </a:solidFill>
          <a:ln/>
        </p:spPr>
      </p:sp>
      <p:sp>
        <p:nvSpPr>
          <p:cNvPr id="19" name="Shape 17"/>
          <p:cNvSpPr/>
          <p:nvPr/>
        </p:nvSpPr>
        <p:spPr>
          <a:xfrm>
            <a:off x="7239000" y="2925890"/>
            <a:ext cx="4038600" cy="110490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7388225" y="3398965"/>
            <a:ext cx="158750" cy="158750"/>
          </a:xfrm>
          <a:prstGeom prst="ellipse">
            <a:avLst/>
          </a:prstGeom>
          <a:noFill/>
          <a:ln w="15875">
            <a:solidFill>
              <a:srgbClr val="C8102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67600" y="3478340"/>
            <a:ext cx="5953" cy="31750"/>
          </a:xfrm>
          <a:custGeom>
            <a:avLst/>
            <a:gdLst/>
            <a:ahLst/>
            <a:cxnLst/>
            <a:rect l="l" t="t" r="r" b="b"/>
            <a:pathLst>
              <a:path w="5953" h="31750">
                <a:moveTo>
                  <a:pt x="0" y="31750"/>
                </a:moveTo>
                <a:lnTo>
                  <a:pt x="0" y="0"/>
                </a:lnTo>
              </a:path>
            </a:pathLst>
          </a:custGeom>
          <a:noFill/>
          <a:ln w="15875">
            <a:solidFill>
              <a:srgbClr val="C810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67600" y="3446590"/>
            <a:ext cx="5953" cy="5953"/>
          </a:xfrm>
          <a:custGeom>
            <a:avLst/>
            <a:gdLst/>
            <a:ahLst/>
            <a:cxnLst/>
            <a:rect l="l" t="t" r="r" b="b"/>
            <a:pathLst>
              <a:path w="5953" h="5953">
                <a:moveTo>
                  <a:pt x="0" y="0"/>
                </a:moveTo>
                <a:lnTo>
                  <a:pt x="79" y="0"/>
                </a:lnTo>
              </a:path>
            </a:pathLst>
          </a:custGeom>
          <a:noFill/>
          <a:ln w="15875">
            <a:solidFill>
              <a:srgbClr val="C810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58100" y="3116390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三项分歧按边界条件降级处理，不作并列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658100" y="3383090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观点——它们界定结论成立的边界，而非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658100" y="3649790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否定共识。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五位专家融合处理结果 · 分歧与边界条件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07823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全国数据底座：五组指标</a:t>
            </a:r>
            <a:endParaRPr lang="en-US" sz="3450" dirty="0"/>
          </a:p>
        </p:txBody>
      </p:sp>
      <p:sp>
        <p:nvSpPr>
          <p:cNvPr id="11" name="Shape 9"/>
          <p:cNvSpPr/>
          <p:nvPr/>
        </p:nvSpPr>
        <p:spPr>
          <a:xfrm>
            <a:off x="914400" y="1638300"/>
            <a:ext cx="685800" cy="381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1847850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8700" y="2742819"/>
            <a:ext cx="12077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202457" y="2742819"/>
            <a:ext cx="9903943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最新值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861267" y="2742819"/>
            <a:ext cx="7245133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关键变化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14400" y="3032379"/>
            <a:ext cx="10363200" cy="0"/>
          </a:xfrm>
          <a:prstGeom prst="line">
            <a:avLst/>
          </a:prstGeom>
          <a:noFill/>
          <a:ln w="19050">
            <a:solidFill>
              <a:srgbClr val="2B20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451479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870579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4289679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708779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5127879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8700" y="3177159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个人住房贷款余额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2457" y="3177159"/>
            <a:ext cx="990394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36.29 万亿（26-06）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861267" y="3177159"/>
            <a:ext cx="724513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峰值 37.90（25-03），累计 -1.61 万亿、-4.2%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28700" y="3596259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按揭加权利率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2457" y="3596259"/>
            <a:ext cx="990394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 3.05%/新发 3.06%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861267" y="3596259"/>
            <a:ext cx="724513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3.33→3.06 八季走平，弹性钝化（26Q2）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28700" y="4015359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销售面积累计同比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02457" y="4015359"/>
            <a:ext cx="990394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-11.8%（26-07）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861267" y="4015359"/>
            <a:ext cx="724513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25-07 为 -4.0%；26-02 曾探 -13.5%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28700" y="4434459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 城新宅价格同比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02457" y="4434459"/>
            <a:ext cx="990394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-3.4%（26-07）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861267" y="4434459"/>
            <a:ext cx="724513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25-10 最窄 -2.6%，再度走阔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28700" y="4853559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开发投资累计同比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02457" y="4853559"/>
            <a:ext cx="990394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-19.2%（26-07）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861267" y="4853559"/>
            <a:ext cx="724513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-17.2%→-18.0%→-19.2%，持续探底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14400" y="5226939"/>
            <a:ext cx="121920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 · 央行 / 国家统计局（Wind EDB）· 月度至 2026-07、季度至 2026Q2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0" y="1409700"/>
            <a:ext cx="1219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按揭余额：八个季度，从 37.90 到 36.29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867400" y="190500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12" name="Shape 10"/>
          <p:cNvSpPr/>
          <p:nvPr/>
        </p:nvSpPr>
        <p:spPr>
          <a:xfrm>
            <a:off x="3333750" y="3278124"/>
            <a:ext cx="5810250" cy="0"/>
          </a:xfrm>
          <a:prstGeom prst="line">
            <a:avLst/>
          </a:prstGeom>
          <a:noFill/>
          <a:ln w="9525">
            <a:solidFill>
              <a:srgbClr val="6E5A50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3750" y="3773424"/>
            <a:ext cx="5810250" cy="0"/>
          </a:xfrm>
          <a:prstGeom prst="line">
            <a:avLst/>
          </a:prstGeom>
          <a:noFill/>
          <a:ln w="9525">
            <a:solidFill>
              <a:srgbClr val="6E5A50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3750" y="4268724"/>
            <a:ext cx="5810250" cy="0"/>
          </a:xfrm>
          <a:prstGeom prst="line">
            <a:avLst/>
          </a:prstGeom>
          <a:noFill/>
          <a:ln w="9525">
            <a:solidFill>
              <a:srgbClr val="6E5A50">
                <a:alpha val="10000"/>
              </a:srgbClr>
            </a:solidFill>
            <a:prstDash val="solid"/>
          </a:ln>
        </p:spPr>
      </p:sp>
      <p:sp>
        <p:nvSpPr>
          <p:cNvPr id="15" name="svg2pptx-gradient-s0012-0000"/>
          <p:cNvSpPr/>
          <p:nvPr/>
        </p:nvSpPr>
        <p:spPr>
          <a:xfrm>
            <a:off x="3333750" y="2782824"/>
            <a:ext cx="5810250" cy="1981200"/>
          </a:xfrm>
          <a:custGeom>
            <a:avLst/>
            <a:gdLst/>
            <a:ahLst/>
            <a:cxnLst/>
            <a:rect l="l" t="t" r="r" b="b"/>
            <a:pathLst>
              <a:path w="5810250" h="1981200">
                <a:moveTo>
                  <a:pt x="0" y="17773"/>
                </a:moveTo>
                <a:lnTo>
                  <a:pt x="830036" y="11500"/>
                </a:lnTo>
                <a:lnTo>
                  <a:pt x="1660071" y="0"/>
                </a:lnTo>
                <a:lnTo>
                  <a:pt x="2490107" y="8364"/>
                </a:lnTo>
                <a:lnTo>
                  <a:pt x="3320143" y="24046"/>
                </a:lnTo>
                <a:lnTo>
                  <a:pt x="4150179" y="46524"/>
                </a:lnTo>
                <a:lnTo>
                  <a:pt x="4980214" y="61684"/>
                </a:lnTo>
                <a:lnTo>
                  <a:pt x="5810250" y="84162"/>
                </a:lnTo>
                <a:lnTo>
                  <a:pt x="5810250" y="1981200"/>
                </a:lnTo>
                <a:lnTo>
                  <a:pt x="0" y="1981200"/>
                </a:lnTo>
                <a:close/>
              </a:path>
            </a:pathLst>
          </a:custGeom>
          <a:gradFill rotWithShape="1">
            <a:gsLst>
              <a:gs pos="0">
                <a:srgbClr val="D4A017">
                  <a:alpha val="20000"/>
                </a:srgbClr>
              </a:gs>
              <a:gs pos="100000">
                <a:srgbClr val="D4A017">
                  <a:alpha val="0"/>
                </a:srgbClr>
              </a:gs>
            </a:gsLst>
            <a:lin ang="5400000" scaled="1"/>
          </a:gradFill>
          <a:ln/>
        </p:spPr>
      </p:sp>
      <p:sp>
        <p:nvSpPr>
          <p:cNvPr id="16" name="Shape 14"/>
          <p:cNvSpPr/>
          <p:nvPr/>
        </p:nvSpPr>
        <p:spPr>
          <a:xfrm>
            <a:off x="3333750" y="2782824"/>
            <a:ext cx="5810250" cy="84162"/>
          </a:xfrm>
          <a:custGeom>
            <a:avLst/>
            <a:gdLst/>
            <a:ahLst/>
            <a:cxnLst/>
            <a:rect l="l" t="t" r="r" b="b"/>
            <a:pathLst>
              <a:path w="5810250" h="84162">
                <a:moveTo>
                  <a:pt x="0" y="17773"/>
                </a:moveTo>
                <a:lnTo>
                  <a:pt x="830036" y="11500"/>
                </a:lnTo>
                <a:lnTo>
                  <a:pt x="1660071" y="0"/>
                </a:lnTo>
                <a:lnTo>
                  <a:pt x="2490107" y="8364"/>
                </a:lnTo>
                <a:lnTo>
                  <a:pt x="3320143" y="24046"/>
                </a:lnTo>
                <a:lnTo>
                  <a:pt x="4150179" y="46524"/>
                </a:lnTo>
                <a:lnTo>
                  <a:pt x="4980214" y="61684"/>
                </a:lnTo>
                <a:lnTo>
                  <a:pt x="5810250" y="84162"/>
                </a:lnTo>
              </a:path>
            </a:pathLst>
          </a:custGeom>
          <a:noFill/>
          <a:ln w="1905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3750" y="4813554"/>
            <a:ext cx="1190625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6E5A50"/>
                </a:solidFill>
              </a:rPr>
              <a:t>24Q3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3048000" y="4813554"/>
            <a:ext cx="2231571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E5A50"/>
                </a:solidFill>
              </a:rPr>
              <a:t>24Q4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3048000" y="4813554"/>
            <a:ext cx="3891643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E5A50"/>
                </a:solidFill>
              </a:rPr>
              <a:t>25Q1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3048000" y="4813554"/>
            <a:ext cx="5551714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E5A50"/>
                </a:solidFill>
              </a:rPr>
              <a:t>25Q2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3048000" y="4813554"/>
            <a:ext cx="7211786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E5A50"/>
                </a:solidFill>
              </a:rPr>
              <a:t>25Q3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3048000" y="4813554"/>
            <a:ext cx="8871857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E5A50"/>
                </a:solidFill>
              </a:rPr>
              <a:t>25Q4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3048000" y="4813554"/>
            <a:ext cx="10531929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E5A50"/>
                </a:solidFill>
              </a:rPr>
              <a:t>26Q1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3048000" y="4813554"/>
            <a:ext cx="60960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825" dirty="0">
                <a:solidFill>
                  <a:srgbClr val="6E5A50"/>
                </a:solidFill>
              </a:rPr>
              <a:t>26Q2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3333750" y="2659627"/>
            <a:ext cx="1190625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2B2020"/>
                </a:solidFill>
              </a:rPr>
              <a:t>37.56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3048000" y="2726016"/>
            <a:ext cx="60960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825" dirty="0">
                <a:solidFill>
                  <a:srgbClr val="2B2020"/>
                </a:solidFill>
              </a:rPr>
              <a:t>36.29</a:t>
            </a:r>
            <a:endParaRPr lang="en-US" sz="825" dirty="0"/>
          </a:p>
        </p:txBody>
      </p:sp>
      <p:sp>
        <p:nvSpPr>
          <p:cNvPr id="27" name="Shape 25"/>
          <p:cNvSpPr/>
          <p:nvPr/>
        </p:nvSpPr>
        <p:spPr>
          <a:xfrm>
            <a:off x="9067800" y="2790786"/>
            <a:ext cx="152400" cy="152400"/>
          </a:xfrm>
          <a:prstGeom prst="ellipse">
            <a:avLst/>
          </a:prstGeom>
          <a:noFill/>
          <a:ln w="9525">
            <a:solidFill>
              <a:srgbClr val="D4A017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05900" y="2828886"/>
            <a:ext cx="76200" cy="762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9" name="Text 27"/>
          <p:cNvSpPr/>
          <p:nvPr/>
        </p:nvSpPr>
        <p:spPr>
          <a:xfrm>
            <a:off x="3048000" y="3584829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3048000" y="3708654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亿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3048000" y="3832479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0" y="6065520"/>
            <a:ext cx="121920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央行（Wind EDB）· 季度 · 2024Q3→2026Q2；自 2025-03 峰值 37.90 万亿连续净减少，累计 -1.61 万亿（-4.2%）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09347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北京深潜：量先起、价收敛</a:t>
            </a:r>
            <a:endParaRPr lang="en-US" sz="3300" dirty="0"/>
          </a:p>
        </p:txBody>
      </p:sp>
      <p:sp>
        <p:nvSpPr>
          <p:cNvPr id="11" name="Shape 9"/>
          <p:cNvSpPr/>
          <p:nvPr/>
        </p:nvSpPr>
        <p:spPr>
          <a:xfrm>
            <a:off x="914400" y="1771650"/>
            <a:ext cx="3352800" cy="2085975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D4A017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04900" y="2513647"/>
            <a:ext cx="1108710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A0E14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+1.4%</a:t>
            </a:r>
            <a:endParaRPr lang="en-US" sz="5400" dirty="0"/>
          </a:p>
        </p:txBody>
      </p:sp>
      <p:sp>
        <p:nvSpPr>
          <p:cNvPr id="13" name="Shape 11"/>
          <p:cNvSpPr/>
          <p:nvPr/>
        </p:nvSpPr>
        <p:spPr>
          <a:xfrm>
            <a:off x="2905125" y="2519363"/>
            <a:ext cx="57150" cy="5715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4" name="Shape 12"/>
          <p:cNvSpPr/>
          <p:nvPr/>
        </p:nvSpPr>
        <p:spPr>
          <a:xfrm>
            <a:off x="2847975" y="2462213"/>
            <a:ext cx="171450" cy="171450"/>
          </a:xfrm>
          <a:prstGeom prst="ellipse">
            <a:avLst/>
          </a:prstGeom>
          <a:noFill/>
          <a:ln w="9525">
            <a:solidFill>
              <a:srgbClr val="D4A017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00350" y="2414588"/>
            <a:ext cx="266700" cy="266700"/>
          </a:xfrm>
          <a:prstGeom prst="ellipse">
            <a:avLst/>
          </a:prstGeom>
          <a:noFill/>
          <a:ln w="9525">
            <a:solidFill>
              <a:srgbClr val="D4A017">
                <a:alpha val="7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0" y="2406968"/>
            <a:ext cx="4076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0A0E14"/>
                </a:solidFill>
              </a:rPr>
              <a:t>↑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04900" y="3207068"/>
            <a:ext cx="11087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销售面积累计同比 · 转正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19600" y="1771650"/>
            <a:ext cx="3352800" cy="2085975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D4A017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0100" y="2513647"/>
            <a:ext cx="758190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A0E14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-4.5%</a:t>
            </a:r>
            <a:endParaRPr lang="en-US" sz="5400" dirty="0"/>
          </a:p>
        </p:txBody>
      </p:sp>
      <p:sp>
        <p:nvSpPr>
          <p:cNvPr id="20" name="Shape 18"/>
          <p:cNvSpPr/>
          <p:nvPr/>
        </p:nvSpPr>
        <p:spPr>
          <a:xfrm>
            <a:off x="6410325" y="2519363"/>
            <a:ext cx="57150" cy="5715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1" name="Shape 19"/>
          <p:cNvSpPr/>
          <p:nvPr/>
        </p:nvSpPr>
        <p:spPr>
          <a:xfrm>
            <a:off x="6353175" y="2462213"/>
            <a:ext cx="171450" cy="171450"/>
          </a:xfrm>
          <a:prstGeom prst="ellipse">
            <a:avLst/>
          </a:prstGeom>
          <a:noFill/>
          <a:ln w="9525">
            <a:solidFill>
              <a:srgbClr val="D4A017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5550" y="2414588"/>
            <a:ext cx="266700" cy="266700"/>
          </a:xfrm>
          <a:prstGeom prst="ellipse">
            <a:avLst/>
          </a:prstGeom>
          <a:noFill/>
          <a:ln w="9525">
            <a:solidFill>
              <a:srgbClr val="D4A017">
                <a:alpha val="7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2406968"/>
            <a:ext cx="7581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DC2626"/>
                </a:solidFill>
              </a:rPr>
              <a:t>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10100" y="3207068"/>
            <a:ext cx="7581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二手价格同比 · 探底后 6 连收窄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924800" y="1771650"/>
            <a:ext cx="3352800" cy="2085975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D4A017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15300" y="2513647"/>
            <a:ext cx="407670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A0E14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-2.3%</a:t>
            </a:r>
            <a:endParaRPr lang="en-US" sz="5400" dirty="0"/>
          </a:p>
        </p:txBody>
      </p:sp>
      <p:sp>
        <p:nvSpPr>
          <p:cNvPr id="27" name="Shape 25"/>
          <p:cNvSpPr/>
          <p:nvPr/>
        </p:nvSpPr>
        <p:spPr>
          <a:xfrm>
            <a:off x="9915525" y="2519363"/>
            <a:ext cx="57150" cy="5715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8" name="Shape 26"/>
          <p:cNvSpPr/>
          <p:nvPr/>
        </p:nvSpPr>
        <p:spPr>
          <a:xfrm>
            <a:off x="9858375" y="2462213"/>
            <a:ext cx="171450" cy="171450"/>
          </a:xfrm>
          <a:prstGeom prst="ellipse">
            <a:avLst/>
          </a:prstGeom>
          <a:noFill/>
          <a:ln w="9525">
            <a:solidFill>
              <a:srgbClr val="D4A017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10750" y="2414588"/>
            <a:ext cx="266700" cy="266700"/>
          </a:xfrm>
          <a:prstGeom prst="ellipse">
            <a:avLst/>
          </a:prstGeom>
          <a:noFill/>
          <a:ln w="9525">
            <a:solidFill>
              <a:srgbClr val="D4A017">
                <a:alpha val="7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2406968"/>
            <a:ext cx="11087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DC2626"/>
                </a:solidFill>
              </a:rPr>
              <a:t>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115300" y="3207068"/>
            <a:ext cx="4076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新房价格同比 · 好于全国 70 城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14400" y="4010025"/>
            <a:ext cx="5105400" cy="2085975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D4A017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04900" y="4752022"/>
            <a:ext cx="1108710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A0E14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-11.6%</a:t>
            </a:r>
            <a:endParaRPr lang="en-US" sz="5400" dirty="0"/>
          </a:p>
        </p:txBody>
      </p:sp>
      <p:sp>
        <p:nvSpPr>
          <p:cNvPr id="34" name="Shape 32"/>
          <p:cNvSpPr/>
          <p:nvPr/>
        </p:nvSpPr>
        <p:spPr>
          <a:xfrm>
            <a:off x="3289173" y="4757738"/>
            <a:ext cx="57150" cy="5715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35" name="Shape 33"/>
          <p:cNvSpPr/>
          <p:nvPr/>
        </p:nvSpPr>
        <p:spPr>
          <a:xfrm>
            <a:off x="3232023" y="4700588"/>
            <a:ext cx="171450" cy="171450"/>
          </a:xfrm>
          <a:prstGeom prst="ellipse">
            <a:avLst/>
          </a:prstGeom>
          <a:noFill/>
          <a:ln w="9525">
            <a:solidFill>
              <a:srgbClr val="D4A017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184398" y="4652963"/>
            <a:ext cx="266700" cy="266700"/>
          </a:xfrm>
          <a:prstGeom prst="ellipse">
            <a:avLst/>
          </a:prstGeom>
          <a:noFill/>
          <a:ln w="9525">
            <a:solidFill>
              <a:srgbClr val="D4A017">
                <a:alpha val="7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0" y="4645343"/>
            <a:ext cx="5829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DC2626"/>
                </a:solidFill>
              </a:rPr>
              <a:t>↓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04900" y="5445443"/>
            <a:ext cx="11087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开发投资同比 · 浅于全国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172200" y="4010025"/>
            <a:ext cx="5105400" cy="2085975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D4A017">
                <a:alpha val="3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76214" y="4707493"/>
            <a:ext cx="3310493" cy="0"/>
          </a:xfrm>
          <a:prstGeom prst="line">
            <a:avLst/>
          </a:prstGeom>
          <a:noFill/>
          <a:ln w="7104">
            <a:solidFill>
              <a:srgbClr val="6E5A50">
                <a:alpha val="1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76214" y="5076904"/>
            <a:ext cx="3310493" cy="0"/>
          </a:xfrm>
          <a:prstGeom prst="line">
            <a:avLst/>
          </a:prstGeom>
          <a:noFill/>
          <a:ln w="7104">
            <a:solidFill>
              <a:srgbClr val="6E5A50">
                <a:alpha val="1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176214" y="5446316"/>
            <a:ext cx="3310493" cy="0"/>
          </a:xfrm>
          <a:prstGeom prst="line">
            <a:avLst/>
          </a:prstGeom>
          <a:noFill/>
          <a:ln w="7104">
            <a:solidFill>
              <a:srgbClr val="6E5A50">
                <a:alpha val="10000"/>
              </a:srgbClr>
            </a:solidFill>
            <a:prstDash val="solid"/>
          </a:ln>
        </p:spPr>
      </p:sp>
      <p:sp>
        <p:nvSpPr>
          <p:cNvPr id="43" name="svg2pptx-gradient-s0013-0000"/>
          <p:cNvSpPr/>
          <p:nvPr/>
        </p:nvSpPr>
        <p:spPr>
          <a:xfrm>
            <a:off x="7204631" y="4490416"/>
            <a:ext cx="356979" cy="441770"/>
          </a:xfrm>
          <a:prstGeom prst="rect">
            <a:avLst/>
          </a:prstGeom>
          <a:gradFill rotWithShape="1">
            <a:gsLst>
              <a:gs pos="0">
                <a:srgbClr val="D4A017">
                  <a:alpha val="75000"/>
                </a:srgbClr>
              </a:gs>
              <a:gs pos="100000">
                <a:srgbClr val="947010">
                  <a:alpha val="75000"/>
                </a:srgbClr>
              </a:gs>
            </a:gsLst>
            <a:lin ang="5400000" scaled="1"/>
          </a:gradFill>
          <a:ln/>
        </p:spPr>
      </p:sp>
      <p:sp>
        <p:nvSpPr>
          <p:cNvPr id="44" name="Text 42"/>
          <p:cNvSpPr/>
          <p:nvPr/>
        </p:nvSpPr>
        <p:spPr>
          <a:xfrm>
            <a:off x="6963093" y="4399484"/>
            <a:ext cx="840055" cy="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15" dirty="0">
                <a:solidFill>
                  <a:srgbClr val="2B2020"/>
                </a:solidFill>
              </a:rPr>
              <a:t>-2.9</a:t>
            </a:r>
            <a:endParaRPr lang="en-US" sz="615" dirty="0"/>
          </a:p>
        </p:txBody>
      </p:sp>
      <p:sp>
        <p:nvSpPr>
          <p:cNvPr id="45" name="Text 43"/>
          <p:cNvSpPr/>
          <p:nvPr/>
        </p:nvSpPr>
        <p:spPr>
          <a:xfrm>
            <a:off x="6963093" y="5852668"/>
            <a:ext cx="840055" cy="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15" dirty="0">
                <a:solidFill>
                  <a:srgbClr val="6E5A50"/>
                </a:solidFill>
              </a:rPr>
              <a:t>25-07</a:t>
            </a:r>
            <a:endParaRPr lang="en-US" sz="615" dirty="0"/>
          </a:p>
        </p:txBody>
      </p:sp>
      <p:sp>
        <p:nvSpPr>
          <p:cNvPr id="46" name="svg2pptx-gradient-s0013-0001"/>
          <p:cNvSpPr/>
          <p:nvPr/>
        </p:nvSpPr>
        <p:spPr>
          <a:xfrm>
            <a:off x="7618442" y="4490416"/>
            <a:ext cx="356979" cy="1325310"/>
          </a:xfrm>
          <a:prstGeom prst="rect">
            <a:avLst/>
          </a:prstGeom>
          <a:gradFill rotWithShape="1">
            <a:gsLst>
              <a:gs pos="0">
                <a:srgbClr val="D4A017">
                  <a:alpha val="75000"/>
                </a:srgbClr>
              </a:gs>
              <a:gs pos="100000">
                <a:srgbClr val="947010">
                  <a:alpha val="75000"/>
                </a:srgbClr>
              </a:gs>
            </a:gsLst>
            <a:lin ang="5400000" scaled="1"/>
          </a:gradFill>
          <a:ln/>
        </p:spPr>
      </p:sp>
      <p:sp>
        <p:nvSpPr>
          <p:cNvPr id="47" name="Text 45"/>
          <p:cNvSpPr/>
          <p:nvPr/>
        </p:nvSpPr>
        <p:spPr>
          <a:xfrm>
            <a:off x="6963093" y="4399484"/>
            <a:ext cx="1667679" cy="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15" dirty="0">
                <a:solidFill>
                  <a:srgbClr val="2B2020"/>
                </a:solidFill>
              </a:rPr>
              <a:t>-8.7</a:t>
            </a:r>
            <a:endParaRPr lang="en-US" sz="615" dirty="0"/>
          </a:p>
        </p:txBody>
      </p:sp>
      <p:sp>
        <p:nvSpPr>
          <p:cNvPr id="48" name="Text 46"/>
          <p:cNvSpPr/>
          <p:nvPr/>
        </p:nvSpPr>
        <p:spPr>
          <a:xfrm>
            <a:off x="6963093" y="5852668"/>
            <a:ext cx="1667679" cy="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15" dirty="0">
                <a:solidFill>
                  <a:srgbClr val="6E5A50"/>
                </a:solidFill>
              </a:rPr>
              <a:t>26-01</a:t>
            </a:r>
            <a:endParaRPr lang="en-US" sz="615" dirty="0"/>
          </a:p>
        </p:txBody>
      </p:sp>
      <p:sp>
        <p:nvSpPr>
          <p:cNvPr id="49" name="svg2pptx-gradient-s0013-0002"/>
          <p:cNvSpPr/>
          <p:nvPr/>
        </p:nvSpPr>
        <p:spPr>
          <a:xfrm>
            <a:off x="8032254" y="4490416"/>
            <a:ext cx="356979" cy="1279610"/>
          </a:xfrm>
          <a:prstGeom prst="rect">
            <a:avLst/>
          </a:prstGeom>
          <a:gradFill rotWithShape="1">
            <a:gsLst>
              <a:gs pos="0">
                <a:srgbClr val="D4A017">
                  <a:alpha val="75000"/>
                </a:srgbClr>
              </a:gs>
              <a:gs pos="100000">
                <a:srgbClr val="947010">
                  <a:alpha val="75000"/>
                </a:srgbClr>
              </a:gs>
            </a:gsLst>
            <a:lin ang="5400000" scaled="1"/>
          </a:gradFill>
          <a:ln/>
        </p:spPr>
      </p:sp>
      <p:sp>
        <p:nvSpPr>
          <p:cNvPr id="50" name="Text 48"/>
          <p:cNvSpPr/>
          <p:nvPr/>
        </p:nvSpPr>
        <p:spPr>
          <a:xfrm>
            <a:off x="6963093" y="4399484"/>
            <a:ext cx="2495302" cy="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15" dirty="0">
                <a:solidFill>
                  <a:srgbClr val="2B2020"/>
                </a:solidFill>
              </a:rPr>
              <a:t>-8.4</a:t>
            </a:r>
            <a:endParaRPr lang="en-US" sz="615" dirty="0"/>
          </a:p>
        </p:txBody>
      </p:sp>
      <p:sp>
        <p:nvSpPr>
          <p:cNvPr id="51" name="Text 49"/>
          <p:cNvSpPr/>
          <p:nvPr/>
        </p:nvSpPr>
        <p:spPr>
          <a:xfrm>
            <a:off x="6963093" y="5852668"/>
            <a:ext cx="2495302" cy="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15" dirty="0">
                <a:solidFill>
                  <a:srgbClr val="6E5A50"/>
                </a:solidFill>
              </a:rPr>
              <a:t>26-02</a:t>
            </a:r>
            <a:endParaRPr lang="en-US" sz="615" dirty="0"/>
          </a:p>
        </p:txBody>
      </p:sp>
      <p:sp>
        <p:nvSpPr>
          <p:cNvPr id="52" name="svg2pptx-gradient-s0013-0003"/>
          <p:cNvSpPr/>
          <p:nvPr/>
        </p:nvSpPr>
        <p:spPr>
          <a:xfrm>
            <a:off x="8446066" y="4490416"/>
            <a:ext cx="356979" cy="1264377"/>
          </a:xfrm>
          <a:prstGeom prst="rect">
            <a:avLst/>
          </a:prstGeom>
          <a:gradFill rotWithShape="1">
            <a:gsLst>
              <a:gs pos="0">
                <a:srgbClr val="D4A017">
                  <a:alpha val="75000"/>
                </a:srgbClr>
              </a:gs>
              <a:gs pos="100000">
                <a:srgbClr val="947010">
                  <a:alpha val="75000"/>
                </a:srgbClr>
              </a:gs>
            </a:gsLst>
            <a:lin ang="5400000" scaled="1"/>
          </a:gradFill>
          <a:ln/>
        </p:spPr>
      </p:sp>
      <p:sp>
        <p:nvSpPr>
          <p:cNvPr id="53" name="Text 51"/>
          <p:cNvSpPr/>
          <p:nvPr/>
        </p:nvSpPr>
        <p:spPr>
          <a:xfrm>
            <a:off x="6963093" y="4399484"/>
            <a:ext cx="3322925" cy="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15" dirty="0">
                <a:solidFill>
                  <a:srgbClr val="2B2020"/>
                </a:solidFill>
              </a:rPr>
              <a:t>-8.3</a:t>
            </a:r>
            <a:endParaRPr lang="en-US" sz="615" dirty="0"/>
          </a:p>
        </p:txBody>
      </p:sp>
      <p:sp>
        <p:nvSpPr>
          <p:cNvPr id="54" name="Text 52"/>
          <p:cNvSpPr/>
          <p:nvPr/>
        </p:nvSpPr>
        <p:spPr>
          <a:xfrm>
            <a:off x="6963093" y="5852668"/>
            <a:ext cx="3322925" cy="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15" dirty="0">
                <a:solidFill>
                  <a:srgbClr val="6E5A50"/>
                </a:solidFill>
              </a:rPr>
              <a:t>26-03</a:t>
            </a:r>
            <a:endParaRPr lang="en-US" sz="615" dirty="0"/>
          </a:p>
        </p:txBody>
      </p:sp>
      <p:sp>
        <p:nvSpPr>
          <p:cNvPr id="55" name="svg2pptx-gradient-s0013-0004"/>
          <p:cNvSpPr/>
          <p:nvPr/>
        </p:nvSpPr>
        <p:spPr>
          <a:xfrm>
            <a:off x="8859877" y="4490416"/>
            <a:ext cx="356979" cy="1127276"/>
          </a:xfrm>
          <a:prstGeom prst="rect">
            <a:avLst/>
          </a:prstGeom>
          <a:gradFill rotWithShape="1">
            <a:gsLst>
              <a:gs pos="0">
                <a:srgbClr val="D4A017">
                  <a:alpha val="75000"/>
                </a:srgbClr>
              </a:gs>
              <a:gs pos="100000">
                <a:srgbClr val="947010">
                  <a:alpha val="75000"/>
                </a:srgbClr>
              </a:gs>
            </a:gsLst>
            <a:lin ang="5400000" scaled="1"/>
          </a:gradFill>
          <a:ln/>
        </p:spPr>
      </p:sp>
      <p:sp>
        <p:nvSpPr>
          <p:cNvPr id="56" name="Text 54"/>
          <p:cNvSpPr/>
          <p:nvPr/>
        </p:nvSpPr>
        <p:spPr>
          <a:xfrm>
            <a:off x="6963093" y="4399484"/>
            <a:ext cx="4150549" cy="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15" dirty="0">
                <a:solidFill>
                  <a:srgbClr val="2B2020"/>
                </a:solidFill>
              </a:rPr>
              <a:t>-7.4</a:t>
            </a:r>
            <a:endParaRPr lang="en-US" sz="615" dirty="0"/>
          </a:p>
        </p:txBody>
      </p:sp>
      <p:sp>
        <p:nvSpPr>
          <p:cNvPr id="57" name="Text 55"/>
          <p:cNvSpPr/>
          <p:nvPr/>
        </p:nvSpPr>
        <p:spPr>
          <a:xfrm>
            <a:off x="6963093" y="5852668"/>
            <a:ext cx="4150549" cy="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15" dirty="0">
                <a:solidFill>
                  <a:srgbClr val="6E5A50"/>
                </a:solidFill>
              </a:rPr>
              <a:t>26-04</a:t>
            </a:r>
            <a:endParaRPr lang="en-US" sz="615" dirty="0"/>
          </a:p>
        </p:txBody>
      </p:sp>
      <p:sp>
        <p:nvSpPr>
          <p:cNvPr id="58" name="svg2pptx-gradient-s0013-0005"/>
          <p:cNvSpPr/>
          <p:nvPr/>
        </p:nvSpPr>
        <p:spPr>
          <a:xfrm>
            <a:off x="9273689" y="4490416"/>
            <a:ext cx="356979" cy="990174"/>
          </a:xfrm>
          <a:prstGeom prst="rect">
            <a:avLst/>
          </a:prstGeom>
          <a:gradFill rotWithShape="1">
            <a:gsLst>
              <a:gs pos="0">
                <a:srgbClr val="D4A017">
                  <a:alpha val="75000"/>
                </a:srgbClr>
              </a:gs>
              <a:gs pos="100000">
                <a:srgbClr val="947010">
                  <a:alpha val="75000"/>
                </a:srgbClr>
              </a:gs>
            </a:gsLst>
            <a:lin ang="5400000" scaled="1"/>
          </a:gradFill>
          <a:ln/>
        </p:spPr>
      </p:sp>
      <p:sp>
        <p:nvSpPr>
          <p:cNvPr id="59" name="Text 57"/>
          <p:cNvSpPr/>
          <p:nvPr/>
        </p:nvSpPr>
        <p:spPr>
          <a:xfrm>
            <a:off x="6963093" y="4399484"/>
            <a:ext cx="4978172" cy="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15" dirty="0">
                <a:solidFill>
                  <a:srgbClr val="2B2020"/>
                </a:solidFill>
              </a:rPr>
              <a:t>-6.5</a:t>
            </a:r>
            <a:endParaRPr lang="en-US" sz="615" dirty="0"/>
          </a:p>
        </p:txBody>
      </p:sp>
      <p:sp>
        <p:nvSpPr>
          <p:cNvPr id="60" name="Text 58"/>
          <p:cNvSpPr/>
          <p:nvPr/>
        </p:nvSpPr>
        <p:spPr>
          <a:xfrm>
            <a:off x="6963093" y="5852668"/>
            <a:ext cx="4978172" cy="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15" dirty="0">
                <a:solidFill>
                  <a:srgbClr val="6E5A50"/>
                </a:solidFill>
              </a:rPr>
              <a:t>26-05</a:t>
            </a:r>
            <a:endParaRPr lang="en-US" sz="615" dirty="0"/>
          </a:p>
        </p:txBody>
      </p:sp>
      <p:sp>
        <p:nvSpPr>
          <p:cNvPr id="61" name="svg2pptx-gradient-s0013-0006"/>
          <p:cNvSpPr/>
          <p:nvPr/>
        </p:nvSpPr>
        <p:spPr>
          <a:xfrm>
            <a:off x="9687500" y="4490416"/>
            <a:ext cx="356979" cy="837840"/>
          </a:xfrm>
          <a:prstGeom prst="rect">
            <a:avLst/>
          </a:prstGeom>
          <a:gradFill rotWithShape="1">
            <a:gsLst>
              <a:gs pos="0">
                <a:srgbClr val="D4A017">
                  <a:alpha val="75000"/>
                </a:srgbClr>
              </a:gs>
              <a:gs pos="100000">
                <a:srgbClr val="947010">
                  <a:alpha val="75000"/>
                </a:srgbClr>
              </a:gs>
            </a:gsLst>
            <a:lin ang="5400000" scaled="1"/>
          </a:gradFill>
          <a:ln/>
        </p:spPr>
      </p:sp>
      <p:sp>
        <p:nvSpPr>
          <p:cNvPr id="62" name="Text 60"/>
          <p:cNvSpPr/>
          <p:nvPr/>
        </p:nvSpPr>
        <p:spPr>
          <a:xfrm>
            <a:off x="6963093" y="4399484"/>
            <a:ext cx="5805795" cy="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15" dirty="0">
                <a:solidFill>
                  <a:srgbClr val="2B2020"/>
                </a:solidFill>
              </a:rPr>
              <a:t>-5.5</a:t>
            </a:r>
            <a:endParaRPr lang="en-US" sz="615" dirty="0"/>
          </a:p>
        </p:txBody>
      </p:sp>
      <p:sp>
        <p:nvSpPr>
          <p:cNvPr id="63" name="Text 61"/>
          <p:cNvSpPr/>
          <p:nvPr/>
        </p:nvSpPr>
        <p:spPr>
          <a:xfrm>
            <a:off x="6963093" y="5852668"/>
            <a:ext cx="5805795" cy="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15" dirty="0">
                <a:solidFill>
                  <a:srgbClr val="6E5A50"/>
                </a:solidFill>
              </a:rPr>
              <a:t>26-06</a:t>
            </a:r>
            <a:endParaRPr lang="en-US" sz="615" dirty="0"/>
          </a:p>
        </p:txBody>
      </p:sp>
      <p:sp>
        <p:nvSpPr>
          <p:cNvPr id="64" name="svg2pptx-gradient-s0013-0007"/>
          <p:cNvSpPr/>
          <p:nvPr/>
        </p:nvSpPr>
        <p:spPr>
          <a:xfrm>
            <a:off x="10101312" y="4490416"/>
            <a:ext cx="356979" cy="685505"/>
          </a:xfrm>
          <a:prstGeom prst="rect">
            <a:avLst/>
          </a:prstGeom>
          <a:gradFill rotWithShape="1">
            <a:gsLst>
              <a:gs pos="0">
                <a:srgbClr val="D4A017">
                  <a:alpha val="75000"/>
                </a:srgbClr>
              </a:gs>
              <a:gs pos="100000">
                <a:srgbClr val="947010">
                  <a:alpha val="75000"/>
                </a:srgbClr>
              </a:gs>
            </a:gsLst>
            <a:lin ang="5400000" scaled="1"/>
          </a:gradFill>
          <a:ln/>
        </p:spPr>
      </p:sp>
      <p:sp>
        <p:nvSpPr>
          <p:cNvPr id="65" name="Text 63"/>
          <p:cNvSpPr/>
          <p:nvPr/>
        </p:nvSpPr>
        <p:spPr>
          <a:xfrm>
            <a:off x="6963093" y="4399484"/>
            <a:ext cx="6633418" cy="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15" dirty="0">
                <a:solidFill>
                  <a:srgbClr val="2B2020"/>
                </a:solidFill>
              </a:rPr>
              <a:t>-4.5</a:t>
            </a:r>
            <a:endParaRPr lang="en-US" sz="615" dirty="0"/>
          </a:p>
        </p:txBody>
      </p:sp>
      <p:sp>
        <p:nvSpPr>
          <p:cNvPr id="66" name="Text 64"/>
          <p:cNvSpPr/>
          <p:nvPr/>
        </p:nvSpPr>
        <p:spPr>
          <a:xfrm>
            <a:off x="6963093" y="5852668"/>
            <a:ext cx="6633418" cy="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15" dirty="0">
                <a:solidFill>
                  <a:srgbClr val="6E5A50"/>
                </a:solidFill>
              </a:rPr>
              <a:t>26-07</a:t>
            </a:r>
            <a:endParaRPr lang="en-US" sz="615" dirty="0"/>
          </a:p>
        </p:txBody>
      </p:sp>
      <p:sp>
        <p:nvSpPr>
          <p:cNvPr id="67" name="Text 65"/>
          <p:cNvSpPr/>
          <p:nvPr/>
        </p:nvSpPr>
        <p:spPr>
          <a:xfrm>
            <a:off x="6963093" y="5028597"/>
            <a:ext cx="142081" cy="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15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615" dirty="0"/>
          </a:p>
        </p:txBody>
      </p:sp>
      <p:sp>
        <p:nvSpPr>
          <p:cNvPr id="68" name="Text 66"/>
          <p:cNvSpPr/>
          <p:nvPr/>
        </p:nvSpPr>
        <p:spPr>
          <a:xfrm>
            <a:off x="914400" y="60579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国家统计局（Wind EDB）· 2026-07 · 二手序列为披露值（25-08—12 未逐月披露）；主办行制标杆市场（研判推断）</a:t>
            </a:r>
            <a:endParaRPr lang="en-US" sz="1500" dirty="0"/>
          </a:p>
        </p:txBody>
      </p:sp>
      <p:sp>
        <p:nvSpPr>
          <p:cNvPr id="69" name="Shape 67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71" name="Text 69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139190"/>
            <a:ext cx="11277600" cy="43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南京深潜：新房修复、二手出清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14400" y="1809750"/>
            <a:ext cx="2400300" cy="11430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104900" y="2057400"/>
            <a:ext cx="12001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-1.8%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14400" y="2000250"/>
            <a:ext cx="2209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DC2626"/>
                </a:solidFill>
              </a:rPr>
              <a:t>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04900" y="2625090"/>
            <a:ext cx="120015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新房价格同比（26-07）· 弹性最大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3467100" y="1809750"/>
            <a:ext cx="2400300" cy="11430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0" y="2057400"/>
            <a:ext cx="9448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-5.4%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14400" y="2000250"/>
            <a:ext cx="476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DC2626"/>
                </a:solidFill>
              </a:rPr>
              <a:t>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57600" y="2632710"/>
            <a:ext cx="94488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二手价格同比（26-07）· 仍深于北京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19800" y="1809750"/>
            <a:ext cx="2400300" cy="11430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210300" y="2057400"/>
            <a:ext cx="6896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-13.5%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14400" y="2000250"/>
            <a:ext cx="7315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DC2626"/>
                </a:solidFill>
              </a:rPr>
              <a:t>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10300" y="2625090"/>
            <a:ext cx="68961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销售累计同比（26-02·市局口径）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914400" y="3615690"/>
            <a:ext cx="9144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2B2020"/>
                </a:solidFill>
              </a:rPr>
              <a:t>2026-03 探底</a:t>
            </a:r>
            <a:endParaRPr lang="en-US" sz="975" dirty="0"/>
          </a:p>
        </p:txBody>
      </p:sp>
      <p:sp>
        <p:nvSpPr>
          <p:cNvPr id="24" name="Shape 22"/>
          <p:cNvSpPr/>
          <p:nvPr/>
        </p:nvSpPr>
        <p:spPr>
          <a:xfrm>
            <a:off x="1943100" y="3676650"/>
            <a:ext cx="2786063" cy="0"/>
          </a:xfrm>
          <a:prstGeom prst="line">
            <a:avLst/>
          </a:prstGeom>
          <a:noFill/>
          <a:ln w="19050">
            <a:solidFill>
              <a:srgbClr val="6E5A50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1538" y="3629025"/>
            <a:ext cx="95250" cy="95250"/>
          </a:xfrm>
          <a:prstGeom prst="ellipse">
            <a:avLst/>
          </a:prstGeom>
          <a:solidFill>
            <a:srgbClr val="6E5A50"/>
          </a:solidFill>
          <a:ln/>
        </p:spPr>
      </p:sp>
      <p:sp>
        <p:nvSpPr>
          <p:cNvPr id="26" name="Shape 24"/>
          <p:cNvSpPr/>
          <p:nvPr/>
        </p:nvSpPr>
        <p:spPr>
          <a:xfrm>
            <a:off x="1881188" y="3614738"/>
            <a:ext cx="123825" cy="123825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3488055"/>
            <a:ext cx="7629525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E5A50"/>
                </a:solidFill>
              </a:rPr>
              <a:t>-4.1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2066925" y="3619500"/>
            <a:ext cx="110394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0A0E14"/>
                </a:solidFill>
              </a:rPr>
              <a:t>-8.6</a:t>
            </a:r>
            <a:endParaRPr lang="en-US" sz="938" dirty="0"/>
          </a:p>
        </p:txBody>
      </p:sp>
      <p:sp>
        <p:nvSpPr>
          <p:cNvPr id="29" name="Text 27"/>
          <p:cNvSpPr/>
          <p:nvPr/>
        </p:nvSpPr>
        <p:spPr>
          <a:xfrm>
            <a:off x="914400" y="4758690"/>
            <a:ext cx="9144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2B2020"/>
                </a:solidFill>
              </a:rPr>
              <a:t>2026-07 最新</a:t>
            </a:r>
            <a:endParaRPr lang="en-US" sz="975" dirty="0"/>
          </a:p>
        </p:txBody>
      </p:sp>
      <p:sp>
        <p:nvSpPr>
          <p:cNvPr id="30" name="Shape 28"/>
          <p:cNvSpPr/>
          <p:nvPr/>
        </p:nvSpPr>
        <p:spPr>
          <a:xfrm>
            <a:off x="3924300" y="4819650"/>
            <a:ext cx="2228850" cy="0"/>
          </a:xfrm>
          <a:prstGeom prst="line">
            <a:avLst/>
          </a:prstGeom>
          <a:noFill/>
          <a:ln w="19050">
            <a:solidFill>
              <a:srgbClr val="6E5A50">
                <a:alpha val="5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05525" y="4772025"/>
            <a:ext cx="95250" cy="95250"/>
          </a:xfrm>
          <a:prstGeom prst="ellipse">
            <a:avLst/>
          </a:prstGeom>
          <a:solidFill>
            <a:srgbClr val="6E5A50"/>
          </a:solidFill>
          <a:ln/>
        </p:spPr>
      </p:sp>
      <p:sp>
        <p:nvSpPr>
          <p:cNvPr id="32" name="Shape 30"/>
          <p:cNvSpPr/>
          <p:nvPr/>
        </p:nvSpPr>
        <p:spPr>
          <a:xfrm>
            <a:off x="3862387" y="4757738"/>
            <a:ext cx="123825" cy="123825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4631055"/>
            <a:ext cx="10477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E5A50"/>
                </a:solidFill>
              </a:rPr>
              <a:t>-1.8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4048125" y="4762500"/>
            <a:ext cx="90582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0A0E14"/>
                </a:solidFill>
              </a:rPr>
              <a:t>-5.4</a:t>
            </a:r>
            <a:endParaRPr lang="en-US" sz="938" dirty="0"/>
          </a:p>
        </p:txBody>
      </p:sp>
      <p:sp>
        <p:nvSpPr>
          <p:cNvPr id="35" name="Text 33"/>
          <p:cNvSpPr/>
          <p:nvPr/>
        </p:nvSpPr>
        <p:spPr>
          <a:xfrm>
            <a:off x="914400" y="6073140"/>
            <a:ext cx="112776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国家统计局/南京市统计局（Wind EDB）；新房/二手剪刀差约 3.6 个百分点；「卖旧买新」接力与开发贷接续的观察窗口（研判推断）</a:t>
            </a:r>
            <a:endParaRPr lang="en-US" sz="975" dirty="0"/>
          </a:p>
        </p:txBody>
      </p:sp>
      <p:sp>
        <p:nvSpPr>
          <p:cNvPr id="36" name="Shape 34"/>
          <p:cNvSpPr/>
          <p:nvPr/>
        </p:nvSpPr>
        <p:spPr>
          <a:xfrm>
            <a:off x="8801100" y="685800"/>
            <a:ext cx="2476500" cy="5410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8805863" y="690563"/>
            <a:ext cx="2466975" cy="5400675"/>
          </a:xfrm>
          <a:prstGeom prst="roundRect">
            <a:avLst>
              <a:gd name="adj" fmla="val 7722"/>
            </a:avLst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494520" y="2846070"/>
            <a:ext cx="1089660" cy="1089660"/>
          </a:xfrm>
          <a:prstGeom prst="ellipse">
            <a:avLst/>
          </a:prstGeom>
          <a:solidFill>
            <a:srgbClr val="C8102E">
              <a:alpha val="1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9734550" y="420243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40" name="Shape 38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09347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两城对照：市场底是分城市、分环节的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2096341" y="2748153"/>
            <a:ext cx="1101005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231622" y="2748153"/>
            <a:ext cx="887477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188964" y="2748153"/>
            <a:ext cx="6917436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南京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14400" y="3037713"/>
            <a:ext cx="5922264" cy="0"/>
          </a:xfrm>
          <a:prstGeom prst="line">
            <a:avLst/>
          </a:prstGeom>
          <a:noFill/>
          <a:ln w="19050">
            <a:solidFill>
              <a:srgbClr val="2B20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456813"/>
            <a:ext cx="5922264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875913"/>
            <a:ext cx="5922264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295013"/>
            <a:ext cx="5922264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714113"/>
            <a:ext cx="5922264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8700" y="3188208"/>
            <a:ext cx="120777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周期位置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096341" y="3188208"/>
            <a:ext cx="11010059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修复前段：量先起、价收敛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231622" y="3188208"/>
            <a:ext cx="8874778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补跌后修复：新房弹性大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28700" y="3607308"/>
            <a:ext cx="120777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销售面积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096341" y="3607308"/>
            <a:ext cx="11010059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转正（+1.4%）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231622" y="3607308"/>
            <a:ext cx="8874778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深负（-13.5%，26-02）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28700" y="4026408"/>
            <a:ext cx="120777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价格剪刀差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096341" y="4026408"/>
            <a:ext cx="11010059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-2.3%/-4.5%（2.2pct）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231622" y="4026408"/>
            <a:ext cx="8874778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-1.8%/-5.4%（3.6pct）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28700" y="4445508"/>
            <a:ext cx="120777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《意见》落点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096341" y="4445508"/>
            <a:ext cx="11010059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主办行制标杆市场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231622" y="4445508"/>
            <a:ext cx="8874778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卖旧买新接力观察窗口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989064" y="2882836"/>
            <a:ext cx="4288536" cy="1400175"/>
          </a:xfrm>
          <a:prstGeom prst="roundRect">
            <a:avLst>
              <a:gd name="adj" fmla="val 1361"/>
            </a:avLst>
          </a:prstGeom>
          <a:solidFill>
            <a:srgbClr val="C8102E"/>
          </a:solidFill>
          <a:ln/>
        </p:spPr>
      </p:sp>
      <p:sp>
        <p:nvSpPr>
          <p:cNvPr id="32" name="Shape 30"/>
          <p:cNvSpPr/>
          <p:nvPr/>
        </p:nvSpPr>
        <p:spPr>
          <a:xfrm>
            <a:off x="6989064" y="2911411"/>
            <a:ext cx="4288536" cy="137160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7138289" y="3517837"/>
            <a:ext cx="158750" cy="158750"/>
          </a:xfrm>
          <a:prstGeom prst="ellipse">
            <a:avLst/>
          </a:prstGeom>
          <a:noFill/>
          <a:ln w="15875">
            <a:solidFill>
              <a:srgbClr val="C8102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17664" y="3597211"/>
            <a:ext cx="5953" cy="31750"/>
          </a:xfrm>
          <a:custGeom>
            <a:avLst/>
            <a:gdLst/>
            <a:ahLst/>
            <a:cxnLst/>
            <a:rect l="l" t="t" r="r" b="b"/>
            <a:pathLst>
              <a:path w="5953" h="31750">
                <a:moveTo>
                  <a:pt x="0" y="31750"/>
                </a:moveTo>
                <a:lnTo>
                  <a:pt x="0" y="0"/>
                </a:lnTo>
              </a:path>
            </a:pathLst>
          </a:custGeom>
          <a:noFill/>
          <a:ln w="15875">
            <a:solidFill>
              <a:srgbClr val="C8102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17664" y="3565462"/>
            <a:ext cx="5953" cy="5953"/>
          </a:xfrm>
          <a:custGeom>
            <a:avLst/>
            <a:gdLst/>
            <a:ahLst/>
            <a:cxnLst/>
            <a:rect l="l" t="t" r="r" b="b"/>
            <a:pathLst>
              <a:path w="5953" h="5953">
                <a:moveTo>
                  <a:pt x="0" y="0"/>
                </a:moveTo>
                <a:lnTo>
                  <a:pt x="79" y="0"/>
                </a:lnTo>
              </a:path>
            </a:pathLst>
          </a:custGeom>
          <a:noFill/>
          <a:ln w="15875">
            <a:solidFill>
              <a:srgbClr val="C810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08164" y="3101912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市场底是分城市、分环节的：一线验证量价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408164" y="3368611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修复可以先行，强二线验证二手出清才是瓶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408164" y="3635311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颈——总量工具无法兼顾，这正是用制度而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408164" y="3902011"/>
            <a:ext cx="11772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非总量刺激的合理性。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14400" y="60579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全国对照：销售 -11.8%、投资 -19.2%（2026-07，国家统计局，Wind EDB）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07823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展望与可验证观察指标</a:t>
            </a:r>
            <a:endParaRPr lang="en-US" sz="3450" dirty="0"/>
          </a:p>
        </p:txBody>
      </p:sp>
      <p:sp>
        <p:nvSpPr>
          <p:cNvPr id="11" name="Shape 9"/>
          <p:cNvSpPr/>
          <p:nvPr/>
        </p:nvSpPr>
        <p:spPr>
          <a:xfrm>
            <a:off x="914400" y="1638300"/>
            <a:ext cx="685800" cy="381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1847850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2288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余额：2026Q4 前后触底、2027H1 止跌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25717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前提：开发贷配套 + 存量利率跟进（研判推断）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29146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存量降息 50bp 年减负约 1814 亿（测算）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32575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</a:t>
            </a:r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节奏：销售 2026 下半年筑底，投资滞后 2-3 季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36004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</a:t>
            </a:r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周期：2027 年拐点观察年（研判推断）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39433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</a:t>
            </a:r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结构：现房占比升、预售渐退、主办行全程管理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48400" y="2202180"/>
            <a:ext cx="12192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可验证观察指标清单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48400" y="2400300"/>
            <a:ext cx="1978152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7DC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48400" y="2455545"/>
            <a:ext cx="1978152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40年期按揭占比（最早信号）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302752" y="2400300"/>
            <a:ext cx="156210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7DC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02752" y="2455545"/>
            <a:ext cx="15621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竣工备案后放款执行率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48400" y="2724150"/>
            <a:ext cx="142875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7DC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48400" y="2779395"/>
            <a:ext cx="14287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余额月度净变动收窄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753350" y="2724150"/>
            <a:ext cx="150876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7DC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53350" y="2779395"/>
            <a:ext cx="150876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70城价格收窄至-1%内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338310" y="2724150"/>
            <a:ext cx="156210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7DC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38310" y="2779395"/>
            <a:ext cx="15621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主办行覆盖率与开发贷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48400" y="3048000"/>
            <a:ext cx="142875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7DC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48400" y="3103245"/>
            <a:ext cx="14287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现房占比与划转节奏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753350" y="3048000"/>
            <a:ext cx="1295400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7DCC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53350" y="3103245"/>
            <a:ext cx="1295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京宁两城领先指标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09600" y="887730"/>
            <a:ext cx="115824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风险提示与数据来源披露</a:t>
            </a:r>
            <a:endParaRPr lang="en-US" sz="3450" dirty="0"/>
          </a:p>
        </p:txBody>
      </p:sp>
      <p:sp>
        <p:nvSpPr>
          <p:cNvPr id="11" name="Shape 9"/>
          <p:cNvSpPr/>
          <p:nvPr/>
        </p:nvSpPr>
        <p:spPr>
          <a:xfrm>
            <a:off x="609600" y="1543050"/>
            <a:ext cx="457200" cy="0"/>
          </a:xfrm>
          <a:prstGeom prst="line">
            <a:avLst/>
          </a:prstGeom>
          <a:noFill/>
          <a:ln w="38100">
            <a:solidFill>
              <a:srgbClr val="D4A01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6800" y="1543050"/>
            <a:ext cx="10515600" cy="0"/>
          </a:xfrm>
          <a:prstGeom prst="line">
            <a:avLst/>
          </a:prstGeom>
          <a:noFill/>
          <a:ln w="15240">
            <a:solidFill>
              <a:srgbClr val="E7DC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9600" y="2181225"/>
            <a:ext cx="109728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600" y="17716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主办行惜贷放大信用收缩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09600" y="2809875"/>
            <a:ext cx="109728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9600" y="24003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切换期「既无房也无贷」的过渡期风险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09600" y="3438525"/>
            <a:ext cx="109728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9600" y="30289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年按揭的年龄错配与利息成本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09600" y="4067175"/>
            <a:ext cx="109728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9600" y="36576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政策被误读为收紧导致销售二次探底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42862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三四线受回款后移冲击更大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09600" y="4892040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[1] Wind EDB：央行、国家统计局、南京市统计局（月度至 26-07、季度至 26Q2）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09600" y="5158740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[2] 南京销售为市统计局口径（最新 26-02），时效受限、如实标注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09600" y="5425440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[3] 条款以《意见》原文为准；「测算」「研判推断」已分别标注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09600" y="6400800"/>
            <a:ext cx="11582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完整风险提示与披露见同名 HTML/PDF 版「七、风险提示」与「数据来源与披露」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>
            <a:off x="535305" y="383857"/>
            <a:ext cx="1593533" cy="579120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9113" y="419100"/>
            <a:ext cx="1501140" cy="788670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9110" y="451485"/>
            <a:ext cx="1380173" cy="984885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298" y="481965"/>
            <a:ext cx="1234440" cy="1161098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6723" y="507683"/>
            <a:ext cx="1066800" cy="1317308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5290" y="529590"/>
            <a:ext cx="879158" cy="1449705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1000" y="547688"/>
            <a:ext cx="675323" cy="1554480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3853" y="561023"/>
            <a:ext cx="461010" cy="1631632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6705" y="568643"/>
            <a:ext cx="235267" cy="1679258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85020" y="5323522"/>
            <a:ext cx="2916555" cy="1675447"/>
          </a:xfrm>
          <a:custGeom>
            <a:avLst/>
            <a:gdLst/>
            <a:ahLst/>
            <a:cxnLst/>
            <a:rect l="l" t="t" r="r" b="b"/>
            <a:pathLst>
              <a:path w="2916555" h="1675447">
                <a:moveTo>
                  <a:pt x="2916555" y="1241108"/>
                </a:moveTo>
                <a:lnTo>
                  <a:pt x="2702243" y="1220153"/>
                </a:lnTo>
                <a:lnTo>
                  <a:pt x="2491740" y="1190625"/>
                </a:lnTo>
                <a:lnTo>
                  <a:pt x="2284095" y="1152525"/>
                </a:lnTo>
                <a:lnTo>
                  <a:pt x="2081212" y="1105853"/>
                </a:lnTo>
                <a:lnTo>
                  <a:pt x="1880235" y="1050608"/>
                </a:lnTo>
                <a:lnTo>
                  <a:pt x="1683068" y="986790"/>
                </a:lnTo>
                <a:lnTo>
                  <a:pt x="1489710" y="913447"/>
                </a:lnTo>
                <a:lnTo>
                  <a:pt x="1299210" y="831533"/>
                </a:lnTo>
                <a:lnTo>
                  <a:pt x="1112520" y="740093"/>
                </a:lnTo>
                <a:lnTo>
                  <a:pt x="928688" y="640080"/>
                </a:lnTo>
                <a:lnTo>
                  <a:pt x="748665" y="530543"/>
                </a:lnTo>
                <a:lnTo>
                  <a:pt x="571500" y="412433"/>
                </a:lnTo>
                <a:lnTo>
                  <a:pt x="398145" y="283845"/>
                </a:lnTo>
                <a:lnTo>
                  <a:pt x="227648" y="146685"/>
                </a:lnTo>
                <a:lnTo>
                  <a:pt x="60960" y="0"/>
                </a:lnTo>
                <a:lnTo>
                  <a:pt x="0" y="59055"/>
                </a:lnTo>
                <a:lnTo>
                  <a:pt x="152400" y="225743"/>
                </a:lnTo>
                <a:lnTo>
                  <a:pt x="311468" y="384810"/>
                </a:lnTo>
                <a:lnTo>
                  <a:pt x="474345" y="534353"/>
                </a:lnTo>
                <a:lnTo>
                  <a:pt x="642938" y="676275"/>
                </a:lnTo>
                <a:lnTo>
                  <a:pt x="817245" y="810578"/>
                </a:lnTo>
                <a:lnTo>
                  <a:pt x="997268" y="936308"/>
                </a:lnTo>
                <a:lnTo>
                  <a:pt x="1182053" y="1052513"/>
                </a:lnTo>
                <a:lnTo>
                  <a:pt x="1373505" y="1161097"/>
                </a:lnTo>
                <a:lnTo>
                  <a:pt x="1569720" y="1261110"/>
                </a:lnTo>
                <a:lnTo>
                  <a:pt x="1770698" y="1352550"/>
                </a:lnTo>
                <a:lnTo>
                  <a:pt x="1978343" y="1434465"/>
                </a:lnTo>
                <a:lnTo>
                  <a:pt x="2190750" y="1508760"/>
                </a:lnTo>
                <a:lnTo>
                  <a:pt x="2407920" y="1572578"/>
                </a:lnTo>
                <a:lnTo>
                  <a:pt x="2630805" y="1628775"/>
                </a:lnTo>
                <a:lnTo>
                  <a:pt x="2859405" y="1675447"/>
                </a:lnTo>
                <a:close/>
              </a:path>
            </a:pathLst>
          </a:custGeom>
          <a:solidFill>
            <a:srgbClr val="C8102E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173653" y="5350193"/>
            <a:ext cx="2217420" cy="1041082"/>
          </a:xfrm>
          <a:custGeom>
            <a:avLst/>
            <a:gdLst/>
            <a:ahLst/>
            <a:cxnLst/>
            <a:rect l="l" t="t" r="r" b="b"/>
            <a:pathLst>
              <a:path w="2217420" h="1041082">
                <a:moveTo>
                  <a:pt x="2217420" y="831532"/>
                </a:moveTo>
                <a:lnTo>
                  <a:pt x="2056448" y="820102"/>
                </a:lnTo>
                <a:lnTo>
                  <a:pt x="1898333" y="802005"/>
                </a:lnTo>
                <a:lnTo>
                  <a:pt x="1742123" y="778192"/>
                </a:lnTo>
                <a:lnTo>
                  <a:pt x="1587818" y="747713"/>
                </a:lnTo>
                <a:lnTo>
                  <a:pt x="1436370" y="711517"/>
                </a:lnTo>
                <a:lnTo>
                  <a:pt x="1285875" y="668655"/>
                </a:lnTo>
                <a:lnTo>
                  <a:pt x="1139190" y="620077"/>
                </a:lnTo>
                <a:lnTo>
                  <a:pt x="993458" y="564832"/>
                </a:lnTo>
                <a:lnTo>
                  <a:pt x="850583" y="503872"/>
                </a:lnTo>
                <a:lnTo>
                  <a:pt x="708660" y="435292"/>
                </a:lnTo>
                <a:lnTo>
                  <a:pt x="570548" y="360997"/>
                </a:lnTo>
                <a:lnTo>
                  <a:pt x="433388" y="280988"/>
                </a:lnTo>
                <a:lnTo>
                  <a:pt x="299085" y="193357"/>
                </a:lnTo>
                <a:lnTo>
                  <a:pt x="166688" y="100013"/>
                </a:lnTo>
                <a:lnTo>
                  <a:pt x="36195" y="0"/>
                </a:lnTo>
                <a:lnTo>
                  <a:pt x="0" y="43815"/>
                </a:lnTo>
                <a:lnTo>
                  <a:pt x="124778" y="153352"/>
                </a:lnTo>
                <a:lnTo>
                  <a:pt x="253365" y="256222"/>
                </a:lnTo>
                <a:lnTo>
                  <a:pt x="384810" y="353377"/>
                </a:lnTo>
                <a:lnTo>
                  <a:pt x="520065" y="444817"/>
                </a:lnTo>
                <a:lnTo>
                  <a:pt x="657225" y="530542"/>
                </a:lnTo>
                <a:lnTo>
                  <a:pt x="798195" y="609600"/>
                </a:lnTo>
                <a:lnTo>
                  <a:pt x="941070" y="681990"/>
                </a:lnTo>
                <a:lnTo>
                  <a:pt x="1087755" y="748665"/>
                </a:lnTo>
                <a:lnTo>
                  <a:pt x="1238250" y="809625"/>
                </a:lnTo>
                <a:lnTo>
                  <a:pt x="1390650" y="863917"/>
                </a:lnTo>
                <a:lnTo>
                  <a:pt x="1546860" y="911542"/>
                </a:lnTo>
                <a:lnTo>
                  <a:pt x="1705928" y="953452"/>
                </a:lnTo>
                <a:lnTo>
                  <a:pt x="1866900" y="988695"/>
                </a:lnTo>
                <a:lnTo>
                  <a:pt x="2032635" y="1018222"/>
                </a:lnTo>
                <a:lnTo>
                  <a:pt x="2200275" y="1041082"/>
                </a:lnTo>
                <a:close/>
              </a:path>
            </a:pathLst>
          </a:custGeom>
          <a:solidFill>
            <a:srgbClr val="1F3A5F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1066800"/>
            <a:ext cx="228600" cy="2286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1051560"/>
            <a:ext cx="11734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14400" y="1575435"/>
            <a:ext cx="11277600" cy="1508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900" i="1" dirty="0">
                <a:solidFill>
                  <a:srgbClr val="C8102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先立制度、</a:t>
            </a:r>
            <a:endParaRPr lang="en-US" sz="9900" dirty="0"/>
          </a:p>
        </p:txBody>
      </p:sp>
      <p:sp>
        <p:nvSpPr>
          <p:cNvPr id="17" name="Text 15"/>
          <p:cNvSpPr/>
          <p:nvPr/>
        </p:nvSpPr>
        <p:spPr>
          <a:xfrm>
            <a:off x="914400" y="2937510"/>
            <a:ext cx="11277600" cy="1508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900" i="1" dirty="0">
                <a:solidFill>
                  <a:srgbClr val="C8102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再稳市场</a:t>
            </a:r>
            <a:endParaRPr lang="en-US" sz="9900" dirty="0"/>
          </a:p>
        </p:txBody>
      </p:sp>
      <p:sp>
        <p:nvSpPr>
          <p:cNvPr id="18" name="Shape 16"/>
          <p:cNvSpPr/>
          <p:nvPr/>
        </p:nvSpPr>
        <p:spPr>
          <a:xfrm>
            <a:off x="914400" y="5162550"/>
            <a:ext cx="10363200" cy="0"/>
          </a:xfrm>
          <a:prstGeom prst="line">
            <a:avLst/>
          </a:prstGeom>
          <a:noFill/>
          <a:ln w="13335">
            <a:solidFill>
              <a:srgbClr val="C810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50545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Contact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5806440"/>
            <a:ext cx="112776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智见点评团队</a:t>
            </a:r>
            <a:endParaRPr lang="en-US" sz="21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1980-01-01T00:00:00Z</dcterms:created>
  <dcterms:modified xsi:type="dcterms:W3CDTF">1980-01-01T00:00:00Z</dcterms:modified>
</cp:coreProperties>
</file>