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各位领导，运营版 v2 的核心方法论一句话：行内素材找问题，贝壳方法给解法。贝壳给我们的不是数字是方法——数字是内部单源不能照抄，方法（同店口径、控β差分、止损线）可以直接用。全篇 99wiki 行内问题带出处、98wiki 方法带来源，行内数据待补处明确标注。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页讲完五件事：人效怎么提——重配管户加AI促支，用信率12%是转化洞；AI怎么上——规则能写清楚的环节先试点，人工基线测6个月，两档验证；场景怎么做——促转化定位加渠道协同三件套；怎么证明——口径字典加90天差分；什么不能碰——数据安全四原则一票否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五个场景五维打分：业务价值、可落地性、风险可控、成本投入（越小越高分）、时效。消费贷19分第一批——价值乘可落地双高，已立项双支撑；电销和柜面18分第二批；信用卡17分、线上进件15分第三批。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消费贷线四个环节：进件用AI校验和白名单，面签时长砍半、团办支用率翻倍；审批做自动派券；放款端AB类客户试点先息后本长期限看不良率；用信是最大洞，重配管户加尾部唤醒，每提1个百分点余额增量以亿计，KPI从获客转向余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信用卡线：获客端权益互换拉高净值；激活端用0变1尾部修复做名单重配加AI触达，10个点空间；收入结构分期过度依赖、佣金远低于区域行，聚焦高价值客群；高端卡LTV矛盾先磨方案，第三批上。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销场景核心是算清账：105万分润不等于净中收，三账合一套算，12个月净贡献小于等于零就撤。长沙银行0.3到0.6%转化率是前车之鉴。名单分层加AI辅助提升命中率30%，话术库加实时提示，合规套用银联云加密撞库先例——坐席拿不到号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柜面咨询场景成本最低、无合规风险，第二批上。补项目经理解除单点、岗位分离；管户重配——尾部收归头部加AI辅助，这是同店管户AUM/人净增验收口径的落点；厅堂端私行沙龙6加3场，沉默户占比作前瞻指标。管户重配与90天差分天然绑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线上进件第三批上，依赖口径字典与系统建设：AI初审即时反馈提升进件完成率20%；口径字典和单一取数源由数据中台统一发布解决外数依赖；政策流量用六联证据链沉淀为可核验场景资产，30/90/180止损防反套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方法库四件套单独归类不混在场景里：A管户重配法是人效重构，B AI提效法在规则能写清楚的环节用AI且成本必须入账，C场景获客法是渠道产能重定价按转化付费，D数据与验证法是裁判——同店口径加α/β剥离加对照差分。每个方法都带验证指标，全部可证伪。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行动计划只写做什么、谁负责、交付物，不设时间。五步：试点配对、口径字典、基线快照、差分初判、AI证据。责任主体关键变化：口径字典和基线快照由总行数据管理部负责。用现有数据中台看板不新建系统，人天估算2到3个月待校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安全闸门是梁斌的dealbreaker：最小必要、共享必授权（个保法13条）、数据不出行（名单可用不可见）、流转必留痕。先例：电销经银联云加密撞库坐席拿不到号码。覆盖装修贷三方流转、私行名单、权益互换、政银协同、电销撞库。上线前必须过总行信息安全与数据管理委员会评审，一票否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红队四攻击点并置但不改变主基调：AI物理天花板、分母操纵、场景净利差为零、止损线。每条都有对冲。加上王一帆的红线：客户、数据、账户、核心规则四样不放手，外部平台当工具不当大脑。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总结：行内素材找问题、贝壳方法给解法、差分验证判效果、数据安全守底线。运营版 v2 的可落地结构：五场景五维打分排批次、方法库四件套、行动计划只写谁做什么交付物。下一步请领导审定试点分行与口径字典牵头人。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952500"/>
            <a:ext cx="0" cy="495300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67200" y="952500"/>
            <a:ext cx="0" cy="495300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05600" y="952500"/>
            <a:ext cx="0" cy="495300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952500"/>
            <a:ext cx="0" cy="495300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82400" y="952500"/>
            <a:ext cx="0" cy="495300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143000"/>
            <a:ext cx="12192000" cy="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715000"/>
            <a:ext cx="12192000" cy="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2103120"/>
            <a:ext cx="12192000" cy="845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5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江苏银行零售效率参考 ·</a:t>
            </a:r>
            <a:endParaRPr lang="en-US" sz="5550" dirty="0"/>
          </a:p>
        </p:txBody>
      </p:sp>
      <p:sp>
        <p:nvSpPr>
          <p:cNvPr id="11" name="Text 9"/>
          <p:cNvSpPr/>
          <p:nvPr/>
        </p:nvSpPr>
        <p:spPr>
          <a:xfrm>
            <a:off x="0" y="2865120"/>
            <a:ext cx="12192000" cy="845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5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运营版：产品线 × 方法 × 运营方案</a:t>
            </a:r>
            <a:endParaRPr lang="en-US" sz="5550" dirty="0"/>
          </a:p>
        </p:txBody>
      </p:sp>
      <p:sp>
        <p:nvSpPr>
          <p:cNvPr id="12" name="Shape 10"/>
          <p:cNvSpPr/>
          <p:nvPr/>
        </p:nvSpPr>
        <p:spPr>
          <a:xfrm>
            <a:off x="5810250" y="40957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6084570"/>
            <a:ext cx="121920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    ·    Internal    ·    2026-08-25    ·    王一帆 · 银行零售·零售运营专家    ·    运营版 v2（可落地版 · 三轮质询已并入）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51C2C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409700"/>
            <a:ext cx="1219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 分钟结论：五句话讲清楚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67400" y="19050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/>
        </p:spPr>
      </p:sp>
      <p:sp>
        <p:nvSpPr>
          <p:cNvPr id="6" name="Text 4"/>
          <p:cNvSpPr/>
          <p:nvPr/>
        </p:nvSpPr>
        <p:spPr>
          <a:xfrm>
            <a:off x="3048000" y="236639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人效怎么提：已授信客户重配管户 + AI 主动促支，用信率≈12%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0" y="263309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是转化洞（方法 A）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48000" y="297599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AI 怎么上：规则能写清楚的环节先试点；人工基线测 6 个月，AI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48000" y="324269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辅助/AI 自主两档验证（方法 B）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48000" y="358559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场景怎么做：装修贷促转化 + 统一商机池 + 智能路由 +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48000" y="385229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全渠道归因（方法 C）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48000" y="419519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怎么证明有效：口径字典 → 6 分行 90 天差分 → 净人效 &lt;10%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48000" y="446189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记市场红利（方法 D）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48000" y="480479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什么不能碰：数据安全四原则 +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48000" y="507149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委员会评审前置，一票否决；四样不放手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0" y="6065520"/>
            <a:ext cx="121920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贝壳 α 数字均为内部单源（管理层 S 分享 08-21），只作方向性参考；行内数据标注待补。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运营版 v2（可落地版 · 三轮质询已并入） · 2026-08-25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场景价值评估与落地顺序（5 维打分）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2784348"/>
            <a:ext cx="5922264" cy="419100"/>
          </a:xfrm>
          <a:prstGeom prst="rect">
            <a:avLst/>
          </a:prstGeom>
          <a:solidFill>
            <a:srgbClr val="FFF6DD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" y="2494788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场景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494788"/>
            <a:ext cx="254084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价值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494788"/>
            <a:ext cx="376004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落地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2494788"/>
            <a:ext cx="497924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风险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2494788"/>
            <a:ext cx="619844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494788"/>
            <a:ext cx="741764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时效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2494788"/>
            <a:ext cx="863684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总分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2494788"/>
            <a:ext cx="1054548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批次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2784348"/>
            <a:ext cx="5922264" cy="0"/>
          </a:xfrm>
          <a:prstGeom prst="line">
            <a:avLst/>
          </a:pr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203448"/>
            <a:ext cx="5922264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622548"/>
            <a:ext cx="5922264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041648"/>
            <a:ext cx="5922264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460748"/>
            <a:ext cx="5922264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879848"/>
            <a:ext cx="5922264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8700" y="2929128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消费贷线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2929128"/>
            <a:ext cx="25408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929128"/>
            <a:ext cx="37600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2929128"/>
            <a:ext cx="49792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2929128"/>
            <a:ext cx="61984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2929128"/>
            <a:ext cx="74176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2929128"/>
            <a:ext cx="86368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19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2929128"/>
            <a:ext cx="1054548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第一批（红）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8700" y="3348228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电销场景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348228"/>
            <a:ext cx="25408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3348228"/>
            <a:ext cx="37600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3348228"/>
            <a:ext cx="49792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3348228"/>
            <a:ext cx="61984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3348228"/>
            <a:ext cx="74176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3348228"/>
            <a:ext cx="86368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3348228"/>
            <a:ext cx="1054548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第二批（黄）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28700" y="3767328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柜面/咨询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" y="3767328"/>
            <a:ext cx="25408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3767328"/>
            <a:ext cx="37600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3767328"/>
            <a:ext cx="49792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3767328"/>
            <a:ext cx="61984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3767328"/>
            <a:ext cx="74176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4400" y="3767328"/>
            <a:ext cx="86368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4400" y="3767328"/>
            <a:ext cx="1054548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第二批（黄）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28700" y="4186428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信用卡线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14400" y="4186428"/>
            <a:ext cx="25408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14400" y="4186428"/>
            <a:ext cx="37600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14400" y="4186428"/>
            <a:ext cx="49792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14400" y="4186428"/>
            <a:ext cx="61984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14400" y="4186428"/>
            <a:ext cx="74176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14400" y="4186428"/>
            <a:ext cx="86368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4400" y="4186428"/>
            <a:ext cx="1054548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第三批（绿）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28700" y="4605528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线上进件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14400" y="4605528"/>
            <a:ext cx="25408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14400" y="4605528"/>
            <a:ext cx="37600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14400" y="4605528"/>
            <a:ext cx="49792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14400" y="4605528"/>
            <a:ext cx="61984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14400" y="4605528"/>
            <a:ext cx="74176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14400" y="4605528"/>
            <a:ext cx="86368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15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914400" y="4605528"/>
            <a:ext cx="1054548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第三批（绿）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14400" y="4978908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每维 1-5 分越高越优；依据 99wiki 行内数据（问题侧）+ 98wiki 方法成熟度（解法侧）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446264" y="3108198"/>
            <a:ext cx="3831336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89064" y="3089148"/>
            <a:ext cx="457200" cy="381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62" name="Shape 60"/>
          <p:cNvSpPr/>
          <p:nvPr/>
        </p:nvSpPr>
        <p:spPr>
          <a:xfrm>
            <a:off x="7015258" y="3433635"/>
            <a:ext cx="52388" cy="52388"/>
          </a:xfrm>
          <a:prstGeom prst="ellipse">
            <a:avLst/>
          </a:prstGeom>
          <a:noFill/>
          <a:ln w="17463">
            <a:solidFill>
              <a:srgbClr val="2E9E6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015258" y="3337592"/>
            <a:ext cx="157163" cy="122238"/>
          </a:xfrm>
          <a:custGeom>
            <a:avLst/>
            <a:gdLst/>
            <a:ahLst/>
            <a:cxnLst/>
            <a:rect l="l" t="t" r="r" b="b"/>
            <a:pathLst>
              <a:path w="157163" h="122238">
                <a:moveTo>
                  <a:pt x="52388" y="122238"/>
                </a:moveTo>
                <a:lnTo>
                  <a:pt x="126603" y="122238"/>
                </a:lnTo>
                <a:arcTo hR="30559" wR="30559" stAng="5400000" swAng="-10800000"/>
                <a:lnTo>
                  <a:pt x="30559" y="61119"/>
                </a:lnTo>
                <a:arcTo hR="30559" wR="30559" stAng="5400000" swAng="10800000"/>
                <a:lnTo>
                  <a:pt x="104775" y="0"/>
                </a:lnTo>
              </a:path>
            </a:pathLst>
          </a:custGeom>
          <a:noFill/>
          <a:ln w="17463">
            <a:solidFill>
              <a:srgbClr val="2E9E6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20033" y="3311398"/>
            <a:ext cx="52388" cy="52388"/>
          </a:xfrm>
          <a:prstGeom prst="ellipse">
            <a:avLst/>
          </a:prstGeom>
          <a:noFill/>
          <a:ln w="17463">
            <a:solidFill>
              <a:srgbClr val="2E9E6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51014" y="3302508"/>
            <a:ext cx="1183005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落地顺序：第一批消费贷打样板 →</a:t>
            </a:r>
            <a:endParaRPr lang="en-US" sz="1650" dirty="0"/>
          </a:p>
        </p:txBody>
      </p:sp>
      <p:sp>
        <p:nvSpPr>
          <p:cNvPr id="66" name="Text 64"/>
          <p:cNvSpPr/>
          <p:nvPr/>
        </p:nvSpPr>
        <p:spPr>
          <a:xfrm>
            <a:off x="7351014" y="3578733"/>
            <a:ext cx="1183005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第二批电销+柜面 → 第三批信用卡+线上。</a:t>
            </a:r>
            <a:endParaRPr lang="en-US" sz="1650" dirty="0"/>
          </a:p>
        </p:txBody>
      </p:sp>
      <p:sp>
        <p:nvSpPr>
          <p:cNvPr id="67" name="Text 65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批次色标为顺序标识（红=先打样板，黄=随口径字典展开，绿=依赖系统与合规），非风险语义。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运营版 v2（可落地版 · 三轮质询已并入） · 2026-08-25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5D5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场景 1 · 消费贷线：用信转化洞（第一批）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533400" y="1714500"/>
            <a:ext cx="11125200" cy="866775"/>
          </a:xfrm>
          <a:prstGeom prst="roundRect">
            <a:avLst>
              <a:gd name="adj" fmla="val 2198"/>
            </a:avLst>
          </a:prstGeom>
          <a:solidFill>
            <a:srgbClr val="051C2C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743075"/>
            <a:ext cx="11125200" cy="8382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93750" y="212248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</a:path>
            </a:pathLst>
          </a:cu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2625" y="2122488"/>
            <a:ext cx="158750" cy="79375"/>
          </a:xfrm>
          <a:custGeom>
            <a:avLst/>
            <a:gdLst/>
            <a:ahLst/>
            <a:cxnLst/>
            <a:rect l="l" t="t" r="r" b="b"/>
            <a:pathLst>
              <a:path w="158750" h="79375">
                <a:moveTo>
                  <a:pt x="158750" y="0"/>
                </a:moveTo>
                <a:lnTo>
                  <a:pt x="91281" y="67469"/>
                </a:lnTo>
                <a:lnTo>
                  <a:pt x="51594" y="27781"/>
                </a:lnTo>
                <a:lnTo>
                  <a:pt x="0" y="79375"/>
                </a:lnTo>
              </a:path>
            </a:pathLst>
          </a:cu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" y="19335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现状（99wiki）：授信 18.26 亿→余额 2.26 亿（用信率≈12%）；余额 390.91 亿 vs 宁波 1592 亿（差 77%）；续贷率 55%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52500" y="22002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vs 60-80%。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09700" y="3091815"/>
            <a:ext cx="11315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问题（99wiki）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41218" y="3091815"/>
            <a:ext cx="728418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借鉴（98wiki）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051229" y="3091815"/>
            <a:ext cx="367417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目标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33400" y="3381375"/>
            <a:ext cx="11125200" cy="0"/>
          </a:xfrm>
          <a:prstGeom prst="line">
            <a:avLst/>
          </a:pr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3400" y="3800475"/>
            <a:ext cx="11125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3400" y="4219575"/>
            <a:ext cx="11125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3400" y="4638675"/>
            <a:ext cx="11125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3400" y="5057775"/>
            <a:ext cx="11125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700" y="35261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进件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09700" y="3526155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面签 15-20 分钟拖累团办；支用率 1.6%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1218" y="3526155"/>
            <a:ext cx="728418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AI 校验+反欺诈；白名单预授信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51229" y="3526155"/>
            <a:ext cx="367417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面签 -50%；支用率→3.2%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7700" y="39452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审批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09700" y="3945255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定价不灵活、无白名单；手动领券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41218" y="3945255"/>
            <a:ext cx="728418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AI 审批辅助；按月主动发券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51229" y="3945255"/>
            <a:ext cx="367417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支用率 5.39%→6.2%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7700" y="43643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放款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09700" y="4364355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无先息后本易被置换；长支 55.38%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1218" y="4364355"/>
            <a:ext cx="728418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AB 类试点长期限（苏锡通 3 个月）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051229" y="4364355"/>
            <a:ext cx="367417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长支→65%+；续贷率 60-80%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7700" y="47834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用信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09700" y="4783455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用信转化是洞（≈12%/≈10%）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1218" y="4783455"/>
            <a:ext cx="728418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分层管户+尾部唤醒；一客两品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51229" y="4783455"/>
            <a:ext cx="367417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每提 1pct 增量以亿计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出处：08-21 内部单源 · 98wiki #203 · 99wiki 06-25 / 07-23。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运营版 v2（可落地版 · 三轮质询已并入） · 2026-08-25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51C2C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21130"/>
            <a:ext cx="11277600" cy="58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场景 2 ·</a:t>
            </a:r>
            <a:endParaRPr lang="en-US" sz="3825" dirty="0"/>
          </a:p>
        </p:txBody>
      </p:sp>
      <p:sp>
        <p:nvSpPr>
          <p:cNvPr id="6" name="Text 4"/>
          <p:cNvSpPr/>
          <p:nvPr/>
        </p:nvSpPr>
        <p:spPr>
          <a:xfrm>
            <a:off x="914400" y="1945005"/>
            <a:ext cx="11277600" cy="58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信用卡线：激活与收入结构（第三批）</a:t>
            </a:r>
            <a:endParaRPr lang="en-US" sz="3825" dirty="0"/>
          </a:p>
        </p:txBody>
      </p:sp>
      <p:sp>
        <p:nvSpPr>
          <p:cNvPr id="7" name="Shape 5"/>
          <p:cNvSpPr/>
          <p:nvPr/>
        </p:nvSpPr>
        <p:spPr>
          <a:xfrm>
            <a:off x="914400" y="2714625"/>
            <a:ext cx="8382000" cy="866775"/>
          </a:xfrm>
          <a:prstGeom prst="roundRect">
            <a:avLst>
              <a:gd name="adj" fmla="val 2198"/>
            </a:avLst>
          </a:prstGeom>
          <a:solidFill>
            <a:srgbClr val="051C2C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743200"/>
            <a:ext cx="8382000" cy="8382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63625" y="3106738"/>
            <a:ext cx="158750" cy="111125"/>
          </a:xfrm>
          <a:prstGeom prst="roundRect">
            <a:avLst>
              <a:gd name="adj" fmla="val 14286"/>
            </a:avLst>
          </a:pr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3625" y="3146425"/>
            <a:ext cx="158750" cy="0"/>
          </a:xfrm>
          <a:prstGeom prst="line">
            <a:avLst/>
          </a:pr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293370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现状（99wiki）：持卡人 308.63 万（-6.66%）；收益率 7.14%→4.90%；日均余额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33500" y="320040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-29.03%；营收 24.71 亿→5.97 亿。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90700" y="3863340"/>
            <a:ext cx="11315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问题（99wiki）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37909" y="3863340"/>
            <a:ext cx="816849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借鉴（98wiki）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69512" y="3863340"/>
            <a:ext cx="543688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目标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400" y="4152900"/>
            <a:ext cx="8382000" cy="0"/>
          </a:xfrm>
          <a:prstGeom prst="line">
            <a:avLst/>
          </a:pr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572000"/>
            <a:ext cx="83820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991100"/>
            <a:ext cx="83820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5410200"/>
            <a:ext cx="83820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829300"/>
            <a:ext cx="83820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8700" y="4295775"/>
            <a:ext cx="12077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获客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790700" y="4295775"/>
            <a:ext cx="11315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发卡增速 0.10% vs 0.34%；持卡人 -6.66%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937909" y="4295775"/>
            <a:ext cx="81684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权益互换：钻石卡 600 万→200 万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7669512" y="4295775"/>
            <a:ext cx="5436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获客成本 -20%（待补）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028700" y="4714875"/>
            <a:ext cx="12077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激活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790700" y="4714875"/>
            <a:ext cx="11315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激活率 60.39% vs 70.72%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4937909" y="4714875"/>
            <a:ext cx="81684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 变 1 尾部修复：名单重配+AI 触达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7669512" y="4714875"/>
            <a:ext cx="5436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激活率 +10pct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028700" y="5133975"/>
            <a:ext cx="12077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分期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790700" y="5133975"/>
            <a:ext cx="11315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分期占比 65.74%；佣金 1.85% vs 7.75%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4937909" y="5133975"/>
            <a:ext cx="81684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名单分层 + AI 辅助；聚焦高价值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7669512" y="5133975"/>
            <a:ext cx="5436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佣金向区域靠拢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028700" y="5553075"/>
            <a:ext cx="12077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高端卡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790700" y="5553075"/>
            <a:ext cx="11315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免年费与 LTV 矛盾未解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4937909" y="5553075"/>
            <a:ext cx="81684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权益互换 + 交叉经营（沙龙 6+3）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7669512" y="5553075"/>
            <a:ext cx="5436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LTV 转正路径明确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800" dirty="0">
                <a:solidFill>
                  <a:srgbClr val="6B6B6B">
                    <a:alpha val="30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05</a:t>
            </a:r>
            <a:endParaRPr lang="en-US" sz="4800" dirty="0"/>
          </a:p>
        </p:txBody>
      </p:sp>
      <p:sp>
        <p:nvSpPr>
          <p:cNvPr id="38" name="Text 36"/>
          <p:cNvSpPr/>
          <p:nvPr/>
        </p:nvSpPr>
        <p:spPr>
          <a:xfrm>
            <a:off x="914400" y="60198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出处：98wiki DOC-0075/0151、#203 · 今日贝壳研究（内部单源）· 99wiki 银联 202607 / 复盘 08-21。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运营版 v2（可落地版 · 三轮质询已并入） · 2026-08-25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场景 3 · 电销：名单分层与中收口径（第二批）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914400" y="1809750"/>
            <a:ext cx="8382000" cy="866775"/>
          </a:xfrm>
          <a:prstGeom prst="roundRect">
            <a:avLst>
              <a:gd name="adj" fmla="val 2198"/>
            </a:avLst>
          </a:pr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38325"/>
            <a:ext cx="8382000" cy="8382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63625" y="21780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3917" y="115634"/>
                </a:moveTo>
                <a:arcTo hR="7938" wR="7938" stAng="6880021" swAng="-4643057"/>
                <a:lnTo>
                  <a:pt x="106363" y="109538"/>
                </a:lnTo>
                <a:arcTo hR="15875" wR="15875" stAng="13012194" swAng="3187806"/>
                <a:lnTo>
                  <a:pt x="142875" y="103188"/>
                </a:lnTo>
                <a:arcTo hR="15875" wR="15875" stAng="16200000" swAng="5400000"/>
                <a:lnTo>
                  <a:pt x="158750" y="142875"/>
                </a:lnTo>
                <a:arcTo hR="15875" wR="15875" stAng="0" swAng="5400000"/>
                <a:arcTo hR="142875" wR="142875" stAng="5400000" swAng="5400000"/>
                <a:arcTo hR="15875" wR="15875" stAng="10800000" swAng="5400000"/>
                <a:lnTo>
                  <a:pt x="39688" y="0"/>
                </a:lnTo>
                <a:arcTo hR="15875" wR="15875" stAng="16200000" swAng="5400000"/>
                <a:lnTo>
                  <a:pt x="55563" y="39688"/>
                </a:lnTo>
                <a:arcTo hR="15875" wR="15875" stAng="0" swAng="3187806"/>
                <a:lnTo>
                  <a:pt x="45498" y="55174"/>
                </a:lnTo>
                <a:arcTo hR="7938" wR="7938" stAng="13958163" swAng="-4717521"/>
                <a:arcTo hR="111125" wR="111125" stAng="9227217" swAng="-2258739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3500" y="20288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现状（99wiki）：徐州 114 坐席饱和；长沙 0.3-0.6% 转化率业务暂停；富民试点分润 105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3500" y="22955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万≠净中收（08-09）。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90700" y="3187065"/>
            <a:ext cx="11315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问题（99wiki）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22030" y="3187065"/>
            <a:ext cx="838437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借鉴（98wiki）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223140" y="3187065"/>
            <a:ext cx="588326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目标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3476625"/>
            <a:ext cx="8382000" cy="0"/>
          </a:xfrm>
          <a:prstGeom prst="line">
            <a:avLst/>
          </a:pr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895725"/>
            <a:ext cx="83820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314825"/>
            <a:ext cx="83820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733925"/>
            <a:ext cx="83820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153025"/>
            <a:ext cx="83820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8700" y="362140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名单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90700" y="3621405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名单无分层、坐席饱和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22030" y="3621405"/>
            <a:ext cx="838437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转化概率分层 + AI 辅助外呼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23140" y="3621405"/>
            <a:ext cx="58832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命中率 +30%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8700" y="404050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转化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90700" y="4040505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转化率低（0.3-0.6%）；话术不统一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22030" y="4040505"/>
            <a:ext cx="838437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话术库 + AI 实时提示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23140" y="4040505"/>
            <a:ext cx="58832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对标 1.5%；新人差距 -50%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8700" y="445960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中收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90700" y="4459605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3.5% 分润≠中收，AUM 空心增长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22030" y="4459605"/>
            <a:ext cx="838437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三账合一套算；净贡献 ≤0 即撤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23140" y="4459605"/>
            <a:ext cx="58832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净中收入账；止损阈值验证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8700" y="487870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合规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90700" y="4878705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外呼撞库风险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22030" y="4878705"/>
            <a:ext cx="838437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银联云加密撞库、坐席无号码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140" y="4878705"/>
            <a:ext cx="58832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全链路留痕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出处：今日贝壳研究（内部单源）· 梁斌质询 · 99wiki 08-09 / 荣数 08-03。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601200" y="685800"/>
            <a:ext cx="1676400" cy="5410200"/>
          </a:xfrm>
          <a:prstGeom prst="roundRect">
            <a:avLst>
              <a:gd name="adj" fmla="val 6818"/>
            </a:avLst>
          </a:prstGeom>
          <a:solidFill>
            <a:srgbClr val="051C2C"/>
          </a:solidFill>
          <a:ln/>
        </p:spPr>
      </p:sp>
      <p:sp>
        <p:nvSpPr>
          <p:cNvPr id="35" name="Text 33"/>
          <p:cNvSpPr/>
          <p:nvPr/>
        </p:nvSpPr>
        <p:spPr>
          <a:xfrm>
            <a:off x="9829800" y="1005840"/>
            <a:ext cx="2362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1.5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8686800" y="2415540"/>
            <a:ext cx="3505200" cy="146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37" name="Shape 35"/>
          <p:cNvSpPr/>
          <p:nvPr/>
        </p:nvSpPr>
        <p:spPr>
          <a:xfrm>
            <a:off x="9829800" y="5372100"/>
            <a:ext cx="266700" cy="285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829800" y="5608320"/>
            <a:ext cx="23622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运营版 v2（可落地版 · 三轮质询已并入） · 2026-08-25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场景 4 · 柜面/咨询：管户重配（第二批）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2984183"/>
            <a:ext cx="5922264" cy="1133475"/>
          </a:xfrm>
          <a:prstGeom prst="roundRect">
            <a:avLst>
              <a:gd name="adj" fmla="val 1681"/>
            </a:avLst>
          </a:prstGeom>
          <a:solidFill>
            <a:srgbClr val="051C2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012758"/>
            <a:ext cx="5922264" cy="110490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19188" y="358902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47625"/>
                </a:moveTo>
                <a:lnTo>
                  <a:pt x="47625" y="7938"/>
                </a:lnTo>
                <a:arcTo hR="7938" wR="7938" stAng="0" swAng="-5400000"/>
                <a:lnTo>
                  <a:pt x="7938" y="0"/>
                </a:lnTo>
                <a:arcTo hR="7938" wR="7938" stAng="16200000" swAng="-5400000"/>
                <a:lnTo>
                  <a:pt x="0" y="47625"/>
                </a:lnTo>
              </a:path>
            </a:pathLst>
          </a:cu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3618" y="3485832"/>
            <a:ext cx="158785" cy="71468"/>
          </a:xfrm>
          <a:custGeom>
            <a:avLst/>
            <a:gdLst/>
            <a:ahLst/>
            <a:cxnLst/>
            <a:rect l="l" t="t" r="r" b="b"/>
            <a:pathLst>
              <a:path w="158785" h="71468">
                <a:moveTo>
                  <a:pt x="125213" y="65961"/>
                </a:moveTo>
                <a:arcTo hR="8890" wR="8890" stAng="18825023" swAng="-5250046"/>
                <a:arcTo hR="19844" wR="19844" stAng="2781243" swAng="5237513"/>
                <a:arcTo hR="8890" wR="8890" stAng="18822899" swAng="-5245798"/>
                <a:arcTo hR="19844" wR="19844" stAng="2780293" swAng="5239414"/>
                <a:arcTo hR="8890" wR="8890" stAng="18825023" swAng="-5250046"/>
                <a:arcTo hR="19844" wR="19844" stAng="2780441" swAng="10128658"/>
                <a:lnTo>
                  <a:pt x="26550" y="6969"/>
                </a:lnTo>
                <a:arcTo hR="15875" wR="15875" stAng="12847499" swAng="3353134"/>
                <a:lnTo>
                  <a:pt x="119070" y="0"/>
                </a:lnTo>
                <a:arcTo hR="15875" wR="15875" stAng="16198680" swAng="3343428"/>
                <a:lnTo>
                  <a:pt x="155170" y="40203"/>
                </a:lnTo>
                <a:arcTo hR="19844" wR="19844" stAng="19491803" swAng="10134648"/>
              </a:path>
            </a:pathLst>
          </a:cu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9500" y="3556873"/>
            <a:ext cx="127000" cy="79772"/>
          </a:xfrm>
          <a:custGeom>
            <a:avLst/>
            <a:gdLst/>
            <a:ahLst/>
            <a:cxnLst/>
            <a:rect l="l" t="t" r="r" b="b"/>
            <a:pathLst>
              <a:path w="127000" h="79772">
                <a:moveTo>
                  <a:pt x="0" y="0"/>
                </a:moveTo>
                <a:lnTo>
                  <a:pt x="0" y="63897"/>
                </a:lnTo>
                <a:arcTo hR="15875" wR="15875" stAng="10800000" swAng="-5400000"/>
                <a:lnTo>
                  <a:pt x="111125" y="79772"/>
                </a:lnTo>
                <a:arcTo hR="15875" wR="15875" stAng="5400000" swAng="-5400000"/>
                <a:lnTo>
                  <a:pt x="127000" y="0"/>
                </a:lnTo>
              </a:path>
            </a:pathLst>
          </a:cu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3203258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现状（99wiki）：场景经营仅 17 人——杜悦单点年缺口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33500" y="3469958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400h；发票活动 297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33500" y="3736658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万参与——流量不缺，转化是洞（07-04）。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989064" y="1771650"/>
            <a:ext cx="4288536" cy="432435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FFC72C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9564" y="2409825"/>
            <a:ext cx="3907536" cy="97155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436739" y="2714625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9564" y="2830830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33639" y="2700338"/>
            <a:ext cx="111125" cy="47625"/>
          </a:xfrm>
          <a:custGeom>
            <a:avLst/>
            <a:gdLst/>
            <a:ahLst/>
            <a:cxnLst/>
            <a:rect l="l" t="t" r="r" b="b"/>
            <a:pathLst>
              <a:path w="111125" h="47625">
                <a:moveTo>
                  <a:pt x="111125" y="47625"/>
                </a:moveTo>
                <a:lnTo>
                  <a:pt x="111125" y="31750"/>
                </a:lnTo>
                <a:arcTo hR="31750" wR="31750" stAng="0" swAng="-5400000"/>
                <a:lnTo>
                  <a:pt x="31750" y="0"/>
                </a:lnTo>
                <a:arcTo hR="31750" wR="31750" stAng="16200000" swAng="-5400000"/>
                <a:lnTo>
                  <a:pt x="0" y="47625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44764" y="2606104"/>
            <a:ext cx="23782" cy="61468"/>
          </a:xfrm>
          <a:custGeom>
            <a:avLst/>
            <a:gdLst/>
            <a:ahLst/>
            <a:cxnLst/>
            <a:rect l="l" t="t" r="r" b="b"/>
            <a:pathLst>
              <a:path w="23782" h="61468">
                <a:moveTo>
                  <a:pt x="0" y="0"/>
                </a:moveTo>
                <a:arcTo hR="31750" wR="31750" stAng="17072025" swAng="9055950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68576" y="2701369"/>
            <a:ext cx="23813" cy="46593"/>
          </a:xfrm>
          <a:custGeom>
            <a:avLst/>
            <a:gdLst/>
            <a:ahLst/>
            <a:cxnLst/>
            <a:rect l="l" t="t" r="r" b="b"/>
            <a:pathLst>
              <a:path w="23813" h="46593">
                <a:moveTo>
                  <a:pt x="23813" y="46593"/>
                </a:moveTo>
                <a:lnTo>
                  <a:pt x="23813" y="30718"/>
                </a:lnTo>
                <a:arcTo hR="31750" wR="31750" stAng="21597436" swAng="-4528786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7452" y="2605087"/>
            <a:ext cx="63500" cy="63500"/>
          </a:xfrm>
          <a:prstGeom prst="ellipse">
            <a:avLst/>
          </a:pr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3514" y="2598420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人力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8017764" y="285750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单点超载、岗位不相容 → 管户重配 SOP +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8017764" y="30575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岗位分离 → 补 1-2 名经理、零产单 -15pct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7179564" y="3514725"/>
            <a:ext cx="3907536" cy="97155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436739" y="3819525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9564" y="3935730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44764" y="3757613"/>
            <a:ext cx="47625" cy="31750"/>
          </a:xfrm>
          <a:custGeom>
            <a:avLst/>
            <a:gdLst/>
            <a:ahLst/>
            <a:cxnLst/>
            <a:rect l="l" t="t" r="r" b="b"/>
            <a:pathLst>
              <a:path w="47625" h="31750">
                <a:moveTo>
                  <a:pt x="0" y="15875"/>
                </a:moveTo>
                <a:lnTo>
                  <a:pt x="15875" y="31750"/>
                </a:lnTo>
                <a:lnTo>
                  <a:pt x="47625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33639" y="3805237"/>
            <a:ext cx="111125" cy="47625"/>
          </a:xfrm>
          <a:custGeom>
            <a:avLst/>
            <a:gdLst/>
            <a:ahLst/>
            <a:cxnLst/>
            <a:rect l="l" t="t" r="r" b="b"/>
            <a:pathLst>
              <a:path w="111125" h="47625">
                <a:moveTo>
                  <a:pt x="111125" y="47625"/>
                </a:moveTo>
                <a:lnTo>
                  <a:pt x="111125" y="31750"/>
                </a:lnTo>
                <a:arcTo hR="31750" wR="31750" stAng="0" swAng="-5400000"/>
                <a:lnTo>
                  <a:pt x="31750" y="0"/>
                </a:lnTo>
                <a:arcTo hR="31750" wR="31750" stAng="16200000" swAng="-5400000"/>
                <a:lnTo>
                  <a:pt x="0" y="47625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57452" y="3709988"/>
            <a:ext cx="63500" cy="63500"/>
          </a:xfrm>
          <a:prstGeom prst="ellipse">
            <a:avLst/>
          </a:pr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03514" y="3703320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管户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8017764" y="396240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摊大饼、尾部零产出 → 尾部收归头部 + AI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8017764" y="41624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承接、划片 → 同店 AUM/人净增（控 β）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7179564" y="4619625"/>
            <a:ext cx="3907536" cy="9144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7436739" y="4895850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9564" y="501205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89201" y="491013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47625"/>
                </a:moveTo>
                <a:lnTo>
                  <a:pt x="47625" y="7938"/>
                </a:lnTo>
                <a:arcTo hR="7938" wR="7938" stAng="0" swAng="-5400000"/>
                <a:lnTo>
                  <a:pt x="7938" y="0"/>
                </a:lnTo>
                <a:arcTo hR="7938" wR="7938" stAng="16200000" swAng="-5400000"/>
                <a:lnTo>
                  <a:pt x="0" y="47625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33632" y="4806950"/>
            <a:ext cx="158785" cy="71468"/>
          </a:xfrm>
          <a:custGeom>
            <a:avLst/>
            <a:gdLst/>
            <a:ahLst/>
            <a:cxnLst/>
            <a:rect l="l" t="t" r="r" b="b"/>
            <a:pathLst>
              <a:path w="158785" h="71468">
                <a:moveTo>
                  <a:pt x="125213" y="65961"/>
                </a:moveTo>
                <a:arcTo hR="8890" wR="8890" stAng="18825023" swAng="-5250046"/>
                <a:arcTo hR="19844" wR="19844" stAng="2781243" swAng="5237513"/>
                <a:arcTo hR="8890" wR="8890" stAng="18822899" swAng="-5245798"/>
                <a:arcTo hR="19844" wR="19844" stAng="2780293" swAng="5239414"/>
                <a:arcTo hR="8890" wR="8890" stAng="18825023" swAng="-5250046"/>
                <a:arcTo hR="19844" wR="19844" stAng="2780441" swAng="10128658"/>
                <a:lnTo>
                  <a:pt x="26550" y="6969"/>
                </a:lnTo>
                <a:arcTo hR="15875" wR="15875" stAng="12847499" swAng="3353134"/>
                <a:lnTo>
                  <a:pt x="119070" y="0"/>
                </a:lnTo>
                <a:arcTo hR="15875" wR="15875" stAng="16198680" swAng="3343428"/>
                <a:lnTo>
                  <a:pt x="155170" y="40203"/>
                </a:lnTo>
                <a:arcTo hR="19844" wR="19844" stAng="19491803" swAng="10134648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9514" y="4877991"/>
            <a:ext cx="127000" cy="79772"/>
          </a:xfrm>
          <a:custGeom>
            <a:avLst/>
            <a:gdLst/>
            <a:ahLst/>
            <a:cxnLst/>
            <a:rect l="l" t="t" r="r" b="b"/>
            <a:pathLst>
              <a:path w="127000" h="79772">
                <a:moveTo>
                  <a:pt x="0" y="0"/>
                </a:moveTo>
                <a:lnTo>
                  <a:pt x="0" y="63897"/>
                </a:lnTo>
                <a:arcTo hR="15875" wR="15875" stAng="10800000" swAng="-5400000"/>
                <a:lnTo>
                  <a:pt x="111125" y="79772"/>
                </a:lnTo>
                <a:arcTo hR="15875" wR="15875" stAng="5400000" swAng="-5400000"/>
                <a:lnTo>
                  <a:pt x="127000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3514" y="4808220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厅堂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8017764" y="5053965"/>
            <a:ext cx="113538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询问转化低、沉睡户无人管 → 私行沙龙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8017764" y="5225415"/>
            <a:ext cx="113538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6+3、沉默户前瞻指标 → 达标户/场、AUM 净增/场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出处：98wiki #203、DOC-0075 · 99wiki 06 月人力汇报 / 07-04。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运营版 v2（可落地版 · 三轮质询已并入） · 2026-08-25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0772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场景 5 · 线上进件：AI 初审与政策流量（第三批）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10363200" cy="866775"/>
          </a:xfrm>
          <a:prstGeom prst="roundRect">
            <a:avLst>
              <a:gd name="adj" fmla="val 2198"/>
            </a:avLst>
          </a:prstGeom>
          <a:solidFill>
            <a:srgbClr val="051C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314575"/>
            <a:ext cx="10363200" cy="8382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87437" y="2654300"/>
            <a:ext cx="111125" cy="158750"/>
          </a:xfrm>
          <a:prstGeom prst="roundRect">
            <a:avLst>
              <a:gd name="adj" fmla="val 14286"/>
            </a:avLst>
          </a:pr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781300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25050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现状（99wiki）：画像靶心=平台网贷客群拟转自营；贴息延长至 12/31（1pct、3000 元上限）+ 数码 15%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33500" y="27717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补贴（08-18）。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90700" y="3663315"/>
            <a:ext cx="11315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问题（99wiki）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58613" y="3663315"/>
            <a:ext cx="834778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借鉴（98wiki）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720778" y="3663315"/>
            <a:ext cx="438562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目标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4400" y="3952875"/>
            <a:ext cx="10363200" cy="0"/>
          </a:xfrm>
          <a:prstGeom prst="line">
            <a:avLst/>
          </a:pr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371975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791075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10175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8700" y="40976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流失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90700" y="4097655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填一半放弃、漏损仍在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8613" y="4097655"/>
            <a:ext cx="834778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AI 初审即时反馈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20778" y="4097655"/>
            <a:ext cx="438562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完成率 +20%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8700" y="45167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数据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90700" y="4516755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外数依赖、标签有时滞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8613" y="4516755"/>
            <a:ext cx="834778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口径字典 + 中台单一取数源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20778" y="4516755"/>
            <a:ext cx="438562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字典上线、取数联调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8700" y="49358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政策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90700" y="4935855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贴息流量未沉淀为资产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8613" y="4935855"/>
            <a:ext cx="834778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六联证据链 + 30/90/180 止损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20778" y="4935855"/>
            <a:ext cx="438562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反套利闭环上线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出处：梁斌质询 · 99wiki AI 终端消费贷研究 08-18 · 杨现领（渠道产能重定价）。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运营版 v2（可落地版 · 三轮质询已并入） · 2026-08-25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051C2C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5" name="Shape 3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051C2C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1.8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方法库 A/B/C/D：是什么 / 用在哪 / 怎么落地 / 验证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14400" y="1652969"/>
            <a:ext cx="10363200" cy="962025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71575" y="1953006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069211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68475" y="1943481"/>
            <a:ext cx="111125" cy="47625"/>
          </a:xfrm>
          <a:custGeom>
            <a:avLst/>
            <a:gdLst/>
            <a:ahLst/>
            <a:cxnLst/>
            <a:rect l="l" t="t" r="r" b="b"/>
            <a:pathLst>
              <a:path w="111125" h="47625">
                <a:moveTo>
                  <a:pt x="111125" y="47625"/>
                </a:moveTo>
                <a:lnTo>
                  <a:pt x="111125" y="31750"/>
                </a:lnTo>
                <a:arcTo hR="31750" wR="31750" stAng="0" swAng="-5400000"/>
                <a:lnTo>
                  <a:pt x="31750" y="0"/>
                </a:lnTo>
                <a:arcTo hR="31750" wR="31750" stAng="16200000" swAng="-5400000"/>
                <a:lnTo>
                  <a:pt x="0" y="47625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79600" y="1849247"/>
            <a:ext cx="23782" cy="61468"/>
          </a:xfrm>
          <a:custGeom>
            <a:avLst/>
            <a:gdLst/>
            <a:ahLst/>
            <a:cxnLst/>
            <a:rect l="l" t="t" r="r" b="b"/>
            <a:pathLst>
              <a:path w="23782" h="61468">
                <a:moveTo>
                  <a:pt x="0" y="0"/>
                </a:moveTo>
                <a:arcTo hR="31750" wR="31750" stAng="17072025" swAng="9055950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3413" y="1944513"/>
            <a:ext cx="23813" cy="46593"/>
          </a:xfrm>
          <a:custGeom>
            <a:avLst/>
            <a:gdLst/>
            <a:ahLst/>
            <a:cxnLst/>
            <a:rect l="l" t="t" r="r" b="b"/>
            <a:pathLst>
              <a:path w="23813" h="46593">
                <a:moveTo>
                  <a:pt x="23813" y="46593"/>
                </a:moveTo>
                <a:lnTo>
                  <a:pt x="23813" y="30718"/>
                </a:lnTo>
                <a:arcTo hR="31750" wR="31750" stAng="21597436" swAng="-4528786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92288" y="1848231"/>
            <a:ext cx="63500" cy="63500"/>
          </a:xfrm>
          <a:prstGeom prst="ellipse">
            <a:avLst/>
          </a:pr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38350" y="1841563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方法 A · 管户重配法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752600" y="2100644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尾部零产出管户收归头部 + AI 辅助承接。零开单率 25%→&lt;10%（内部单源）主要来自 0 变 1 尾部修复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752600" y="2340674"/>
            <a:ext cx="113538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验证：零产单占比月度通报；同店 AUM/人净增（控 β 差分）；P25 尾部产出占比</a:t>
            </a:r>
            <a:endParaRPr lang="en-US" sz="1013" dirty="0"/>
          </a:p>
        </p:txBody>
      </p:sp>
      <p:sp>
        <p:nvSpPr>
          <p:cNvPr id="19" name="Shape 17"/>
          <p:cNvSpPr/>
          <p:nvPr/>
        </p:nvSpPr>
        <p:spPr>
          <a:xfrm>
            <a:off x="914400" y="2748344"/>
            <a:ext cx="10363200" cy="962025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3048381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164586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16100" y="2951544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31750" y="31750"/>
                </a:moveTo>
                <a:lnTo>
                  <a:pt x="31750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84350" y="2983294"/>
            <a:ext cx="127000" cy="95250"/>
          </a:xfrm>
          <a:prstGeom prst="roundRect">
            <a:avLst>
              <a:gd name="adj" fmla="val 16667"/>
            </a:avLst>
          </a:pr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68475" y="3030918"/>
            <a:ext cx="15875" cy="5953"/>
          </a:xfrm>
          <a:custGeom>
            <a:avLst/>
            <a:gdLst/>
            <a:ahLst/>
            <a:cxnLst/>
            <a:rect l="l" t="t" r="r" b="b"/>
            <a:pathLst>
              <a:path w="15875" h="5953">
                <a:moveTo>
                  <a:pt x="0" y="0"/>
                </a:moveTo>
                <a:lnTo>
                  <a:pt x="15875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11350" y="3030918"/>
            <a:ext cx="15875" cy="5953"/>
          </a:xfrm>
          <a:custGeom>
            <a:avLst/>
            <a:gdLst/>
            <a:ahLst/>
            <a:cxnLst/>
            <a:rect l="l" t="t" r="r" b="b"/>
            <a:pathLst>
              <a:path w="15875" h="5953">
                <a:moveTo>
                  <a:pt x="0" y="0"/>
                </a:moveTo>
                <a:lnTo>
                  <a:pt x="15875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71663" y="3022981"/>
            <a:ext cx="5953" cy="15875"/>
          </a:xfrm>
          <a:custGeom>
            <a:avLst/>
            <a:gdLst/>
            <a:ahLst/>
            <a:cxnLst/>
            <a:rect l="l" t="t" r="r" b="b"/>
            <a:pathLst>
              <a:path w="5953" h="15875">
                <a:moveTo>
                  <a:pt x="0" y="0"/>
                </a:moveTo>
                <a:lnTo>
                  <a:pt x="0" y="15875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4038" y="3022981"/>
            <a:ext cx="5953" cy="15875"/>
          </a:xfrm>
          <a:custGeom>
            <a:avLst/>
            <a:gdLst/>
            <a:ahLst/>
            <a:cxnLst/>
            <a:rect l="l" t="t" r="r" b="b"/>
            <a:pathLst>
              <a:path w="5953" h="15875">
                <a:moveTo>
                  <a:pt x="0" y="0"/>
                </a:moveTo>
                <a:lnTo>
                  <a:pt x="0" y="15875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38350" y="2936939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方法 B · AI 提效法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752600" y="3196019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规则能写清楚的环节用 AI，风险定价与终审人工兜底。净降本 20-30% 到头，不是 10 倍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752600" y="3436049"/>
            <a:ext cx="113538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验证：转化率 ≥ 人工基线且单客成本不升（6 个月）；AI 进件占比监测；12 个月无证据即撤</a:t>
            </a:r>
            <a:endParaRPr lang="en-US" sz="1013" dirty="0"/>
          </a:p>
        </p:txBody>
      </p:sp>
      <p:sp>
        <p:nvSpPr>
          <p:cNvPr id="31" name="Shape 29"/>
          <p:cNvSpPr/>
          <p:nvPr/>
        </p:nvSpPr>
        <p:spPr>
          <a:xfrm>
            <a:off x="914400" y="3843718"/>
            <a:ext cx="10363200" cy="962025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171575" y="4143756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259961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839913" y="4142169"/>
            <a:ext cx="44619" cy="28744"/>
          </a:xfrm>
          <a:custGeom>
            <a:avLst/>
            <a:gdLst/>
            <a:ahLst/>
            <a:cxnLst/>
            <a:rect l="l" t="t" r="r" b="b"/>
            <a:pathLst>
              <a:path w="44619" h="28744">
                <a:moveTo>
                  <a:pt x="0" y="7938"/>
                </a:moveTo>
                <a:lnTo>
                  <a:pt x="15875" y="23813"/>
                </a:lnTo>
                <a:arcTo hR="16838" wR="16838" stAng="8100000" swAng="-10800000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07200" y="4038977"/>
            <a:ext cx="112088" cy="112092"/>
          </a:xfrm>
          <a:custGeom>
            <a:avLst/>
            <a:gdLst/>
            <a:ahLst/>
            <a:cxnLst/>
            <a:rect l="l" t="t" r="r" b="b"/>
            <a:pathLst>
              <a:path w="112088" h="112092">
                <a:moveTo>
                  <a:pt x="56525" y="87316"/>
                </a:moveTo>
                <a:lnTo>
                  <a:pt x="76369" y="107160"/>
                </a:lnTo>
                <a:arcTo hR="16838" wR="16838" stAng="8100000" swAng="-10800000"/>
                <a:lnTo>
                  <a:pt x="69384" y="52550"/>
                </a:lnTo>
                <a:arcTo hR="23813" wR="23813" stAng="18897861" swAng="-5395722"/>
                <a:lnTo>
                  <a:pt x="28744" y="59535"/>
                </a:lnTo>
                <a:arcTo hR="16838" wR="16838" stAng="2700000" swAng="10800000"/>
                <a:lnTo>
                  <a:pt x="27236" y="13418"/>
                </a:lnTo>
                <a:arcTo hR="45958" wR="45958" stAng="13504501" swAng="4547985"/>
                <a:lnTo>
                  <a:pt x="87005" y="8735"/>
                </a:lnTo>
                <a:arcTo hR="15875" wR="15875" stAng="7266804" swAng="-2535412"/>
                <a:lnTo>
                  <a:pt x="112088" y="7941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11350" y="4038981"/>
            <a:ext cx="15875" cy="87313"/>
          </a:xfrm>
          <a:custGeom>
            <a:avLst/>
            <a:gdLst/>
            <a:ahLst/>
            <a:cxnLst/>
            <a:rect l="l" t="t" r="r" b="b"/>
            <a:pathLst>
              <a:path w="15875" h="87313">
                <a:moveTo>
                  <a:pt x="7938" y="0"/>
                </a:moveTo>
                <a:lnTo>
                  <a:pt x="15875" y="87313"/>
                </a:lnTo>
                <a:lnTo>
                  <a:pt x="0" y="87313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68475" y="4038981"/>
            <a:ext cx="80338" cy="143838"/>
          </a:xfrm>
          <a:custGeom>
            <a:avLst/>
            <a:gdLst/>
            <a:ahLst/>
            <a:cxnLst/>
            <a:rect l="l" t="t" r="r" b="b"/>
            <a:pathLst>
              <a:path w="80338" h="143838">
                <a:moveTo>
                  <a:pt x="7938" y="0"/>
                </a:moveTo>
                <a:lnTo>
                  <a:pt x="0" y="87313"/>
                </a:lnTo>
                <a:lnTo>
                  <a:pt x="51594" y="138906"/>
                </a:lnTo>
                <a:arcTo hR="16838" wR="16838" stAng="8100000" swAng="-10800000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76413" y="4046918"/>
            <a:ext cx="63500" cy="5953"/>
          </a:xfrm>
          <a:custGeom>
            <a:avLst/>
            <a:gdLst/>
            <a:ahLst/>
            <a:cxnLst/>
            <a:rect l="l" t="t" r="r" b="b"/>
            <a:pathLst>
              <a:path w="63500" h="5953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38350" y="4032314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方法 C · 场景获客法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1752600" y="4291394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按场景转化付费而非按网点成本付费。装修贷/高端卡/私行沙龙/政银协同都是渠道产能重定价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1752600" y="4531424"/>
            <a:ext cx="113538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验证：交叉销售率 ≥30% + 结算资金沉淀；沙龙达标户/场；权益互换新增达标户数</a:t>
            </a:r>
            <a:endParaRPr lang="en-US" sz="1013" dirty="0"/>
          </a:p>
        </p:txBody>
      </p:sp>
      <p:sp>
        <p:nvSpPr>
          <p:cNvPr id="42" name="Shape 40"/>
          <p:cNvSpPr/>
          <p:nvPr/>
        </p:nvSpPr>
        <p:spPr>
          <a:xfrm>
            <a:off x="914400" y="4939094"/>
            <a:ext cx="10363200" cy="962025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1171575" y="5239131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5355336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847850" y="5189919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0" y="31750"/>
                </a:moveTo>
                <a:lnTo>
                  <a:pt x="31750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68475" y="5142290"/>
            <a:ext cx="158750" cy="119066"/>
          </a:xfrm>
          <a:custGeom>
            <a:avLst/>
            <a:gdLst/>
            <a:ahLst/>
            <a:cxnLst/>
            <a:rect l="l" t="t" r="r" b="b"/>
            <a:pathLst>
              <a:path w="158750" h="119066">
                <a:moveTo>
                  <a:pt x="10636" y="119066"/>
                </a:moveTo>
                <a:arcTo hR="79375" wR="79375" stAng="8999825" swAng="14400349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38350" y="5127689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方法 D · 数据与验证法</a:t>
            </a:r>
            <a:endParaRPr lang="en-US" sz="1425" dirty="0"/>
          </a:p>
        </p:txBody>
      </p:sp>
      <p:sp>
        <p:nvSpPr>
          <p:cNvPr id="48" name="Text 46"/>
          <p:cNvSpPr/>
          <p:nvPr/>
        </p:nvSpPr>
        <p:spPr>
          <a:xfrm>
            <a:off x="1752600" y="5386769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把效率叙事变成可证伪工程：同店口径 + α/β 剥离 + 对照差分——其他三个方法的裁判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1752600" y="5626799"/>
            <a:ext cx="113538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验证：口径字典定稿 / 基线快照 / 差分初判 / AI 证据（时间节点后续再定）</a:t>
            </a:r>
            <a:endParaRPr lang="en-US" sz="1013" dirty="0"/>
          </a:p>
        </p:txBody>
      </p:sp>
      <p:sp>
        <p:nvSpPr>
          <p:cNvPr id="50" name="Text 48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行内止损先例：AI 终端消费贷 30/90/180 止损（99wiki 08-18）、电销 12 个月净贡献 ≤0 即撤（99wiki 08-09）。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运营版 v2（可落地版 · 三轮质询已并入） · 2026-08-25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行动计划：做什么 / 谁负责 / 交付物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14400" y="2431542"/>
            <a:ext cx="6096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638300" y="2431542"/>
            <a:ext cx="114681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做什么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957254" y="2431542"/>
            <a:ext cx="714914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谁负责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500259" y="2431542"/>
            <a:ext cx="560614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交付物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721102"/>
            <a:ext cx="7505700" cy="0"/>
          </a:xfrm>
          <a:prstGeom prst="line">
            <a:avLst/>
          </a:pr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140202"/>
            <a:ext cx="75057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559302"/>
            <a:ext cx="75057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978402"/>
            <a:ext cx="75057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397502"/>
            <a:ext cx="75057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816602"/>
            <a:ext cx="75057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865882"/>
            <a:ext cx="609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38300" y="2865882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确定 3 试点 + 3 同能级对照分行；定各线责任人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57254" y="2865882"/>
            <a:ext cx="714914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零售部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00259" y="2865882"/>
            <a:ext cx="560614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试点方案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284982"/>
            <a:ext cx="609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38300" y="3284982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口径字典定稿发布（日均 AUM 含表外、转化链定义）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57254" y="3284982"/>
            <a:ext cx="714914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总行数据管理部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00259" y="3283077"/>
            <a:ext cx="56061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口径字典 v1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914400" y="3704082"/>
            <a:ext cx="609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38300" y="3704082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取数接口联调 + 基线快照（不补基线则差分无可比）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57254" y="3704082"/>
            <a:ext cx="714914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数据管理部+科技部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00259" y="3704082"/>
            <a:ext cx="560614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基线快照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123182"/>
            <a:ext cx="609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38300" y="4123182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差分初判：控 β 后净人效 &lt;10% 撤回 α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57254" y="4123182"/>
            <a:ext cx="714914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零售部+试点分行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00259" y="4123182"/>
            <a:ext cx="560614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差分报告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4542282"/>
            <a:ext cx="609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38300" y="4542282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AI 证据：两档转化率 ≥ 人工基线且成本不升 → 扩点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57254" y="4542282"/>
            <a:ext cx="714914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零售部+科技部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00259" y="4547997"/>
            <a:ext cx="560614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AI 验证报告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14400" y="4915662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不设时间节点，由零售部牵头会商后定；用现有数据中台不新建系统（梁斌）；人天估算 2-3 个月（待补）。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4400" y="6073140"/>
            <a:ext cx="112776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试点：长三角同能级 3+3；先消费贷→信用卡激活→电销/线上随口径字典展开。禁止：分行自行加码排名、自建场景系统、观察期内排名。</a:t>
            </a:r>
            <a:endParaRPr lang="en-US" sz="975" dirty="0"/>
          </a:p>
        </p:txBody>
      </p:sp>
      <p:sp>
        <p:nvSpPr>
          <p:cNvPr id="36" name="Shape 34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051C2C">
              <a:alpha val="1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/>
        </p:spPr>
      </p:sp>
      <p:sp>
        <p:nvSpPr>
          <p:cNvPr id="40" name="Shape 3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运营版 v2（可落地版 · 三轮质询已并入） · 2026-08-25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数据安全闸门：DEALBREAKER 一票否决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1800606"/>
            <a:ext cx="10363200" cy="962025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" y="2100643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16849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84350" y="1987927"/>
            <a:ext cx="127000" cy="158777"/>
          </a:xfrm>
          <a:custGeom>
            <a:avLst/>
            <a:gdLst/>
            <a:ahLst/>
            <a:cxnLst/>
            <a:rect l="l" t="t" r="r" b="b"/>
            <a:pathLst>
              <a:path w="127000" h="158777">
                <a:moveTo>
                  <a:pt x="127000" y="87316"/>
                </a:moveTo>
                <a:cubicBezTo>
                  <a:pt x="127000" y="127004"/>
                  <a:pt x="99219" y="146847"/>
                  <a:pt x="66199" y="158357"/>
                </a:cubicBezTo>
                <a:arcTo hR="7938" wR="7938" stAng="4276817" swAng="2348977"/>
                <a:cubicBezTo>
                  <a:pt x="27781" y="146847"/>
                  <a:pt x="0" y="127004"/>
                  <a:pt x="0" y="87316"/>
                </a:cubicBezTo>
                <a:lnTo>
                  <a:pt x="0" y="31754"/>
                </a:lnTo>
                <a:arcTo hR="7938" wR="7938" stAng="10800000" swAng="5400000"/>
                <a:cubicBezTo>
                  <a:pt x="23813" y="23816"/>
                  <a:pt x="43656" y="14291"/>
                  <a:pt x="57468" y="2226"/>
                </a:cubicBezTo>
                <a:arcTo hR="9287" wR="9287" stAng="13769437" swAng="4861127"/>
                <a:cubicBezTo>
                  <a:pt x="83423" y="14370"/>
                  <a:pt x="103188" y="23816"/>
                  <a:pt x="119063" y="23816"/>
                </a:cubicBezTo>
                <a:arcTo hR="7938" wR="7938" stAng="16200000" swAng="5400000"/>
                <a:close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38350" y="1989201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原则 01 · 最小必要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1752600" y="2248281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只收集完成业务所需的最少数据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752600" y="2488311"/>
            <a:ext cx="113538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覆盖：装修贷三方流转</a:t>
            </a:r>
            <a:endParaRPr lang="en-US" sz="1013" dirty="0"/>
          </a:p>
        </p:txBody>
      </p:sp>
      <p:sp>
        <p:nvSpPr>
          <p:cNvPr id="11" name="Shape 9"/>
          <p:cNvSpPr/>
          <p:nvPr/>
        </p:nvSpPr>
        <p:spPr>
          <a:xfrm>
            <a:off x="914400" y="2895981"/>
            <a:ext cx="10363200" cy="962025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71575" y="3196019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12224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68388" y="3083344"/>
            <a:ext cx="158799" cy="158736"/>
          </a:xfrm>
          <a:custGeom>
            <a:avLst/>
            <a:gdLst/>
            <a:ahLst/>
            <a:cxnLst/>
            <a:rect l="l" t="t" r="r" b="b"/>
            <a:pathLst>
              <a:path w="158799" h="158736">
                <a:moveTo>
                  <a:pt x="14771" y="52508"/>
                </a:moveTo>
                <a:arcTo hR="31750" wR="31750" stAng="10049003" swAng="6909194"/>
                <a:arcTo hR="31750" wR="31750" stAng="12755696" swAng="6888608"/>
                <a:arcTo hR="31750" wR="31750" stAng="15439731" swAng="6920537"/>
                <a:arcTo hR="31750" wR="31750" stAng="18155696" swAng="6888608"/>
                <a:arcTo hR="31750" wR="31750" stAng="20841803" swAng="6909194"/>
                <a:arcTo hR="31750" wR="31750" stAng="1947705" swAng="6904591"/>
                <a:arcTo hR="31750" wR="31750" stAng="4641803" swAng="6909194"/>
                <a:arcTo hR="31750" wR="31750" stAng="7339684" swAng="6920632"/>
                <a:close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4038" y="3146806"/>
            <a:ext cx="47625" cy="31750"/>
          </a:xfrm>
          <a:custGeom>
            <a:avLst/>
            <a:gdLst/>
            <a:ahLst/>
            <a:cxnLst/>
            <a:rect l="l" t="t" r="r" b="b"/>
            <a:pathLst>
              <a:path w="47625" h="31750">
                <a:moveTo>
                  <a:pt x="0" y="15875"/>
                </a:moveTo>
                <a:lnTo>
                  <a:pt x="15875" y="31750"/>
                </a:lnTo>
                <a:lnTo>
                  <a:pt x="47625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38350" y="3084576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原则 02 · 共享必授权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752600" y="3343656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个保法第 13 条同意基础，单独授权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752600" y="3583686"/>
            <a:ext cx="113538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覆盖：私行共营名单共享</a:t>
            </a:r>
            <a:endParaRPr lang="en-US" sz="1013" dirty="0"/>
          </a:p>
        </p:txBody>
      </p:sp>
      <p:sp>
        <p:nvSpPr>
          <p:cNvPr id="19" name="Shape 17"/>
          <p:cNvSpPr/>
          <p:nvPr/>
        </p:nvSpPr>
        <p:spPr>
          <a:xfrm>
            <a:off x="914400" y="3991356"/>
            <a:ext cx="10363200" cy="962025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4291394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407599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37793" y="4202498"/>
            <a:ext cx="89436" cy="78077"/>
          </a:xfrm>
          <a:custGeom>
            <a:avLst/>
            <a:gdLst/>
            <a:ahLst/>
            <a:cxnLst/>
            <a:rect l="l" t="t" r="r" b="b"/>
            <a:pathLst>
              <a:path w="89436" h="78077">
                <a:moveTo>
                  <a:pt x="0" y="599"/>
                </a:moveTo>
                <a:arcTo hR="85281" wR="85281" stAng="15792241" swAng="4464005"/>
                <a:arcTo hR="7938" wR="7938" stAng="20378098" swAng="2443804"/>
                <a:arcTo hR="85304" wR="85304" stAng="1344858" swAng="923519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4036" y="4241514"/>
            <a:ext cx="40355" cy="40355"/>
          </a:xfrm>
          <a:custGeom>
            <a:avLst/>
            <a:gdLst/>
            <a:ahLst/>
            <a:cxnLst/>
            <a:rect l="l" t="t" r="r" b="b"/>
            <a:pathLst>
              <a:path w="40355" h="40355">
                <a:moveTo>
                  <a:pt x="40355" y="33671"/>
                </a:moveTo>
                <a:arcTo hR="23813" wR="23813" stAng="2759745" swAng="10680511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68471" y="4214471"/>
            <a:ext cx="122869" cy="99147"/>
          </a:xfrm>
          <a:custGeom>
            <a:avLst/>
            <a:gdLst/>
            <a:ahLst/>
            <a:cxnLst/>
            <a:rect l="l" t="t" r="r" b="b"/>
            <a:pathLst>
              <a:path w="122869" h="99147">
                <a:moveTo>
                  <a:pt x="122869" y="87233"/>
                </a:moveTo>
                <a:arcTo hR="85328" wR="85328" stAng="3561553" swAng="5893902"/>
                <a:arcTo hR="7938" wR="7938" stAng="9578098" swAng="2443804"/>
                <a:arcTo hR="85328" wR="85328" stAng="12144555" swAng="2212005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68475" y="417868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0"/>
                </a:moveTo>
                <a:lnTo>
                  <a:pt x="158750" y="15875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38350" y="4179951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原则 03 · 数据不出行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1752600" y="4439031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名单「可用不可见」：合作方只出内容不出名单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752600" y="4679061"/>
            <a:ext cx="113538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先例：银联云加密撞库、坐席无号码</a:t>
            </a:r>
            <a:endParaRPr lang="en-US" sz="1013" dirty="0"/>
          </a:p>
        </p:txBody>
      </p:sp>
      <p:sp>
        <p:nvSpPr>
          <p:cNvPr id="29" name="Shape 27"/>
          <p:cNvSpPr/>
          <p:nvPr/>
        </p:nvSpPr>
        <p:spPr>
          <a:xfrm>
            <a:off x="914400" y="5086731"/>
            <a:ext cx="10363200" cy="962025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171575" y="5386769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502974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855788" y="5297869"/>
            <a:ext cx="63500" cy="5953"/>
          </a:xfrm>
          <a:custGeom>
            <a:avLst/>
            <a:gdLst/>
            <a:ahLst/>
            <a:cxnLst/>
            <a:rect l="l" t="t" r="r" b="b"/>
            <a:pathLst>
              <a:path w="63500" h="5953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55788" y="5353431"/>
            <a:ext cx="63500" cy="5953"/>
          </a:xfrm>
          <a:custGeom>
            <a:avLst/>
            <a:gdLst/>
            <a:ahLst/>
            <a:cxnLst/>
            <a:rect l="l" t="t" r="r" b="b"/>
            <a:pathLst>
              <a:path w="63500" h="5953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55788" y="5408993"/>
            <a:ext cx="63500" cy="5953"/>
          </a:xfrm>
          <a:custGeom>
            <a:avLst/>
            <a:gdLst/>
            <a:ahLst/>
            <a:cxnLst/>
            <a:rect l="l" t="t" r="r" b="b"/>
            <a:pathLst>
              <a:path w="63500" h="5953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76413" y="5377243"/>
            <a:ext cx="47625" cy="31750"/>
          </a:xfrm>
          <a:custGeom>
            <a:avLst/>
            <a:gdLst/>
            <a:ahLst/>
            <a:cxnLst/>
            <a:rect l="l" t="t" r="r" b="b"/>
            <a:pathLst>
              <a:path w="47625" h="31750">
                <a:moveTo>
                  <a:pt x="0" y="15875"/>
                </a:moveTo>
                <a:lnTo>
                  <a:pt x="15875" y="31750"/>
                </a:lnTo>
                <a:lnTo>
                  <a:pt x="47625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76413" y="5297869"/>
            <a:ext cx="47625" cy="31750"/>
          </a:xfrm>
          <a:custGeom>
            <a:avLst/>
            <a:gdLst/>
            <a:ahLst/>
            <a:cxnLst/>
            <a:rect l="l" t="t" r="r" b="b"/>
            <a:pathLst>
              <a:path w="47625" h="31750">
                <a:moveTo>
                  <a:pt x="0" y="15875"/>
                </a:moveTo>
                <a:lnTo>
                  <a:pt x="15875" y="31750"/>
                </a:lnTo>
                <a:lnTo>
                  <a:pt x="47625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38350" y="5275326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原则 04 · 流转必留痕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1752600" y="5534406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全链路审计日志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1752600" y="5774436"/>
            <a:ext cx="113538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覆盖：政银协同数据共享</a:t>
            </a:r>
            <a:endParaRPr lang="en-US" sz="1013" dirty="0"/>
          </a:p>
        </p:txBody>
      </p:sp>
      <p:sp>
        <p:nvSpPr>
          <p:cNvPr id="40" name="Text 38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四原则为一切合作前提（梁斌 DEALBREAKER）：过总行信息安全与数据管理委员会评审，硬伤一票否决。红线：四样不放手。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运营版 v2（可落地版 · 三轮质询已并入） · 2026-08-25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51C2C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风险与底线：红队并置 + 四不放手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790700" y="1939290"/>
            <a:ext cx="11315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风险（马斯克四攻击点）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17104" y="1939290"/>
            <a:ext cx="848929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对冲措施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228850"/>
            <a:ext cx="7505700" cy="0"/>
          </a:xfrm>
          <a:prstGeom prst="line">
            <a:avLst/>
          </a:pr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647950"/>
            <a:ext cx="75057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067050"/>
            <a:ext cx="75057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486150"/>
            <a:ext cx="75057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905250"/>
            <a:ext cx="75057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700" y="237363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90700" y="2373630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AI 物理天花板：净降本 20-30% 到头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104" y="2373630"/>
            <a:ext cx="848929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只做可结构化环节，成本 BOM 入账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8700" y="279273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90700" y="2792730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分母操纵：裁尾部立涨人均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104" y="2792730"/>
            <a:ext cx="848929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同店口径 + 总量同步监测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8700" y="321183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90700" y="3211830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场景净利差 ≈0：全靠交叉销售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104" y="3211830"/>
            <a:ext cx="848929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双目标核销：交叉 ≥30% + 资金沉淀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8700" y="363093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90700" y="3630930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止损线：任一证伪触发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17104" y="3630930"/>
            <a:ext cx="848929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撤回回试点；先例：电销 ≤0 即撤、30/90/180 止损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4286250"/>
            <a:ext cx="7505700" cy="866775"/>
          </a:xfrm>
          <a:prstGeom prst="roundRect">
            <a:avLst>
              <a:gd name="adj" fmla="val 2198"/>
            </a:avLst>
          </a:prstGeom>
          <a:solidFill>
            <a:srgbClr val="DC2626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4314825"/>
            <a:ext cx="7505700" cy="8382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063482" y="4662377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" y="4710113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" y="4773613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33500" y="45053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红线（王一帆）：客户、数据、账户、核心规则四样不放手；外部平台当工具不当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33500" y="47720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大脑。「别给我看 PPT，给我看分行的执行进度。」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风险锚点不改变主基调；每条对冲均有机制或行内先例支撑。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051C2C">
              <a:alpha val="1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/>
        </p:spPr>
      </p:sp>
      <p:sp>
        <p:nvSpPr>
          <p:cNvPr id="36" name="Shape 34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运营版 v2（可落地版 · 三轮质询已并入） · 2026-08-25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946910"/>
            <a:ext cx="121920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谢谢 ·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2689860"/>
            <a:ext cx="121920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行内素材找问题，贝壳方法给解法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5996940"/>
            <a:ext cx="121920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    ·    2026-08-25</a:t>
            </a:r>
            <a:endParaRPr lang="en-US" sz="975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