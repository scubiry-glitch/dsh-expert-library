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各位领导，本次讨论稿 v3 的核心信息：贝壳对江苏银行零售最有价值的不是结论数字，而是验证协议。我们把「效率叙事」变成「可证伪、可考核、可安全落地的工程」——验收口径锁定同店管户AUM/人净增（控β差分），三线并重但分三级推进，数据安全四原则+总行委员会评审前置为一票否决的 dealbreaker。全程数字带口径，行内数据标注待补。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第一页讲判定标准：验收口径锁死在同店管户AUM/人净增，剔除市场β。五个数字各带口径：装修贷是98wiki可核实素材；客户管家7.4%是内部单源只能做试点；Token先享占比0.03%只埋接口不启动。v3 关键变化：施工图拆成T+15到T+180四个里程碑，数据安全一票否决成为一切合作的前提。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这是梁斌 CIO 的必补项，讨论稿 v3 最大的新增：数据安全四原则作为跨线闸门。装修贷三方流转、私行名单共享、权益互换、政银协同都涉及客户数据出界。四原则：最小必要、共享必授权（个保法13条单独授权）、数据不出行（名单可用不可见）、流转必留痕。所有外部合作上线前过总行信息安全与数据管理委员会评审，硬伤一票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三线总览：人效和场景现在干，AI只做单分行试点，Token先享观察。v3 变化：AI线引入人工基线（试点分行试点前6个月同渠道人工转化率差分前测，非全行均值）和 AI辅助/AI自主两档验证；场景线加渠道协同三件套。所有线过数据安全闸门。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效线讲两件事：第一，改善来源是「0变1」的尾部修复而不是「3变6」的能力跃迁，平均数在这里失效，所以要用P25判据分账；第二，考核设计要防造假——零产单率只通报不挂钩绩效，个人考核用行为加结果双因子，分行考核用同店口径差分核销α，不因AUM红利稀释计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AI线 v3 重点：梁斌把证伪条件升级为可执行版本——人工基线锁定试点分行试点前6个月同渠道人工转化率做差分前测，不是全行均值；AI承接分AI辅助和AI自主两档分别验证防口径打架。技术路径是流程分段嵌入：可结构化环节先做，风险定价和终审人工兜底，审批经验沉淀到大模型做辅助决策。数据治理责任主体是总行数据管理部，不是零售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场景线 v3 重点：梁斌加渠道协同三件套——统一商机池、智能路由、全渠道归因，首触加成交分账。简易需求如装修贷标准件走手机银行和远程银行线上闭环，复杂高净值需求路由到网点和私行。禁止各分行自建场景系统重复建设。所有外部合作上线前过数据安全委员会评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领导质询三轮修订并入。袁董事长定验收口径和考核三原则，补政银协同；高行长把施工图钉死到四节点，重设AI证伪条件，加场景双目标；梁斌 CIO 是 v3 最大的增量——人工基线差分前测、AI两档验证、数据安全四原则加委员会评审一票否决、渠道协同三件套、施工图拆T+15和T+30加基线快照。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归因三笔账：人效线+87%拆成β约20%、分母操纵最多33%、α残差47%未验证，α按应收款入账90天后凭差分核销；AI线以β为主命门是成本入账，人工基线和两档验证让证伪可执行；场景线净α从零起步靠交叉销售，渠道协同三件套把获客成本按场景转化付费。贝壳三组α数字全是内部单源，差分前只是相关不是因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施工图 v3 拆成四个里程碑：T+15 口径字典定稿发布（总行数据管理部）；T+30 取数联调加基线快照，用现有数据中台不新建系统，人天估算2-3个月待校准——这是梁斌的关键修订，T+30不补基线则T+90无差分可比；T+90差分初判；T+180看AI证据，按AI辅助和AI自主两档分别验证。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红队四攻击点作为风险锚点：AI物理天花板、分母操纵、场景净利差为零、止损线。每条都有对冲机制。不改变主基调，但是考核办法的底线条款。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附录页是数据口径表：所有数字都带来源和口径标注。v3 新增：数据安全专项四原则（个保法13条单独授权、名单可用不可见、委员会评审一票否决）、人工基线（试点前6个月同渠道人工转化率差分前测、AI两档验证）、渠道协同三件套（首触加成交分账、禁止分行自建）。行内数据全部待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总结：三线并重、分级推进、差分核销、考核落地、数据安全一票否决。最有价值的是验证协议而不是结论——把效率叙事变成可证伪、可考核、可安全落地的工程。下一步：T+15 口径字典定稿、T+30 基线快照，请领导审定施工图与考核办法，外部合作先过总行信息安全与数据管理委员会评审。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75272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江苏银行零售效率</a:t>
            </a:r>
            <a:endParaRPr lang="en-US" sz="3375" dirty="0"/>
          </a:p>
        </p:txBody>
      </p:sp>
      <p:sp>
        <p:nvSpPr>
          <p:cNvPr id="13" name="Text 11"/>
          <p:cNvSpPr/>
          <p:nvPr/>
        </p:nvSpPr>
        <p:spPr>
          <a:xfrm>
            <a:off x="609600" y="3219450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参考：贝壳验证协</a:t>
            </a:r>
            <a:endParaRPr lang="en-US" sz="3375" dirty="0"/>
          </a:p>
        </p:txBody>
      </p:sp>
      <p:sp>
        <p:nvSpPr>
          <p:cNvPr id="14" name="Text 12"/>
          <p:cNvSpPr/>
          <p:nvPr/>
        </p:nvSpPr>
        <p:spPr>
          <a:xfrm>
            <a:off x="609600" y="368617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议比结论更有价值</a:t>
            </a:r>
            <a:endParaRPr lang="en-US" sz="3375" dirty="0"/>
          </a:p>
        </p:txBody>
      </p:sp>
      <p:sp>
        <p:nvSpPr>
          <p:cNvPr id="15" name="Shape 13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392680"/>
            <a:ext cx="670560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王一帆</a:t>
            </a:r>
            <a:pPr algn="l" indent="0" marL="0">
              <a:buNone/>
            </a:pPr>
            <a:r>
              <a:rPr lang="en-US" sz="15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2026-08-25</a:t>
            </a:r>
            <a:pPr algn="l" indent="0" marL="0">
              <a:buNone/>
            </a:pPr>
            <a:r>
              <a:rPr lang="en-US" sz="15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讨论稿 v3（三轮质询已并入）</a:t>
            </a:r>
            <a:endParaRPr lang="en-US" sz="15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关键性结论：验证协议优先，数据安全一票否决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8" name="Shape 6"/>
          <p:cNvSpPr/>
          <p:nvPr/>
        </p:nvSpPr>
        <p:spPr>
          <a:xfrm>
            <a:off x="550767" y="1970129"/>
            <a:ext cx="174679" cy="174610"/>
          </a:xfrm>
          <a:custGeom>
            <a:avLst/>
            <a:gdLst/>
            <a:ahLst/>
            <a:cxnLst/>
            <a:rect l="l" t="t" r="r" b="b"/>
            <a:pathLst>
              <a:path w="174679" h="174610">
                <a:moveTo>
                  <a:pt x="16248" y="57759"/>
                </a:moveTo>
                <a:arcTo hR="34925" wR="34925" stAng="10049003" swAng="6909194"/>
                <a:arcTo hR="34925" wR="34925" stAng="12755696" swAng="6888608"/>
                <a:arcTo hR="34925" wR="34925" stAng="15439731" swAng="6920537"/>
                <a:arcTo hR="34925" wR="34925" stAng="18155696" swAng="6888608"/>
                <a:arcTo hR="34925" wR="34925" stAng="20841803" swAng="6909194"/>
                <a:arcTo hR="34925" wR="34925" stAng="1947705" swAng="6904591"/>
                <a:arcTo hR="34925" wR="34925" stAng="4641803" swAng="6909194"/>
                <a:arcTo hR="34925" wR="34925" stAng="7339684" swAng="6920632"/>
                <a:close/>
              </a:path>
            </a:pathLst>
          </a:custGeom>
          <a:noFill/>
          <a:ln w="17463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1981" y="2039938"/>
            <a:ext cx="52388" cy="34925"/>
          </a:xfrm>
          <a:custGeom>
            <a:avLst/>
            <a:gdLst/>
            <a:ahLst/>
            <a:cxnLst/>
            <a:rect l="l" t="t" r="r" b="b"/>
            <a:pathLst>
              <a:path w="52388" h="34925">
                <a:moveTo>
                  <a:pt x="0" y="17463"/>
                </a:moveTo>
                <a:lnTo>
                  <a:pt x="17463" y="34925"/>
                </a:lnTo>
                <a:lnTo>
                  <a:pt x="52388" y="0"/>
                </a:lnTo>
              </a:path>
            </a:pathLst>
          </a:custGeom>
          <a:noFill/>
          <a:ln w="17463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19507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验收口径锁定「同店管户 AUM/人 净增（控 β 差分）」：净增 &lt;10% 记市场 β、不记组织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5350" y="22555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α；数据安全四原则 + 总行委员会评审前置，一票否决。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3400" y="3048000"/>
            <a:ext cx="210312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625" y="363378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28575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188" y="3590922"/>
            <a:ext cx="142875" cy="107159"/>
          </a:xfrm>
          <a:custGeom>
            <a:avLst/>
            <a:gdLst/>
            <a:ahLst/>
            <a:cxnLst/>
            <a:rect l="l" t="t" r="r" b="b"/>
            <a:pathLst>
              <a:path w="142875" h="107159">
                <a:moveTo>
                  <a:pt x="9573" y="107159"/>
                </a:moveTo>
                <a:arcTo hR="71438" wR="71438" stAng="8999825" swAng="1440034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37528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&lt;10%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3400" y="3638550"/>
            <a:ext cx="19126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900" y="42405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同店管户 AUM/人 净增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3048000"/>
            <a:ext cx="210312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0858" y="3576638"/>
            <a:ext cx="28575" cy="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065145" y="3640931"/>
            <a:ext cx="21431" cy="21431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07995" y="3605213"/>
            <a:ext cx="114300" cy="114300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9420" y="3752850"/>
            <a:ext cx="97459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90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天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3400" y="3638550"/>
            <a:ext cx="4168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79420" y="4263390"/>
            <a:ext cx="974598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 分行差分：3 试点 vs 3 对照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5044440" y="3048000"/>
            <a:ext cx="210312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270659" y="3583781"/>
            <a:ext cx="121444" cy="121444"/>
          </a:xfrm>
          <a:custGeom>
            <a:avLst/>
            <a:gdLst/>
            <a:ahLst/>
            <a:cxnLst/>
            <a:rect l="l" t="t" r="r" b="b"/>
            <a:pathLst>
              <a:path w="121444" h="121444">
                <a:moveTo>
                  <a:pt x="42863" y="100013"/>
                </a:moveTo>
                <a:lnTo>
                  <a:pt x="64294" y="100013"/>
                </a:lnTo>
                <a:lnTo>
                  <a:pt x="64294" y="114300"/>
                </a:lnTo>
                <a:arcTo hR="7144" wR="7144" stAng="10800000" swAng="-5400000"/>
                <a:lnTo>
                  <a:pt x="85725" y="121444"/>
                </a:lnTo>
                <a:arcTo hR="7144" wR="7144" stAng="5400000" swAng="-5400000"/>
                <a:lnTo>
                  <a:pt x="92869" y="92869"/>
                </a:lnTo>
                <a:arcTo hR="22574" wR="22574" stAng="4295142" swAng="-3190284"/>
                <a:lnTo>
                  <a:pt x="114300" y="78581"/>
                </a:lnTo>
                <a:arcTo hR="7144" wR="7144" stAng="5400000" swAng="-5400000"/>
                <a:lnTo>
                  <a:pt x="121444" y="57150"/>
                </a:lnTo>
                <a:arcTo hR="7144" wR="7144" stAng="0" swAng="-5400000"/>
                <a:lnTo>
                  <a:pt x="107156" y="50006"/>
                </a:lnTo>
                <a:arcTo hR="35719" wR="35719" stAng="0" swAng="-3187806"/>
                <a:lnTo>
                  <a:pt x="92869" y="0"/>
                </a:lnTo>
                <a:arcTo hR="28575" wR="28575" stAng="16200000" swAng="-3187806"/>
                <a:lnTo>
                  <a:pt x="67866" y="14288"/>
                </a:lnTo>
                <a:lnTo>
                  <a:pt x="42863" y="14288"/>
                </a:lnTo>
                <a:arcTo hR="42863" wR="42863" stAng="16200000" swAng="-5400000"/>
                <a:lnTo>
                  <a:pt x="0" y="64294"/>
                </a:lnTo>
                <a:arcTo hR="35719" wR="35719" stAng="10800000" swAng="-3187806"/>
                <a:lnTo>
                  <a:pt x="14288" y="114300"/>
                </a:lnTo>
                <a:arcTo hR="7144" wR="7144" stAng="10800000" swAng="-5400000"/>
                <a:lnTo>
                  <a:pt x="35719" y="121444"/>
                </a:lnTo>
                <a:arcTo hR="7144" wR="7144" stAng="5400000" swAng="-5400000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3633788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9228" y="3619500"/>
            <a:ext cx="21431" cy="21431"/>
          </a:xfrm>
          <a:custGeom>
            <a:avLst/>
            <a:gdLst/>
            <a:ahLst/>
            <a:cxnLst/>
            <a:rect l="l" t="t" r="r" b="b"/>
            <a:pathLst>
              <a:path w="21431" h="21431">
                <a:moveTo>
                  <a:pt x="0" y="0"/>
                </a:moveTo>
                <a:lnTo>
                  <a:pt x="0" y="7144"/>
                </a:lnTo>
                <a:arcTo hR="14288" wR="14288" stAng="10800000" swAng="-5400000"/>
                <a:lnTo>
                  <a:pt x="21431" y="21431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4940" y="3752850"/>
            <a:ext cx="74904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3%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起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3400" y="3638550"/>
            <a:ext cx="64236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34940" y="4248150"/>
            <a:ext cx="74904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装修贷年化 · 单户 50 万起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7299960" y="3048000"/>
            <a:ext cx="210312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547610" y="35909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28575" y="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9035" y="3619500"/>
            <a:ext cx="114300" cy="85725"/>
          </a:xfrm>
          <a:prstGeom prst="roundRect">
            <a:avLst>
              <a:gd name="adj" fmla="val 16667"/>
            </a:avLst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4748" y="3662363"/>
            <a:ext cx="14288" cy="5358"/>
          </a:xfrm>
          <a:custGeom>
            <a:avLst/>
            <a:gdLst/>
            <a:ahLst/>
            <a:cxnLst/>
            <a:rect l="l" t="t" r="r" b="b"/>
            <a:pathLst>
              <a:path w="14288" h="5358">
                <a:moveTo>
                  <a:pt x="0" y="0"/>
                </a:moveTo>
                <a:lnTo>
                  <a:pt x="1428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3335" y="3662363"/>
            <a:ext cx="14288" cy="5358"/>
          </a:xfrm>
          <a:custGeom>
            <a:avLst/>
            <a:gdLst/>
            <a:ahLst/>
            <a:cxnLst/>
            <a:rect l="l" t="t" r="r" b="b"/>
            <a:pathLst>
              <a:path w="14288" h="5358">
                <a:moveTo>
                  <a:pt x="0" y="0"/>
                </a:moveTo>
                <a:lnTo>
                  <a:pt x="1428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7616" y="3655219"/>
            <a:ext cx="5358" cy="14288"/>
          </a:xfrm>
          <a:custGeom>
            <a:avLst/>
            <a:gdLst/>
            <a:ahLst/>
            <a:cxnLst/>
            <a:rect l="l" t="t" r="r" b="b"/>
            <a:pathLst>
              <a:path w="5358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54754" y="3655219"/>
            <a:ext cx="5358" cy="14288"/>
          </a:xfrm>
          <a:custGeom>
            <a:avLst/>
            <a:gdLst/>
            <a:ahLst/>
            <a:cxnLst/>
            <a:rect l="l" t="t" r="r" b="b"/>
            <a:pathLst>
              <a:path w="5358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0460" y="3752850"/>
            <a:ext cx="52349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7.4%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533400" y="3638550"/>
            <a:ext cx="86791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490460" y="4255770"/>
            <a:ext cx="52349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客户管家转带看 vs 大盘 5%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555480" y="3048000"/>
            <a:ext cx="210312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760250" y="3576620"/>
            <a:ext cx="142909" cy="142909"/>
          </a:xfrm>
          <a:custGeom>
            <a:avLst/>
            <a:gdLst/>
            <a:ahLst/>
            <a:cxnLst/>
            <a:rect l="l" t="t" r="r" b="b"/>
            <a:pathLst>
              <a:path w="142909" h="142909">
                <a:moveTo>
                  <a:pt x="64432" y="5832"/>
                </a:moveTo>
                <a:arcTo hR="7144" wR="7144" stAng="11434791" swAng="9530419"/>
                <a:lnTo>
                  <a:pt x="85985" y="45537"/>
                </a:lnTo>
                <a:arcTo hR="14288" wR="14288" stAng="10158158" swAng="-4116317"/>
                <a:lnTo>
                  <a:pt x="137077" y="64432"/>
                </a:lnTo>
                <a:arcTo hR="7144" wR="7144" stAng="16834791" swAng="9530419"/>
                <a:lnTo>
                  <a:pt x="97372" y="85985"/>
                </a:lnTo>
                <a:arcTo hR="14288" wR="14288" stAng="15558158" swAng="-4116317"/>
                <a:lnTo>
                  <a:pt x="78477" y="137077"/>
                </a:lnTo>
                <a:arcTo hR="7144" wR="7144" stAng="634791" swAng="9530419"/>
                <a:lnTo>
                  <a:pt x="56924" y="97372"/>
                </a:lnTo>
                <a:arcTo hR="14288" wR="14288" stAng="20958158" swAng="-4116317"/>
                <a:lnTo>
                  <a:pt x="5832" y="78477"/>
                </a:lnTo>
                <a:arcTo hR="7144" wR="7144" stAng="6034791" swAng="9530419"/>
                <a:lnTo>
                  <a:pt x="45537" y="56924"/>
                </a:lnTo>
                <a:arcTo hR="14288" wR="14288" stAng="4758158" swAng="-4116317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88855" y="3576638"/>
            <a:ext cx="5358" cy="28575"/>
          </a:xfrm>
          <a:custGeom>
            <a:avLst/>
            <a:gdLst/>
            <a:ahLst/>
            <a:cxnLst/>
            <a:rect l="l" t="t" r="r" b="b"/>
            <a:pathLst>
              <a:path w="5358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4568" y="3590925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60268" y="3690938"/>
            <a:ext cx="28575" cy="285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45980" y="3752850"/>
            <a:ext cx="29794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0.03%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533400" y="36385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745980" y="4240530"/>
            <a:ext cx="29794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Token 先享在贷占比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行内数据待补；估算标注「研判推断」；客户管家数据为内部单源；施工图四节点：T+15 / T+30 / T+90 / T+180（梁斌修订）。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数据安全专项 · 跨线闸门（dealbreaker）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202692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" y="2231708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4791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4350" y="2214241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4038" y="2277745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8350" y="2215515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01 · 最小必要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752600" y="247459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只取合作所需字段与范围，不整表、不批量外发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914400" y="2931795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1575" y="3136583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278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68388" y="3119158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4038" y="3182620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8350" y="312039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02 · 共享必授权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337947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个保法第 13 条同意基础：单独授权、明确告知用途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383667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4041458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5766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37793" y="4047812"/>
            <a:ext cx="89436" cy="78077"/>
          </a:xfrm>
          <a:custGeom>
            <a:avLst/>
            <a:gdLst/>
            <a:ahLst/>
            <a:cxnLst/>
            <a:rect l="l" t="t" r="r" b="b"/>
            <a:pathLst>
              <a:path w="89436" h="78077">
                <a:moveTo>
                  <a:pt x="0" y="599"/>
                </a:moveTo>
                <a:arcTo hR="85281" wR="85281" stAng="15792241" swAng="4464005"/>
                <a:arcTo hR="7938" wR="7938" stAng="20378098" swAng="2443804"/>
                <a:arcTo hR="85304" wR="85304" stAng="1344858" swAng="923519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4036" y="4086828"/>
            <a:ext cx="40355" cy="40355"/>
          </a:xfrm>
          <a:custGeom>
            <a:avLst/>
            <a:gdLst/>
            <a:ahLst/>
            <a:cxnLst/>
            <a:rect l="l" t="t" r="r" b="b"/>
            <a:pathLst>
              <a:path w="40355" h="40355">
                <a:moveTo>
                  <a:pt x="40355" y="33671"/>
                </a:moveTo>
                <a:arcTo hR="23813" wR="23813" stAng="2759745" swAng="10680511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68471" y="4059785"/>
            <a:ext cx="122869" cy="99147"/>
          </a:xfrm>
          <a:custGeom>
            <a:avLst/>
            <a:gdLst/>
            <a:ahLst/>
            <a:cxnLst/>
            <a:rect l="l" t="t" r="r" b="b"/>
            <a:pathLst>
              <a:path w="122869" h="99147">
                <a:moveTo>
                  <a:pt x="122869" y="87233"/>
                </a:moveTo>
                <a:arcTo hR="85328" wR="85328" stAng="3561553" swAng="5893902"/>
                <a:arcTo hR="7938" wR="7938" stAng="9578098" swAng="2443804"/>
                <a:arcTo hR="85328" wR="85328" stAng="12144555" swAng="2212005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68475" y="402399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0"/>
                </a:moveTo>
                <a:lnTo>
                  <a:pt x="158750" y="15875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8350" y="4025265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03 · 数据不出行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752600" y="428434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名单「可用不可见」：行内定向触达，合作方只出内容不出名单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14400" y="4741545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1575" y="4946333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6253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55788" y="4952682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55788" y="5008245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55788" y="5063807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6413" y="5032057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76413" y="4952682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38350" y="493014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原则 04 · 流转必留痕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752600" y="518922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全链路审计日志 + 合作方供应商安全审查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上线前过总行信息安全与数据管理委员会评审，硬伤一票否决（梁斌 · dealbreaker）。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三线并重 · 分三级推进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5D5C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85201"/>
            <a:ext cx="6019800" cy="96202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71575" y="2285238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014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68475" y="2275713"/>
            <a:ext cx="111125" cy="47625"/>
          </a:xfrm>
          <a:custGeom>
            <a:avLst/>
            <a:gdLst/>
            <a:ahLst/>
            <a:cxnLst/>
            <a:rect l="l" t="t" r="r" b="b"/>
            <a:pathLst>
              <a:path w="111125" h="47625">
                <a:moveTo>
                  <a:pt x="111125" y="47625"/>
                </a:moveTo>
                <a:lnTo>
                  <a:pt x="111125" y="31750"/>
                </a:lnTo>
                <a:arcTo hR="31750" wR="31750" stAng="0" swAng="-5400000"/>
                <a:lnTo>
                  <a:pt x="31750" y="0"/>
                </a:lnTo>
                <a:arcTo hR="31750" wR="31750" stAng="16200000" swAng="-5400000"/>
                <a:lnTo>
                  <a:pt x="0" y="4762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9600" y="2181479"/>
            <a:ext cx="23782" cy="61468"/>
          </a:xfrm>
          <a:custGeom>
            <a:avLst/>
            <a:gdLst/>
            <a:ahLst/>
            <a:cxnLst/>
            <a:rect l="l" t="t" r="r" b="b"/>
            <a:pathLst>
              <a:path w="23782" h="61468">
                <a:moveTo>
                  <a:pt x="0" y="0"/>
                </a:moveTo>
                <a:arcTo hR="31750" wR="31750" stAng="17072025" swAng="905595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3413" y="2276745"/>
            <a:ext cx="23813" cy="46593"/>
          </a:xfrm>
          <a:custGeom>
            <a:avLst/>
            <a:gdLst/>
            <a:ahLst/>
            <a:cxnLst/>
            <a:rect l="l" t="t" r="r" b="b"/>
            <a:pathLst>
              <a:path w="23813" h="46593">
                <a:moveTo>
                  <a:pt x="23813" y="46593"/>
                </a:moveTo>
                <a:lnTo>
                  <a:pt x="23813" y="30718"/>
                </a:lnTo>
                <a:arcTo hR="31750" wR="31750" stAng="21597436" swAng="-4528786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2288" y="2180463"/>
            <a:ext cx="63500" cy="6350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8350" y="217379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线1 人效重构（现在干）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243287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管户重配 SOP + 考核绑定；验收 = 同店管户 AUM/人 净增（控 β 差分）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752600" y="2672906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关键数字：零开单率 25%→&lt;10%（贝壳内部单源）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914400" y="3080576"/>
            <a:ext cx="601980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3480626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9683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16100" y="328377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31750" y="31750"/>
                </a:moveTo>
                <a:lnTo>
                  <a:pt x="3175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4350" y="3315526"/>
            <a:ext cx="127000" cy="95250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68475" y="3363151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1350" y="3363151"/>
            <a:ext cx="15875" cy="5953"/>
          </a:xfrm>
          <a:custGeom>
            <a:avLst/>
            <a:gdLst/>
            <a:ahLst/>
            <a:cxnLst/>
            <a:rect l="l" t="t" r="r" b="b"/>
            <a:pathLst>
              <a:path w="15875" h="5953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1663" y="3355213"/>
            <a:ext cx="5953" cy="15875"/>
          </a:xfrm>
          <a:custGeom>
            <a:avLst/>
            <a:gdLst/>
            <a:ahLst/>
            <a:cxnLst/>
            <a:rect l="l" t="t" r="r" b="b"/>
            <a:pathLst>
              <a:path w="5953" h="15875">
                <a:moveTo>
                  <a:pt x="0" y="0"/>
                </a:moveTo>
                <a:lnTo>
                  <a:pt x="0" y="15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4038" y="3355213"/>
            <a:ext cx="5953" cy="15875"/>
          </a:xfrm>
          <a:custGeom>
            <a:avLst/>
            <a:gdLst/>
            <a:ahLst/>
            <a:cxnLst/>
            <a:rect l="l" t="t" r="r" b="b"/>
            <a:pathLst>
              <a:path w="5953" h="15875">
                <a:moveTo>
                  <a:pt x="0" y="0"/>
                </a:moveTo>
                <a:lnTo>
                  <a:pt x="0" y="15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38350" y="326917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线2 AI 规模化（试点验证）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352825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证伪 = 商机转化率 ≥ 人工基线 且 单客成本不升（6 个月）；AI 辅助 / AI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752600" y="372827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自主两档验证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752600" y="3968306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关键数字：人工基线 = 试点前 6 个月同渠道人工转化率（差分前测）</a:t>
            </a:r>
            <a:endParaRPr lang="en-US" sz="1013" dirty="0"/>
          </a:p>
        </p:txBody>
      </p:sp>
      <p:sp>
        <p:nvSpPr>
          <p:cNvPr id="32" name="Shape 30"/>
          <p:cNvSpPr/>
          <p:nvPr/>
        </p:nvSpPr>
        <p:spPr>
          <a:xfrm>
            <a:off x="914400" y="4375976"/>
            <a:ext cx="60198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71575" y="4766501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88270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39913" y="4674426"/>
            <a:ext cx="44619" cy="28744"/>
          </a:xfrm>
          <a:custGeom>
            <a:avLst/>
            <a:gdLst/>
            <a:ahLst/>
            <a:cxnLst/>
            <a:rect l="l" t="t" r="r" b="b"/>
            <a:pathLst>
              <a:path w="44619" h="28744">
                <a:moveTo>
                  <a:pt x="0" y="7938"/>
                </a:moveTo>
                <a:lnTo>
                  <a:pt x="15875" y="23813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07200" y="4571234"/>
            <a:ext cx="112088" cy="112092"/>
          </a:xfrm>
          <a:custGeom>
            <a:avLst/>
            <a:gdLst/>
            <a:ahLst/>
            <a:cxnLst/>
            <a:rect l="l" t="t" r="r" b="b"/>
            <a:pathLst>
              <a:path w="112088" h="112092">
                <a:moveTo>
                  <a:pt x="56525" y="87316"/>
                </a:moveTo>
                <a:lnTo>
                  <a:pt x="76369" y="107160"/>
                </a:lnTo>
                <a:arcTo hR="16838" wR="16838" stAng="8100000" swAng="-10800000"/>
                <a:lnTo>
                  <a:pt x="69384" y="52550"/>
                </a:lnTo>
                <a:arcTo hR="23813" wR="23813" stAng="18897861" swAng="-5395722"/>
                <a:lnTo>
                  <a:pt x="28744" y="59535"/>
                </a:lnTo>
                <a:arcTo hR="16838" wR="16838" stAng="2700000" swAng="10800000"/>
                <a:lnTo>
                  <a:pt x="27236" y="13418"/>
                </a:lnTo>
                <a:arcTo hR="45958" wR="45958" stAng="13504501" swAng="4547985"/>
                <a:lnTo>
                  <a:pt x="87005" y="8735"/>
                </a:lnTo>
                <a:arcTo hR="15875" wR="15875" stAng="7266804" swAng="-2535412"/>
                <a:lnTo>
                  <a:pt x="112088" y="7941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11350" y="4571238"/>
            <a:ext cx="15875" cy="87313"/>
          </a:xfrm>
          <a:custGeom>
            <a:avLst/>
            <a:gdLst/>
            <a:ahLst/>
            <a:cxnLst/>
            <a:rect l="l" t="t" r="r" b="b"/>
            <a:pathLst>
              <a:path w="15875" h="87313">
                <a:moveTo>
                  <a:pt x="7938" y="0"/>
                </a:moveTo>
                <a:lnTo>
                  <a:pt x="15875" y="87313"/>
                </a:lnTo>
                <a:lnTo>
                  <a:pt x="0" y="87313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68475" y="4571238"/>
            <a:ext cx="80338" cy="143838"/>
          </a:xfrm>
          <a:custGeom>
            <a:avLst/>
            <a:gdLst/>
            <a:ahLst/>
            <a:cxnLst/>
            <a:rect l="l" t="t" r="r" b="b"/>
            <a:pathLst>
              <a:path w="80338" h="143838">
                <a:moveTo>
                  <a:pt x="7938" y="0"/>
                </a:moveTo>
                <a:lnTo>
                  <a:pt x="0" y="87313"/>
                </a:lnTo>
                <a:lnTo>
                  <a:pt x="51594" y="138906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6413" y="4579176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38350" y="456457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线3 场景生态获客（现在干 + 观察分层）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752600" y="4821746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双目标 = 交叉销售率 ≥ 30% + 结算资金日均沉淀额；渠道协同三件套（统一商机池 +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752600" y="5012246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智能路由 + 全渠道归因）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52600" y="5244656"/>
            <a:ext cx="113538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关键数字：装修贷年化 3% 起；私行 6+3 场；首触 + 成交分账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三线不是同一优先级；数据安全四原则为跨线闸门（梁斌 · dealbreaker 一票否决）；验证协议写入考核。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线1 人效重构：客户经理管户重配（现在干）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7505700" cy="1133475"/>
          </a:xfrm>
          <a:prstGeom prst="roundRect">
            <a:avLst>
              <a:gd name="adj" fmla="val 1681"/>
            </a:avLst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8325"/>
            <a:ext cx="7505700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538" y="2311438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9188" y="2374900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验收口径（袁军裁定）：同店管户 AUM/人 净增（控 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差分，陶琦口径：锁定存量管户池、剔除新分配与离职交接），不是规模排名；同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2562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店 AUM/人 只作观测指标不作考核指标。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152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迁移逻辑：「0 变 1」尾部修复——β 能改分母，改不了「零产单变产一单」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95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执行 SOP：划片管户、人客重配——尾部零产单管户收归头部 + AI 辅助承接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838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P25 判据（陶琦）：尾部产出占比超 50%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1052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属存量激活式修复、天花板低；头部跃迁才是真 α，分开记账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448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考核双层（高增银）：分行层 = 同店口径净人效差分核销 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7910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个人层 = 行为（管户覆盖、回访频次）+ 结果（单客 FTP 后净贡献）双因子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1339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零产单率月度通报、不挂钩绩效工资（防尾部客户经理冲量造假）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贝壳参考：人效约 3 单→5.6 单（+87%）、零开单率近 25%→不足 10%（管理层 S 分享 08-21，内部单源）。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线2 AI 规模化：人工基线 + 两档验证（试点）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91931"/>
            <a:ext cx="6019800" cy="2200275"/>
          </a:xfrm>
          <a:prstGeom prst="roundRect">
            <a:avLst>
              <a:gd name="adj" fmla="val 866"/>
            </a:avLst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20506"/>
            <a:ext cx="6019800" cy="2171700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63625" y="3526981"/>
            <a:ext cx="158750" cy="158750"/>
          </a:xfrm>
          <a:prstGeom prst="ellipse">
            <a:avLst/>
          </a:pr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375" y="3558731"/>
            <a:ext cx="95250" cy="95250"/>
          </a:xfrm>
          <a:prstGeom prst="ellipse">
            <a:avLst/>
          </a:pr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125" y="3590481"/>
            <a:ext cx="31750" cy="31750"/>
          </a:xfrm>
          <a:prstGeom prst="ellipse">
            <a:avLst/>
          </a:pr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27110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证伪条件（高增银 / 王一帆 / 梁斌合并口径）：AI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29777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承接商机转化率 ≥ 人工基线 且 单位获客成本不升（6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3500" y="32444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个月验证，T+180 无证据即撤）；人工基线 = 试点分行试点前 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33500" y="35111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个月同渠道人工转化率（差分前测，非全行均值）；「AI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33500" y="377780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承接」分 AI 辅助（人机协同）/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3500" y="40445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自主（无人工干预）两档分别验证；「12 个月进件占比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3500" y="431120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30%」降为监测指标，口径统一到「获批且放款」。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39000" y="19787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物理上限（马斯克）：六成环节可结构化、四成成本不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239000" y="22073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可结构化——净降本 20-30% 到头，不是 10 倍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239000" y="25121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技术路径（梁斌）：流程分段嵌入——先做进件完整性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239000" y="27407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校验、反欺诈初筛、规则审核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239000" y="30455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风险定价与终审人工兜底；人工审批经验沉淀至大模型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7239000" y="32741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做辅助决策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7239000" y="35789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数据治理前置（梁斌）：口径字典与单一取数源由总行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7239000" y="38075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数据中台统一发布，禁止分行自报表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239000" y="41123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责任主体 = 总行数据管理部而非零售部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239000" y="44171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成本 BOM 入账：AI 线索转介成本/单、调用成本/单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7239000" y="47219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算力挂总行科技账时，「效率提升」是账面幻觉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7239000" y="50267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自主可控底线（王一帆）：规则、模型、决策自建；外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239000" y="5255324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部平台当工具不当大脑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进件 ≠ 获批 ≠ 放款：转化链定义到「放款且首笔动账」（高增银裁定）。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线3 场景生态获客：渠道协同三件套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63200" cy="866775"/>
          </a:xfrm>
          <a:prstGeom prst="roundRect">
            <a:avLst>
              <a:gd name="adj" fmla="val 2198"/>
            </a:avLst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57375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35063" y="2308225"/>
            <a:ext cx="44619" cy="28744"/>
          </a:xfrm>
          <a:custGeom>
            <a:avLst/>
            <a:gdLst/>
            <a:ahLst/>
            <a:cxnLst/>
            <a:rect l="l" t="t" r="r" b="b"/>
            <a:pathLst>
              <a:path w="44619" h="28744">
                <a:moveTo>
                  <a:pt x="0" y="7938"/>
                </a:moveTo>
                <a:lnTo>
                  <a:pt x="15875" y="23813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2350" y="2205034"/>
            <a:ext cx="112088" cy="112092"/>
          </a:xfrm>
          <a:custGeom>
            <a:avLst/>
            <a:gdLst/>
            <a:ahLst/>
            <a:cxnLst/>
            <a:rect l="l" t="t" r="r" b="b"/>
            <a:pathLst>
              <a:path w="112088" h="112092">
                <a:moveTo>
                  <a:pt x="56525" y="87316"/>
                </a:moveTo>
                <a:lnTo>
                  <a:pt x="76369" y="107160"/>
                </a:lnTo>
                <a:arcTo hR="16838" wR="16838" stAng="8100000" swAng="-10800000"/>
                <a:lnTo>
                  <a:pt x="69384" y="52550"/>
                </a:lnTo>
                <a:arcTo hR="23813" wR="23813" stAng="18897861" swAng="-5395722"/>
                <a:lnTo>
                  <a:pt x="28744" y="59535"/>
                </a:lnTo>
                <a:arcTo hR="16838" wR="16838" stAng="2700000" swAng="10800000"/>
                <a:lnTo>
                  <a:pt x="27236" y="13418"/>
                </a:lnTo>
                <a:arcTo hR="45958" wR="45958" stAng="13504501" swAng="4547985"/>
                <a:lnTo>
                  <a:pt x="87005" y="8735"/>
                </a:lnTo>
                <a:arcTo hR="15875" wR="15875" stAng="7266804" swAng="-2535412"/>
                <a:lnTo>
                  <a:pt x="112088" y="7941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6500" y="2205037"/>
            <a:ext cx="15875" cy="87313"/>
          </a:xfrm>
          <a:custGeom>
            <a:avLst/>
            <a:gdLst/>
            <a:ahLst/>
            <a:cxnLst/>
            <a:rect l="l" t="t" r="r" b="b"/>
            <a:pathLst>
              <a:path w="15875" h="87313">
                <a:moveTo>
                  <a:pt x="7938" y="0"/>
                </a:moveTo>
                <a:lnTo>
                  <a:pt x="15875" y="87313"/>
                </a:lnTo>
                <a:lnTo>
                  <a:pt x="0" y="87313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625" y="2205037"/>
            <a:ext cx="80338" cy="143838"/>
          </a:xfrm>
          <a:custGeom>
            <a:avLst/>
            <a:gdLst/>
            <a:ahLst/>
            <a:cxnLst/>
            <a:rect l="l" t="t" r="r" b="b"/>
            <a:pathLst>
              <a:path w="80338" h="143838">
                <a:moveTo>
                  <a:pt x="7938" y="0"/>
                </a:moveTo>
                <a:lnTo>
                  <a:pt x="0" y="87313"/>
                </a:lnTo>
                <a:lnTo>
                  <a:pt x="51594" y="138906"/>
                </a:lnTo>
                <a:arcTo hR="16838" wR="16838" stAng="8100000" swAng="-10800000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1563" y="2212975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20478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双目标（高增银裁定）：交叉销售率 ≥ 30%（装修贷客户持有 ≥2 类零售产品）+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23145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受托支付分节点放款留存的结算资金日均沉淀额。无中收与沉淀双目标，场景线就是赔本赚吆喝。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051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装修贷「促转化」定位直接落地：年化 3% 起、单户 50 万 / 上限 300 万、受托支付 + 分节点放款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2480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价内加价约 6% 由装修商贴息——计入客户综合融资成本口径（袁军修订）；补第三方核验凭证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909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高净值共营：私行 12 场中 6 场插课 + 3 场专场（上海试点覆盖南通/苏州/无锡）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33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补「新增私行达标户/场、AUM 净增/场」两指标；权益互换钻石卡 600 万→200 万，合规审查前置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767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Token 先享：只埋接口不启动（0.03% 占比 = 入口非引擎）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6196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政银协同第三层（袁军必补项）：数据共享 + 白名单预授信 + 财政贴息联动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9625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渠道协同三件套（梁斌）：统一商机池 + 智能路由 + 全渠道归因（首触 + 成交分账）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3054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简易需求线上闭环（手机银行 / 远程银行）、复杂高净值路由重渠道（网点 / 私行）；禁止各分行自建场景系统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红线（王一帆）：「装修贷是促转化不是卖金融产品」；按场景转化付费而非按网点成本付费（杨现领）；数据安全四原则为跨线闸门。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领导质询 · 三轮修订并入（袁军 / 高增银 / 梁斌）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790700" y="2835402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袁军 · 董事长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81186" y="2835402"/>
            <a:ext cx="782521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高增银 · 行长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13572" y="2835402"/>
            <a:ext cx="489282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梁斌 · CIO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124962"/>
            <a:ext cx="10363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44062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63162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382262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01362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220462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3275457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总体裁定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90700" y="3275457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验收口径锁同店管户 AUM/人 净增，不是规模排名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81186" y="3275457"/>
            <a:ext cx="782521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施工图三缺（责任/节点/考核）必须补齐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13572" y="3275457"/>
            <a:ext cx="48928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①③需修改、②数据安全必补、④条件可接受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8700" y="3694557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修订 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90700" y="3694557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装修贷加价计入综合融资成本口径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81186" y="3694557"/>
            <a:ext cx="782521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施工图钉死：T+15/T+30/T+90/T+180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13572" y="3694557"/>
            <a:ext cx="48928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线：人工基线差分前测 + 两档验证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8700" y="4113657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修订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90700" y="4113657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权益互换合规审查前置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81186" y="4113657"/>
            <a:ext cx="782521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人效考核双层：分行差分 + 个人双因子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13572" y="4113657"/>
            <a:ext cx="48928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数据安全必补：四原则 + 委员会评审一票否决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8700" y="4532757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修订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90700" y="4532757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政银协同第三层（必补项）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81186" y="4532757"/>
            <a:ext cx="782521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证伪重设：30% 进件占比降为监测指标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3572" y="4532757"/>
            <a:ext cx="48928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场景线：渠道协同三件套，禁止分行自建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8700" y="4951857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考核落地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90700" y="4951857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α/β 分账、90 天不排名、撤点不追责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81186" y="4951857"/>
            <a:ext cx="782521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场景双目标：交叉 ≥30% + 资金沉淀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3572" y="4951857"/>
            <a:ext cx="48928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T+15/T+30 拆里程碑 + 基线快照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领导质询以「领导质询」标注区并入融合稿 v3（袁军 / 高增银 / 梁斌三轮）。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归因分析 · 三线剥离：β 记账、α 应收、90 天差分核销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5D5C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5D5C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89657"/>
            <a:ext cx="1905000" cy="19431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219200" y="3154013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9188" y="3154013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3294507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≈+20%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180207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4900" y="3782187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市场 β · 量增摊薄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2589657"/>
            <a:ext cx="1905000" cy="19431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6459" y="3125339"/>
            <a:ext cx="142989" cy="128687"/>
          </a:xfrm>
          <a:custGeom>
            <a:avLst/>
            <a:gdLst/>
            <a:ahLst/>
            <a:cxnLst/>
            <a:rect l="l" t="t" r="r" b="b"/>
            <a:pathLst>
              <a:path w="142989" h="128687">
                <a:moveTo>
                  <a:pt x="141075" y="107256"/>
                </a:moveTo>
                <a:lnTo>
                  <a:pt x="83925" y="7243"/>
                </a:lnTo>
                <a:arcTo hR="14288" wR="14288" stAng="19827518" swAng="-7255037"/>
                <a:lnTo>
                  <a:pt x="1914" y="107256"/>
                </a:lnTo>
                <a:arcTo hR="14288" wR="14288" stAng="12600161" swAng="-7231094"/>
                <a:lnTo>
                  <a:pt x="128716" y="128687"/>
                </a:lnTo>
                <a:arcTo hR="14288" wR="14288" stAng="5396476" swAng="-7196478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8025" y="3168301"/>
            <a:ext cx="5358" cy="28575"/>
          </a:xfrm>
          <a:custGeom>
            <a:avLst/>
            <a:gdLst/>
            <a:ahLst/>
            <a:cxnLst/>
            <a:rect l="l" t="t" r="r" b="b"/>
            <a:pathLst>
              <a:path w="5358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8025" y="3225451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2300" y="3294507"/>
            <a:ext cx="994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≤+33%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3180207"/>
            <a:ext cx="3771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62300" y="3782187"/>
            <a:ext cx="9944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分母操纵上限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589657"/>
            <a:ext cx="1905000" cy="19431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3970" y="3118277"/>
            <a:ext cx="142909" cy="142909"/>
          </a:xfrm>
          <a:custGeom>
            <a:avLst/>
            <a:gdLst/>
            <a:ahLst/>
            <a:cxnLst/>
            <a:rect l="l" t="t" r="r" b="b"/>
            <a:pathLst>
              <a:path w="142909" h="142909">
                <a:moveTo>
                  <a:pt x="64432" y="5832"/>
                </a:moveTo>
                <a:arcTo hR="7144" wR="7144" stAng="11434791" swAng="9530419"/>
                <a:lnTo>
                  <a:pt x="85985" y="45537"/>
                </a:lnTo>
                <a:arcTo hR="14288" wR="14288" stAng="10158158" swAng="-4116317"/>
                <a:lnTo>
                  <a:pt x="137077" y="64432"/>
                </a:lnTo>
                <a:arcTo hR="7144" wR="7144" stAng="16834791" swAng="9530419"/>
                <a:lnTo>
                  <a:pt x="97372" y="85985"/>
                </a:lnTo>
                <a:arcTo hR="14288" wR="14288" stAng="15558158" swAng="-4116317"/>
                <a:lnTo>
                  <a:pt x="78477" y="137077"/>
                </a:lnTo>
                <a:arcTo hR="7144" wR="7144" stAng="634791" swAng="9530419"/>
                <a:lnTo>
                  <a:pt x="56924" y="97372"/>
                </a:lnTo>
                <a:arcTo hR="14288" wR="14288" stAng="20958158" swAng="-4116317"/>
                <a:lnTo>
                  <a:pt x="5832" y="78477"/>
                </a:lnTo>
                <a:arcTo hR="7144" wR="7144" stAng="6034791" swAng="9530419"/>
                <a:lnTo>
                  <a:pt x="45537" y="56924"/>
                </a:lnTo>
                <a:arcTo hR="14288" wR="14288" stAng="4758158" swAng="-4116317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62575" y="3118295"/>
            <a:ext cx="5358" cy="28575"/>
          </a:xfrm>
          <a:custGeom>
            <a:avLst/>
            <a:gdLst/>
            <a:ahLst/>
            <a:cxnLst/>
            <a:rect l="l" t="t" r="r" b="b"/>
            <a:pathLst>
              <a:path w="5358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8288" y="3132582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3988" y="3232595"/>
            <a:ext cx="28575" cy="285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9700" y="3294507"/>
            <a:ext cx="7886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≈+47%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4400" y="3180207"/>
            <a:ext cx="5829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9700" y="3805047"/>
            <a:ext cx="7886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组织/AI α 残差（未验证）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7239000" y="2758440"/>
            <a:ext cx="4038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9000" y="208216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线（β 为主）：净降本 20-30% 到头；AI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39000" y="234886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成本 BOM 必须入账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39000" y="3653790"/>
            <a:ext cx="4038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9000" y="29775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人工基线差分前测 + AI 辅助 / 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39000" y="32442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自主两档验证（梁斌）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239000" y="4549140"/>
            <a:ext cx="4038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9000" y="387286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场景线（净 α ≈ 0）：扣资金成本约 2%、拨备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39000" y="413956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0.5-1%，正 α 全靠交叉销售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39000" y="47682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银行同理：AUM 高增期人均提升主要是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39000" y="50349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β（利率下行存款搬家红利）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专家拆分约值（研判推断），非加总关系；零开单率 25%→&lt;10% 的分布级改变是最可信的组织 α 证据。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施工图 · 四里程碑钉死（T+15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15506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/ T+30 / T+90 / T+180）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2746439"/>
            <a:ext cx="2419350" cy="2505075"/>
          </a:xfrm>
          <a:prstGeom prst="roundRect">
            <a:avLst>
              <a:gd name="adj" fmla="val 78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46439"/>
            <a:ext cx="2419350" cy="76200"/>
          </a:xfrm>
          <a:custGeom>
            <a:avLst/>
            <a:gdLst/>
            <a:ahLst/>
            <a:cxnLst/>
            <a:rect l="l" t="t" r="r" b="b"/>
            <a:pathLst>
              <a:path w="2419350" h="76200">
                <a:moveTo>
                  <a:pt x="0" y="19050"/>
                </a:moveTo>
                <a:arcTo hR="19050" wR="19050" stAng="10800000" swAng="5400000"/>
                <a:lnTo>
                  <a:pt x="2400300" y="0"/>
                </a:lnTo>
                <a:arcTo hR="19050" wR="19050" stAng="16200000" swAng="5400000"/>
                <a:lnTo>
                  <a:pt x="24193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C72C"/>
          </a:solidFill>
          <a:ln/>
        </p:spPr>
      </p:sp>
      <p:sp>
        <p:nvSpPr>
          <p:cNvPr id="8" name="Shape 6"/>
          <p:cNvSpPr/>
          <p:nvPr/>
        </p:nvSpPr>
        <p:spPr>
          <a:xfrm>
            <a:off x="1123950" y="2975039"/>
            <a:ext cx="361950" cy="3619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3089339"/>
            <a:ext cx="2609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600200" y="3087434"/>
            <a:ext cx="10591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总行数据管理部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3950" y="3514154"/>
            <a:ext cx="110680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T+15 · 口径字典定稿发布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3950" y="3828479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609725" y="3850386"/>
            <a:ext cx="105822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日均 AUM 含表外口径、时点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9725" y="4012311"/>
            <a:ext cx="105822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vs 日均规则定稿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3950" y="4266629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转化链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609725" y="4303776"/>
            <a:ext cx="105822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进件 ≠ 获批 ≠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09725" y="4437126"/>
            <a:ext cx="105822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放款：定义到「放款且首笔动账」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3950" y="4647629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发布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609725" y="4650486"/>
            <a:ext cx="1058227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单一取数源由总行数据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1609725" y="4840986"/>
            <a:ext cx="1058227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中台统一发布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3562350" y="2746439"/>
            <a:ext cx="2419350" cy="2505075"/>
          </a:xfrm>
          <a:prstGeom prst="roundRect">
            <a:avLst>
              <a:gd name="adj" fmla="val 78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2350" y="2746439"/>
            <a:ext cx="2419350" cy="76200"/>
          </a:xfrm>
          <a:custGeom>
            <a:avLst/>
            <a:gdLst/>
            <a:ahLst/>
            <a:cxnLst/>
            <a:rect l="l" t="t" r="r" b="b"/>
            <a:pathLst>
              <a:path w="2419350" h="76200">
                <a:moveTo>
                  <a:pt x="0" y="19050"/>
                </a:moveTo>
                <a:arcTo hR="19050" wR="19050" stAng="10800000" swAng="5400000"/>
                <a:lnTo>
                  <a:pt x="2400300" y="0"/>
                </a:lnTo>
                <a:arcTo hR="19050" wR="19050" stAng="16200000" swAng="5400000"/>
                <a:lnTo>
                  <a:pt x="24193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C72C"/>
          </a:solidFill>
          <a:ln/>
        </p:spPr>
      </p:sp>
      <p:sp>
        <p:nvSpPr>
          <p:cNvPr id="23" name="Shape 21"/>
          <p:cNvSpPr/>
          <p:nvPr/>
        </p:nvSpPr>
        <p:spPr>
          <a:xfrm>
            <a:off x="3771900" y="2975039"/>
            <a:ext cx="361950" cy="3619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3089339"/>
            <a:ext cx="790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248150" y="3087434"/>
            <a:ext cx="7943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 年 10 月内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71900" y="3529394"/>
            <a:ext cx="8420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T+30 · 取数联调 + 基线快照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71900" y="3828479"/>
            <a:ext cx="84201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配对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229100" y="3858006"/>
            <a:ext cx="79629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 试点 + 3 同能级对照、试点前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229100" y="4000881"/>
            <a:ext cx="79629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 个月回溯数据补齐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771900" y="4228529"/>
            <a:ext cx="84201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复用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229100" y="4265676"/>
            <a:ext cx="79629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用现有数据中台看板，不新建系统（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29100" y="4399026"/>
            <a:ext cx="79629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人天估算 2-3 个月，待校准）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71900" y="4609529"/>
            <a:ext cx="84201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前提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229100" y="4616196"/>
            <a:ext cx="79629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T+30 不补基线则 T+90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29100" y="4806696"/>
            <a:ext cx="79629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无差分可比（梁斌）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0300" y="2746439"/>
            <a:ext cx="2419350" cy="2505075"/>
          </a:xfrm>
          <a:prstGeom prst="roundRect">
            <a:avLst>
              <a:gd name="adj" fmla="val 787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0300" y="2746439"/>
            <a:ext cx="2419350" cy="76200"/>
          </a:xfrm>
          <a:custGeom>
            <a:avLst/>
            <a:gdLst/>
            <a:ahLst/>
            <a:cxnLst/>
            <a:rect l="l" t="t" r="r" b="b"/>
            <a:pathLst>
              <a:path w="2419350" h="76200">
                <a:moveTo>
                  <a:pt x="0" y="19050"/>
                </a:moveTo>
                <a:arcTo hR="19050" wR="19050" stAng="10800000" swAng="5400000"/>
                <a:lnTo>
                  <a:pt x="2400300" y="0"/>
                </a:lnTo>
                <a:arcTo hR="19050" wR="19050" stAng="16200000" swAng="5400000"/>
                <a:lnTo>
                  <a:pt x="24193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C72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9850" y="2975039"/>
            <a:ext cx="361950" cy="3619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9" name="Text 37"/>
          <p:cNvSpPr/>
          <p:nvPr/>
        </p:nvSpPr>
        <p:spPr>
          <a:xfrm>
            <a:off x="1009650" y="3089339"/>
            <a:ext cx="11182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03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6896100" y="3087434"/>
            <a:ext cx="52959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约 2026Q4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19850" y="3506534"/>
            <a:ext cx="57721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T+90 · 差分初判核销 α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6419850" y="3828479"/>
            <a:ext cx="57721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裁决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6877050" y="3880866"/>
            <a:ext cx="53149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控 AUM 自然增速 5-8%（估算）后净人效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877050" y="3985641"/>
            <a:ext cx="53149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&lt;10% 即撤回 α、回试点重来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419850" y="4152329"/>
            <a:ext cx="57721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纪律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6877050" y="4158996"/>
            <a:ext cx="53149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观察期不排名、撤点不追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77050" y="4349496"/>
            <a:ext cx="53149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责但复盘（袁军三原则）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19850" y="4647629"/>
            <a:ext cx="57721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旁证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6877050" y="4650486"/>
            <a:ext cx="53149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同期监测总量与挂牌量-</a:t>
            </a:r>
            <a:endParaRPr lang="en-US" sz="1088" dirty="0"/>
          </a:p>
        </p:txBody>
      </p:sp>
      <p:sp>
        <p:nvSpPr>
          <p:cNvPr id="50" name="Text 48"/>
          <p:cNvSpPr/>
          <p:nvPr/>
        </p:nvSpPr>
        <p:spPr>
          <a:xfrm>
            <a:off x="6877050" y="4840986"/>
            <a:ext cx="53149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成交周期类 β 旁证</a:t>
            </a:r>
            <a:endParaRPr lang="en-US" sz="1088" dirty="0"/>
          </a:p>
        </p:txBody>
      </p:sp>
      <p:sp>
        <p:nvSpPr>
          <p:cNvPr id="51" name="Shape 49"/>
          <p:cNvSpPr/>
          <p:nvPr/>
        </p:nvSpPr>
        <p:spPr>
          <a:xfrm>
            <a:off x="8858250" y="2746439"/>
            <a:ext cx="2419350" cy="2505075"/>
          </a:xfrm>
          <a:prstGeom prst="roundRect">
            <a:avLst>
              <a:gd name="adj" fmla="val 787"/>
            </a:avLst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858250" y="2746439"/>
            <a:ext cx="2419350" cy="76200"/>
          </a:xfrm>
          <a:custGeom>
            <a:avLst/>
            <a:gdLst/>
            <a:ahLst/>
            <a:cxnLst/>
            <a:rect l="l" t="t" r="r" b="b"/>
            <a:pathLst>
              <a:path w="2419350" h="76200">
                <a:moveTo>
                  <a:pt x="0" y="19050"/>
                </a:moveTo>
                <a:arcTo hR="19050" wR="19050" stAng="10800000" swAng="5400000"/>
                <a:lnTo>
                  <a:pt x="2400300" y="0"/>
                </a:lnTo>
                <a:arcTo hR="19050" wR="19050" stAng="16200000" swAng="5400000"/>
                <a:lnTo>
                  <a:pt x="24193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C72C"/>
          </a:solidFill>
          <a:ln/>
        </p:spPr>
      </p:sp>
      <p:sp>
        <p:nvSpPr>
          <p:cNvPr id="53" name="Shape 51"/>
          <p:cNvSpPr/>
          <p:nvPr/>
        </p:nvSpPr>
        <p:spPr>
          <a:xfrm>
            <a:off x="9067800" y="2975039"/>
            <a:ext cx="361950" cy="3619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54" name="Text 52"/>
          <p:cNvSpPr/>
          <p:nvPr/>
        </p:nvSpPr>
        <p:spPr>
          <a:xfrm>
            <a:off x="6305550" y="3089339"/>
            <a:ext cx="5886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04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9544050" y="3087434"/>
            <a:ext cx="26479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2027 年初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067800" y="3506534"/>
            <a:ext cx="31242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T+180 · AI 证据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9067800" y="3828479"/>
            <a:ext cx="3124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扩点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9525000" y="3873246"/>
            <a:ext cx="26670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辅助 / AI 自主两档转化率 ≥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9525000" y="3997071"/>
            <a:ext cx="26670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人工基线 且 单客成本不升 → 扩点评估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9067800" y="4190429"/>
            <a:ext cx="3124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撤回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9525000" y="4197096"/>
            <a:ext cx="2667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无证据即撤；「获批且放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525000" y="4387596"/>
            <a:ext cx="2667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款」监测口径季度通报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067800" y="4685729"/>
            <a:ext cx="3124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9525000" y="4722876"/>
            <a:ext cx="2667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装修贷 Q3 进件、Q4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525000" y="4856226"/>
            <a:ext cx="2667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转化入月度通报；双目标季度核销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止损线：任一证伪触发（转化率不达标 / 控 β 差分净增 &lt;10% / 交叉销售率 &lt;30%）即撤回叙事、回单分行试点。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反方压力测试 · 风险锚点与对冲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2053209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2257997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4202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47850" y="2264347"/>
            <a:ext cx="5953" cy="103188"/>
          </a:xfrm>
          <a:custGeom>
            <a:avLst/>
            <a:gdLst/>
            <a:ahLst/>
            <a:cxnLst/>
            <a:rect l="l" t="t" r="r" b="b"/>
            <a:pathLst>
              <a:path w="5953" h="103188">
                <a:moveTo>
                  <a:pt x="0" y="103188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4038" y="2296097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47625" y="31750"/>
                </a:moveTo>
                <a:arcTo hR="33099" wR="33099" stAng="6377673" swAng="4420267"/>
                <a:arcTo hR="33099" wR="33099" stAng="2061" swAng="4420267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0225" y="2240533"/>
            <a:ext cx="95250" cy="35720"/>
          </a:xfrm>
          <a:custGeom>
            <a:avLst/>
            <a:gdLst/>
            <a:ahLst/>
            <a:cxnLst/>
            <a:rect l="l" t="t" r="r" b="b"/>
            <a:pathLst>
              <a:path w="95250" h="35720">
                <a:moveTo>
                  <a:pt x="92059" y="35720"/>
                </a:moveTo>
                <a:arcTo hR="23813" wR="23813" stAng="1800175" swAng="-12600326"/>
                <a:arcTo hR="23813" wR="23813" stAng="151" swAng="-12600326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5451" y="2265339"/>
            <a:ext cx="23844" cy="45799"/>
          </a:xfrm>
          <a:custGeom>
            <a:avLst/>
            <a:gdLst/>
            <a:ahLst/>
            <a:cxnLst/>
            <a:rect l="l" t="t" r="r" b="b"/>
            <a:pathLst>
              <a:path w="23844" h="45799">
                <a:moveTo>
                  <a:pt x="0" y="0"/>
                </a:moveTo>
                <a:arcTo hR="31750" wR="31750" stAng="17065184" swAng="6232482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95475" y="2308289"/>
            <a:ext cx="31749" cy="59246"/>
          </a:xfrm>
          <a:custGeom>
            <a:avLst/>
            <a:gdLst/>
            <a:ahLst/>
            <a:cxnLst/>
            <a:rect l="l" t="t" r="r" b="b"/>
            <a:pathLst>
              <a:path w="31749" h="59246">
                <a:moveTo>
                  <a:pt x="0" y="59246"/>
                </a:moveTo>
                <a:arcTo hR="31750" wR="31750" stAng="5399849" swAng="-8999674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4350" y="2363430"/>
            <a:ext cx="127000" cy="35820"/>
          </a:xfrm>
          <a:custGeom>
            <a:avLst/>
            <a:gdLst/>
            <a:ahLst/>
            <a:cxnLst/>
            <a:rect l="l" t="t" r="r" b="b"/>
            <a:pathLst>
              <a:path w="127000" h="35820">
                <a:moveTo>
                  <a:pt x="126738" y="0"/>
                </a:moveTo>
                <a:arcTo hR="31750" wR="31750" stAng="21158125" swAng="11238206"/>
                <a:arcTo hR="31750" wR="31750" stAng="3669" swAng="11238206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8476" y="2308289"/>
            <a:ext cx="31749" cy="59246"/>
          </a:xfrm>
          <a:custGeom>
            <a:avLst/>
            <a:gdLst/>
            <a:ahLst/>
            <a:cxnLst/>
            <a:rect l="l" t="t" r="r" b="b"/>
            <a:pathLst>
              <a:path w="31749" h="59246">
                <a:moveTo>
                  <a:pt x="31749" y="59246"/>
                </a:moveTo>
                <a:arcTo hR="31750" wR="31750" stAng="5400151" swAng="8999674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6405" y="2265339"/>
            <a:ext cx="23844" cy="45799"/>
          </a:xfrm>
          <a:custGeom>
            <a:avLst/>
            <a:gdLst/>
            <a:ahLst/>
            <a:cxnLst/>
            <a:rect l="l" t="t" r="r" b="b"/>
            <a:pathLst>
              <a:path w="23844" h="45799">
                <a:moveTo>
                  <a:pt x="23844" y="0"/>
                </a:moveTo>
                <a:arcTo hR="31750" wR="31750" stAng="15334816" swAng="-6232482"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8350" y="2241804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AI 物理天花板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752600" y="250088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净降本 20-30% 到头；只触及利润权重 ≤40% 环节。对冲：成本 BOM 入账、试点验证。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14400" y="2958084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3162872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79077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47850" y="3153346"/>
            <a:ext cx="5953" cy="142875"/>
          </a:xfrm>
          <a:custGeom>
            <a:avLst/>
            <a:gdLst/>
            <a:ahLst/>
            <a:cxnLst/>
            <a:rect l="l" t="t" r="r" b="b"/>
            <a:pathLst>
              <a:path w="5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9600" y="3185097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6413" y="3169222"/>
            <a:ext cx="142875" cy="15875"/>
          </a:xfrm>
          <a:custGeom>
            <a:avLst/>
            <a:gdLst/>
            <a:ahLst/>
            <a:cxnLst/>
            <a:rect l="l" t="t" r="r" b="b"/>
            <a:pathLst>
              <a:path w="142875" h="15875">
                <a:moveTo>
                  <a:pt x="0" y="15875"/>
                </a:moveTo>
                <a:lnTo>
                  <a:pt x="7938" y="15875"/>
                </a:lnTo>
                <a:arcTo hR="134938" wR="134938" stAng="5400000" swAng="-1684349"/>
                <a:arcTo hR="134938" wR="134938" stAng="7084349" swAng="-1684349"/>
                <a:lnTo>
                  <a:pt x="142875" y="15875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8475" y="3185097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08163" y="3296221"/>
            <a:ext cx="79375" cy="5953"/>
          </a:xfrm>
          <a:custGeom>
            <a:avLst/>
            <a:gdLst/>
            <a:ahLst/>
            <a:cxnLst/>
            <a:rect l="l" t="t" r="r" b="b"/>
            <a:pathLst>
              <a:path w="79375" h="5953">
                <a:moveTo>
                  <a:pt x="0" y="0"/>
                </a:moveTo>
                <a:lnTo>
                  <a:pt x="7937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8350" y="3146679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分母操纵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752600" y="340575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裁尾部、缩网点可立涨 20-30%，总量不动。对冲：同店口径 + 总量监测。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914400" y="3862959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1575" y="4067747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83952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1792288" y="4074097"/>
            <a:ext cx="111125" cy="111125"/>
          </a:xfrm>
          <a:prstGeom prst="lin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4350" y="4066159"/>
            <a:ext cx="39688" cy="39688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71663" y="4153471"/>
            <a:ext cx="39688" cy="39688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38350" y="4051554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场景净利差 ≈ 0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752600" y="431063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 α 全靠交叉销售，转化率未披露。对冲：双目标落地。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14400" y="4767834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171575" y="4972622"/>
            <a:ext cx="361950" cy="361950"/>
          </a:xfrm>
          <a:prstGeom prst="ellipse">
            <a:avLst/>
          </a:pr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088827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784350" y="4955155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4038" y="5018659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38350" y="4956429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止损线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752600" y="521550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任一证伪触发即撤回叙事；回单分行试点、复盘不追责。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反方并置（马斯克 bearish 四攻击点）：作为风险锚点不改变主基调，每条均带对冲。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数据口径与来源 · 行内数据待补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5240274"/>
            <a:ext cx="10363200" cy="419100"/>
          </a:xfrm>
          <a:prstGeom prst="rect">
            <a:avLst/>
          </a:prstGeom>
          <a:solidFill>
            <a:srgbClr val="FFF6DD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2017014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素材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90902" y="2017014"/>
            <a:ext cx="1001549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71749" y="2017014"/>
            <a:ext cx="613465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 / 标注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306574"/>
            <a:ext cx="10363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256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447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638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829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020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8211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2402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59374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245135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素材（可核实）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90902" y="2464689"/>
            <a:ext cx="1001549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装修贷年化 3% 起、单户 50 万 / 上限 300 万、价内加价约 6%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971749" y="24513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2026-08-18 版方案口径；加价计入综合融资成本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287045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素材（可核实）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90902" y="2876169"/>
            <a:ext cx="1001549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Token 先享试单授信 2,800 万；成熟 5 亿在贷；私行 6+3 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71749" y="2883789"/>
            <a:ext cx="613465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中行广州已落地；占比 0.03% = 入口非引擎；上海试点覆盖南通/苏州/无锡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028700" y="3295269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今日贝壳研究（公开可核实）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90902" y="3289554"/>
            <a:ext cx="1001549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二手单量 +近两成、利润率 14.6%、净利 38.79 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71749" y="32895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财新 08-22 / 搜狐等 08-22；β 占六成为专家估算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3720084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管理层 S 分享 08-21（内部单源）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90902" y="3721989"/>
            <a:ext cx="1001549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人效 3→5.6 单（+87%）、零开单率 25%→&lt;10%、转带看 7.4% vs 5%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971749" y="37086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内部单源未获独立验证；同店口径、成本/单未披露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4133469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数据安全专项（梁斌必补项）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90902" y="4133469"/>
            <a:ext cx="1001549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四原则：最小必要 / 共享必授权 / 数据不出行 / 流转必留痕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71749" y="4125849"/>
            <a:ext cx="61346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个保法第 13 条单独授权；名单可用不可见；委员会评审一票否决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28700" y="454685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人工基线（梁斌）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90902" y="4546854"/>
            <a:ext cx="1001549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试点分行试点前 6 个月同渠道人工转化率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71749" y="45468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差分前测，非全行均值；AI 辅助 / AI 自主两档验证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8700" y="496595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渠道协同三件套（梁斌）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90902" y="4965954"/>
            <a:ext cx="1001549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统一商机池 + 智能路由 + 全渠道归因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71749" y="49659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首触 + 成交分账；禁止分行自建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8700" y="538505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行内数据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90902" y="5390769"/>
            <a:ext cx="1001549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零产单率、人均 AUM、单客成本、交叉销售率现值、人天估算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71749" y="5385054"/>
            <a:ext cx="61346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全部标注「待补」；证伪线须口径字典上线后核实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5758434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98wiki 知识库素材 + 今日贝壳研究 + 三轮质询修订（2026-08-25）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心智模型：同店口径 · α/β 剥离 · 差分验证 · 成本 BOM · 政银协同 · 数据安全四原则 · 人工基线 · 统一商机池。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 v3（三轮质询已并入） · 2026-08-25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537210"/>
            <a:ext cx="115824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600" y="2299335"/>
            <a:ext cx="1158240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谢谢 ·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609600" y="3147060"/>
            <a:ext cx="1158240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三线并重、差分核销、安全落地</a:t>
            </a:r>
            <a:endParaRPr lang="en-US" sz="6150" dirty="0"/>
          </a:p>
        </p:txBody>
      </p:sp>
      <p:sp>
        <p:nvSpPr>
          <p:cNvPr id="6" name="Shape 4"/>
          <p:cNvSpPr/>
          <p:nvPr/>
        </p:nvSpPr>
        <p:spPr>
          <a:xfrm>
            <a:off x="609600" y="4953000"/>
            <a:ext cx="109728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52959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Contact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5577840"/>
            <a:ext cx="11582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王一帆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