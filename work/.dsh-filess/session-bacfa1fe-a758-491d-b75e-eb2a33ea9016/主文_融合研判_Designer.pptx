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开场：各位领导，这是智见点评团队对江北新区管委会专题座谈会提出的「政府+贝壳」合资收储四问的融合研判。结论先行：该托底，当前正是窗口，但必须按纪律小步快走。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先立基调：市场在筑底临界区，收储是加速确认的政策工具。随后过一遍五条执行纪律，特别强调 6 折纪律与不搞全量兜底——这两条是模型的生死线。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这一页直接回答管委会四问，每问给一个可以拍板的结论：触底与否看两个晴雨表；规模先试点后滚动；法拍风险可控且可缓释；ROE 必须分清一次性与常态化。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五条纪律建议原样写入合资协议：折扣、规模上限、退出机制制度化一次说清，避免挤牙膏式加码。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租的晴雨表先亮了：租赁放量、租金回升、回报率 2.29% 覆盖再贷款成本；卖的晴雨表还没亮：指数创新低、周期 7.8 个月。这是典型筑底形态。数据口径：贝壳成出口径，2026-07 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月环比转正是筑底临界信号，但单月不足以确认；8-10 月能否连续为正才是价格企稳的第一信号。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租金回报 2.29% 已高于再贷款 1.75%，逼近综合成本 2.5%——这正是 6 折纪律的由来。政策侧工具齐备，剩下的是执行纪律问题。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法拍供给量级与收储目标匹配，风险全部可缓释、可定价。关键是把 6 折上限价当作含税含清场成本的全成本价，并预留缓冲。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模型成立靠三低：低成本资金、低折扣收购、低运营成本。6 折是基准情形，7 折是上限也是红线。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收储不是终点，改造才是价值。保租房通道须独立考核保障属性，防止把保障房当库存消化工具。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节奏上小步快走：先试点验证，再滚动放大；销售通道必须等到价格企稳确认之后，避免边收边卖。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这些是下修情形，不是基准情形。每条都配了闸门或边界，保证极端情况下模型可止损。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盯住八个信号，其中挂牌存量是最核心的规模决策变量，8-10 月成交价连正是价格企稳的第一信号。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收尾给双方一张行动清单：政府侧立规矩、出资源、抓披露；贝壳侧守纪律、做运营、签 B2B。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结束语：谢谢各位领导。完整数据口径、测算假设与八信号跟踪表见正式稿（HTML5 / PDF）。欢迎就试点规模、折扣区间与 B2B 签约节奏进一步讨论。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E8ED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E9EE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EAEFF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EBEF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EBF0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ECF0F8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3F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F0F3F9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F1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9A6A1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426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D2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南京江北新区「政府+贝壳」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914400" y="3293745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D2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合资收储可行性</a:t>
            </a:r>
            <a:endParaRPr lang="en-US" sz="6300" dirty="0"/>
          </a:p>
        </p:txBody>
      </p:sp>
      <p:sp>
        <p:nvSpPr>
          <p:cNvPr id="29" name="Shape 27"/>
          <p:cNvSpPr/>
          <p:nvPr/>
        </p:nvSpPr>
        <p:spPr>
          <a:xfrm>
            <a:off x="914400" y="4314825"/>
            <a:ext cx="914400" cy="76200"/>
          </a:xfrm>
          <a:prstGeom prst="rect">
            <a:avLst/>
          </a:prstGeom>
          <a:solidFill>
            <a:srgbClr val="1D2F5E"/>
          </a:solidFill>
          <a:ln/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核心结论：该托底，窗口已开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524000" y="2305050"/>
            <a:ext cx="97536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2604294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1863" y="2604294"/>
            <a:ext cx="174625" cy="87313"/>
          </a:xfrm>
          <a:custGeom>
            <a:avLst/>
            <a:gdLst/>
            <a:ahLst/>
            <a:cxnLst/>
            <a:rect l="l" t="t" r="r" b="b"/>
            <a:pathLst>
              <a:path w="174625" h="87313">
                <a:moveTo>
                  <a:pt x="174625" y="0"/>
                </a:moveTo>
                <a:lnTo>
                  <a:pt x="100409" y="74216"/>
                </a:lnTo>
                <a:lnTo>
                  <a:pt x="56753" y="30559"/>
                </a:lnTo>
                <a:lnTo>
                  <a:pt x="0" y="87313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25298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南京未确认底部，但已进入「量先企稳、价未确认」的底部区间；2027 大概率 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6350" y="28727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型磨底而非深跌。应当托底收储——用政策手段加速底部确认。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5566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 6 折基准、7 折封顶——模型生命线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0614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不搞全量兜底：约 8,000 套是 2-3 年滚动目标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45662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 500-1,000 套试点，再放大至 1,500-2,000 套/年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50711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三通道保租 40-50%/安置 25-35%/销售 25%；ROE 分两本账披露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D2F5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管委会四问 · 速答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23925" y="2921699"/>
            <a:ext cx="0" cy="895350"/>
          </a:xfrm>
          <a:prstGeom prst="line">
            <a:avLst/>
          </a:prstGeom>
          <a:noFill/>
          <a:ln w="19050">
            <a:solidFill>
              <a:srgbClr val="9A6A18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3950" y="2948369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23950" y="3375089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行情是否触底？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23950" y="3657029"/>
            <a:ext cx="1198245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量先企稳、价未确认：7 月环比 +1.56% 转正（3-6 月四连负），但房价指数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1123950" y="3733229"/>
            <a:ext cx="1198245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64.2 仍创新低。2027 磨底而非深跌；托底是政策工具，不是赌底。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3581400" y="2921699"/>
            <a:ext cx="0" cy="895350"/>
          </a:xfrm>
          <a:prstGeom prst="line">
            <a:avLst/>
          </a:prstGeom>
          <a:noFill/>
          <a:ln w="19050">
            <a:solidFill>
              <a:srgbClr val="9A6A1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1425" y="2948369"/>
            <a:ext cx="93249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781425" y="3375089"/>
            <a:ext cx="93249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收储规模多大？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81425" y="3657029"/>
            <a:ext cx="9324975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 1/10（约 8,000 套）作 2-3 年滚动目标；首期 500-1,000 套试点。年资金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3781425" y="3733229"/>
            <a:ext cx="9324975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10-14 亿元（测算），占南京 2025 年财政收入不足 1%。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6238875" y="2921699"/>
            <a:ext cx="0" cy="895350"/>
          </a:xfrm>
          <a:prstGeom prst="line">
            <a:avLst/>
          </a:prstGeom>
          <a:noFill/>
          <a:ln w="19050">
            <a:solidFill>
              <a:srgbClr val="9A6A18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8900" y="2948369"/>
            <a:ext cx="6667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6438900" y="3375089"/>
            <a:ext cx="6667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法拍风险几何？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38900" y="3657029"/>
            <a:ext cx="66675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月挂拍占挂牌 3%-6%（估算），江北年化 720-2,160 套，供给无瓶颈。四查尽调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6438900" y="3733229"/>
            <a:ext cx="66675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+ 5-8% 缓冲 + 备付金 + 政府腾退兜底：风险是定价项，不是阻断项。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8896350" y="2921699"/>
            <a:ext cx="0" cy="895350"/>
          </a:xfrm>
          <a:prstGeom prst="line">
            <a:avLst/>
          </a:prstGeom>
          <a:noFill/>
          <a:ln w="19050">
            <a:solidFill>
              <a:srgbClr val="9A6A18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6375" y="2948369"/>
            <a:ext cx="401002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096375" y="3375089"/>
            <a:ext cx="40100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商业模型与 ROE？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96375" y="3655124"/>
            <a:ext cx="4010025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三通道成立：保租 40-50% / 安置 25-35% / 销售 25%。首年 ROE 30-40%（测算）为一次性价差；常态</a:t>
            </a:r>
            <a:endParaRPr lang="en-US" sz="375" dirty="0"/>
          </a:p>
        </p:txBody>
      </p:sp>
      <p:sp>
        <p:nvSpPr>
          <p:cNvPr id="27" name="Text 25"/>
          <p:cNvSpPr/>
          <p:nvPr/>
        </p:nvSpPr>
        <p:spPr>
          <a:xfrm>
            <a:off x="9096375" y="3721799"/>
            <a:ext cx="4010025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0.3-1%（测算），常态化目标 2-4%，须分两本账披露。</a:t>
            </a:r>
            <a:endParaRPr lang="en-US" sz="375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D2F5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执行纪律五条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98676"/>
            <a:ext cx="1036320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1575" y="1803464"/>
            <a:ext cx="361950" cy="361950"/>
          </a:xfrm>
          <a:prstGeom prst="ellipse">
            <a:avLst/>
          </a:prstGeom>
          <a:noFill/>
          <a:ln w="14288">
            <a:solidFill>
              <a:srgbClr val="5C6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19669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1792288" y="1809813"/>
            <a:ext cx="111125" cy="111125"/>
          </a:xfrm>
          <a:prstGeom prst="lin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4350" y="1801876"/>
            <a:ext cx="39688" cy="39688"/>
          </a:xfrm>
          <a:prstGeom prst="ellips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1663" y="1889189"/>
            <a:ext cx="39688" cy="39688"/>
          </a:xfrm>
          <a:prstGeom prst="ellips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8350" y="178727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折扣是模型生命线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752600" y="204635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21A2B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折基准、7 折封顶；d=0.7 毛收益率 2.44%（测算）低于成本 2.5%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14400" y="2503551"/>
            <a:ext cx="1036320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1575" y="2708339"/>
            <a:ext cx="361950" cy="361950"/>
          </a:xfrm>
          <a:prstGeom prst="ellipse">
            <a:avLst/>
          </a:prstGeom>
          <a:noFill/>
          <a:ln w="14288">
            <a:solidFill>
              <a:srgbClr val="5C6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824544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4350" y="2690872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4038" y="2754376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8350" y="269214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不搞全量兜底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295122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21A2B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8,000 套只作 2-3 年滚动目标，防收-挂-再收循环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14400" y="3408426"/>
            <a:ext cx="1036320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1575" y="3613213"/>
            <a:ext cx="361950" cy="361950"/>
          </a:xfrm>
          <a:prstGeom prst="ellipse">
            <a:avLst/>
          </a:prstGeom>
          <a:noFill/>
          <a:ln w="14288">
            <a:solidFill>
              <a:srgbClr val="5C6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2941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68475" y="3595751"/>
            <a:ext cx="158750" cy="158750"/>
          </a:xfrm>
          <a:prstGeom prst="ellips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0225" y="3627501"/>
            <a:ext cx="95250" cy="95250"/>
          </a:xfrm>
          <a:prstGeom prst="ellips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31975" y="3659251"/>
            <a:ext cx="31750" cy="31750"/>
          </a:xfrm>
          <a:prstGeom prst="ellipse">
            <a:avLst/>
          </a:pr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8350" y="359702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先试点、后放量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752600" y="385610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21A2B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 500-1,000 套，跑通后放大至 1,500-2,000 套/年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914400" y="4313301"/>
            <a:ext cx="1036320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1575" y="4518089"/>
            <a:ext cx="361950" cy="361950"/>
          </a:xfrm>
          <a:prstGeom prst="ellipse">
            <a:avLst/>
          </a:prstGeom>
          <a:noFill/>
          <a:ln w="14288">
            <a:solidFill>
              <a:srgbClr val="5C6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634294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768502" y="4500623"/>
            <a:ext cx="158854" cy="79381"/>
          </a:xfrm>
          <a:custGeom>
            <a:avLst/>
            <a:gdLst/>
            <a:ahLst/>
            <a:cxnLst/>
            <a:rect l="l" t="t" r="r" b="b"/>
            <a:pathLst>
              <a:path w="158854" h="79381">
                <a:moveTo>
                  <a:pt x="85936" y="1432"/>
                </a:moveTo>
                <a:arcTo hR="15875" wR="15875" stAng="17671159" swAng="-2942318"/>
                <a:lnTo>
                  <a:pt x="4735" y="32388"/>
                </a:lnTo>
                <a:arcTo hR="7938" wR="7938" stAng="14772344" swAng="-7944687"/>
                <a:lnTo>
                  <a:pt x="72839" y="77949"/>
                </a:lnTo>
                <a:arcTo hR="15875" wR="15875" stAng="6871159" swAng="-2942318"/>
                <a:lnTo>
                  <a:pt x="154119" y="46993"/>
                </a:lnTo>
                <a:arcTo hR="7938" wR="7938" stAng="3972344" swAng="-7944687"/>
                <a:close/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68475" y="4580001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2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68475" y="4619689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3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38350" y="4501896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三通道有主次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752600" y="476097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21A2B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 40-50% / 安置 25-35% / 销售 25%，销售是退出通道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914400" y="5218176"/>
            <a:ext cx="1036320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1575" y="5422964"/>
            <a:ext cx="361950" cy="361950"/>
          </a:xfrm>
          <a:prstGeom prst="ellipse">
            <a:avLst/>
          </a:prstGeom>
          <a:noFill/>
          <a:ln w="14288">
            <a:solidFill>
              <a:srgbClr val="5C6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539169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84350" y="5405501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15875" y="158750"/>
                </a:moveTo>
                <a:arcTo hR="15875" wR="15875" stAng="5400000" swAng="5400000"/>
                <a:lnTo>
                  <a:pt x="0" y="15875"/>
                </a:lnTo>
                <a:arcTo hR="15875" wR="15875" stAng="10800000" swAng="5400000"/>
                <a:lnTo>
                  <a:pt x="79375" y="0"/>
                </a:lnTo>
                <a:arcTo hR="19050" wR="19050" stAng="16194428" swAng="2711764"/>
                <a:lnTo>
                  <a:pt x="121380" y="34084"/>
                </a:lnTo>
                <a:arcTo hR="19050" wR="19050" stAng="18889766" swAng="2715819"/>
                <a:lnTo>
                  <a:pt x="127000" y="142875"/>
                </a:lnTo>
                <a:arcTo hR="15875" wR="15875" stAng="0" swAng="5400000"/>
                <a:close/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3725" y="540550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0" y="39688"/>
                </a:lnTo>
                <a:arcTo hR="7938" wR="7938" stAng="10800000" swAng="-5400000"/>
                <a:lnTo>
                  <a:pt x="47625" y="47625"/>
                </a:lnTo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4038" y="5492814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9A6A1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38350" y="5406771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ROE 分两本账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752600" y="566585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21A2B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 30-40% 为一次性价差；常态化目标 2-4%，如实披露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13636"/>
            </a:avLst>
          </a:prstGeom>
          <a:solidFill>
            <a:srgbClr val="1D2F5E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行情总览：租先于售、量先于价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3259379"/>
            <a:ext cx="12001500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16,893</a:t>
            </a:r>
            <a:endParaRPr lang="en-US" sz="2775" dirty="0"/>
          </a:p>
        </p:txBody>
      </p:sp>
      <p:sp>
        <p:nvSpPr>
          <p:cNvPr id="7" name="Text 5"/>
          <p:cNvSpPr/>
          <p:nvPr/>
        </p:nvSpPr>
        <p:spPr>
          <a:xfrm>
            <a:off x="914400" y="3179369"/>
            <a:ext cx="1409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4900" y="3811829"/>
            <a:ext cx="120015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二手成交均价（元/㎡）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4900" y="3990899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月环比 +1.56%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26670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500" y="3236519"/>
            <a:ext cx="10248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64.2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179369"/>
            <a:ext cx="3162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57500" y="3781349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贝壳房价指数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57500" y="3990899"/>
            <a:ext cx="102489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创新低；上海 80.3 回升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4196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0100" y="3259379"/>
            <a:ext cx="8496300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12,074</a:t>
            </a:r>
            <a:endParaRPr lang="en-US" sz="2775" dirty="0"/>
          </a:p>
        </p:txBody>
      </p:sp>
      <p:sp>
        <p:nvSpPr>
          <p:cNvPr id="17" name="Text 15"/>
          <p:cNvSpPr/>
          <p:nvPr/>
        </p:nvSpPr>
        <p:spPr>
          <a:xfrm>
            <a:off x="914400" y="3179369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0100" y="3804209"/>
            <a:ext cx="84963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租赁成交量（套/月）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10100" y="3990899"/>
            <a:ext cx="8496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4-7 月连放，年内新高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61722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2700" y="3236519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3,029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" y="3179369"/>
            <a:ext cx="666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2700" y="3788969"/>
            <a:ext cx="674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套均租金（元/月）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362700" y="3990899"/>
            <a:ext cx="6743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环比 +10.1%，连升两月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79248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5300" y="3236519"/>
            <a:ext cx="4991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4400" y="3179369"/>
            <a:ext cx="842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2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15300" y="3781349"/>
            <a:ext cx="4991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成交周期（月）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5300" y="3990899"/>
            <a:ext cx="49911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3.5，买方市场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9677400" y="2528811"/>
            <a:ext cx="1600200" cy="223456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67900" y="3236519"/>
            <a:ext cx="323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2.29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4400" y="3179369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67900" y="3796589"/>
            <a:ext cx="3238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租金回报率（自算）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67900" y="3990899"/>
            <a:ext cx="3238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覆盖再贷款 1.75%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D2F5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价格筑底信号：7 月环比转正</a:t>
            </a:r>
            <a:endParaRPr lang="en-US" sz="3000" dirty="0"/>
          </a:p>
        </p:txBody>
      </p:sp>
      <p:sp>
        <p:nvSpPr>
          <p:cNvPr id="8" name="svg2pptx-gradient-s0005-0000"/>
          <p:cNvSpPr/>
          <p:nvPr/>
        </p:nvSpPr>
        <p:spPr>
          <a:xfrm>
            <a:off x="1238250" y="2262380"/>
            <a:ext cx="1939290" cy="1385695"/>
          </a:xfrm>
          <a:prstGeom prst="rect">
            <a:avLst/>
          </a:prstGeom>
          <a:gradFill rotWithShape="1">
            <a:gsLst>
              <a:gs pos="0">
                <a:srgbClr val="9A6A18">
                  <a:alpha val="75000"/>
                </a:srgbClr>
              </a:gs>
              <a:gs pos="100000">
                <a:srgbClr val="6C4A11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914400" y="2140460"/>
            <a:ext cx="25869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21A2B"/>
                </a:solidFill>
              </a:rPr>
              <a:t>-3.63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914400" y="3697605"/>
            <a:ext cx="25869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</a:rPr>
              <a:t>3月</a:t>
            </a:r>
            <a:endParaRPr lang="en-US" sz="825" dirty="0"/>
          </a:p>
        </p:txBody>
      </p:sp>
      <p:sp>
        <p:nvSpPr>
          <p:cNvPr id="11" name="svg2pptx-gradient-s0005-0001"/>
          <p:cNvSpPr/>
          <p:nvPr/>
        </p:nvSpPr>
        <p:spPr>
          <a:xfrm>
            <a:off x="3253740" y="2262380"/>
            <a:ext cx="1939290" cy="400821"/>
          </a:xfrm>
          <a:prstGeom prst="rect">
            <a:avLst/>
          </a:prstGeom>
          <a:gradFill rotWithShape="1">
            <a:gsLst>
              <a:gs pos="0">
                <a:srgbClr val="9A6A18">
                  <a:alpha val="75000"/>
                </a:srgbClr>
              </a:gs>
              <a:gs pos="100000">
                <a:srgbClr val="6C4A11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914400" y="2140460"/>
            <a:ext cx="661797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21A2B"/>
                </a:solidFill>
              </a:rPr>
              <a:t>-1.05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14400" y="3697605"/>
            <a:ext cx="661797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</a:rPr>
              <a:t>4月</a:t>
            </a:r>
            <a:endParaRPr lang="en-US" sz="825" dirty="0"/>
          </a:p>
        </p:txBody>
      </p:sp>
      <p:sp>
        <p:nvSpPr>
          <p:cNvPr id="14" name="svg2pptx-gradient-s0005-0002"/>
          <p:cNvSpPr/>
          <p:nvPr/>
        </p:nvSpPr>
        <p:spPr>
          <a:xfrm>
            <a:off x="5269230" y="2262380"/>
            <a:ext cx="1939290" cy="629861"/>
          </a:xfrm>
          <a:prstGeom prst="rect">
            <a:avLst/>
          </a:prstGeom>
          <a:gradFill rotWithShape="1">
            <a:gsLst>
              <a:gs pos="0">
                <a:srgbClr val="9A6A18">
                  <a:alpha val="75000"/>
                </a:srgbClr>
              </a:gs>
              <a:gs pos="100000">
                <a:srgbClr val="6C4A11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914400" y="2140460"/>
            <a:ext cx="10648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21A2B"/>
                </a:solidFill>
              </a:rPr>
              <a:t>-1.65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914400" y="3697605"/>
            <a:ext cx="10648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</a:rPr>
              <a:t>5月</a:t>
            </a:r>
            <a:endParaRPr lang="en-US" sz="825" dirty="0"/>
          </a:p>
        </p:txBody>
      </p:sp>
      <p:sp>
        <p:nvSpPr>
          <p:cNvPr id="17" name="svg2pptx-gradient-s0005-0003"/>
          <p:cNvSpPr/>
          <p:nvPr/>
        </p:nvSpPr>
        <p:spPr>
          <a:xfrm>
            <a:off x="7284720" y="2262380"/>
            <a:ext cx="1939290" cy="610775"/>
          </a:xfrm>
          <a:prstGeom prst="rect">
            <a:avLst/>
          </a:prstGeom>
          <a:gradFill rotWithShape="1">
            <a:gsLst>
              <a:gs pos="0">
                <a:srgbClr val="9A6A18">
                  <a:alpha val="75000"/>
                </a:srgbClr>
              </a:gs>
              <a:gs pos="100000">
                <a:srgbClr val="6C4A11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3402330" y="2140460"/>
            <a:ext cx="970407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21A2B"/>
                </a:solidFill>
              </a:rPr>
              <a:t>-1.6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02330" y="3697605"/>
            <a:ext cx="970407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</a:rPr>
              <a:t>6月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9300210" y="1666875"/>
            <a:ext cx="1939290" cy="595505"/>
          </a:xfrm>
          <a:prstGeom prst="rect">
            <a:avLst/>
          </a:prstGeom>
          <a:solidFill>
            <a:srgbClr val="9A6A18"/>
          </a:solidFill>
          <a:ln/>
        </p:spPr>
      </p:sp>
      <p:sp>
        <p:nvSpPr>
          <p:cNvPr id="21" name="Text 19"/>
          <p:cNvSpPr/>
          <p:nvPr/>
        </p:nvSpPr>
        <p:spPr>
          <a:xfrm>
            <a:off x="7433310" y="1544955"/>
            <a:ext cx="56730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21A2B"/>
                </a:solidFill>
              </a:rPr>
              <a:t>1.56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433310" y="3697605"/>
            <a:ext cx="56730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</a:rPr>
              <a:t>7月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14400" y="3888105"/>
            <a:ext cx="10648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月度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14400" y="24069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4400" y="25307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914400" y="26546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14400" y="2778442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914400" y="4181475"/>
            <a:ext cx="1036320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181475"/>
            <a:ext cx="10363200" cy="57150"/>
          </a:xfrm>
          <a:custGeom>
            <a:avLst/>
            <a:gdLst/>
            <a:ahLst/>
            <a:cxnLst/>
            <a:rect l="l" t="t" r="r" b="b"/>
            <a:pathLst>
              <a:path w="10363200" h="57150">
                <a:moveTo>
                  <a:pt x="0" y="57150"/>
                </a:moveTo>
                <a:arcTo hR="57150" wR="57150" stAng="10800000" swAng="5400000"/>
                <a:lnTo>
                  <a:pt x="10306050" y="0"/>
                </a:lnTo>
                <a:arcTo hR="57150" wR="57150" stAng="16200000" swAng="5400000"/>
                <a:lnTo>
                  <a:pt x="103632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9A6A18"/>
          </a:solidFill>
          <a:ln/>
        </p:spPr>
      </p:sp>
      <p:sp>
        <p:nvSpPr>
          <p:cNvPr id="30" name="Text 28"/>
          <p:cNvSpPr/>
          <p:nvPr/>
        </p:nvSpPr>
        <p:spPr>
          <a:xfrm>
            <a:off x="1123950" y="4404360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123950" y="47320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租端领先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924050" y="4731068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租赁量年内新高、租金连升两月，回报率 2.29%（自算）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1123950" y="50749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卖端未确认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24050" y="5073968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房价指数 64.2 仍创新低、周期 7.8 个月</a:t>
            </a:r>
            <a:endParaRPr lang="en-US" sz="1013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政策窗口与财政可承受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9A6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DE2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9392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21A2B"/>
                </a:solidFill>
              </a:rPr>
              <a:t>租金回报 07</a:t>
            </a:r>
            <a:endParaRPr lang="en-US" sz="975" dirty="0"/>
          </a:p>
        </p:txBody>
      </p:sp>
      <p:sp>
        <p:nvSpPr>
          <p:cNvPr id="7" name="svg2pptx-gradient-s0006-0000"/>
          <p:cNvSpPr/>
          <p:nvPr/>
        </p:nvSpPr>
        <p:spPr>
          <a:xfrm>
            <a:off x="1771650" y="1762125"/>
            <a:ext cx="8428253" cy="476250"/>
          </a:xfrm>
          <a:prstGeom prst="rect">
            <a:avLst/>
          </a:prstGeom>
          <a:gradFill rotWithShape="1">
            <a:gsLst>
              <a:gs pos="0">
                <a:srgbClr val="6C4A11">
                  <a:alpha val="75000"/>
                </a:srgbClr>
              </a:gs>
              <a:gs pos="100000">
                <a:srgbClr val="9A6A18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0276103" y="1943100"/>
            <a:ext cx="25254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6A82"/>
                </a:solidFill>
              </a:rPr>
              <a:t>2.29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609600" y="25107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21A2B"/>
                </a:solidFill>
              </a:rPr>
              <a:t>租金回报 03</a:t>
            </a:r>
            <a:endParaRPr lang="en-US" sz="975" dirty="0"/>
          </a:p>
        </p:txBody>
      </p:sp>
      <p:sp>
        <p:nvSpPr>
          <p:cNvPr id="10" name="svg2pptx-gradient-s0006-0001"/>
          <p:cNvSpPr/>
          <p:nvPr/>
        </p:nvSpPr>
        <p:spPr>
          <a:xfrm>
            <a:off x="1771650" y="2333625"/>
            <a:ext cx="7471334" cy="476250"/>
          </a:xfrm>
          <a:prstGeom prst="rect">
            <a:avLst/>
          </a:prstGeom>
          <a:gradFill rotWithShape="1">
            <a:gsLst>
              <a:gs pos="0">
                <a:srgbClr val="6C4A11">
                  <a:alpha val="75000"/>
                </a:srgbClr>
              </a:gs>
              <a:gs pos="100000">
                <a:srgbClr val="9A6A18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9319184" y="2514600"/>
            <a:ext cx="34824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6A82"/>
                </a:solidFill>
              </a:rPr>
              <a:t>2.03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609600" y="3082290"/>
            <a:ext cx="10477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21A2B"/>
                </a:solidFill>
              </a:rPr>
              <a:t>再贷款 1Y</a:t>
            </a:r>
            <a:endParaRPr lang="en-US" sz="975" dirty="0"/>
          </a:p>
        </p:txBody>
      </p:sp>
      <p:sp>
        <p:nvSpPr>
          <p:cNvPr id="13" name="svg2pptx-gradient-s0006-0002"/>
          <p:cNvSpPr/>
          <p:nvPr/>
        </p:nvSpPr>
        <p:spPr>
          <a:xfrm>
            <a:off x="1771650" y="2905125"/>
            <a:ext cx="6440805" cy="476250"/>
          </a:xfrm>
          <a:prstGeom prst="rect">
            <a:avLst/>
          </a:prstGeom>
          <a:gradFill rotWithShape="1">
            <a:gsLst>
              <a:gs pos="0">
                <a:srgbClr val="6C4A11">
                  <a:alpha val="75000"/>
                </a:srgbClr>
              </a:gs>
              <a:gs pos="100000">
                <a:srgbClr val="9A6A18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8288655" y="3086100"/>
            <a:ext cx="45129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6A82"/>
                </a:solidFill>
              </a:rPr>
              <a:t>1.75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609600" y="3661410"/>
            <a:ext cx="10477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1A2B"/>
                </a:solidFill>
              </a:rPr>
              <a:t>综合成本（测算）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71650" y="3476625"/>
            <a:ext cx="9201150" cy="476250"/>
          </a:xfrm>
          <a:prstGeom prst="rect">
            <a:avLst/>
          </a:prstGeom>
          <a:solidFill>
            <a:srgbClr val="9A6A18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3657600"/>
            <a:ext cx="1752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A0E14"/>
                </a:solidFill>
              </a:rPr>
              <a:t>2.5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609600" y="4069080"/>
            <a:ext cx="109728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" y="43948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再贷款 1.75%、5Y LPR 3.5% 不变（Wind）——窗口已开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9600" y="48996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3000 亿托底、80 城入场收房（2026-06 报道）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9600" y="54044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10-14 亿元/年（测算），占 2025 财政收入不足 1%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法拍通道：量级可控，风险是定价项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476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25336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</a:t>
            </a:r>
            <a:pPr algn="l" indent="0" marL="0">
              <a:buNone/>
            </a:pPr>
            <a:r>
              <a:rPr lang="en-US" sz="135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4765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2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4900" y="307848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法拍占挂牌（估算）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4900" y="3288030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月挂拍 60-180 套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543300" y="2286000"/>
            <a:ext cx="2476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800" y="2625090"/>
            <a:ext cx="9372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720-2,160</a:t>
            </a:r>
            <a:pPr algn="l" indent="0" marL="0">
              <a:buNone/>
            </a:pPr>
            <a:r>
              <a:rPr lang="en-US" sz="975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套/年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2476500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2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3800" y="3078480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江北法拍供给（估算）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33800" y="3288030"/>
            <a:ext cx="9372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与收储目标匹配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2476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2700" y="2533650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≤50</a:t>
            </a:r>
            <a:pPr algn="l" indent="0" marL="0">
              <a:buNone/>
            </a:pPr>
            <a:r>
              <a:rPr lang="en-US" sz="135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2476500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2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2700" y="3078480"/>
            <a:ext cx="6743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法拍占比上限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2700" y="3288030"/>
            <a:ext cx="6743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其余收低于市价房源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8801100" y="2286000"/>
            <a:ext cx="24765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1600" y="2533650"/>
            <a:ext cx="4114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</a:t>
            </a:r>
            <a:pPr algn="l" indent="0" marL="0">
              <a:buNone/>
            </a:pPr>
            <a:r>
              <a:rPr lang="en-US" sz="135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" y="2476500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2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91600" y="3078480"/>
            <a:ext cx="4114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风险缓冲（6 折价内置）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91600" y="3288030"/>
            <a:ext cx="41148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另设 2-3% 备付金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890576" y="3882390"/>
            <a:ext cx="1021582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法律风险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56912" y="3882390"/>
            <a:ext cx="614948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缓释措施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14400" y="4171950"/>
            <a:ext cx="10363200" cy="0"/>
          </a:xfrm>
          <a:prstGeom prst="line">
            <a:avLst/>
          </a:prstGeom>
          <a:noFill/>
          <a:ln w="19050">
            <a:solidFill>
              <a:srgbClr val="121A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9105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01015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42925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84835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8700" y="43167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腾退清场难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90576" y="4316730"/>
            <a:ext cx="102158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带租约/占有，成本高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56912" y="4316730"/>
            <a:ext cx="614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四查尽调+政府腾退兜底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47358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税费与欠费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90576" y="4735830"/>
            <a:ext cx="102158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约定不明、追偿难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56912" y="4735830"/>
            <a:ext cx="614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折价内置税费与腾退成本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" y="51549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产权瑕疵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90576" y="5154930"/>
            <a:ext cx="102158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查封/抵押/异议拉长过户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56912" y="5154930"/>
            <a:ext cx="614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确权绿色通道+备付金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8700" y="55740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程序冗长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90576" y="5574030"/>
            <a:ext cx="102158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变卖周期长、评估滞后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56912" y="5574030"/>
            <a:ext cx="614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法拍占比≤50%+保租叙事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D2F5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商业模型：三低 + 三通道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096000" y="1571625"/>
            <a:ext cx="1104900" cy="2155722"/>
          </a:xfrm>
          <a:custGeom>
            <a:avLst/>
            <a:gdLst/>
            <a:ahLst/>
            <a:cxnLst/>
            <a:rect l="l" t="t" r="r" b="b"/>
            <a:pathLst>
              <a:path w="1104900" h="2155722">
                <a:moveTo>
                  <a:pt x="0" y="0"/>
                </a:moveTo>
                <a:arcTo hR="1104900" wR="1104900" stAng="16200000" swAng="9720000"/>
                <a:lnTo>
                  <a:pt x="211688" y="1756410"/>
                </a:lnTo>
                <a:arcTo hR="685038" wR="685038" stAng="4320000" swAng="-9720000"/>
                <a:close/>
              </a:path>
            </a:pathLst>
          </a:custGeom>
          <a:solidFill>
            <a:srgbClr val="1D2F5E"/>
          </a:solidFill>
          <a:ln/>
        </p:spPr>
      </p:sp>
      <p:sp>
        <p:nvSpPr>
          <p:cNvPr id="9" name="Shape 7"/>
          <p:cNvSpPr/>
          <p:nvPr/>
        </p:nvSpPr>
        <p:spPr>
          <a:xfrm>
            <a:off x="4991100" y="2676525"/>
            <a:ext cx="1446333" cy="1104900"/>
          </a:xfrm>
          <a:custGeom>
            <a:avLst/>
            <a:gdLst/>
            <a:ahLst/>
            <a:cxnLst/>
            <a:rect l="l" t="t" r="r" b="b"/>
            <a:pathLst>
              <a:path w="1446333" h="1104900">
                <a:moveTo>
                  <a:pt x="1446333" y="1050822"/>
                </a:moveTo>
                <a:arcTo hR="1104900" wR="1104900" stAng="4320000" swAng="6480000"/>
                <a:lnTo>
                  <a:pt x="419862" y="0"/>
                </a:lnTo>
                <a:arcTo hR="685038" wR="685038" stAng="10800000" swAng="-6480000"/>
                <a:close/>
              </a:path>
            </a:pathLst>
          </a:custGeom>
          <a:solidFill>
            <a:srgbClr val="2F7A55"/>
          </a:solidFill>
          <a:ln/>
        </p:spPr>
      </p:sp>
      <p:sp>
        <p:nvSpPr>
          <p:cNvPr id="10" name="Shape 8"/>
          <p:cNvSpPr/>
          <p:nvPr/>
        </p:nvSpPr>
        <p:spPr>
          <a:xfrm>
            <a:off x="4991100" y="1571625"/>
            <a:ext cx="1104900" cy="1104900"/>
          </a:xfrm>
          <a:custGeom>
            <a:avLst/>
            <a:gdLst/>
            <a:ahLst/>
            <a:cxnLst/>
            <a:rect l="l" t="t" r="r" b="b"/>
            <a:pathLst>
              <a:path w="1104900" h="1104900">
                <a:moveTo>
                  <a:pt x="0" y="1104900"/>
                </a:moveTo>
                <a:arcTo hR="1104900" wR="1104900" stAng="10800000" swAng="5400000"/>
                <a:lnTo>
                  <a:pt x="1104900" y="419862"/>
                </a:lnTo>
                <a:arcTo hR="685038" wR="685038" stAng="16200000" swAng="-5400000"/>
                <a:close/>
              </a:path>
            </a:pathLst>
          </a:custGeom>
          <a:solidFill>
            <a:srgbClr val="2D5B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90787"/>
            <a:ext cx="1036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21A2B"/>
                </a:solidFill>
              </a:rPr>
              <a:t>100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2799398"/>
            <a:ext cx="103632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A82"/>
                </a:solidFill>
              </a:rPr>
              <a:t>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4391025"/>
            <a:ext cx="10363200" cy="419100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410146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收购折扣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101465"/>
            <a:ext cx="620176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江北纯租赁毛收益率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44766" y="4101465"/>
            <a:ext cx="576163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对比综合成本 2.5%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4391025"/>
            <a:ext cx="10363200" cy="0"/>
          </a:xfrm>
          <a:prstGeom prst="line">
            <a:avLst/>
          </a:prstGeom>
          <a:noFill/>
          <a:ln w="19050">
            <a:solidFill>
              <a:srgbClr val="121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810125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229225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648325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" y="45358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折（d=0.6）【测算】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535805"/>
            <a:ext cx="62017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4766" y="4535805"/>
            <a:ext cx="576163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跑赢 · 基准情形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49549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折（d=0.7）【测算】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954905"/>
            <a:ext cx="62017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2.44%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44766" y="4954905"/>
            <a:ext cx="576163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低于成本 · 模型生命线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537400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折相对市价安全边际【测算】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374005"/>
            <a:ext cx="62017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44766" y="5374005"/>
            <a:ext cx="576163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江北 2027 补跌 3-5% 亦无损模型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74738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三通道为建议区间中值示意；收益率与成本均为团队测算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DE2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ROE 两本账：分情景披露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2133600"/>
            <a:ext cx="11125200" cy="419100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18440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1844040"/>
            <a:ext cx="48295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91572" y="1844040"/>
            <a:ext cx="713382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3400" y="2133600"/>
            <a:ext cx="11125200" cy="0"/>
          </a:xfrm>
          <a:prstGeom prst="line">
            <a:avLst/>
          </a:prstGeom>
          <a:noFill/>
          <a:ln w="19050">
            <a:solidFill>
              <a:srgbClr val="121A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" y="2552700"/>
            <a:ext cx="11125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400" y="2971800"/>
            <a:ext cx="11125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3400" y="3390900"/>
            <a:ext cx="11125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" y="22783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首年（含收购价差）【测算】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2278380"/>
            <a:ext cx="482957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30%-40%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1572" y="2278380"/>
            <a:ext cx="71338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一次性兑现：7 折收→9 折卖，毛利约 14%/套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7700" y="2697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常态年（租赁通道）【测算】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3400" y="2697480"/>
            <a:ext cx="482957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0.3%-1%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91572" y="2697480"/>
            <a:ext cx="71338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租赁本身不赚钱，靠规模与运营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700" y="3116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常态化目标（含 B2B/安置）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3400" y="3116580"/>
            <a:ext cx="482957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2%-4%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91572" y="3116580"/>
            <a:ext cx="71338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长租约锁定出租率 ≥90% + 安置订单现金流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3400" y="34899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ROE 均为团队测算；销售去化按回款 12-18 个月压力测试；出租率 ≥90% 为测算假设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3400" y="4019550"/>
            <a:ext cx="11125200" cy="1190625"/>
          </a:xfrm>
          <a:prstGeom prst="roundRect">
            <a:avLst>
              <a:gd name="adj" fmla="val 9600"/>
            </a:avLst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4048125"/>
            <a:ext cx="111252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482" y="455760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460533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466883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500" y="42614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 ROE 30%-40% 是一次性价差兑现，非常态收益；必须与常态年租赁 ROE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52500" y="46901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分两本账，向管委会如实披露，防止把一次性收益当作可持续回报。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D2F5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收储节奏：小步快走、滚动放大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330200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33525"/>
            <a:ext cx="3302000" cy="76200"/>
          </a:xfrm>
          <a:custGeom>
            <a:avLst/>
            <a:gdLst/>
            <a:ahLst/>
            <a:cxnLst/>
            <a:rect l="l" t="t" r="r" b="b"/>
            <a:pathLst>
              <a:path w="3302000" h="76200">
                <a:moveTo>
                  <a:pt x="0" y="76200"/>
                </a:moveTo>
                <a:arcTo hR="76200" wR="76200" stAng="10800000" swAng="5400000"/>
                <a:lnTo>
                  <a:pt x="3225800" y="0"/>
                </a:lnTo>
                <a:arcTo hR="76200" wR="76200" stAng="16200000" swAng="5400000"/>
                <a:lnTo>
                  <a:pt x="330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9A6A18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1762125"/>
            <a:ext cx="361950" cy="3619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876425"/>
            <a:ext cx="2609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600200" y="1874520"/>
            <a:ext cx="10591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2026H2 - 2027H1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23950" y="2293620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首期试点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123950" y="2615565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581150" y="2618423"/>
            <a:ext cx="106108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500-1,000 套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123950" y="2920365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581150" y="2923223"/>
            <a:ext cx="106108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验证三通道去化与回款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1123950" y="3225165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581150" y="3228022"/>
            <a:ext cx="106108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出租率 ≥90%、回款 12-18 个月达标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4445000" y="1533525"/>
            <a:ext cx="330200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5000" y="1533525"/>
            <a:ext cx="3302000" cy="76200"/>
          </a:xfrm>
          <a:custGeom>
            <a:avLst/>
            <a:gdLst/>
            <a:ahLst/>
            <a:cxnLst/>
            <a:rect l="l" t="t" r="r" b="b"/>
            <a:pathLst>
              <a:path w="3302000" h="76200">
                <a:moveTo>
                  <a:pt x="0" y="76200"/>
                </a:moveTo>
                <a:arcTo hR="76200" wR="76200" stAng="10800000" swAng="5400000"/>
                <a:lnTo>
                  <a:pt x="3225800" y="0"/>
                </a:lnTo>
                <a:arcTo hR="76200" wR="76200" stAng="16200000" swAng="5400000"/>
                <a:lnTo>
                  <a:pt x="330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9A6A1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54550" y="1762125"/>
            <a:ext cx="361950" cy="3619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1876425"/>
            <a:ext cx="9671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130800" y="1874520"/>
            <a:ext cx="7061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2027H1 起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54550" y="2293620"/>
            <a:ext cx="75374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滚动放大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654550" y="2615565"/>
            <a:ext cx="75374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111750" y="2618423"/>
            <a:ext cx="70802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1,500-2,000 套/年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4654550" y="2920365"/>
            <a:ext cx="75374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111750" y="2923223"/>
            <a:ext cx="70802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10-14 亿元/年（测算）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4654550" y="3225165"/>
            <a:ext cx="75374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111750" y="3228022"/>
            <a:ext cx="70802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试点验证通过、价格企稳信号确认</a:t>
            </a:r>
            <a:endParaRPr lang="en-US" sz="1088" dirty="0"/>
          </a:p>
        </p:txBody>
      </p:sp>
      <p:sp>
        <p:nvSpPr>
          <p:cNvPr id="32" name="Shape 30"/>
          <p:cNvSpPr/>
          <p:nvPr/>
        </p:nvSpPr>
        <p:spPr>
          <a:xfrm>
            <a:off x="7975600" y="1533525"/>
            <a:ext cx="330200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5600" y="1533525"/>
            <a:ext cx="3302000" cy="76200"/>
          </a:xfrm>
          <a:custGeom>
            <a:avLst/>
            <a:gdLst/>
            <a:ahLst/>
            <a:cxnLst/>
            <a:rect l="l" t="t" r="r" b="b"/>
            <a:pathLst>
              <a:path w="3302000" h="76200">
                <a:moveTo>
                  <a:pt x="0" y="76200"/>
                </a:moveTo>
                <a:arcTo hR="76200" wR="76200" stAng="10800000" swAng="5400000"/>
                <a:lnTo>
                  <a:pt x="3225800" y="0"/>
                </a:lnTo>
                <a:arcTo hR="76200" wR="76200" stAng="16200000" swAng="5400000"/>
                <a:lnTo>
                  <a:pt x="330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9A6A18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5150" y="1762125"/>
            <a:ext cx="361950" cy="361950"/>
          </a:xfrm>
          <a:prstGeom prst="ellipse">
            <a:avLst/>
          </a:prstGeom>
          <a:solidFill>
            <a:srgbClr val="1D2F5E"/>
          </a:solidFill>
          <a:ln/>
        </p:spPr>
      </p:sp>
      <p:sp>
        <p:nvSpPr>
          <p:cNvPr id="35" name="Text 33"/>
          <p:cNvSpPr/>
          <p:nvPr/>
        </p:nvSpPr>
        <p:spPr>
          <a:xfrm>
            <a:off x="4540250" y="1876425"/>
            <a:ext cx="7651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661400" y="1874520"/>
            <a:ext cx="3530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2027H2 之后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85150" y="2293620"/>
            <a:ext cx="40068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销售放量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8185150" y="2615565"/>
            <a:ext cx="40068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642350" y="2618423"/>
            <a:ext cx="35496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二次销售为退出通道，非主通道</a:t>
            </a:r>
            <a:endParaRPr lang="en-US" sz="1088" dirty="0"/>
          </a:p>
        </p:txBody>
      </p:sp>
      <p:sp>
        <p:nvSpPr>
          <p:cNvPr id="40" name="Text 38"/>
          <p:cNvSpPr/>
          <p:nvPr/>
        </p:nvSpPr>
        <p:spPr>
          <a:xfrm>
            <a:off x="8185150" y="2920365"/>
            <a:ext cx="40068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642350" y="2923223"/>
            <a:ext cx="35496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好房子门槛：区位/房龄/品质</a:t>
            </a:r>
            <a:endParaRPr lang="en-US" sz="1088" dirty="0"/>
          </a:p>
        </p:txBody>
      </p:sp>
      <p:sp>
        <p:nvSpPr>
          <p:cNvPr id="42" name="Text 40"/>
          <p:cNvSpPr/>
          <p:nvPr/>
        </p:nvSpPr>
        <p:spPr>
          <a:xfrm>
            <a:off x="8185150" y="3225165"/>
            <a:ext cx="40068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8642350" y="3228022"/>
            <a:ext cx="3549650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边收边卖=送回挂牌量，禁止</a:t>
            </a:r>
            <a:endParaRPr lang="en-US" sz="1088" dirty="0"/>
          </a:p>
        </p:txBody>
      </p:sp>
      <p:sp>
        <p:nvSpPr>
          <p:cNvPr id="44" name="Shape 42"/>
          <p:cNvSpPr/>
          <p:nvPr/>
        </p:nvSpPr>
        <p:spPr>
          <a:xfrm>
            <a:off x="914400" y="3790950"/>
            <a:ext cx="10363200" cy="1619250"/>
          </a:xfrm>
          <a:prstGeom prst="roundRect">
            <a:avLst>
              <a:gd name="adj" fmla="val 7059"/>
            </a:avLst>
          </a:prstGeom>
          <a:solidFill>
            <a:srgbClr val="1D2F5E"/>
          </a:solidFill>
          <a:ln/>
        </p:spPr>
      </p:sp>
      <p:sp>
        <p:nvSpPr>
          <p:cNvPr id="45" name="Shape 43"/>
          <p:cNvSpPr/>
          <p:nvPr/>
        </p:nvSpPr>
        <p:spPr>
          <a:xfrm>
            <a:off x="914400" y="3819525"/>
            <a:ext cx="10363200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3625" y="4535487"/>
            <a:ext cx="158750" cy="158750"/>
          </a:xfrm>
          <a:prstGeom prst="ellipse">
            <a:avLst/>
          </a:pr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9188" y="4598988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33500" y="40328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重启闸门：贝壳指数再创新低且环比跌幅扩大 →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333500" y="44615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暂停收购、只租不收。挂牌量 1/10（约 8,000 套）始终是 2-3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333500" y="48901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年滚动目标，不是首年承诺。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不确定性：基调下修触发条件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771650"/>
            <a:ext cx="10363200" cy="2638425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71650"/>
            <a:ext cx="10363200" cy="57150"/>
          </a:xfrm>
          <a:custGeom>
            <a:avLst/>
            <a:gdLst/>
            <a:ahLst/>
            <a:cxnLst/>
            <a:rect l="l" t="t" r="r" b="b"/>
            <a:pathLst>
              <a:path w="10363200" h="57150">
                <a:moveTo>
                  <a:pt x="0" y="57150"/>
                </a:moveTo>
                <a:arcTo hR="57150" wR="57150" stAng="10800000" swAng="5400000"/>
                <a:lnTo>
                  <a:pt x="10306050" y="0"/>
                </a:lnTo>
                <a:arcTo hR="57150" wR="57150" stAng="16200000" swAng="5400000"/>
                <a:lnTo>
                  <a:pt x="103632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9A6A18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9945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A6A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基调下修触发条件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123950" y="23221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二次探底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78736" y="2321243"/>
            <a:ext cx="1011326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全国二次探底或江北补跌超 5%：6 折安全垫可覆盖，但触发重启闸门——指数创新低且跌幅扩大则暂停收购、只租不收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23950" y="26650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毕业季退坡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78736" y="2664143"/>
            <a:ext cx="1011326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租赁放量若只是季节性（9-10 月验证窗口），出租率 ≥90% 假设不成立，收储沉淀为财政资产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123950" y="30079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去化慢 + 账期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8736" y="3007043"/>
            <a:ext cx="1011326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销售去化超 12 个月、安置回款受财政节奏影响，侵蚀首年 ROE：须按回款 12-18 个月压力测试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1123950" y="33508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清场纠纷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78736" y="3349943"/>
            <a:ext cx="1011326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集中爆发时单项目亏损可吃掉 3-5 个点的价差利润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1123950" y="36937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强刺激反弹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78736" y="3692842"/>
            <a:ext cx="1011326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政策强刺激致价格提前反弹：良性风险，只影响规模、不影响方向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123950" y="4128135"/>
            <a:ext cx="110680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法拍占比 3%-6% 为【估算】，本轮无房源级明细，规模测算存在 ±30% 波动带，需实测校准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4467225"/>
            <a:ext cx="10363200" cy="1619250"/>
          </a:xfrm>
          <a:prstGeom prst="roundRect">
            <a:avLst>
              <a:gd name="adj" fmla="val 7059"/>
            </a:avLst>
          </a:prstGeom>
          <a:solidFill>
            <a:srgbClr val="1D2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95800"/>
            <a:ext cx="10363200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3625" y="5211763"/>
            <a:ext cx="158750" cy="158750"/>
          </a:xfrm>
          <a:prstGeom prst="ellipse">
            <a:avLst/>
          </a:pr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188" y="5275263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3500" y="47091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第一性约束：租金回报率 ≥2.5%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33500" y="51377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设为收储硬门槛，写入合资协议；再贷款额度与细则未落地前，财政补贴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33500" y="55664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承担过渡成本。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未来关注：八个信号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9A6A18"/>
          </a:solidFill>
          <a:ln/>
        </p:spPr>
      </p:sp>
      <p:sp>
        <p:nvSpPr>
          <p:cNvPr id="5" name="Text 3"/>
          <p:cNvSpPr/>
          <p:nvPr/>
        </p:nvSpPr>
        <p:spPr>
          <a:xfrm>
            <a:off x="1905000" y="22021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八个信号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05000" y="24003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5000" y="2455545"/>
            <a:ext cx="1162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成交价环比连正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43250" y="24003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3250" y="2455545"/>
            <a:ext cx="1028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租金连升三月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48150" y="2400300"/>
            <a:ext cx="119672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8150" y="2455545"/>
            <a:ext cx="11967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周期收敛 6 个月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21071" y="24003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1071" y="2455545"/>
            <a:ext cx="1028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江北法拍月报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5971" y="24003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5971" y="2455545"/>
            <a:ext cx="1162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再贷款落地额度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4221" y="24003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4221" y="2455545"/>
            <a:ext cx="1028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挂牌存量下行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9121" y="2400300"/>
            <a:ext cx="105937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9121" y="2455545"/>
            <a:ext cx="105937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签约兑现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05000" y="27241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5000" y="2779395"/>
            <a:ext cx="1162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法拍量实测校准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05000" y="3352800"/>
            <a:ext cx="8382000" cy="1619250"/>
          </a:xfrm>
          <a:prstGeom prst="roundRect">
            <a:avLst>
              <a:gd name="adj" fmla="val 7059"/>
            </a:avLst>
          </a:prstGeom>
          <a:solidFill>
            <a:srgbClr val="1D2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3381375"/>
            <a:ext cx="8382000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4138" y="4097375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9788" y="4160838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1D2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4100" y="35947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核心变量：挂牌存量（新增挂牌 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324100" y="40233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成交周期）是否转入下行通道——收储规模决策的第一变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324100" y="44519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量；9-10 月为租赁季节性验证窗口。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行动建议：管委会 × 贝壳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25731" y="2415540"/>
            <a:ext cx="10580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管委会（政府侧）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16826" y="2415540"/>
            <a:ext cx="608957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贝壳（运营侧）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705100"/>
            <a:ext cx="10363200" cy="0"/>
          </a:xfrm>
          <a:prstGeom prst="line">
            <a:avLst/>
          </a:prstGeom>
          <a:noFill/>
          <a:ln w="19050">
            <a:solidFill>
              <a:srgbClr val="12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2420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4330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6240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38150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849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折扣纪律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5731" y="2849880"/>
            <a:ext cx="1058066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折基准/7 折封顶制度化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16826" y="2849880"/>
            <a:ext cx="60895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守折扣守清场、四查前置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3268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试点节奏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25731" y="3268980"/>
            <a:ext cx="1058066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 500-1,000 套试点+闸门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6826" y="3268980"/>
            <a:ext cx="60895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组织房源、验证去化回款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688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资金资源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25731" y="3688080"/>
            <a:ext cx="1058066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再贷款+税费补贴入股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16826" y="3688080"/>
            <a:ext cx="60895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长租约（京东/美团）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4107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披露要求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25731" y="4107180"/>
            <a:ext cx="1058066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ROE 两本账定期披露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16826" y="4107180"/>
            <a:ext cx="60895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出租率/去化数据透明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24000" y="4552950"/>
            <a:ext cx="97536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533900"/>
            <a:ext cx="609600" cy="38100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44" y="4930775"/>
            <a:ext cx="49081" cy="31619"/>
          </a:xfrm>
          <a:custGeom>
            <a:avLst/>
            <a:gdLst/>
            <a:ahLst/>
            <a:cxnLst/>
            <a:rect l="l" t="t" r="r" b="b"/>
            <a:pathLst>
              <a:path w="49081" h="31619">
                <a:moveTo>
                  <a:pt x="0" y="8731"/>
                </a:moveTo>
                <a:lnTo>
                  <a:pt x="17463" y="26194"/>
                </a:lnTo>
                <a:arcTo hR="18522" wR="18522" stAng="8100000" swAng="-10800000"/>
              </a:path>
            </a:pathLst>
          </a:custGeom>
          <a:noFill/>
          <a:ln w="17463">
            <a:solidFill>
              <a:srgbClr val="5C6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4459" y="4817264"/>
            <a:ext cx="123297" cy="123301"/>
          </a:xfrm>
          <a:custGeom>
            <a:avLst/>
            <a:gdLst/>
            <a:ahLst/>
            <a:cxnLst/>
            <a:rect l="l" t="t" r="r" b="b"/>
            <a:pathLst>
              <a:path w="123297" h="123301">
                <a:moveTo>
                  <a:pt x="62178" y="96048"/>
                </a:moveTo>
                <a:lnTo>
                  <a:pt x="84006" y="117876"/>
                </a:lnTo>
                <a:arcTo hR="18522" wR="18522" stAng="8100000" swAng="-10800000"/>
                <a:lnTo>
                  <a:pt x="76323" y="57805"/>
                </a:lnTo>
                <a:arcTo hR="26194" wR="26194" stAng="18897861" swAng="-5395722"/>
                <a:lnTo>
                  <a:pt x="31619" y="65489"/>
                </a:lnTo>
                <a:arcTo hR="18522" wR="18522" stAng="2700000" swAng="10800000"/>
                <a:lnTo>
                  <a:pt x="29960" y="14760"/>
                </a:lnTo>
                <a:arcTo hR="50554" wR="50554" stAng="13504501" swAng="4547985"/>
                <a:lnTo>
                  <a:pt x="95706" y="9609"/>
                </a:lnTo>
                <a:arcTo hR="17463" wR="17463" stAng="7266804" swAng="-2535412"/>
                <a:lnTo>
                  <a:pt x="123297" y="8736"/>
                </a:lnTo>
              </a:path>
            </a:pathLst>
          </a:custGeom>
          <a:noFill/>
          <a:ln w="17463">
            <a:solidFill>
              <a:srgbClr val="5C6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9025" y="4817269"/>
            <a:ext cx="17463" cy="96044"/>
          </a:xfrm>
          <a:custGeom>
            <a:avLst/>
            <a:gdLst/>
            <a:ahLst/>
            <a:cxnLst/>
            <a:rect l="l" t="t" r="r" b="b"/>
            <a:pathLst>
              <a:path w="17463" h="96044">
                <a:moveTo>
                  <a:pt x="8731" y="0"/>
                </a:moveTo>
                <a:lnTo>
                  <a:pt x="17463" y="96044"/>
                </a:lnTo>
                <a:lnTo>
                  <a:pt x="0" y="96044"/>
                </a:lnTo>
              </a:path>
            </a:pathLst>
          </a:custGeom>
          <a:noFill/>
          <a:ln w="17463">
            <a:solidFill>
              <a:srgbClr val="5C6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1863" y="4817269"/>
            <a:ext cx="88372" cy="158222"/>
          </a:xfrm>
          <a:custGeom>
            <a:avLst/>
            <a:gdLst/>
            <a:ahLst/>
            <a:cxnLst/>
            <a:rect l="l" t="t" r="r" b="b"/>
            <a:pathLst>
              <a:path w="88372" h="158222">
                <a:moveTo>
                  <a:pt x="8731" y="0"/>
                </a:moveTo>
                <a:lnTo>
                  <a:pt x="0" y="96044"/>
                </a:lnTo>
                <a:lnTo>
                  <a:pt x="56753" y="152797"/>
                </a:lnTo>
                <a:arcTo hR="18522" wR="18522" stAng="8100000" swAng="-10800000"/>
              </a:path>
            </a:pathLst>
          </a:custGeom>
          <a:noFill/>
          <a:ln w="17463">
            <a:solidFill>
              <a:srgbClr val="5C6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0594" y="4826000"/>
            <a:ext cx="69850" cy="6548"/>
          </a:xfrm>
          <a:custGeom>
            <a:avLst/>
            <a:gdLst/>
            <a:ahLst/>
            <a:cxnLst/>
            <a:rect l="l" t="t" r="r" b="b"/>
            <a:pathLst>
              <a:path w="69850" h="6548">
                <a:moveTo>
                  <a:pt x="0" y="0"/>
                </a:moveTo>
                <a:lnTo>
                  <a:pt x="69850" y="0"/>
                </a:lnTo>
              </a:path>
            </a:pathLst>
          </a:custGeom>
          <a:noFill/>
          <a:ln w="17463">
            <a:solidFill>
              <a:srgbClr val="5C6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6350" y="47777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下一步：500-1,000 套试点开局，6 折纪律写进 SPV 协议（政府 51% 控股、贝壳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76350" y="51206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49% 运营）；8-10 月验证企稳信号后再谈放量。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E8ED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E9EE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EAEFF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EBEF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EBF0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ECF0F8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3F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F0F3F9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F1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572000"/>
            <a:ext cx="2667000" cy="2286000"/>
          </a:xfrm>
          <a:prstGeom prst="rect">
            <a:avLst/>
          </a:prstGeom>
          <a:solidFill>
            <a:srgbClr val="1D2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333500" cy="1143000"/>
          </a:xfrm>
          <a:prstGeom prst="rect">
            <a:avLst/>
          </a:prstGeom>
          <a:solidFill>
            <a:srgbClr val="9A6A18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9A6A18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163830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</a:t>
            </a:r>
            <a:endParaRPr lang="en-US" sz="9000" dirty="0"/>
          </a:p>
        </p:txBody>
      </p:sp>
      <p:sp>
        <p:nvSpPr>
          <p:cNvPr id="30" name="Text 28"/>
          <p:cNvSpPr/>
          <p:nvPr/>
        </p:nvSpPr>
        <p:spPr>
          <a:xfrm>
            <a:off x="3810000" y="287655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详见正式稿</a:t>
            </a:r>
            <a:endParaRPr lang="en-US" sz="9000" dirty="0"/>
          </a:p>
        </p:txBody>
      </p:sp>
      <p:sp>
        <p:nvSpPr>
          <p:cNvPr id="31" name="Shape 29"/>
          <p:cNvSpPr/>
          <p:nvPr/>
        </p:nvSpPr>
        <p:spPr>
          <a:xfrm>
            <a:off x="3810000" y="4743450"/>
            <a:ext cx="7467600" cy="0"/>
          </a:xfrm>
          <a:prstGeom prst="line">
            <a:avLst/>
          </a:prstGeom>
          <a:noFill/>
          <a:ln w="13335">
            <a:solidFill>
              <a:srgbClr val="DDE2E9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