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今天汇报的主题是把非金融入口变成金融闭环。宁波银行用五年时间把帮企业办事做成了让企业把钱留下来，方向正确、路径可行、窗口期紧迫。汇报分四部分：核心观点、宁波的定位与经营逻辑、我行的启示与建议方案、90天试点与组织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财务已经验证了逻辑。最关键的不是增速，是结构：中收+53.9%、代理类收入49.9亿占中收85%，加上存款成本率降到1.32%。双平台沉淀的正是低利率时代最稀缺的代理类中收和低成本负债。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五个判断里最想强调两条：一是差距在结构不在规模，客户结构决定收入结构；二是我行不缺客户不缺场景，缺的是独立运营、价值先行、考核沉淀的组织机制。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按定稿口径，双平台不是客户分层，而是企业任务链分工：波波知了管企业对外做生意，数字人力管企业对内管人管钱。同一家企业两个平台可以同时用。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逻辑链条四步：先独立运营降低戒心，再高频服务建立信任和数据沉淀，然后自然引导到金融闭环，最后形成低成本负债和中收的双增。先有服务关系，后有资产负债表。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这张图说明差距在结构不在规模：私行AUM、对公理财、代理类收入三个维度，我行都明显落后。私行AUM占比13.9%对29.4%，是双平台最直接的靶子。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启示部分归纳为三件事四个转变：客户观从分层到任务链、产品观从推销到价值先行、获客观从单点到生态、机制观把政银协同制度化。江苏的禀赋不比浙江差，缺的是机制。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架构上先立底座再挂场景：底座整合苏银生活月活、服务商、AI和园区接口；两条主线分别对标波波知了和数字人力；渠道上坚持一重两轻，复杂金融需求经智能派单到客户经理和私行中心。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三个闭环就是把服务变资产的具体路径：培训代发闭环沉淀代发和活期，AI出海闭环沉淀跨境金融，企业家圈层闭环直击私行占比的结构短板。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90天只验证闭环能否成立，不铺摊子。前30天搭台，中间30天两条主线各跑通一个完整转化案例，后30天验证并出报告。验证通过后按季度滚动放量。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验收口径是关键：看业务沉淀，不看注册数。组织上项目制独立运作，考核与分行双算，避免内耗；平台本身允许短期不盈利。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风险提示四条：一是考核周期必须匹配18个月以上的培育期；二是数据治理必须先行；三是渠道割裂是最大执行风险，要靠统一派单前置防控；四是数字人力形态待核实，决策不能建立在未核实事实上。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提请决策五项：设立项目组并核定预算、批准90天试点方案和先行地区、批准业务沉淀导向的考核办法、授权服务商谈判、要求法务合规部出具专项意见并消除待核实项。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753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江苏银行（智见点评·行业研究报告）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3377565"/>
            <a:ext cx="11277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把非金融入口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4282440"/>
            <a:ext cx="11277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变成金融闭环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61341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   ·    2026-08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67500" y="1047750"/>
            <a:ext cx="4572000" cy="3048000"/>
          </a:xfrm>
          <a:custGeom>
            <a:avLst/>
            <a:gdLst/>
            <a:ahLst/>
            <a:cxnLst/>
            <a:rect l="l" t="t" r="r" b="b"/>
            <a:pathLst>
              <a:path w="4572000" h="3048000">
                <a:moveTo>
                  <a:pt x="0" y="1809750"/>
                </a:moveTo>
                <a:lnTo>
                  <a:pt x="952500" y="1028700"/>
                </a:lnTo>
                <a:lnTo>
                  <a:pt x="1924050" y="1771650"/>
                </a:lnTo>
                <a:lnTo>
                  <a:pt x="2286000" y="381000"/>
                </a:lnTo>
                <a:lnTo>
                  <a:pt x="3143250" y="0"/>
                </a:lnTo>
                <a:lnTo>
                  <a:pt x="2895600" y="2457450"/>
                </a:lnTo>
                <a:lnTo>
                  <a:pt x="3810000" y="571500"/>
                </a:lnTo>
                <a:lnTo>
                  <a:pt x="4267200" y="3048000"/>
                </a:lnTo>
                <a:lnTo>
                  <a:pt x="4572000" y="171450"/>
                </a:lnTo>
              </a:path>
            </a:pathLst>
          </a:custGeom>
          <a:noFill/>
          <a:ln w="9525">
            <a:solidFill>
              <a:srgbClr val="FFC72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450" y="2838450"/>
            <a:ext cx="38100" cy="381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9" name="Shape 7"/>
          <p:cNvSpPr/>
          <p:nvPr/>
        </p:nvSpPr>
        <p:spPr>
          <a:xfrm>
            <a:off x="7591425" y="2047875"/>
            <a:ext cx="57150" cy="5715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0" name="Shape 8"/>
          <p:cNvSpPr/>
          <p:nvPr/>
        </p:nvSpPr>
        <p:spPr>
          <a:xfrm>
            <a:off x="8567738" y="2795588"/>
            <a:ext cx="47625" cy="47625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Shape 9"/>
          <p:cNvSpPr/>
          <p:nvPr/>
        </p:nvSpPr>
        <p:spPr>
          <a:xfrm>
            <a:off x="8929688" y="1404938"/>
            <a:ext cx="47625" cy="47625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Shape 10"/>
          <p:cNvSpPr/>
          <p:nvPr/>
        </p:nvSpPr>
        <p:spPr>
          <a:xfrm>
            <a:off x="9772650" y="1009650"/>
            <a:ext cx="76200" cy="76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9763" y="3471863"/>
            <a:ext cx="66675" cy="66675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48925" y="1590675"/>
            <a:ext cx="57150" cy="5715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10888" y="4071938"/>
            <a:ext cx="47625" cy="47625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1875" y="1171575"/>
            <a:ext cx="95250" cy="9525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3775" y="1133475"/>
            <a:ext cx="171450" cy="171450"/>
          </a:xfrm>
          <a:prstGeom prst="ellipse">
            <a:avLst/>
          </a:prstGeom>
          <a:noFill/>
          <a:ln w="9525">
            <a:solidFill>
              <a:srgbClr val="FFC72C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15675" y="1095375"/>
            <a:ext cx="247650" cy="247650"/>
          </a:xfrm>
          <a:prstGeom prst="ellipse">
            <a:avLst/>
          </a:prstGeom>
          <a:noFill/>
          <a:ln w="9525">
            <a:solidFill>
              <a:srgbClr val="FFC72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20425" y="1000125"/>
            <a:ext cx="438150" cy="438150"/>
          </a:xfrm>
          <a:prstGeom prst="ellipse">
            <a:avLst/>
          </a:prstGeom>
          <a:noFill/>
          <a:ln w="9525">
            <a:solidFill>
              <a:srgbClr val="FFC72C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06125" y="885825"/>
            <a:ext cx="666750" cy="666750"/>
          </a:xfrm>
          <a:prstGeom prst="ellipse">
            <a:avLst/>
          </a:prstGeom>
          <a:noFill/>
          <a:ln w="9525">
            <a:solidFill>
              <a:srgbClr val="FFC72C">
                <a:alpha val="5000"/>
              </a:srgbClr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核心观点：方向正确、路径可行、窗口期紧迫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3006661"/>
            <a:ext cx="10972800" cy="981075"/>
          </a:xfrm>
          <a:prstGeom prst="roundRect">
            <a:avLst>
              <a:gd name="adj" fmla="val 1942"/>
            </a:avLst>
          </a:prstGeom>
          <a:solidFill>
            <a:srgbClr val="FFC72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3035236"/>
            <a:ext cx="10972800" cy="952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90575" y="3432112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388" y="3559112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325" y="3590862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3233356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方向正确、路径可行、窗口期紧迫——靠前发力、能早则早，以「一套底座、两条主线、三个闭环、90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8700" y="3557206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天试点」启动，用业务沉淀说话。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财务已经验证了逻辑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2418131"/>
            <a:ext cx="2476500" cy="2234565"/>
          </a:xfrm>
          <a:prstGeom prst="roundRect">
            <a:avLst>
              <a:gd name="adj" fmla="val 85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3224898"/>
            <a:ext cx="120015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+11.54%</a:t>
            </a:r>
            <a:pPr algn="l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2026H1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14400" y="306868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4900" y="3670668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营收增速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4900" y="3880218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#256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3543300" y="2418131"/>
            <a:ext cx="2476500" cy="2234565"/>
          </a:xfrm>
          <a:prstGeom prst="roundRect">
            <a:avLst>
              <a:gd name="adj" fmla="val 85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33800" y="3224898"/>
            <a:ext cx="93726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+12.12%</a:t>
            </a:r>
            <a:pPr algn="l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2026H1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14400" y="3068688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33800" y="3670668"/>
            <a:ext cx="9372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归母净利增速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33800" y="3880218"/>
            <a:ext cx="9372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#256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6172200" y="2418131"/>
            <a:ext cx="2476500" cy="2234565"/>
          </a:xfrm>
          <a:prstGeom prst="roundRect">
            <a:avLst>
              <a:gd name="adj" fmla="val 85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62700" y="3255378"/>
            <a:ext cx="674370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+53.9%</a:t>
            </a:r>
            <a:pPr algn="l" indent="0" marL="0">
              <a:buNone/>
            </a:pPr>
            <a:r>
              <a:rPr lang="en-US" sz="7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中收破10%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914400" y="3068688"/>
            <a:ext cx="754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62700" y="3670668"/>
            <a:ext cx="6743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手续费净收入增速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2700" y="3880218"/>
            <a:ext cx="6743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#256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8801100" y="2418131"/>
            <a:ext cx="2476500" cy="2234565"/>
          </a:xfrm>
          <a:prstGeom prst="roundRect">
            <a:avLst>
              <a:gd name="adj" fmla="val 85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991600" y="3186798"/>
            <a:ext cx="411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1.32%</a:t>
            </a:r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降39bp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991600" y="3670668"/>
            <a:ext cx="4114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存款成本率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91600" y="3880218"/>
            <a:ext cx="41148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#256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中收占比10.42%（城商行第二家破10%）、活期占比35.57%、计息负债成本率1.43%（降36bp）、拨备覆盖率373.35%、拨贷比2.83%。数据来源：苏银研究院第17期（#256）。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五个基本判断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524000" y="1847850"/>
            <a:ext cx="9753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68830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方向正确、路径可行、窗口期紧迫——以「一套底座、两条主线、三个闭环、90天试点」启动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2392680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，用业务沉淀说话。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32651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财务已验证逻辑：两项收入增速18.2%（高出我行约7pct），中收+53.9%、代理类收入49.9亿占中收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589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890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三低时代，平台是负债端胜负手：存款成本率1.32%（降39bp）、活期占比35.57%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差距在结构不在规模：私行AUM占比13.9% vs 29.4%；对公理财658亿 vs 2000亿+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7891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我行禀赋不差，缺的是组织机制：苏银生活月活800万（年底目标1000万）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数据均为2026H1口径（#256）；行内对照为聚合口径。严守三条底线：不突破风险底线换业绩、不层层加码、不把平台做成摆设。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宁波定位与经营逻辑：任务链分工、先价值后业务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90126"/>
            <a:ext cx="10363200" cy="981075"/>
          </a:xfrm>
          <a:prstGeom prst="roundRect">
            <a:avLst>
              <a:gd name="adj" fmla="val 1942"/>
            </a:avLst>
          </a:prstGeom>
          <a:solidFill>
            <a:srgbClr val="051C2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18701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63625" y="3715575"/>
            <a:ext cx="158750" cy="158750"/>
          </a:xfrm>
          <a:prstGeom prst="ellips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794951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763201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351682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双平台按企业任务链分工：波波知了管「对外做生意」，数字人力管「对内管人管钱」；先有企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500" y="384067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业服务关系，后有资产负债表。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双平台：按企业任务链分工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5D5C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5D5C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0700" y="2682240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维度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04263" y="2682240"/>
            <a:ext cx="93021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波波知了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86500" y="2682240"/>
            <a:ext cx="68199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数字人力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950845"/>
            <a:ext cx="60198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369945"/>
            <a:ext cx="60198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789045"/>
            <a:ext cx="60198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08145"/>
            <a:ext cx="60198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627245"/>
            <a:ext cx="60198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310896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定位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790700" y="3108960"/>
            <a:ext cx="1131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企业外部经营与综合企服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804263" y="3108960"/>
            <a:ext cx="930213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企业内部组织运营与人薪税费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028700" y="352806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服务内容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790700" y="3528060"/>
            <a:ext cx="1131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经营赋能·资源对接·企业家服务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804263" y="3528060"/>
            <a:ext cx="930213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HR·代发·五险一金·报销·供需撮合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28700" y="394716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运营模式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790700" y="3947160"/>
            <a:ext cx="1131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2023年上线·独立非金融平台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804263" y="3947160"/>
            <a:ext cx="930213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另行打造·只撮合不交付·2026年底上线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028700" y="436626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关键事实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790700" y="4366260"/>
            <a:ext cx="1131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17.6万家企业·20+服务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804263" y="4366260"/>
            <a:ext cx="930213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量子教育拟入驻·购课9折·形态待核实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定稿口径：双平台按企业任务链分工，同一企业可同时使用（严禁「客户分层」表述）；公开「数字人力3.0/4.0」与2026年底新平台形态是否等同待核实。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经营逻辑：先有服务关系，后有资产负债表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533400" y="1714500"/>
            <a:ext cx="24955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943100"/>
            <a:ext cx="266700" cy="2667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200215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358390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非金融平台独立运营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2000" y="2665095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不与信贷捆绑，降低企业戒心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9950" y="1714500"/>
            <a:ext cx="24955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8550" y="1943100"/>
            <a:ext cx="266700" cy="2667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533400" y="2002155"/>
            <a:ext cx="6477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38550" y="2358390"/>
            <a:ext cx="9086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高频服务建立信任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38550" y="2665095"/>
            <a:ext cx="9086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嵌入企业日常，沉淀经营数据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86500" y="1714500"/>
            <a:ext cx="24955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5100" y="1943100"/>
            <a:ext cx="266700" cy="2667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2002155"/>
            <a:ext cx="1215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5100" y="2358390"/>
            <a:ext cx="6210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自然引导至金融闭环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5100" y="2665095"/>
            <a:ext cx="6210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代发 · 财富 · 对公理财 · 私行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63050" y="1714500"/>
            <a:ext cx="24955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391650" y="1943100"/>
            <a:ext cx="266700" cy="2667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600" y="2002155"/>
            <a:ext cx="6400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91650" y="2358390"/>
            <a:ext cx="33337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低成本负债与中收双增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91650" y="2665095"/>
            <a:ext cx="33337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存款成本率1.32% 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91650" y="2855595"/>
            <a:ext cx="33337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中收占比10.42%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05150" y="2462213"/>
            <a:ext cx="152400" cy="0"/>
          </a:xfrm>
          <a:prstGeom prst="lin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57550" y="24241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1700" y="2462213"/>
            <a:ext cx="152400" cy="0"/>
          </a:xfrm>
          <a:prstGeom prst="lin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34100" y="24241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31" name="Shape 29"/>
          <p:cNvSpPr/>
          <p:nvPr/>
        </p:nvSpPr>
        <p:spPr>
          <a:xfrm>
            <a:off x="8858250" y="2462213"/>
            <a:ext cx="152400" cy="0"/>
          </a:xfrm>
          <a:prstGeom prst="lin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0650" y="24241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000" y="3609975"/>
            <a:ext cx="10515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3400" y="3590925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5" name="Text 33"/>
          <p:cNvSpPr/>
          <p:nvPr/>
        </p:nvSpPr>
        <p:spPr>
          <a:xfrm>
            <a:off x="533400" y="3830955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先有企业服务关系，后有资产负债表。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财务印证（2026H1）：代理类收入49.9亿占中收85%，私行AUM 4206亿（占29.4%）、对公理财2000亿+；拨备覆盖率373.35%。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财务印证：差距在结构，不在规模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" y="2343150"/>
            <a:ext cx="10972800" cy="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2838450"/>
            <a:ext cx="10972800" cy="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" y="3333750"/>
            <a:ext cx="10972800" cy="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700" y="1847850"/>
            <a:ext cx="1771650" cy="19812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1725930"/>
            <a:ext cx="18478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4206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2457450" y="2626952"/>
            <a:ext cx="1771650" cy="120209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2505032"/>
            <a:ext cx="54673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2552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9600" y="3878580"/>
            <a:ext cx="3657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私行AUM（亿元）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305300" y="2886967"/>
            <a:ext cx="1771650" cy="942083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765047"/>
            <a:ext cx="91630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2000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115050" y="3519105"/>
            <a:ext cx="1771650" cy="309945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" y="3397185"/>
            <a:ext cx="116014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658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" y="3878580"/>
            <a:ext cx="109728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对公理财（亿元）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7962900" y="3805545"/>
            <a:ext cx="1771650" cy="23505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5850" y="3683625"/>
            <a:ext cx="79057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49.9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9772650" y="3819252"/>
            <a:ext cx="1771650" cy="979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3" name="Text 21"/>
          <p:cNvSpPr/>
          <p:nvPr/>
        </p:nvSpPr>
        <p:spPr>
          <a:xfrm>
            <a:off x="8515350" y="3697332"/>
            <a:ext cx="428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20.8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705600" y="3878580"/>
            <a:ext cx="60960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代理类收入（亿元）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9600" y="4076700"/>
            <a:ext cx="95250" cy="9525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4088130"/>
            <a:ext cx="12039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宁波银行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847850" y="4076700"/>
            <a:ext cx="95250" cy="9525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8" name="Text 26"/>
          <p:cNvSpPr/>
          <p:nvPr/>
        </p:nvSpPr>
        <p:spPr>
          <a:xfrm>
            <a:off x="2000250" y="4088130"/>
            <a:ext cx="108013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江苏银行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1219200" y="44196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600" y="440055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1" name="Text 29"/>
          <p:cNvSpPr/>
          <p:nvPr/>
        </p:nvSpPr>
        <p:spPr>
          <a:xfrm>
            <a:off x="609600" y="4640580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客户结构决定收入结构，收入结构决定增长质量。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2026H1口径（#256）；代理类收入为我行测算值（49.9−29.1）；行内数据为聚合口径。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我行启示与建议方案：学三件事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12649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、一套底座两条主线三个闭环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360992"/>
            <a:ext cx="10363200" cy="981075"/>
          </a:xfrm>
          <a:prstGeom prst="roundRect">
            <a:avLst>
              <a:gd name="adj" fmla="val 1942"/>
            </a:avLst>
          </a:prstGeom>
          <a:solidFill>
            <a:srgbClr val="FFC72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89567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3786442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9188" y="3913442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125" y="3945192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3587687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学宁波，学的不是两个App，而是三件事：任务链经营的客户观、先价值后业务的产品观、独立运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500" y="3911536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营与政银协同的机制观。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学宁波，学三件事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231419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客户观：从分层经营转向任务链经营（严禁「客户分层」表述），同一客户可同时接入经营、组织两条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3804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3809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产品观：从产品推销转向价值先行——苏银生活800万月活若只用来发权益、卖产品，就仍是资金中介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6194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打法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6199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获客观：从单点获客转向生态获客——把消费贷团办、信用卡课程权益、私行C9联培等散点串成平台体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08584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48589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机制观：政银协同制度化——江苏制造业园区禀赋优于宁波，把「领导拜访式协同」升级为「机制化平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0974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台化协同」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学宁波，学的不是两个App，而是三件事：任务链经营的客户观、先价值后业务的产品观、独立运营与政银协同的机制观。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总体架构：一套底座、两条主线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5D5C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5D5C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59555"/>
            <a:ext cx="6019800" cy="6858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322445"/>
            <a:ext cx="12039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企业服务能力底座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28900" y="4387215"/>
            <a:ext cx="104775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整合月活、园区渠道与服务商生态 · 统一企业身份与数据治理（商密仅聚合口径）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3259455"/>
            <a:ext cx="6019800" cy="6858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545205"/>
            <a:ext cx="1203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主线一·企业经营服务线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628900" y="3587115"/>
            <a:ext cx="104775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对标波波知了：出海、节能、AI赋能、资源对接 · 聚焦江苏制造/科技/外贸企业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459355"/>
            <a:ext cx="6019800" cy="6858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2745105"/>
            <a:ext cx="1203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主线二·组织员工服务线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628900" y="2794635"/>
            <a:ext cx="10477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对标数字人力：HR、代发、五险一金、报销、撮合 · 「只撮合不交付」边界先行试点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总体架构（已定稿）：一套底座＋两条主线＋三个金融闭环＋90天双场景试点；渠道「一重两轻」，统一智能派单，防止渠道割裂退化为孤岛App。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三个金融闭环：把服务变资产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2309241"/>
            <a:ext cx="609600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305175" y="2614041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8000" y="273024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10013" y="2504504"/>
            <a:ext cx="150813" cy="103188"/>
          </a:xfrm>
          <a:custGeom>
            <a:avLst/>
            <a:gdLst/>
            <a:ahLst/>
            <a:cxnLst/>
            <a:rect l="l" t="t" r="r" b="b"/>
            <a:pathLst>
              <a:path w="150813" h="103188">
                <a:moveTo>
                  <a:pt x="127000" y="31750"/>
                </a:moveTo>
                <a:lnTo>
                  <a:pt x="127000" y="7938"/>
                </a:lnTo>
                <a:arcTo hR="7938" wR="7938" stAng="0" swAng="-5400000"/>
                <a:lnTo>
                  <a:pt x="15875" y="0"/>
                </a:lnTo>
                <a:arcTo hR="15875" wR="15875" stAng="16200000" swAng="-10800000"/>
                <a:lnTo>
                  <a:pt x="134938" y="31750"/>
                </a:lnTo>
                <a:arcTo hR="7938" wR="7938" stAng="16200000" swAng="5400000"/>
                <a:lnTo>
                  <a:pt x="142875" y="71438"/>
                </a:lnTo>
                <a:lnTo>
                  <a:pt x="119063" y="71438"/>
                </a:lnTo>
                <a:arcTo hR="15875" wR="15875" stAng="16200000" swAng="-10800000"/>
                <a:lnTo>
                  <a:pt x="142875" y="103188"/>
                </a:lnTo>
                <a:arcTo hR="7938" wR="7938" stAng="5400000" swAng="-5400000"/>
                <a:lnTo>
                  <a:pt x="150813" y="79375"/>
                </a:lnTo>
                <a:arcTo hR="7938" wR="7938" stAng="0" swAng="-54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10013" y="252037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0"/>
                </a:moveTo>
                <a:lnTo>
                  <a:pt x="0" y="111125"/>
                </a:lnTo>
                <a:arcTo hR="15875" wR="15875" stAng="10800000" swAng="-5400000"/>
                <a:lnTo>
                  <a:pt x="134938" y="127000"/>
                </a:lnTo>
                <a:arcTo hR="7938" wR="7938" stAng="5400000" swAng="-5400000"/>
                <a:lnTo>
                  <a:pt x="142875" y="87313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1950" y="249783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培训代发闭环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86200" y="275691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企业培训服务（量子教育9折权益）→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886200" y="295694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员工以我行卡代发工资＋课程权益（信用卡拟嵌365元/年）→ 沉淀代发与活期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3048000" y="3414141"/>
            <a:ext cx="609600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05175" y="3718941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8000" y="383514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2075" y="3601466"/>
            <a:ext cx="158750" cy="15875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49700" y="3601466"/>
            <a:ext cx="63500" cy="158750"/>
          </a:xfrm>
          <a:custGeom>
            <a:avLst/>
            <a:gdLst/>
            <a:ahLst/>
            <a:cxnLst/>
            <a:rect l="l" t="t" r="r" b="b"/>
            <a:pathLst>
              <a:path w="63500" h="158750">
                <a:moveTo>
                  <a:pt x="31750" y="0"/>
                </a:moveTo>
                <a:arcTo hR="115094" wR="115094" stAng="13416169" swAng="-5232338"/>
                <a:arcTo hR="115094" wR="115094" stAng="2616169" swAng="-5232338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2075" y="3680841"/>
            <a:ext cx="158750" cy="5953"/>
          </a:xfrm>
          <a:custGeom>
            <a:avLst/>
            <a:gdLst/>
            <a:ahLst/>
            <a:cxnLst/>
            <a:rect l="l" t="t" r="r" b="b"/>
            <a:pathLst>
              <a:path w="158750" h="5953">
                <a:moveTo>
                  <a:pt x="0" y="0"/>
                </a:moveTo>
                <a:lnTo>
                  <a:pt x="15875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1950" y="360273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AI出海闭环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3886200" y="386181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出海对接 / AI赋能 → 跨境结算、贸易融资、汇率避险 →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886200" y="406184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对公＋企业家个人跨境金融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048000" y="4519041"/>
            <a:ext cx="609600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5175" y="4823841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8000" y="494004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02095" y="4714360"/>
            <a:ext cx="158718" cy="111060"/>
          </a:xfrm>
          <a:custGeom>
            <a:avLst/>
            <a:gdLst/>
            <a:ahLst/>
            <a:cxnLst/>
            <a:rect l="l" t="t" r="r" b="b"/>
            <a:pathLst>
              <a:path w="158718" h="111060">
                <a:moveTo>
                  <a:pt x="75878" y="2055"/>
                </a:moveTo>
                <a:arcTo hR="3969" wR="3969" stAng="12530187" swAng="7339626"/>
                <a:lnTo>
                  <a:pt x="106263" y="46536"/>
                </a:lnTo>
                <a:arcTo hR="7938" wR="7938" stAng="9091205" swAng="-6065384"/>
                <a:lnTo>
                  <a:pt x="152245" y="19787"/>
                </a:lnTo>
                <a:arcTo hR="3969" wR="3969" stAng="13852614" swAng="8659452"/>
                <a:lnTo>
                  <a:pt x="136084" y="105234"/>
                </a:lnTo>
                <a:arcTo hR="7938" wR="7938" stAng="925469" swAng="4447091"/>
                <a:lnTo>
                  <a:pt x="30222" y="111060"/>
                </a:lnTo>
                <a:arcTo hR="7938" wR="7938" stAng="5423995" swAng="4450509"/>
                <a:lnTo>
                  <a:pt x="139" y="23914"/>
                </a:lnTo>
                <a:arcTo hR="3969" wR="3969" stAng="9887933" swAng="8659452"/>
                <a:lnTo>
                  <a:pt x="40414" y="48878"/>
                </a:lnTo>
                <a:arcTo hR="7938" wR="7938" stAng="7774179" swAng="-6065384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25888" y="4857179"/>
            <a:ext cx="111125" cy="5953"/>
          </a:xfrm>
          <a:custGeom>
            <a:avLst/>
            <a:gdLst/>
            <a:ahLst/>
            <a:cxnLst/>
            <a:rect l="l" t="t" r="r" b="b"/>
            <a:pathLst>
              <a:path w="111125" h="5953">
                <a:moveTo>
                  <a:pt x="0" y="0"/>
                </a:moveTo>
                <a:lnTo>
                  <a:pt x="1111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71950" y="470763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企业家圈层闭环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3886200" y="496671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企业家服务（资源对接、商学院联培，叠加私行C9联培）→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3886200" y="516674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私行与家族财富转化，直击AUM占比13.9% vs 29.4%结构短板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0" y="606552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三个闭环均以服务为入口、以业务沉淀为出口；对公理财作为贯穿性承接产品。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90天试点与组织保障：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1922145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先验证闭环，再滚动放量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809750" y="3844290"/>
            <a:ext cx="8572500" cy="657225"/>
          </a:xfrm>
          <a:prstGeom prst="roundRect">
            <a:avLst>
              <a:gd name="adj" fmla="val 2899"/>
            </a:avLst>
          </a:prstGeom>
          <a:solidFill>
            <a:srgbClr val="051C2C"/>
          </a:solidFill>
          <a:ln/>
        </p:spPr>
      </p:sp>
      <p:sp>
        <p:nvSpPr>
          <p:cNvPr id="7" name="Shape 5"/>
          <p:cNvSpPr/>
          <p:nvPr/>
        </p:nvSpPr>
        <p:spPr>
          <a:xfrm>
            <a:off x="1809750" y="3872865"/>
            <a:ext cx="8572500" cy="6286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958975" y="4107815"/>
            <a:ext cx="158750" cy="158750"/>
          </a:xfrm>
          <a:prstGeom prst="ellips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8350" y="418719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8350" y="415544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8850" y="407098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90天只验证「闭环能否成立」，不铺摊子；验证通过后按季度滚动放量。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90天双场景试点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" y="3503105"/>
            <a:ext cx="10591800" cy="0"/>
          </a:xfrm>
          <a:prstGeom prst="line">
            <a:avLst/>
          </a:prstGeom>
          <a:noFill/>
          <a:ln w="19050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" y="3426905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" y="315258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第1-30天·搭台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364788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底座MVP上线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3900" y="3880294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签约试点企业≥30家；服务商入驻≥10家；完成准入与合规审查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019800" y="3426905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3152584"/>
            <a:ext cx="10972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第31-60天·跑通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647885"/>
            <a:ext cx="10972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两条主线各跑通1个完整转化案例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880294"/>
            <a:ext cx="10972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签约代发≥20家、新增代发≥3000人、沉淀代发月额≥3000万元；导流页面上线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11315700" y="3426905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3152584"/>
            <a:ext cx="10858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第61-90天·验证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3647885"/>
            <a:ext cx="10858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形成《双平台试点验证报告》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880294"/>
            <a:ext cx="10858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渗透率≥40%、沉淀对公存款≥1亿元、私行线索≥50条、圈层活动≥2场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场景A＝制造型培训代发闭环（组织侧）；场景B＝科技/外贸AI出海闭环（经营侧）。目标均为测算建议值，立项时校准。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验收口径与组织考核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5D5C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5D5C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364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验收以业务沉淀为准：代发签约与留存、对公理财/私行转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602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化、活期沉淀、中收贡献（非注册数）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过程观察指标（测算建议值）：代发90天留存≥85%、绑卡率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841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≥30%、权益核销≥15%、获客成本降30%+、NPS≥40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842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组织：项目制独立运作，产品/运营/技术/合规四线合署；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6080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明确「非金融运营主体」合规身份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0081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试点期薪酬按市场50-70%区间起步、绑定里程碑考核（测算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331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建议值）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732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考核：转向业务沉淀，与分行业绩双算；平台允许短期不盈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055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455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严禁把提质曲解为层层加码、只看短期规模排名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以上目标均为测算建议值（研判推断），立项时按实际资源校准。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风险与合规红线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194691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考核周期匹配投入：培育期≥18个月；转化率显著低于测算值时，节奏下修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7076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为半年一评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7081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数据治理滞后将导致AI「无米下锅」——数据治理是AI上线的前提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7086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渠道割裂是最大执行风险：统一线索流转与智能派单前置防控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7091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合规红线：服务不捆绑信贷、不承诺收益、严禁变相吸储；信息采集最小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必要、用途限定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19481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服务商准入与消保审查会签；代发结算落实反洗钱监测；宣传不使用「客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1866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户分层」口径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1871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「数字人力」公开形态与新平台是否等同待核实；若确认合规瑕疵，组织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24256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侧上线推迟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风险提示均为边界条件：三条底线是不突破风险底线换业绩、不层层加码、不把平台做成摆设。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提请决策事项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265442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批准设立专项项目组（项目制独立运作），核定首期预算500-800万元（测算建议值）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5447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批准90天试点方案与量化目标（30家签约/20家代发/3000万元月代发额/40%渗透率/1亿元沉淀）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5452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批准「业务沉淀」导向考核办法与分行双算机制，明确试点期容错边界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5457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授权与量子教育等服务商谈判（入驻、权益分成、数据边界），提交合规与消保审查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5462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要求法务合规部出具平台与金融业务边界、个人信息保护专项意见，核实「数字人力」与新平台关系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江苏银行（智见点评·行业研究报告）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55420"/>
            <a:ext cx="1219200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0" b="1" i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把方便留给客户，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0" y="2941320"/>
            <a:ext cx="1219200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0" b="1" i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把复杂留给自己</a:t>
            </a:r>
            <a:endParaRPr lang="en-US" sz="10800" dirty="0"/>
          </a:p>
        </p:txBody>
      </p:sp>
      <p:sp>
        <p:nvSpPr>
          <p:cNvPr id="5" name="Shape 3"/>
          <p:cNvSpPr/>
          <p:nvPr/>
        </p:nvSpPr>
        <p:spPr>
          <a:xfrm>
            <a:off x="5810250" y="46482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57912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11886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江苏银行（智见点评·行业研究报告）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