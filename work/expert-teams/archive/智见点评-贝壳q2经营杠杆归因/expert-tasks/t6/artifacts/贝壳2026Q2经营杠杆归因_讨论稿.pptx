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开场讲清楚三件事：第一，Q2 利润近翻倍、利润率 14.6%，但改善大头记在市场 β 账上；第二，组织/AI α 有先行证据（量升人平剪刀差），但证据等级不足，全部为内部单源；第三，唯一裁决点是 6 城 90 天差分，约 2026Q4 出结果。本版并入居住服务·Y（杨现领）渠道视角：剪刀差再定位、AI 信息平权解读、中台系统复制条件与差分实验两洞（对照组污染、跨能级配对），主基调不变。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六个数字分两类看：前三个（利润率、单量、经纪人规模）公开可核实，构成「量升人平」剪刀差，这是全篇分析的锚点；后三个（人效、零开单率、转带看率）全部出自管理层 S 分享的内部单源样本，证据等级低一档，是 α 的候选证据而非定论。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两份独立拆分方向一致：行业研究·X 拆出 β 约 2.5-3pct、α 约 1-1.5pct；行业研究·T 估 β 占六成上下。本页取整为 60/27/13，中间值口径。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六组事实按证据强度排序讲。特别提醒口径警示：单量多个口径并存且金额为负增长，指向以价换量；若持续，每单佣金变薄，对利润率传导打折。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机制链六环节压成五步讲：回暖给量（β），盘级拆分与人房客重配是机制（α），零开单率压降是四份研判一致认可的最可信 α 证据，人效提升里剔除量增后的净提升才记 α，最后落到利润率。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拆两层账：β 段里，人均单量自然 +约 20% 要先剔除，经营杠杆弹性 1.5-2 倍下量增解释大部分抬升；α 段里，市场 β 改变分母，无法把零开单率从 25% 压到 10% 以下，这个量级的分布改变需要机制性力量。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这是全篇唯一裁决点。回答「哪些利润改善可归因于市场 β，哪些来自可复制的组织/AI α」不靠财报，靠 6 城 90 天差分。撤回条件写清楚：人效净提升不足 10% 或贡献利润不升。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三个节点按时间排：Q3 财报是最残酷的压力测试，看 β 退潮后利润率站不站得住；6 城差分是裁决点；挂牌量与成交周期是 β 归因的旁证。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收尾给判断与边界：范式级变化是条件句，前提是多城验证；乐观情形为什么没当主基调，因为证据全部是内部单源；最后强调误读警示，读本稿始终携带口径。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收束：本季度最值得记录的变量不是 14.6% 的利润率，而是「量升人平」剪刀差是否可持续。若被多城验证（含 Y 的中台系统复制条件），这是行业级范式变化，不是季度波动。90 天后，凭差分核销。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1828800" y="952500"/>
            <a:ext cx="0" cy="4953000"/>
          </a:xfrm>
          <a:prstGeom prst="line">
            <a:avLst/>
          </a:prstGeom>
          <a:noFill/>
          <a:ln w="9525">
            <a:solidFill>
              <a:srgbClr val="DDE2E9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267200" y="952500"/>
            <a:ext cx="0" cy="4953000"/>
          </a:xfrm>
          <a:prstGeom prst="line">
            <a:avLst/>
          </a:prstGeom>
          <a:noFill/>
          <a:ln w="9525">
            <a:solidFill>
              <a:srgbClr val="DDE2E9">
                <a:alpha val="2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05600" y="952500"/>
            <a:ext cx="0" cy="4953000"/>
          </a:xfrm>
          <a:prstGeom prst="line">
            <a:avLst/>
          </a:prstGeom>
          <a:noFill/>
          <a:ln w="9525">
            <a:solidFill>
              <a:srgbClr val="DDE2E9">
                <a:alpha val="2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0" y="952500"/>
            <a:ext cx="0" cy="4953000"/>
          </a:xfrm>
          <a:prstGeom prst="line">
            <a:avLst/>
          </a:prstGeom>
          <a:noFill/>
          <a:ln w="9525">
            <a:solidFill>
              <a:srgbClr val="DDE2E9">
                <a:alpha val="2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82400" y="952500"/>
            <a:ext cx="0" cy="4953000"/>
          </a:xfrm>
          <a:prstGeom prst="line">
            <a:avLst/>
          </a:prstGeom>
          <a:noFill/>
          <a:ln w="9525">
            <a:solidFill>
              <a:srgbClr val="DDE2E9">
                <a:alpha val="2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1143000"/>
            <a:ext cx="12192000" cy="0"/>
          </a:xfrm>
          <a:prstGeom prst="line">
            <a:avLst/>
          </a:prstGeom>
          <a:noFill/>
          <a:ln w="9525">
            <a:solidFill>
              <a:srgbClr val="DDE2E9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715000"/>
            <a:ext cx="12192000" cy="0"/>
          </a:xfrm>
          <a:prstGeom prst="line">
            <a:avLst/>
          </a:prstGeom>
          <a:noFill/>
          <a:ln w="9525">
            <a:solidFill>
              <a:srgbClr val="DDE2E9">
                <a:alpha val="2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0"/>
            <a:ext cx="4876800" cy="68580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953000"/>
            <a:ext cx="1905000" cy="1905000"/>
          </a:xfrm>
          <a:custGeom>
            <a:avLst/>
            <a:gdLst/>
            <a:ahLst/>
            <a:cxnLst/>
            <a:rect l="l" t="t" r="r" b="b"/>
            <a:pathLst>
              <a:path w="1905000" h="1905000">
                <a:moveTo>
                  <a:pt x="0" y="1905000"/>
                </a:moveTo>
                <a:lnTo>
                  <a:pt x="0" y="0"/>
                </a:lnTo>
                <a:lnTo>
                  <a:pt x="1905000" y="1905000"/>
                </a:lnTo>
                <a:close/>
              </a:path>
            </a:pathLst>
          </a:custGeom>
          <a:solidFill>
            <a:srgbClr val="004C38"/>
          </a:solidFill>
          <a:ln/>
        </p:spPr>
      </p:sp>
      <p:sp>
        <p:nvSpPr>
          <p:cNvPr id="12" name="Text 10"/>
          <p:cNvSpPr/>
          <p:nvPr/>
        </p:nvSpPr>
        <p:spPr>
          <a:xfrm>
            <a:off x="609600" y="2867978"/>
            <a:ext cx="11582400" cy="662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贝壳 2026Q2</a:t>
            </a:r>
            <a:endParaRPr lang="en-US" sz="4350" dirty="0"/>
          </a:p>
        </p:txBody>
      </p:sp>
      <p:sp>
        <p:nvSpPr>
          <p:cNvPr id="13" name="Text 11"/>
          <p:cNvSpPr/>
          <p:nvPr/>
        </p:nvSpPr>
        <p:spPr>
          <a:xfrm>
            <a:off x="609600" y="3468053"/>
            <a:ext cx="11582400" cy="6629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经营杠杆归因</a:t>
            </a:r>
            <a:endParaRPr lang="en-US" sz="4350" dirty="0"/>
          </a:p>
        </p:txBody>
      </p:sp>
      <p:sp>
        <p:nvSpPr>
          <p:cNvPr id="14" name="Shape 12"/>
          <p:cNvSpPr/>
          <p:nvPr/>
        </p:nvSpPr>
        <p:spPr>
          <a:xfrm>
            <a:off x="5486400" y="1371600"/>
            <a:ext cx="228600" cy="228600"/>
          </a:xfrm>
          <a:prstGeom prst="ellipse">
            <a:avLst/>
          </a:prstGeom>
          <a:solidFill>
            <a:srgbClr val="E08A2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0" y="1356360"/>
            <a:ext cx="117348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10134600" y="990600"/>
            <a:ext cx="1143000" cy="457200"/>
          </a:xfrm>
          <a:prstGeom prst="roundRect">
            <a:avLst>
              <a:gd name="adj" fmla="val 12500"/>
            </a:avLst>
          </a:prstGeom>
          <a:noFill/>
          <a:ln w="19050">
            <a:solidFill>
              <a:srgbClr val="2D5B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20200" y="1087755"/>
            <a:ext cx="29718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9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5486400" y="2133600"/>
            <a:ext cx="5791200" cy="0"/>
          </a:xfrm>
          <a:prstGeom prst="line">
            <a:avLst/>
          </a:prstGeom>
          <a:noFill/>
          <a:ln w="13335">
            <a:solidFill>
              <a:srgbClr val="DDE2E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407920"/>
            <a:ext cx="6705600" cy="2171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425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T/D/W/X · 张一鸣/马斯克 · 杨现领</a:t>
            </a:r>
            <a:pPr algn="l" indent="0" marL="0">
              <a:buNone/>
            </a:pPr>
            <a:r>
              <a:rPr lang="en-US" sz="142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2026-08</a:t>
            </a:r>
            <a:pPr algn="l" indent="0" marL="0">
              <a:buNone/>
            </a:pPr>
            <a:r>
              <a:rPr lang="en-US" sz="142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·    讨论稿 v2.1</a:t>
            </a:r>
            <a:endParaRPr lang="en-US" sz="1425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2133600"/>
          </a:xfrm>
          <a:prstGeom prst="rect">
            <a:avLst/>
          </a:prstGeom>
          <a:solidFill>
            <a:srgbClr val="2D5BD8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80772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核心指标：量升人平剪刀差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914400" y="2812275"/>
            <a:ext cx="1600200" cy="2234565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flipV="1">
            <a:off x="1140619" y="3422352"/>
            <a:ext cx="100013" cy="100013"/>
          </a:xfrm>
          <a:prstGeom prst="line">
            <a:avLst/>
          </a:pr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3475" y="3415208"/>
            <a:ext cx="35719" cy="35719"/>
          </a:xfrm>
          <a:prstGeom prst="ellipse">
            <a:avLst/>
          </a:pr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2056" y="3493789"/>
            <a:ext cx="35719" cy="35719"/>
          </a:xfrm>
          <a:prstGeom prst="ellipse">
            <a:avLst/>
          </a:pr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04900" y="3577133"/>
            <a:ext cx="120015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14.6</a:t>
            </a:r>
            <a:pPr algn="l" indent="0" marL="0">
              <a:buNone/>
            </a:pPr>
            <a:r>
              <a:rPr lang="en-US" sz="1350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14400" y="3462833"/>
            <a:ext cx="1409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04900" y="4064813"/>
            <a:ext cx="12001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 平台利润率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04900" y="4274363"/>
            <a:ext cx="12001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搜狐等 08-22 · 可核实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2667000" y="2812275"/>
            <a:ext cx="1600200" cy="2234565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3436639"/>
            <a:ext cx="42863" cy="42863"/>
          </a:xfrm>
          <a:custGeom>
            <a:avLst/>
            <a:gdLst/>
            <a:ahLst/>
            <a:cxnLst/>
            <a:rect l="l" t="t" r="r" b="b"/>
            <a:pathLst>
              <a:path w="42863" h="42863">
                <a:moveTo>
                  <a:pt x="0" y="0"/>
                </a:moveTo>
                <a:lnTo>
                  <a:pt x="42863" y="0"/>
                </a:lnTo>
                <a:lnTo>
                  <a:pt x="42863" y="42863"/>
                </a:lnTo>
              </a:path>
            </a:pathLst>
          </a:cu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71788" y="3436639"/>
            <a:ext cx="142875" cy="71438"/>
          </a:xfrm>
          <a:custGeom>
            <a:avLst/>
            <a:gdLst/>
            <a:ahLst/>
            <a:cxnLst/>
            <a:rect l="l" t="t" r="r" b="b"/>
            <a:pathLst>
              <a:path w="142875" h="71438">
                <a:moveTo>
                  <a:pt x="142875" y="0"/>
                </a:moveTo>
                <a:lnTo>
                  <a:pt x="82153" y="60722"/>
                </a:lnTo>
                <a:lnTo>
                  <a:pt x="46434" y="25003"/>
                </a:lnTo>
                <a:lnTo>
                  <a:pt x="0" y="71438"/>
                </a:lnTo>
              </a:path>
            </a:pathLst>
          </a:cu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57500" y="3577133"/>
            <a:ext cx="102489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≈+20</a:t>
            </a:r>
            <a:pPr algn="l" indent="0" marL="0">
              <a:buNone/>
            </a:pPr>
            <a:r>
              <a:rPr lang="en-US" sz="1350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14400" y="3462833"/>
            <a:ext cx="31623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857500" y="4087673"/>
            <a:ext cx="102489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二手单量 上半年同比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857500" y="4274363"/>
            <a:ext cx="102489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财新 08-22 · 多口径并存</a:t>
            </a:r>
            <a:endParaRPr lang="en-US" sz="825" dirty="0"/>
          </a:p>
        </p:txBody>
      </p:sp>
      <p:sp>
        <p:nvSpPr>
          <p:cNvPr id="20" name="Shape 18"/>
          <p:cNvSpPr/>
          <p:nvPr/>
        </p:nvSpPr>
        <p:spPr>
          <a:xfrm>
            <a:off x="4419600" y="2812275"/>
            <a:ext cx="1600200" cy="2234565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24388" y="3493789"/>
            <a:ext cx="100013" cy="42863"/>
          </a:xfrm>
          <a:custGeom>
            <a:avLst/>
            <a:gdLst/>
            <a:ahLst/>
            <a:cxnLst/>
            <a:rect l="l" t="t" r="r" b="b"/>
            <a:pathLst>
              <a:path w="100013" h="42863">
                <a:moveTo>
                  <a:pt x="100013" y="42863"/>
                </a:moveTo>
                <a:lnTo>
                  <a:pt x="100013" y="28575"/>
                </a:lnTo>
                <a:arcTo hR="28575" wR="28575" stAng="0" swAng="-5400000"/>
                <a:lnTo>
                  <a:pt x="28575" y="0"/>
                </a:lnTo>
                <a:arcTo hR="28575" wR="28575" stAng="16200000" swAng="-5400000"/>
                <a:lnTo>
                  <a:pt x="0" y="42863"/>
                </a:lnTo>
              </a:path>
            </a:pathLst>
          </a:cu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24400" y="3408978"/>
            <a:ext cx="21404" cy="55321"/>
          </a:xfrm>
          <a:custGeom>
            <a:avLst/>
            <a:gdLst/>
            <a:ahLst/>
            <a:cxnLst/>
            <a:rect l="l" t="t" r="r" b="b"/>
            <a:pathLst>
              <a:path w="21404" h="55321">
                <a:moveTo>
                  <a:pt x="0" y="0"/>
                </a:moveTo>
                <a:arcTo hR="28575" wR="28575" stAng="17072025" swAng="9055950"/>
              </a:path>
            </a:pathLst>
          </a:cu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45831" y="3494718"/>
            <a:ext cx="21431" cy="41934"/>
          </a:xfrm>
          <a:custGeom>
            <a:avLst/>
            <a:gdLst/>
            <a:ahLst/>
            <a:cxnLst/>
            <a:rect l="l" t="t" r="r" b="b"/>
            <a:pathLst>
              <a:path w="21431" h="41934">
                <a:moveTo>
                  <a:pt x="21431" y="41934"/>
                </a:moveTo>
                <a:lnTo>
                  <a:pt x="21431" y="27646"/>
                </a:lnTo>
                <a:arcTo hR="28575" wR="28575" stAng="21597436" swAng="-4528786"/>
              </a:path>
            </a:pathLst>
          </a:cu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45819" y="3408064"/>
            <a:ext cx="57150" cy="57150"/>
          </a:xfrm>
          <a:prstGeom prst="ellipse">
            <a:avLst/>
          </a:pr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0100" y="3691433"/>
            <a:ext cx="84963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未同步扩大</a:t>
            </a:r>
            <a:endParaRPr lang="en-US" sz="1875" dirty="0"/>
          </a:p>
        </p:txBody>
      </p:sp>
      <p:sp>
        <p:nvSpPr>
          <p:cNvPr id="26" name="Text 24"/>
          <p:cNvSpPr/>
          <p:nvPr/>
        </p:nvSpPr>
        <p:spPr>
          <a:xfrm>
            <a:off x="914400" y="3462833"/>
            <a:ext cx="49149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</a:rPr>
              <a:t>→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10100" y="4064813"/>
            <a:ext cx="84963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平台经纪人规模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610100" y="4274363"/>
            <a:ext cx="84963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财新 08-22 · 量升人平</a:t>
            </a:r>
            <a:endParaRPr lang="en-US" sz="825" dirty="0"/>
          </a:p>
        </p:txBody>
      </p:sp>
      <p:sp>
        <p:nvSpPr>
          <p:cNvPr id="29" name="Shape 27"/>
          <p:cNvSpPr/>
          <p:nvPr/>
        </p:nvSpPr>
        <p:spPr>
          <a:xfrm>
            <a:off x="6172200" y="2812275"/>
            <a:ext cx="1600200" cy="2234565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4107" y="3400902"/>
            <a:ext cx="128636" cy="142912"/>
          </a:xfrm>
          <a:custGeom>
            <a:avLst/>
            <a:gdLst/>
            <a:ahLst/>
            <a:cxnLst/>
            <a:rect l="l" t="t" r="r" b="b"/>
            <a:pathLst>
              <a:path w="128636" h="142912">
                <a:moveTo>
                  <a:pt x="7168" y="85744"/>
                </a:moveTo>
                <a:arcTo hR="7144" wR="7144" stAng="5388279" swAng="7754754"/>
                <a:lnTo>
                  <a:pt x="72319" y="1233"/>
                </a:lnTo>
                <a:arcTo hR="3572" wR="3572" stAng="13254236" swAng="9268521"/>
                <a:lnTo>
                  <a:pt x="64747" y="47525"/>
                </a:lnTo>
                <a:arcTo hR="7144" wR="7144" stAng="12029258" swAng="-6640439"/>
                <a:lnTo>
                  <a:pt x="121468" y="57169"/>
                </a:lnTo>
                <a:arcTo hR="7144" wR="7144" stAng="16188279" swAng="7754754"/>
                <a:lnTo>
                  <a:pt x="56317" y="141679"/>
                </a:lnTo>
                <a:arcTo hR="3572" wR="3572" stAng="2454236" swAng="9268521"/>
                <a:lnTo>
                  <a:pt x="63889" y="95388"/>
                </a:lnTo>
                <a:arcTo hR="7144" wR="7144" stAng="1229258" swAng="-6640439"/>
                <a:close/>
              </a:path>
            </a:pathLst>
          </a:cu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62700" y="3653333"/>
            <a:ext cx="67437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→ 5.6</a:t>
            </a:r>
            <a:pPr algn="l" indent="0" marL="0">
              <a:buNone/>
            </a:pPr>
            <a:r>
              <a:rPr lang="en-US" sz="1050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914400" y="3462833"/>
            <a:ext cx="6667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62700" y="4064813"/>
            <a:ext cx="6743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租赁样本人效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62700" y="4274363"/>
            <a:ext cx="67437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分享 08-21 · 内部单源</a:t>
            </a:r>
            <a:endParaRPr lang="en-US" sz="825" dirty="0"/>
          </a:p>
        </p:txBody>
      </p:sp>
      <p:sp>
        <p:nvSpPr>
          <p:cNvPr id="35" name="Shape 33"/>
          <p:cNvSpPr/>
          <p:nvPr/>
        </p:nvSpPr>
        <p:spPr>
          <a:xfrm>
            <a:off x="7924800" y="2812275"/>
            <a:ext cx="1600200" cy="2234565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29588" y="3400920"/>
            <a:ext cx="142875" cy="142875"/>
          </a:xfrm>
          <a:prstGeom prst="ellipse">
            <a:avLst/>
          </a:pr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58163" y="3429495"/>
            <a:ext cx="85725" cy="85725"/>
          </a:xfrm>
          <a:prstGeom prst="ellipse">
            <a:avLst/>
          </a:pr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86738" y="3458070"/>
            <a:ext cx="28575" cy="28575"/>
          </a:xfrm>
          <a:prstGeom prst="ellipse">
            <a:avLst/>
          </a:pr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115300" y="3683813"/>
            <a:ext cx="499110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→</a:t>
            </a:r>
            <a:pPr algn="l" indent="0" marL="0">
              <a:buNone/>
            </a:pPr>
            <a:r>
              <a:rPr lang="en-US" sz="19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</a:t>
            </a:r>
            <a:pPr algn="l" indent="0" marL="0">
              <a:buNone/>
            </a:pPr>
            <a:r>
              <a:rPr lang="en-US" sz="19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pPr algn="l" indent="0" marL="0">
              <a:buNone/>
            </a:pPr>
            <a:r>
              <a:rPr lang="en-US" sz="900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1950" dirty="0"/>
          </a:p>
        </p:txBody>
      </p:sp>
      <p:sp>
        <p:nvSpPr>
          <p:cNvPr id="40" name="Text 38"/>
          <p:cNvSpPr/>
          <p:nvPr/>
        </p:nvSpPr>
        <p:spPr>
          <a:xfrm>
            <a:off x="914400" y="3462833"/>
            <a:ext cx="84201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8115300" y="4064813"/>
            <a:ext cx="49911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零开单率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15300" y="4274363"/>
            <a:ext cx="49911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分享 08-21 · 内部单源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9677400" y="2812275"/>
            <a:ext cx="1600200" cy="2234565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882184" y="3422356"/>
            <a:ext cx="142882" cy="100004"/>
          </a:xfrm>
          <a:custGeom>
            <a:avLst/>
            <a:gdLst/>
            <a:ahLst/>
            <a:cxnLst/>
            <a:rect l="l" t="t" r="r" b="b"/>
            <a:pathLst>
              <a:path w="142882" h="100004">
                <a:moveTo>
                  <a:pt x="447" y="52488"/>
                </a:moveTo>
                <a:arcTo hR="7144" wR="7144" stAng="9578098" swAng="2443804"/>
                <a:arcTo hR="76795" wR="76795" stAng="12144730" swAng="8110540"/>
                <a:arcTo hR="7144" wR="7144" stAng="20378098" swAng="2443804"/>
                <a:arcTo hR="76795" wR="76795" stAng="1344730" swAng="8110540"/>
              </a:path>
            </a:pathLst>
          </a:cu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932194" y="3450927"/>
            <a:ext cx="42863" cy="42863"/>
          </a:xfrm>
          <a:prstGeom prst="ellipse">
            <a:avLst/>
          </a:prstGeom>
          <a:noFill/>
          <a:ln w="14288">
            <a:solidFill>
              <a:srgbClr val="2D5B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67900" y="3660953"/>
            <a:ext cx="3238500" cy="331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7.4 vs 5</a:t>
            </a:r>
            <a:pPr algn="l" indent="0" marL="0">
              <a:buNone/>
            </a:pPr>
            <a:r>
              <a:rPr lang="en-US" sz="975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%</a:t>
            </a:r>
            <a:endParaRPr lang="en-US" sz="2175" dirty="0"/>
          </a:p>
        </p:txBody>
      </p:sp>
      <p:sp>
        <p:nvSpPr>
          <p:cNvPr id="47" name="Text 45"/>
          <p:cNvSpPr/>
          <p:nvPr/>
        </p:nvSpPr>
        <p:spPr>
          <a:xfrm>
            <a:off x="914400" y="3462833"/>
            <a:ext cx="101727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0A0E14"/>
                </a:solidFill>
              </a:rPr>
              <a:t>↑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9867900" y="4064813"/>
            <a:ext cx="32385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客户管家转带看率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867900" y="4274363"/>
            <a:ext cx="3238500" cy="125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 分享 08-21 · 试点规模</a:t>
            </a:r>
            <a:endParaRPr lang="en-US" sz="825" dirty="0"/>
          </a:p>
        </p:txBody>
      </p:sp>
      <p:sp>
        <p:nvSpPr>
          <p:cNvPr id="50" name="Text 48"/>
          <p:cNvSpPr/>
          <p:nvPr/>
        </p:nvSpPr>
        <p:spPr>
          <a:xfrm>
            <a:off x="914400" y="6080760"/>
            <a:ext cx="112776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口径：利润率/单量/经纪人规模为公开可核实（搜狐、财新等 08-22；单量另有 +18.6%/+25% 口径）；人效、零开单率、转带看率为管理层 S 分享 08-21 内部单源样本，未获独立交叉验证。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智见点评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v2.1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78230"/>
            <a:ext cx="11277600" cy="525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4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归因拆分：β 入账、α 应收</a:t>
            </a:r>
            <a:endParaRPr lang="en-US" sz="3450" dirty="0"/>
          </a:p>
        </p:txBody>
      </p:sp>
      <p:sp>
        <p:nvSpPr>
          <p:cNvPr id="4" name="Shape 2"/>
          <p:cNvSpPr/>
          <p:nvPr/>
        </p:nvSpPr>
        <p:spPr>
          <a:xfrm>
            <a:off x="914400" y="1638300"/>
            <a:ext cx="685800" cy="38100"/>
          </a:xfrm>
          <a:prstGeom prst="rect">
            <a:avLst/>
          </a:prstGeom>
          <a:solidFill>
            <a:srgbClr val="E08A2E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847850"/>
            <a:ext cx="103632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46556" y="2209800"/>
            <a:ext cx="1754344" cy="2209800"/>
          </a:xfrm>
          <a:custGeom>
            <a:avLst/>
            <a:gdLst/>
            <a:ahLst/>
            <a:cxnLst/>
            <a:rect l="l" t="t" r="r" b="b"/>
            <a:pathLst>
              <a:path w="1754344" h="2209800">
                <a:moveTo>
                  <a:pt x="649444" y="0"/>
                </a:moveTo>
                <a:arcTo hR="1104900" wR="1104900" stAng="16200000" swAng="12960000"/>
                <a:lnTo>
                  <a:pt x="246789" y="1659107"/>
                </a:lnTo>
                <a:arcTo hR="685038" wR="685038" stAng="7560000" swAng="-12960000"/>
                <a:close/>
              </a:path>
            </a:pathLst>
          </a:custGeom>
          <a:solidFill>
            <a:srgbClr val="C4CCD8"/>
          </a:solidFill>
          <a:ln/>
        </p:spPr>
      </p:sp>
      <p:sp>
        <p:nvSpPr>
          <p:cNvPr id="7" name="Shape 5"/>
          <p:cNvSpPr/>
          <p:nvPr/>
        </p:nvSpPr>
        <p:spPr>
          <a:xfrm>
            <a:off x="4991100" y="2558344"/>
            <a:ext cx="702245" cy="1650239"/>
          </a:xfrm>
          <a:custGeom>
            <a:avLst/>
            <a:gdLst/>
            <a:ahLst/>
            <a:cxnLst/>
            <a:rect l="l" t="t" r="r" b="b"/>
            <a:pathLst>
              <a:path w="702245" h="1650239">
                <a:moveTo>
                  <a:pt x="455456" y="1650239"/>
                </a:moveTo>
                <a:arcTo hR="1104900" wR="1104900" stAng="7560000" swAng="5832000"/>
                <a:lnTo>
                  <a:pt x="605529" y="287415"/>
                </a:lnTo>
                <a:arcTo hR="685038" wR="685038" stAng="13392000" swAng="-5832000"/>
                <a:close/>
              </a:path>
            </a:pathLst>
          </a:custGeom>
          <a:solidFill>
            <a:srgbClr val="2D5BD8"/>
          </a:solidFill>
          <a:ln/>
        </p:spPr>
      </p:sp>
      <p:sp>
        <p:nvSpPr>
          <p:cNvPr id="8" name="Shape 6"/>
          <p:cNvSpPr/>
          <p:nvPr/>
        </p:nvSpPr>
        <p:spPr>
          <a:xfrm>
            <a:off x="5290563" y="2209800"/>
            <a:ext cx="805437" cy="635959"/>
          </a:xfrm>
          <a:custGeom>
            <a:avLst/>
            <a:gdLst/>
            <a:ahLst/>
            <a:cxnLst/>
            <a:rect l="l" t="t" r="r" b="b"/>
            <a:pathLst>
              <a:path w="805437" h="635959">
                <a:moveTo>
                  <a:pt x="0" y="348544"/>
                </a:moveTo>
                <a:arcTo hR="1104900" wR="1104900" stAng="13392000" swAng="2808000"/>
                <a:lnTo>
                  <a:pt x="805437" y="419862"/>
                </a:lnTo>
                <a:arcTo hR="685038" wR="685038" stAng="16200000" swAng="-2808000"/>
                <a:close/>
              </a:path>
            </a:pathLst>
          </a:custGeom>
          <a:solidFill>
            <a:srgbClr val="E08A2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3128963"/>
            <a:ext cx="103632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121A2B"/>
                </a:solidFill>
              </a:rPr>
              <a:t>100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14400" y="3437573"/>
            <a:ext cx="10363200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9768C"/>
                </a:solidFill>
              </a:rPr>
              <a:t>Total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524000" y="4629150"/>
            <a:ext cx="97536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4610100"/>
            <a:ext cx="609600" cy="38100"/>
          </a:xfrm>
          <a:prstGeom prst="rect">
            <a:avLst/>
          </a:prstGeom>
          <a:solidFill>
            <a:srgbClr val="69768C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9175" y="4883944"/>
            <a:ext cx="6548" cy="157163"/>
          </a:xfrm>
          <a:custGeom>
            <a:avLst/>
            <a:gdLst/>
            <a:ahLst/>
            <a:cxnLst/>
            <a:rect l="l" t="t" r="r" b="b"/>
            <a:pathLst>
              <a:path w="6548" h="157163">
                <a:moveTo>
                  <a:pt x="0" y="0"/>
                </a:moveTo>
                <a:lnTo>
                  <a:pt x="0" y="157163"/>
                </a:lnTo>
              </a:path>
            </a:pathLst>
          </a:custGeom>
          <a:noFill/>
          <a:ln w="17463">
            <a:solidFill>
              <a:srgbClr val="69768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54100" y="4918869"/>
            <a:ext cx="52388" cy="87313"/>
          </a:xfrm>
          <a:custGeom>
            <a:avLst/>
            <a:gdLst/>
            <a:ahLst/>
            <a:cxnLst/>
            <a:rect l="l" t="t" r="r" b="b"/>
            <a:pathLst>
              <a:path w="52388" h="87313">
                <a:moveTo>
                  <a:pt x="26194" y="8731"/>
                </a:moveTo>
                <a:lnTo>
                  <a:pt x="52388" y="78581"/>
                </a:lnTo>
                <a:arcTo hR="43656" wR="43656" stAng="3187806" swAng="4424388"/>
                <a:close/>
                <a:lnTo>
                  <a:pt x="26194" y="0"/>
                </a:lnTo>
              </a:path>
            </a:pathLst>
          </a:custGeom>
          <a:noFill/>
          <a:ln w="17463">
            <a:solidFill>
              <a:srgbClr val="6976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0594" y="4901406"/>
            <a:ext cx="157163" cy="17463"/>
          </a:xfrm>
          <a:custGeom>
            <a:avLst/>
            <a:gdLst/>
            <a:ahLst/>
            <a:cxnLst/>
            <a:rect l="l" t="t" r="r" b="b"/>
            <a:pathLst>
              <a:path w="157163" h="17463">
                <a:moveTo>
                  <a:pt x="0" y="17463"/>
                </a:moveTo>
                <a:lnTo>
                  <a:pt x="8731" y="17463"/>
                </a:lnTo>
                <a:arcTo hR="148431" wR="148431" stAng="5400000" swAng="-1684349"/>
                <a:arcTo hR="148431" wR="148431" stAng="7084349" swAng="-1684349"/>
                <a:lnTo>
                  <a:pt x="157163" y="17463"/>
                </a:lnTo>
              </a:path>
            </a:pathLst>
          </a:custGeom>
          <a:noFill/>
          <a:ln w="17463">
            <a:solidFill>
              <a:srgbClr val="6976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1863" y="4918869"/>
            <a:ext cx="52388" cy="87313"/>
          </a:xfrm>
          <a:custGeom>
            <a:avLst/>
            <a:gdLst/>
            <a:ahLst/>
            <a:cxnLst/>
            <a:rect l="l" t="t" r="r" b="b"/>
            <a:pathLst>
              <a:path w="52388" h="87313">
                <a:moveTo>
                  <a:pt x="26194" y="8731"/>
                </a:moveTo>
                <a:lnTo>
                  <a:pt x="52388" y="78581"/>
                </a:lnTo>
                <a:arcTo hR="43656" wR="43656" stAng="3187806" swAng="4424388"/>
                <a:close/>
                <a:lnTo>
                  <a:pt x="26194" y="0"/>
                </a:lnTo>
              </a:path>
            </a:pathLst>
          </a:custGeom>
          <a:noFill/>
          <a:ln w="17463">
            <a:solidFill>
              <a:srgbClr val="6976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5519" y="5041106"/>
            <a:ext cx="87313" cy="6548"/>
          </a:xfrm>
          <a:custGeom>
            <a:avLst/>
            <a:gdLst/>
            <a:ahLst/>
            <a:cxnLst/>
            <a:rect l="l" t="t" r="r" b="b"/>
            <a:pathLst>
              <a:path w="87313" h="6548">
                <a:moveTo>
                  <a:pt x="0" y="0"/>
                </a:moveTo>
                <a:lnTo>
                  <a:pt x="87313" y="0"/>
                </a:lnTo>
              </a:path>
            </a:pathLst>
          </a:custGeom>
          <a:noFill/>
          <a:ln w="17463">
            <a:solidFill>
              <a:srgbClr val="6976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76350" y="4850130"/>
            <a:ext cx="118300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利润翻倍按 β 入账，α 按应收款入账，90 天后凭差分核销。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智见点评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v2.1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11364"/>
            </a:avLst>
          </a:prstGeom>
          <a:solidFill>
            <a:srgbClr val="2D5BD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六组关键事实，按证据强度排序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23925" y="2221611"/>
            <a:ext cx="0" cy="1285875"/>
          </a:xfrm>
          <a:prstGeom prst="line">
            <a:avLst/>
          </a:prstGeom>
          <a:noFill/>
          <a:ln w="19050">
            <a:solidFill>
              <a:srgbClr val="E08A2E">
                <a:alpha val="6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3950" y="2248281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23950" y="2675001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量：单量升、金额降，指向以价换量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123950" y="2998851"/>
            <a:ext cx="119824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单量 +近两成（另有 +18.6%/+25% 口径），二手金额约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1123950" y="3170301"/>
            <a:ext cx="1198245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-15.6%，不同口径不可交叉相乘。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123950" y="3383661"/>
            <a:ext cx="11982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财新/exmoo/人民网 08-22 · 公开可核实</a:t>
            </a:r>
            <a:endParaRPr lang="en-US" sz="938" dirty="0"/>
          </a:p>
        </p:txBody>
      </p:sp>
      <p:sp>
        <p:nvSpPr>
          <p:cNvPr id="11" name="Shape 9"/>
          <p:cNvSpPr/>
          <p:nvPr/>
        </p:nvSpPr>
        <p:spPr>
          <a:xfrm>
            <a:off x="4467225" y="2221611"/>
            <a:ext cx="0" cy="1285875"/>
          </a:xfrm>
          <a:prstGeom prst="line">
            <a:avLst/>
          </a:prstGeom>
          <a:noFill/>
          <a:ln w="19050">
            <a:solidFill>
              <a:srgbClr val="E08A2E">
                <a:alpha val="6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7250" y="2248281"/>
            <a:ext cx="8439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4667250" y="2675001"/>
            <a:ext cx="8439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利：抬升远超单量增速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667250" y="3000756"/>
            <a:ext cx="8439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利润率 14.6%、上半年净利 38.79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667250" y="3181731"/>
            <a:ext cx="84391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亿元、利润近翻倍（含显著低基数）。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667250" y="3402711"/>
            <a:ext cx="84391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搜狐/智通财经/新京报 08-22 · TIKR 08-23</a:t>
            </a:r>
            <a:endParaRPr lang="en-US" sz="938" dirty="0"/>
          </a:p>
        </p:txBody>
      </p:sp>
      <p:sp>
        <p:nvSpPr>
          <p:cNvPr id="17" name="Shape 15"/>
          <p:cNvSpPr/>
          <p:nvPr/>
        </p:nvSpPr>
        <p:spPr>
          <a:xfrm>
            <a:off x="8010525" y="2221611"/>
            <a:ext cx="0" cy="1285875"/>
          </a:xfrm>
          <a:prstGeom prst="line">
            <a:avLst/>
          </a:prstGeom>
          <a:noFill/>
          <a:ln w="19050">
            <a:solidFill>
              <a:srgbClr val="E08A2E">
                <a:alpha val="6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10550" y="2248281"/>
            <a:ext cx="48958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550" dirty="0"/>
          </a:p>
        </p:txBody>
      </p:sp>
      <p:sp>
        <p:nvSpPr>
          <p:cNvPr id="19" name="Text 17"/>
          <p:cNvSpPr/>
          <p:nvPr/>
        </p:nvSpPr>
        <p:spPr>
          <a:xfrm>
            <a:off x="8210550" y="2675001"/>
            <a:ext cx="48958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人：不扩张，含供给出清的 β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10550" y="2970276"/>
            <a:ext cx="48958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 年以来行业经纪人深度流失，分母收缩抬高人均；Y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8210550" y="3075051"/>
            <a:ext cx="4895850" cy="914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边界条件：出清解释「人少」，解释不了「量涨而人不增」，剪刀差主体记 α 候选池。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8210550" y="3250311"/>
            <a:ext cx="48958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财新 08-22 · 公开可核实</a:t>
            </a:r>
            <a:endParaRPr lang="en-US" sz="938" dirty="0"/>
          </a:p>
        </p:txBody>
      </p:sp>
      <p:sp>
        <p:nvSpPr>
          <p:cNvPr id="23" name="Shape 21"/>
          <p:cNvSpPr/>
          <p:nvPr/>
        </p:nvSpPr>
        <p:spPr>
          <a:xfrm>
            <a:off x="923925" y="3964686"/>
            <a:ext cx="0" cy="1285875"/>
          </a:xfrm>
          <a:prstGeom prst="line">
            <a:avLst/>
          </a:prstGeom>
          <a:noFill/>
          <a:ln w="19050">
            <a:solidFill>
              <a:srgbClr val="E08A2E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3950" y="3991356"/>
            <a:ext cx="119824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550" dirty="0"/>
          </a:p>
        </p:txBody>
      </p:sp>
      <p:sp>
        <p:nvSpPr>
          <p:cNvPr id="25" name="Text 23"/>
          <p:cNvSpPr/>
          <p:nvPr/>
        </p:nvSpPr>
        <p:spPr>
          <a:xfrm>
            <a:off x="1123950" y="4418076"/>
            <a:ext cx="119824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效：均值 +87%，主要是尾部修复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123950" y="4726686"/>
            <a:ext cx="119824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人效 3→5.6 单、零开单率 25%→&lt;10%；「0 变 1」而非「3 变 6」；Y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1123950" y="4860036"/>
            <a:ext cx="119824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提示：压到十分之一以下超出自然出清幅度，是机制性力量旁证。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1123950" y="5050536"/>
            <a:ext cx="119824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 S 分享 08-21 · 内部单源 · Y 提示</a:t>
            </a:r>
            <a:endParaRPr lang="en-US" sz="938" dirty="0"/>
          </a:p>
        </p:txBody>
      </p:sp>
      <p:sp>
        <p:nvSpPr>
          <p:cNvPr id="29" name="Shape 27"/>
          <p:cNvSpPr/>
          <p:nvPr/>
        </p:nvSpPr>
        <p:spPr>
          <a:xfrm>
            <a:off x="4467225" y="3964686"/>
            <a:ext cx="0" cy="1285875"/>
          </a:xfrm>
          <a:prstGeom prst="line">
            <a:avLst/>
          </a:prstGeom>
          <a:noFill/>
          <a:ln w="19050">
            <a:solidFill>
              <a:srgbClr val="E08A2E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7250" y="3991356"/>
            <a:ext cx="84391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550" dirty="0"/>
          </a:p>
        </p:txBody>
      </p:sp>
      <p:sp>
        <p:nvSpPr>
          <p:cNvPr id="31" name="Text 29"/>
          <p:cNvSpPr/>
          <p:nvPr/>
        </p:nvSpPr>
        <p:spPr>
          <a:xfrm>
            <a:off x="4667250" y="4418076"/>
            <a:ext cx="84391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获客：转带看率 +48%，试点规模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4667250" y="4726686"/>
            <a:ext cx="84391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万+ 线索、7.4% vs 5%（相对高约 50%）；Y 解读：AI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667250" y="4860036"/>
            <a:ext cx="8439150" cy="114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信息平权后渠道价值转向决策服务，渠道产能重定价；不改变证据等级。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667250" y="5050536"/>
            <a:ext cx="84391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管理层 S 分享 08-21 · 内部单源 · Y 解读</a:t>
            </a:r>
            <a:endParaRPr lang="en-US" sz="938" dirty="0"/>
          </a:p>
        </p:txBody>
      </p:sp>
      <p:sp>
        <p:nvSpPr>
          <p:cNvPr id="35" name="Shape 33"/>
          <p:cNvSpPr/>
          <p:nvPr/>
        </p:nvSpPr>
        <p:spPr>
          <a:xfrm>
            <a:off x="8010525" y="3964686"/>
            <a:ext cx="0" cy="1285875"/>
          </a:xfrm>
          <a:prstGeom prst="line">
            <a:avLst/>
          </a:prstGeom>
          <a:noFill/>
          <a:ln w="19050">
            <a:solidFill>
              <a:srgbClr val="E08A2E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10550" y="3991356"/>
            <a:ext cx="489585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i="1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550" dirty="0"/>
          </a:p>
        </p:txBody>
      </p:sp>
      <p:sp>
        <p:nvSpPr>
          <p:cNvPr id="37" name="Text 35"/>
          <p:cNvSpPr/>
          <p:nvPr/>
        </p:nvSpPr>
        <p:spPr>
          <a:xfrm>
            <a:off x="8210550" y="4418076"/>
            <a:ext cx="489585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外部：确认性与叙事信息</a:t>
            </a:r>
            <a:endParaRPr lang="en-US" sz="1350" dirty="0"/>
          </a:p>
        </p:txBody>
      </p:sp>
      <p:sp>
        <p:nvSpPr>
          <p:cNvPr id="38" name="Text 36"/>
          <p:cNvSpPr/>
          <p:nvPr/>
        </p:nvSpPr>
        <p:spPr>
          <a:xfrm>
            <a:off x="8210550" y="4743831"/>
            <a:ext cx="4895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长江证券「效率持续兑现」、大摩上调目标价、彭永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10550" y="4924806"/>
            <a:ext cx="489585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东业绩会表态，不构成独立事实增量。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210550" y="5145786"/>
            <a:ext cx="4895850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38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08-25/08-24/08-22 · 外部确认</a:t>
            </a:r>
            <a:endParaRPr lang="en-US" sz="938" dirty="0"/>
          </a:p>
        </p:txBody>
      </p:sp>
      <p:sp>
        <p:nvSpPr>
          <p:cNvPr id="41" name="Text 39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证据强度排序：公开可核实 &gt; 内部单源（未获独立交叉验证）&gt; 外部确认（叙事信息）。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智见点评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v2.1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2D5BD8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机制链：沿链逐环剥离 β 与 α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7086600" y="1771650"/>
            <a:ext cx="0" cy="4095750"/>
          </a:xfrm>
          <a:prstGeom prst="line">
            <a:avLst/>
          </a:prstGeom>
          <a:noFill/>
          <a:ln w="9525">
            <a:solidFill>
              <a:srgbClr val="DDE2E9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39000" y="1771650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DE2E9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39000" y="3933825"/>
            <a:ext cx="4038600" cy="1933575"/>
          </a:xfrm>
          <a:prstGeom prst="roundRect">
            <a:avLst>
              <a:gd name="adj" fmla="val 2956"/>
            </a:avLst>
          </a:prstGeom>
          <a:noFill/>
          <a:ln w="9525">
            <a:solidFill>
              <a:srgbClr val="DDE2E9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39000" y="3819525"/>
            <a:ext cx="4038600" cy="0"/>
          </a:xfrm>
          <a:prstGeom prst="line">
            <a:avLst/>
          </a:prstGeom>
          <a:noFill/>
          <a:ln w="9525">
            <a:solidFill>
              <a:srgbClr val="DDE2E9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76350" y="1908810"/>
            <a:ext cx="0" cy="809625"/>
          </a:xfrm>
          <a:prstGeom prst="line">
            <a:avLst/>
          </a:prstGeom>
          <a:noFill/>
          <a:ln w="14288">
            <a:solidFill>
              <a:srgbClr val="6976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76350" y="2718435"/>
            <a:ext cx="0" cy="809625"/>
          </a:xfrm>
          <a:prstGeom prst="line">
            <a:avLst/>
          </a:prstGeom>
          <a:noFill/>
          <a:ln w="14288">
            <a:solidFill>
              <a:srgbClr val="6976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76350" y="3528060"/>
            <a:ext cx="0" cy="809625"/>
          </a:xfrm>
          <a:prstGeom prst="line">
            <a:avLst/>
          </a:prstGeom>
          <a:noFill/>
          <a:ln w="14288">
            <a:solidFill>
              <a:srgbClr val="69768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76350" y="4337685"/>
            <a:ext cx="0" cy="809625"/>
          </a:xfrm>
          <a:prstGeom prst="line">
            <a:avLst/>
          </a:prstGeom>
          <a:noFill/>
          <a:ln w="14288">
            <a:solidFill>
              <a:srgbClr val="6976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177546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183451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24000" y="1824038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市场回暖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524000" y="2283143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 起点：单量 +约 20%，量增先摊薄固定成本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143000" y="258508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644140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24000" y="2633662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盘级拆分 · 人房客重配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524000" y="3092768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机制：单盘经营改变成交分布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143000" y="339471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45376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24000" y="3443288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零开单率下降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524000" y="3902393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证据：近 25% → 不足 10%（内部单源）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143000" y="4204335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63390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24000" y="4252913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人效提升 → 固定成本摊薄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524000" y="4712018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证据 × β 算术：剔除量增后净提升才记 α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143000" y="5013960"/>
            <a:ext cx="266700" cy="2667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5073015"/>
            <a:ext cx="7239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524000" y="5062538"/>
            <a:ext cx="11582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利润率抬升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524000" y="5521643"/>
            <a:ext cx="115824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结果：14.6%，β 占约六成（研判推断）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β/α 归属与量化拆分详见下一页对比；α 只能从剔除 β 后的净人效提升里找。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智见点评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v2.1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093470"/>
            <a:ext cx="11277600" cy="502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 段与 α 段：两层账拆开看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1790700" y="2748153"/>
            <a:ext cx="113157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β 段 · 市场账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3641463" y="2748153"/>
            <a:ext cx="9464937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 段 · 组织账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914400" y="3037713"/>
            <a:ext cx="5922264" cy="0"/>
          </a:xfrm>
          <a:prstGeom prst="line">
            <a:avLst/>
          </a:prstGeom>
          <a:noFill/>
          <a:ln w="19050">
            <a:solidFill>
              <a:srgbClr val="121A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456813"/>
            <a:ext cx="5922264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3875913"/>
            <a:ext cx="5922264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4295013"/>
            <a:ext cx="5922264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714113"/>
            <a:ext cx="5922264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" y="3188208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790700" y="3188208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回暖 → 量增 → 摊薄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41463" y="3188208"/>
            <a:ext cx="94649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盘级拆分 → 零开单率↓ → 人效↑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28700" y="3607308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贡献拆分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790700" y="3607308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2.5-3.0pct（约六成）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41463" y="3607308"/>
            <a:ext cx="94649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1.0-1.5pct（约三成）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28700" y="4026408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证据等级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790700" y="4026408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公开可核实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641463" y="4026408"/>
            <a:ext cx="94649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内部单源，未获独立验证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28700" y="4445508"/>
            <a:ext cx="12077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关键前提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790700" y="4445508"/>
            <a:ext cx="113157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以价换量持续则佣金变薄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41463" y="4445508"/>
            <a:ext cx="9464937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成本须可控：单位线索成本、贡献利润率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989064" y="2672906"/>
            <a:ext cx="4288536" cy="1952625"/>
          </a:xfrm>
          <a:prstGeom prst="roundRect">
            <a:avLst>
              <a:gd name="adj" fmla="val 4878"/>
            </a:avLst>
          </a:prstGeom>
          <a:solidFill>
            <a:srgbClr val="E08A2E"/>
          </a:solidFill>
          <a:ln/>
        </p:spPr>
      </p:sp>
      <p:sp>
        <p:nvSpPr>
          <p:cNvPr id="24" name="Shape 22"/>
          <p:cNvSpPr/>
          <p:nvPr/>
        </p:nvSpPr>
        <p:spPr>
          <a:xfrm>
            <a:off x="6989064" y="2701481"/>
            <a:ext cx="4288536" cy="1924050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138316" y="3584128"/>
            <a:ext cx="158854" cy="79381"/>
          </a:xfrm>
          <a:custGeom>
            <a:avLst/>
            <a:gdLst/>
            <a:ahLst/>
            <a:cxnLst/>
            <a:rect l="l" t="t" r="r" b="b"/>
            <a:pathLst>
              <a:path w="158854" h="79381">
                <a:moveTo>
                  <a:pt x="85936" y="1432"/>
                </a:moveTo>
                <a:arcTo hR="15875" wR="15875" stAng="17671159" swAng="-2942318"/>
                <a:lnTo>
                  <a:pt x="4735" y="32388"/>
                </a:lnTo>
                <a:arcTo hR="7938" wR="7938" stAng="14772344" swAng="-7944687"/>
                <a:lnTo>
                  <a:pt x="72839" y="77949"/>
                </a:lnTo>
                <a:arcTo hR="15875" wR="15875" stAng="6871159" swAng="-2942318"/>
                <a:lnTo>
                  <a:pt x="154119" y="46993"/>
                </a:lnTo>
                <a:arcTo hR="7938" wR="7938" stAng="3972344" swAng="-7944687"/>
                <a:close/>
              </a:path>
            </a:pathLst>
          </a:custGeom>
          <a:noFill/>
          <a:ln w="15875">
            <a:solidFill>
              <a:srgbClr val="E08A2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38289" y="3663506"/>
            <a:ext cx="158750" cy="39672"/>
          </a:xfrm>
          <a:custGeom>
            <a:avLst/>
            <a:gdLst/>
            <a:ahLst/>
            <a:cxnLst/>
            <a:rect l="l" t="t" r="r" b="b"/>
            <a:pathLst>
              <a:path w="158750" h="39672">
                <a:moveTo>
                  <a:pt x="0" y="0"/>
                </a:moveTo>
                <a:arcTo hR="7938" wR="7938" stAng="10808507" swAng="-3918443"/>
                <a:lnTo>
                  <a:pt x="72866" y="38259"/>
                </a:lnTo>
                <a:arcTo hR="15875" wR="15875" stAng="6861719" swAng="-2923437"/>
                <a:lnTo>
                  <a:pt x="154067" y="7302"/>
                </a:lnTo>
                <a:arcTo hR="7938" wR="7938" stAng="3947828" swAng="-3974988"/>
              </a:path>
            </a:pathLst>
          </a:custGeom>
          <a:noFill/>
          <a:ln w="15875">
            <a:solidFill>
              <a:srgbClr val="E08A2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38289" y="3703193"/>
            <a:ext cx="158750" cy="39672"/>
          </a:xfrm>
          <a:custGeom>
            <a:avLst/>
            <a:gdLst/>
            <a:ahLst/>
            <a:cxnLst/>
            <a:rect l="l" t="t" r="r" b="b"/>
            <a:pathLst>
              <a:path w="158750" h="39672">
                <a:moveTo>
                  <a:pt x="0" y="0"/>
                </a:moveTo>
                <a:arcTo hR="7938" wR="7938" stAng="10808507" swAng="-3918443"/>
                <a:lnTo>
                  <a:pt x="72866" y="38259"/>
                </a:lnTo>
                <a:arcTo hR="15875" wR="15875" stAng="6861719" swAng="-2923437"/>
                <a:lnTo>
                  <a:pt x="154067" y="7303"/>
                </a:lnTo>
                <a:arcTo hR="7938" wR="7938" stAng="3947828" swAng="-3974988"/>
              </a:path>
            </a:pathLst>
          </a:custGeom>
          <a:noFill/>
          <a:ln w="15875">
            <a:solidFill>
              <a:srgbClr val="E08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08164" y="2899601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渠道视角（Y）：β 是底色、α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408164" y="3223451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是种子。剪刀差最像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08164" y="3547301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α——出清只解释「人少」，AI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08164" y="3871151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平权下渠道价值转向决策服务，全盘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08164" y="4195001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 = 产能重定价。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14400" y="6057900"/>
            <a:ext cx="11277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贡献拆分为专家估算（研判推断）；α 证据为管理层 S 分享 08-21 内部单源；渠道视角（Y）为补充维度，不改变主基调。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智见点评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v2.1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762000"/>
            <a:ext cx="11125200" cy="0"/>
          </a:xfrm>
          <a:prstGeom prst="line">
            <a:avLst/>
          </a:prstGeom>
          <a:noFill/>
          <a:ln w="15240">
            <a:solidFill>
              <a:srgbClr val="DDE2E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33400" y="1047750"/>
            <a:ext cx="116586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75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验证协议：6 城 90 天差分，唯一裁决点</a:t>
            </a:r>
            <a:endParaRPr lang="en-US" sz="3750" dirty="0"/>
          </a:p>
        </p:txBody>
      </p:sp>
      <p:sp>
        <p:nvSpPr>
          <p:cNvPr id="5" name="Shape 3"/>
          <p:cNvSpPr/>
          <p:nvPr/>
        </p:nvSpPr>
        <p:spPr>
          <a:xfrm>
            <a:off x="1143000" y="1733550"/>
            <a:ext cx="10515600" cy="0"/>
          </a:xfrm>
          <a:prstGeom prst="line">
            <a:avLst/>
          </a:prstGeom>
          <a:noFill/>
          <a:ln w="9525">
            <a:solidFill>
              <a:srgbClr val="DDE2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33400" y="1714500"/>
            <a:ext cx="609600" cy="38100"/>
          </a:xfrm>
          <a:prstGeom prst="rect">
            <a:avLst/>
          </a:prstGeom>
          <a:solidFill>
            <a:srgbClr val="D9822B"/>
          </a:solidFill>
          <a:ln/>
        </p:spPr>
      </p:sp>
      <p:sp>
        <p:nvSpPr>
          <p:cNvPr id="7" name="Shape 5"/>
          <p:cNvSpPr/>
          <p:nvPr/>
        </p:nvSpPr>
        <p:spPr>
          <a:xfrm>
            <a:off x="550835" y="2049454"/>
            <a:ext cx="104803" cy="104798"/>
          </a:xfrm>
          <a:custGeom>
            <a:avLst/>
            <a:gdLst/>
            <a:ahLst/>
            <a:cxnLst/>
            <a:rect l="l" t="t" r="r" b="b"/>
            <a:pathLst>
              <a:path w="104803" h="104798">
                <a:moveTo>
                  <a:pt x="104803" y="26202"/>
                </a:moveTo>
                <a:lnTo>
                  <a:pt x="31626" y="99370"/>
                </a:lnTo>
                <a:arcTo hR="18525" wR="18525" stAng="2699427" swAng="10800000"/>
                <a:lnTo>
                  <a:pt x="78626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3100" y="2049463"/>
            <a:ext cx="52388" cy="52388"/>
          </a:xfrm>
          <a:custGeom>
            <a:avLst/>
            <a:gdLst/>
            <a:ahLst/>
            <a:cxnLst/>
            <a:rect l="l" t="t" r="r" b="b"/>
            <a:pathLst>
              <a:path w="52388" h="52388">
                <a:moveTo>
                  <a:pt x="0" y="52388"/>
                </a:moveTo>
                <a:lnTo>
                  <a:pt x="52388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1272" y="1983978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69850" y="69850"/>
                </a:moveTo>
                <a:lnTo>
                  <a:pt x="0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3250" y="1979613"/>
            <a:ext cx="52388" cy="52388"/>
          </a:xfrm>
          <a:custGeom>
            <a:avLst/>
            <a:gdLst/>
            <a:ahLst/>
            <a:cxnLst/>
            <a:rect l="l" t="t" r="r" b="b"/>
            <a:pathLst>
              <a:path w="52388" h="52388">
                <a:moveTo>
                  <a:pt x="0" y="52388"/>
                </a:moveTo>
                <a:lnTo>
                  <a:pt x="52388" y="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7616" y="2027634"/>
            <a:ext cx="69850" cy="69850"/>
          </a:xfrm>
          <a:custGeom>
            <a:avLst/>
            <a:gdLst/>
            <a:ahLst/>
            <a:cxnLst/>
            <a:rect l="l" t="t" r="r" b="b"/>
            <a:pathLst>
              <a:path w="69850" h="69850">
                <a:moveTo>
                  <a:pt x="0" y="0"/>
                </a:moveTo>
                <a:lnTo>
                  <a:pt x="69850" y="69850"/>
                </a:lnTo>
              </a:path>
            </a:pathLst>
          </a:custGeom>
          <a:noFill/>
          <a:ln w="17463">
            <a:solidFill>
              <a:srgbClr val="D9822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5350" y="1954530"/>
            <a:ext cx="118300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城 90 天差分：3 城上线盘级经营 + Skill、3 城对照；控制市场成交增速后，人效净提升不足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95350" y="2278380"/>
            <a:ext cx="11830050" cy="29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 或贡献利润不升，即撤回组织 α 判断。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33400" y="31508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按能级配对：北京/上海/成都 vs 武汉/西安/郑州，不得跨能级（Y）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33400" y="35509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对照组同口径监测零开单率与人效，防霍桑效应；判定用同店 GTV/人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33400" y="39509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对照组污染：跨城借调、人员流动稀释差分，须显式排除（Y）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3400" y="43510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证伪条件不变：净人效 &lt;10% 或贡献利润不升即撤回 α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3400" y="64008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验证窗口：约 2026Q4 出结果；全部研判（T/D/W/X · 张一鸣/马斯克 · 杨现领）一致认可的唯一裁决点。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智见点评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v2.1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1500"/>
            <a:ext cx="2476500" cy="2476500"/>
          </a:xfrm>
          <a:custGeom>
            <a:avLst/>
            <a:gdLst/>
            <a:ahLst/>
            <a:cxnLst/>
            <a:rect l="l" t="t" r="r" b="b"/>
            <a:pathLst>
              <a:path w="2476500" h="2476500">
                <a:moveTo>
                  <a:pt x="0" y="2476500"/>
                </a:moveTo>
                <a:lnTo>
                  <a:pt x="0" y="0"/>
                </a:lnTo>
                <a:arcTo hR="2476500" wR="2476500" stAng="16200000" swAng="5400000"/>
                <a:close/>
              </a:path>
            </a:pathLst>
          </a:custGeom>
          <a:solidFill>
            <a:srgbClr val="2D5BD8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08710"/>
            <a:ext cx="11277600" cy="480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三个验证节点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104900" y="3558540"/>
            <a:ext cx="8001000" cy="0"/>
          </a:xfrm>
          <a:prstGeom prst="line">
            <a:avLst/>
          </a:prstGeom>
          <a:noFill/>
          <a:ln w="19050">
            <a:solidFill>
              <a:srgbClr val="DDE2E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28700" y="3482340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7" name="Text 5"/>
          <p:cNvSpPr/>
          <p:nvPr/>
        </p:nvSpPr>
        <p:spPr>
          <a:xfrm>
            <a:off x="1028700" y="320802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2026Q3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28700" y="3703320"/>
            <a:ext cx="1207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财报 · 压力测试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8700" y="3935730"/>
            <a:ext cx="1207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成交回落假设下利润率能否站住；β 退潮后「α 是否还在」即见分晓。</a:t>
            </a:r>
            <a:endParaRPr lang="en-US" sz="975" dirty="0"/>
          </a:p>
        </p:txBody>
      </p:sp>
      <p:sp>
        <p:nvSpPr>
          <p:cNvPr id="10" name="Shape 8"/>
          <p:cNvSpPr/>
          <p:nvPr/>
        </p:nvSpPr>
        <p:spPr>
          <a:xfrm>
            <a:off x="5029200" y="3482340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208020"/>
            <a:ext cx="838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 2026Q4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703320"/>
            <a:ext cx="8382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城 90 天差分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3935730"/>
            <a:ext cx="838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按能级配对（北京/上海/成都 vs 武汉/西安/郑州），判定用同店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914400" y="4097655"/>
            <a:ext cx="83820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7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GTV/人；差分期内同步观测挂牌量与成交周期作 β 旁证。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9029700" y="3482340"/>
            <a:ext cx="152400" cy="152400"/>
          </a:xfrm>
          <a:prstGeom prst="ellipse">
            <a:avLst/>
          </a:prstGeom>
          <a:solidFill>
            <a:srgbClr val="2D5BD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208020"/>
            <a:ext cx="826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0A0E1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持续跟踪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82677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成本披露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935730"/>
            <a:ext cx="826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调用成本/单是否随量收敛；三关皆过则经营杠杆叙事成立，第一关即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914400" y="4097655"/>
            <a:ext cx="82677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975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破则利润翻倍归类为 β 行情（研判推断）。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 财报为第一关压力测试；对照组污染与跨能级配对为差分实验隐性风险，须显式排除（居住服务·Y）。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601200" y="685800"/>
            <a:ext cx="1676400" cy="5410200"/>
          </a:xfrm>
          <a:prstGeom prst="roundRect">
            <a:avLst>
              <a:gd name="adj" fmla="val 6818"/>
            </a:avLst>
          </a:prstGeom>
          <a:solidFill>
            <a:srgbClr val="2D5BD8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1005840"/>
            <a:ext cx="2362200" cy="148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686800" y="2415540"/>
            <a:ext cx="3505200" cy="1463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9600" dirty="0"/>
          </a:p>
        </p:txBody>
      </p:sp>
      <p:sp>
        <p:nvSpPr>
          <p:cNvPr id="24" name="Shape 22"/>
          <p:cNvSpPr/>
          <p:nvPr/>
        </p:nvSpPr>
        <p:spPr>
          <a:xfrm>
            <a:off x="9829800" y="5372100"/>
            <a:ext cx="266700" cy="28575"/>
          </a:xfrm>
          <a:prstGeom prst="rect">
            <a:avLst/>
          </a:prstGeom>
          <a:solidFill>
            <a:srgbClr val="FFFFFF">
              <a:alpha val="4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829800" y="5608320"/>
            <a:ext cx="23622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>
                    <a:alpha val="8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智见点评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v2.1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685800"/>
            <a:ext cx="10363200" cy="838200"/>
          </a:xfrm>
          <a:prstGeom prst="roundRect">
            <a:avLst>
              <a:gd name="adj" fmla="val 11364"/>
            </a:avLst>
          </a:prstGeom>
          <a:solidFill>
            <a:srgbClr val="2D5BD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950595"/>
            <a:ext cx="11049000" cy="388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展望与风险：范式判断与误读警示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14400" y="18935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范式判断（研判推断）：若多城验证，行业增长模式切换为人效扩张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2936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成本函数从「人海规模」转向「组织资本」，估值从周期股切向效率股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936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行业注脚（Y）：从业者价值从「跑盘抢客」转向「经营能力」，渠道靠密度取胜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09372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乐观情形：D 判断未采纳为主基调，证据全为内部单源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493770"/>
            <a:ext cx="121920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若差分通过且 AI 成本收敛：中枢 10-12% → 13-15%（研判推断）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381500"/>
            <a:ext cx="10363200" cy="657225"/>
          </a:xfrm>
          <a:prstGeom prst="roundRect">
            <a:avLst>
              <a:gd name="adj" fmla="val 14493"/>
            </a:avLst>
          </a:prstGeom>
          <a:solidFill>
            <a:srgbClr val="DC2626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4410075"/>
            <a:ext cx="10363200" cy="628650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9525">
            <a:solidFill>
              <a:srgbClr val="E2E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3482" y="4652852"/>
            <a:ext cx="158877" cy="142986"/>
          </a:xfrm>
          <a:custGeom>
            <a:avLst/>
            <a:gdLst/>
            <a:ahLst/>
            <a:cxnLst/>
            <a:rect l="l" t="t" r="r" b="b"/>
            <a:pathLst>
              <a:path w="158877" h="142986">
                <a:moveTo>
                  <a:pt x="156750" y="119173"/>
                </a:moveTo>
                <a:lnTo>
                  <a:pt x="93250" y="8048"/>
                </a:lnTo>
                <a:arcTo hR="15875" wR="15875" stAng="19827518" swAng="-7255037"/>
                <a:lnTo>
                  <a:pt x="2127" y="119173"/>
                </a:lnTo>
                <a:arcTo hR="15875" wR="15875" stAng="12600161" swAng="-7231094"/>
                <a:lnTo>
                  <a:pt x="143018" y="142985"/>
                </a:lnTo>
                <a:arcTo hR="15875" wR="15875" stAng="5396476" swAng="-7196478"/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43000" y="4700588"/>
            <a:ext cx="5953" cy="31750"/>
          </a:xfrm>
          <a:custGeom>
            <a:avLst/>
            <a:gdLst/>
            <a:ahLst/>
            <a:cxnLst/>
            <a:rect l="l" t="t" r="r" b="b"/>
            <a:pathLst>
              <a:path w="5953" h="31750">
                <a:moveTo>
                  <a:pt x="0" y="0"/>
                </a:moveTo>
                <a:lnTo>
                  <a:pt x="0" y="3175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43000" y="4764088"/>
            <a:ext cx="5953" cy="5953"/>
          </a:xfrm>
          <a:custGeom>
            <a:avLst/>
            <a:gdLst/>
            <a:ahLst/>
            <a:cxnLst/>
            <a:rect l="l" t="t" r="r" b="b"/>
            <a:pathLst>
              <a:path w="5953" h="5953">
                <a:moveTo>
                  <a:pt x="0" y="0"/>
                </a:moveTo>
                <a:lnTo>
                  <a:pt x="79" y="0"/>
                </a:lnTo>
              </a:path>
            </a:pathLst>
          </a:custGeom>
          <a:noFill/>
          <a:ln w="15875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33500" y="4608195"/>
            <a:ext cx="117729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误读警示：把单季利润翻倍外推全年、把内部单源样本人效当平台整体水平，是双重误读。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14400" y="60655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六项不确定性：试点盘优选偏差、口径混用、AI 成本与同店口径未披露、政策脉冲 β 持续性、差分跨旺季污染、对照组污染与跨能级配对（Y）。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33400" y="6324600"/>
            <a:ext cx="11125200" cy="0"/>
          </a:xfrm>
          <a:prstGeom prst="line">
            <a:avLst/>
          </a:prstGeom>
          <a:noFill/>
          <a:ln w="11430">
            <a:solidFill>
              <a:srgbClr val="DDE2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340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Internal · 98wiki ｜ 智见点评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0" y="6515100"/>
            <a:ext cx="11658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讨论稿 v2.1 · 2026-08</a:t>
            </a:r>
            <a:endParaRPr lang="en-US" sz="150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7F2"/>
          </a:solidFill>
          <a:ln/>
        </p:spPr>
      </p:sp>
      <p:sp>
        <p:nvSpPr>
          <p:cNvPr id="3" name="Text 1"/>
          <p:cNvSpPr/>
          <p:nvPr/>
        </p:nvSpPr>
        <p:spPr>
          <a:xfrm>
            <a:off x="609600" y="537210"/>
            <a:ext cx="115824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智见点评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09600" y="3009900"/>
            <a:ext cx="115824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7500" b="1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 天后，凭差分核销</a:t>
            </a:r>
            <a:endParaRPr lang="en-US" sz="7500" dirty="0"/>
          </a:p>
        </p:txBody>
      </p:sp>
      <p:sp>
        <p:nvSpPr>
          <p:cNvPr id="5" name="Shape 3"/>
          <p:cNvSpPr/>
          <p:nvPr/>
        </p:nvSpPr>
        <p:spPr>
          <a:xfrm>
            <a:off x="609600" y="4953000"/>
            <a:ext cx="10972800" cy="0"/>
          </a:xfrm>
          <a:prstGeom prst="line">
            <a:avLst/>
          </a:prstGeom>
          <a:noFill/>
          <a:ln w="15240">
            <a:solidFill>
              <a:srgbClr val="DDE2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5295900"/>
            <a:ext cx="115824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Contact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600" y="5577840"/>
            <a:ext cx="11582400" cy="320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rgbClr val="121A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T/D/W/X · 张一鸣/马斯克 · 杨现领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609600" y="6347460"/>
            <a:ext cx="115824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6976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98wiki ｜ 智见 / 行业研究报告</a:t>
            </a:r>
            <a:endParaRPr lang="en-US" sz="1650" dirty="0"/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