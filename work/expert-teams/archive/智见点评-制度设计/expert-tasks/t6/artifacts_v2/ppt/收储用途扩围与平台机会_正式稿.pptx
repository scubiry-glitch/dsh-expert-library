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份报告不讨论收储该不该做，而是判断它现在是什么、缺什么。核心一句话——用途扩围解决的是需求池口径，不是制度成型；退出没打通，收储就会从准公共采购变成准公共持有。右上四个数字分别对应结构、转化、买方与工具，口径都在数字下方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标注纪律。四级的意义是让读者一眼分辨哪些是原文口径、哪些是推算、哪些只是方向判断。本稿【研判推断】占绝大多数，说明这是一份以制度判断为主的报告；硬数字很少且都带限定。特别说明【估算】在本文没有出现，但版式保留，保证与其他报告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本章结论先行。第一句就把身份定死——止跌工具而非回稳引擎。三处缺口按严重度递进：前两处是可补的规则空白，第三处决定天花板。最后落到平台自身的位置，为第五章的责任边界做铺垫。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三处缺口。讲法：缺口一、二是「规则空白」，可以补；缺口三是「结构缺位」，不补就没有天花板。一句话收口——钱已经到位了，缺的是规则和退出。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制度机制的底图。重点讲授权链形态——地方授权加中央资金，所以规则只能逐城形成、复制成本高。三道审批是新增用途的主要隐性成本，为后面「改造合规是确定性成本」埋线。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这页的核心是不要把这个图当统计看。三个比例来自公开案例归纳，只有分子没有分母。能用的只有方向性结论：新用途从无到有。条长是示意，不是精确比例尺。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防止一个误读：把高校采购当成收储制度成型的证据。两者资金来源、定价机制、退出安排完全不同。真正有价值的信号有两个——床位需求真实，以及需求方可以自主选址；后者恰恰是收储主体没有的自由度。两个测算值都是按采购意向口径算的，标注为测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三条线的节奏错配。资金端已经先动，政策和采购端没跟上。这个错配是当期最值得记的制度特征，也直接解释了「融资成本降了但收购量没起来」这个现象。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551 这个数字最容易用错：它是最优城市的单窗口成绩，是天花板不是起点。另外补充一个新事实——收储存在「两本账」，政策性账与商业性账无法并表，这直接影响后文讲的可审计性和第三方付费空间。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补充事实。第一，收储的真实作用是买断式修复，不是替新房去库存；这把考核口径从套数拉回循环。第二，五城对照：上海的瓶颈是转化、深圳是买方结构，另外三城数据暂缺，所以给出统一的可比观测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归因前三条。负carry那条把核算公式念出来，强调它是口径不是估算；核心是「结构性」——不是运营做得不好，是租金锚本身就低于资金成本。区位错配用高校自主选址做对照讲最直观。改造合规强调「确定性成本」：不是风险，是必然要花的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归因后三条打包讲。顺序倒置最可操作——先定量的结果就是其他四项让位。退出那条强调互斥：不能同时承诺三条路径。补贴那条给出一个很实用的判别标准：看有没有进预算科目、有没有跟项目一一对应。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全篇的判别工具。四个阈值是门槛制不是打分制，必须同时成立。念法就是一项一项对，当前四项全空——这就是「现状是个案化处置」的判定依据。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红队节。四条预判全部成立，意味着本稿的主张必须相应收窄。语气要干脆——这是纪律不是谦虚。对外讲的时候可以直接说：我们把自己最强的反方论点先验了一遍。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矩阵第一页。讲法：用途不是一个「要收什么房」的问题，而是资本结构选择。本页给需求端与成本端最关键的四个变量。窄表拆两页是为了在 16:9 上保持可读，两页合起来才是完整矩阵。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矩阵第二页，也是全篇最有操作价值的一页。三条使用规则逐条念，尤其最后一条——没有退出通道就只能按长期自持定价。数据标注列说明每一行的口径成色，可以逐行追问。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评分卡。关键在「一票否决优先于总分排序」——这是个筛子不是排行榜。前四项任何一项不过直接出局，后三项只是降级。这样设计是为了避免用总分把不可行项目算成可行。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退出谱系。核心是「互斥」：三条路径不能同时承诺。最容易犯的错是立项时暗示 REITs 退出，但资产本身不满足条件。结论：REITs 是筛选标准，不是立项承诺。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全周期模型是本轮新增的一页，把收储从购置到退出拆成五段，每段给出变量和口径要求。重点讲三项必备输出必须同时披露，尤其补贴依赖度——它是识别真假商业可行性的一眼判据。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责任边界，对平台自身定位最重要。可承接的六项都是「可审计的判据」，不可承接的都是「资产与预算」。出具门槛要重点讲：口径不公开的项目我们不出报告，因为无法审计的输入只能产出装饰性评分。这也决定了付费形态更可能是一次性项目费而非年度运营服务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观察清单，是交给听众的工具：七项指标按口径盯。重点讲第一项——要官方或决算口径，不要报道口径。三条可证伪判据任一条不满足，项目就只能靠财政兜底。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三情景。基准最可能，乐观的前提是出现第一个把需求清单和采购合约同时公开的城市——这是制度成型的最小可观测标志。先行指标五项是给听众的盯盘清单，三项以上明确口径就该重估判断。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不确定性。三处不透明直接决定判断精度，尤其第二处——实物规模不透明是最大的未知。收尾一句要说得硬：本稿不以推测替代证据。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来源与口径页。快速过，但两个免责要说清楚：一是比例数字非统计口径，二是测算项不是官方数据。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收尾。全篇收束在一句话上：平台交付可审计的判据，政府与国企承担资产与预算。这也回答了开篇的问题——平台的机会不在替政府持有资产。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12848"/>
          </a:xfrm>
          <a:prstGeom prst="roundRect">
            <a:avLst>
              <a:gd name="adj" fmla="val 4000"/>
            </a:avLst>
          </a:prstGeom>
          <a:solidFill>
            <a:srgbClr val="0B4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CFC8"/>
                </a:solidFill>
                <a:latin typeface="Noto Sans CJK SC"/>
                <a:ea typeface="Noto Sans CJK SC"/>
                <a:cs typeface="Noto Sans CJK SC"/>
              </a:rPr>
              <a:t>98wiki ｜ 智见点评 · 制度设计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16736"/>
            <a:ext cx="110578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2F7F5"/>
                </a:solidFill>
                <a:latin typeface="Noto Serif CJK SC"/>
                <a:ea typeface="Noto Serif CJK SC"/>
                <a:cs typeface="Noto Serif CJK SC"/>
              </a:rPr>
              <a:t>收储用途扩围与平台机会</a:t>
            </a:r>
          </a:p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E1DB"/>
                </a:solidFill>
                <a:latin typeface="Noto Serif CJK SC"/>
                <a:ea typeface="Noto Serif CJK SC"/>
                <a:cs typeface="Noto Serif CJK SC"/>
              </a:rPr>
              <a:t>制度机制的识别与检验：从个案化处置走向年度化准公共采购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8892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正式稿 ｜ 证据窗 2025-09 — 2026-09 ｜ 全国（郑州、上海、杭州、武汉、深圳案例对比）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310128"/>
            <a:ext cx="11057839" cy="1060704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12700">
            <a:solidFill>
              <a:srgbClr val="9A6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474720"/>
            <a:ext cx="106555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用途扩围扩大的是需求池的口径，没有触动负carry、区位错配、改造合规这三项真实交易成本；退出不通时，收储会从准公共采购退化为准公共持有。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626864"/>
            <a:ext cx="2613583" cy="129844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54879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605A"/>
                </a:solidFill>
                <a:latin typeface="Noto Sans Mono CJK SC"/>
                <a:ea typeface="Noto Sans Mono CJK SC"/>
                <a:cs typeface="Noto Sans Mono CJK SC"/>
              </a:rPr>
              <a:t>约50%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93792"/>
            <a:ext cx="22843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保租房占收购用途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04688"/>
            <a:ext cx="2284399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中房网 2026-05-20；公开案例归纳，非统一统计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1679" y="4626864"/>
            <a:ext cx="2613583" cy="129844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6271" y="4754879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605A"/>
                </a:solidFill>
                <a:latin typeface="Noto Sans Mono CJK SC"/>
                <a:ea typeface="Noto Sans Mono CJK SC"/>
                <a:cs typeface="Noto Sans Mono CJK SC"/>
              </a:rPr>
              <a:t>551</a:t>
            </a:r>
            <a:r>
              <a:rPr sz="130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6271" y="5193792"/>
            <a:ext cx="22843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上海三试点区累计收房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6271" y="5504688"/>
            <a:ext cx="2284399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应作全国上限锚点，不作起步基数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4626864"/>
            <a:ext cx="2613583" cy="129844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1023" y="4754879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605A"/>
                </a:solidFill>
                <a:latin typeface="Noto Sans Mono CJK SC"/>
                <a:ea typeface="Noto Sans Mono CJK SC"/>
                <a:cs typeface="Noto Sans Mono CJK SC"/>
              </a:rPr>
              <a:t>5.336</a:t>
            </a:r>
            <a:r>
              <a:rPr sz="130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亿元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023" y="5193792"/>
            <a:ext cx="22843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深圳大学拟购楼作宿舍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5504688"/>
            <a:ext cx="2284399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腾讯新闻 2026-09-09；高校自主采购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1183" y="4626864"/>
            <a:ext cx="2613583" cy="129844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5775" y="4754879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605A"/>
                </a:solidFill>
                <a:latin typeface="Noto Sans Mono CJK SC"/>
                <a:ea typeface="Noto Sans Mono CJK SC"/>
                <a:cs typeface="Noto Sans Mono CJK SC"/>
              </a:rPr>
              <a:t>4</a:t>
            </a:r>
            <a:r>
              <a:rPr sz="130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5775" y="5193792"/>
            <a:ext cx="22843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评分卡一票否决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5775" y="5504688"/>
            <a:ext cx="2284399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区位·现金流·合规产权·退出可及性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行业研究，不构成投资建议；测算、估算与研判推断均非官方统计。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LEGEND ／ 标注体系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全篇数字四级标注（版式一致）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原文每个数字均落到一级；角标色块与正文一致，不做二次改写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92224"/>
            <a:ext cx="2094524" cy="141732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786384" cy="274320"/>
          </a:xfrm>
          <a:prstGeom prst="roundRect">
            <a:avLst>
              <a:gd name="adj" fmla="val 4000"/>
            </a:avLst>
          </a:prstGeom>
          <a:solidFill>
            <a:srgbClr val="E2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605A"/>
                </a:solidFill>
                <a:latin typeface="Noto Sans CJK SC"/>
                <a:ea typeface="Noto Sans CJK SC"/>
                <a:cs typeface="Noto Sans CJK SC"/>
              </a:rPr>
              <a:t>引用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40864"/>
            <a:ext cx="18019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来源明确，以原文口径为准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756" y="1792224"/>
            <a:ext cx="2094524" cy="141732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54060" y="1938528"/>
            <a:ext cx="786384" cy="274320"/>
          </a:xfrm>
          <a:prstGeom prst="roundRect">
            <a:avLst>
              <a:gd name="adj" fmla="val 4000"/>
            </a:avLst>
          </a:prstGeom>
          <a:solidFill>
            <a:srgbClr val="F0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5618"/>
                </a:solidFill>
                <a:latin typeface="Noto Sans CJK SC"/>
                <a:ea typeface="Noto Sans CJK SC"/>
                <a:cs typeface="Noto Sans CJK SC"/>
              </a:rPr>
              <a:t>测算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4060" y="2340864"/>
            <a:ext cx="18019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依据在案数据推算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8585" y="1792224"/>
            <a:ext cx="2094524" cy="141732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94889" y="1938528"/>
            <a:ext cx="786384" cy="274320"/>
          </a:xfrm>
          <a:prstGeom prst="roundRect">
            <a:avLst>
              <a:gd name="adj" fmla="val 4000"/>
            </a:avLst>
          </a:prstGeom>
          <a:solidFill>
            <a:srgbClr val="F0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5618"/>
                </a:solidFill>
                <a:latin typeface="Noto Sans CJK SC"/>
                <a:ea typeface="Noto Sans CJK SC"/>
                <a:cs typeface="Noto Sans CJK SC"/>
              </a:rPr>
              <a:t>估算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4889" y="2340864"/>
            <a:ext cx="18019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量级推断，区间口径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9413" y="1792224"/>
            <a:ext cx="2094524" cy="141732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5717" y="1938528"/>
            <a:ext cx="786384" cy="274320"/>
          </a:xfrm>
          <a:prstGeom prst="roundRect">
            <a:avLst>
              <a:gd name="adj" fmla="val 4000"/>
            </a:avLst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研判推断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5717" y="2340864"/>
            <a:ext cx="18019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无直接数据支撑的方向判断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30242" y="1792224"/>
            <a:ext cx="2094524" cy="141732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76546" y="1938528"/>
            <a:ext cx="786384" cy="274320"/>
          </a:xfrm>
          <a:prstGeom prst="roundRect">
            <a:avLst>
              <a:gd name="adj" fmla="val 4000"/>
            </a:avLst>
          </a:prstGeom>
          <a:solidFill>
            <a:srgbClr val="F2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3A26"/>
                </a:solidFill>
                <a:latin typeface="Noto Sans CJK SC"/>
                <a:ea typeface="Noto Sans CJK SC"/>
                <a:cs typeface="Noto Sans CJK SC"/>
              </a:rPr>
              <a:t>待补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6546" y="2340864"/>
            <a:ext cx="1801916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需官方文件或授权数据核验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83864"/>
            <a:ext cx="110578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本稿标注分布（源文本实测）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【研判推断】54 处 ｜ 【引用】11 处（含口径限定，如「案例归纳非统一统计」）｜【测算】3 处 ｜【待补】2 处</a:t>
            </a:r>
          </a:p>
          <a:p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说明：【估算】在本稿源文本中未出现（0 处），此处保留其版式定义，以保证四级体系完整、跨稿一致。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第一章 ／ 关键性结论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主基调：转向准公共采购，但未跨过制度化门槛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对「年度化准公共采购已形成」予以证伪：现状是点状案例加价格型工具，不是采购制度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92224"/>
            <a:ext cx="11057839" cy="786384"/>
          </a:xfrm>
          <a:prstGeom prst="roundRect">
            <a:avLst>
              <a:gd name="adj" fmla="val 4000"/>
            </a:avLst>
          </a:prstGeom>
          <a:solidFill>
            <a:srgbClr val="E2EDEA"/>
          </a:solidFill>
          <a:ln w="9525">
            <a:solidFill>
              <a:srgbClr val="106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20240"/>
            <a:ext cx="106189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4A45"/>
                </a:solidFill>
                <a:latin typeface="Noto Serif CJK SC"/>
                <a:ea typeface="Noto Serif CJK SC"/>
                <a:cs typeface="Noto Serif CJK SC"/>
              </a:rPr>
              <a:t>收储在当期是止跌工具，不是回稳引擎：能压缩挂牌量、托住尾部成交价，创造不出新增有效需求。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1635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用途扩围等于需求池扩容，不等于制度成型；三个卡点一处未动。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制度判断落在三处机制缺口：政策边界未回答三问；缺可检验阈值；退出是最大缺口。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平台的位置由此确定：不替政府持有资产，只提供可审计的筛选、估值、改造适配与运营数据。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标注体系：引用 / 测算 / 估算 / 研判推断 / 待补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第一章 ／ 关键性结论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三处机制缺口决定制度天花板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共同点：都不是资金问题，而是规则问题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92224"/>
            <a:ext cx="3539642" cy="228600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56816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缺口一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49424"/>
            <a:ext cx="317388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政策边界未回答「谁来收、收什么、做什么」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07791"/>
            <a:ext cx="317388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授权对象、房源边界、用途决定权都还停在地方探索层面，没有形成可复制的规则。【研判推断】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026" y="1792224"/>
            <a:ext cx="3539642" cy="228600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1956816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缺口二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906" y="2249424"/>
            <a:ext cx="317388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缺可检验的判别阈值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906" y="2907791"/>
            <a:ext cx="317388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年度化采购与个案化处置之间没有判别标准，无法用一套阈值判断某个项目是否已制度化。【研判推断】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5124" y="1792224"/>
            <a:ext cx="3539642" cy="228600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8004" y="1956816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缺口三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004" y="2249424"/>
            <a:ext cx="317388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退出是最大缺口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8004" y="2907791"/>
            <a:ext cx="317388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退出不通时，收储会从准公共采购退化为准公共持有，资产负债表压力由开发商转到地方国企。【研判推断】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第二章 ／ 关键事实及其变化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制度机制：政策边界里的三问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授权链是地方授权加中央资金支持，不是全国统一授权，规则只能逐城形成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92224"/>
          <a:ext cx="11057837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02908"/>
                <a:gridCol w="7932797"/>
                <a:gridCol w="1322132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机制问题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当期答案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标注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谁来收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地方政府指定的国有企业；承接保障性住房再贷款的政策性住房收购主体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引用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谁来收（边界）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高校、医院以自有预算采购，属需求端机构购买方，不属政策性收储主体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研判推断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收什么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存量商品房中的现房或准现房，须满足区位可用、权属清晰、消防结构合规、用途变更可行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研判推断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做的顺序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先定使用对象、再定房源；不是先收房再找用途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研判推断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做什么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保租房、人才房与青年公寓、高校宿舍、医院与养老配套四类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引用·案例归纳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三道审批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用途变更、消防验收、结构安全；多数城市尚无标准路径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研判推断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来源：中国现行政策边界与公开案例归纳；三道审批是新增用途的主要隐性成本。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第二章 ／ 关键事实及其变化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用途口径外扩：是案例结构示意，不是统计口径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三个比例只有分子、没有分母；不可加总为全国结构，不可推算全国规模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47088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保租房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41448" y="1792224"/>
            <a:ext cx="8223199" cy="420624"/>
          </a:xfrm>
          <a:prstGeom prst="roundRect">
            <a:avLst>
              <a:gd name="adj" fmla="val 4000"/>
            </a:avLst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41448" y="1792224"/>
            <a:ext cx="8223199" cy="420624"/>
          </a:xfrm>
          <a:prstGeom prst="roundRect">
            <a:avLst>
              <a:gd name="adj" fmla="val 4000"/>
            </a:avLst>
          </a:prstGeom>
          <a:solidFill>
            <a:srgbClr val="106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184708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Noto Sans Mono CJK SC"/>
                <a:ea typeface="Noto Sans Mono CJK SC"/>
                <a:cs typeface="Noto Sans Mono CJK SC"/>
              </a:rPr>
              <a:t>约50%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24328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人才房·青年公寓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1448" y="2569464"/>
            <a:ext cx="8223199" cy="420624"/>
          </a:xfrm>
          <a:prstGeom prst="roundRect">
            <a:avLst>
              <a:gd name="adj" fmla="val 4000"/>
            </a:avLst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41448" y="2569464"/>
            <a:ext cx="3289279" cy="420624"/>
          </a:xfrm>
          <a:prstGeom prst="roundRect">
            <a:avLst>
              <a:gd name="adj" fmla="val 4000"/>
            </a:avLst>
          </a:prstGeom>
          <a:solidFill>
            <a:srgbClr val="106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56087" y="262432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Noto Sans Mono CJK SC"/>
                <a:ea typeface="Noto Sans Mono CJK SC"/>
                <a:cs typeface="Noto Sans Mono CJK SC"/>
              </a:rPr>
              <a:t>约20%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401568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学生宿舍等新用途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1448" y="3346704"/>
            <a:ext cx="8223199" cy="420624"/>
          </a:xfrm>
          <a:prstGeom prst="roundRect">
            <a:avLst>
              <a:gd name="adj" fmla="val 4000"/>
            </a:avLst>
          </a:prstGeom>
          <a:solidFill>
            <a:srgbClr val="EA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41448" y="3346704"/>
            <a:ext cx="822319" cy="420624"/>
          </a:xfrm>
          <a:prstGeom prst="roundRect">
            <a:avLst>
              <a:gd name="adj" fmla="val 4000"/>
            </a:avLst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56087" y="3401568"/>
            <a:ext cx="868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1714"/>
                </a:solidFill>
                <a:latin typeface="Noto Sans Mono CJK SC"/>
                <a:ea typeface="Noto Sans Mono CJK SC"/>
                <a:cs typeface="Noto Sans Mono CJK SC"/>
              </a:rPr>
              <a:t>约5%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79392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可用的部分是方向——新用途从无到有。任何据此推算全国收储规模的测算，都属于把案例当统计量用；分城市用途构成亦不可由此推导。【研判推断】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来源：中房网 2026-05-20（存量房收购两周年公开案例归纳）｜非统一统计口径｜上方条长为示意，非精确比例尺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第二章 ／ 关键事实及其变化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买方结构变化：高校以机构购买方身份进场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它证明床位需求真实、需求方扩展到事业单位；不能证明收储的年度化采购制度已形成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92224"/>
            <a:ext cx="2613583" cy="129844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605A"/>
                </a:solidFill>
                <a:latin typeface="Noto Sans Mono CJK SC"/>
                <a:ea typeface="Noto Sans Mono CJK SC"/>
                <a:cs typeface="Noto Sans Mono CJK SC"/>
              </a:rPr>
              <a:t>5.336</a:t>
            </a:r>
            <a:r>
              <a:rPr sz="130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亿元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22843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深圳大学拟购楼作宿舍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2284399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腾讯新闻 2026-09-09 披露金额口径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1679" y="1792224"/>
            <a:ext cx="2613583" cy="129844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6271" y="1920240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605A"/>
                </a:solidFill>
                <a:latin typeface="Noto Sans Mono CJK SC"/>
                <a:ea typeface="Noto Sans Mono CJK SC"/>
                <a:cs typeface="Noto Sans Mono CJK SC"/>
              </a:rPr>
              <a:t>2.25</a:t>
            </a:r>
            <a:r>
              <a:rPr sz="130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万㎡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6271" y="2359152"/>
            <a:ext cx="22843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采购意向建筑面积（不低于）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6271" y="2670048"/>
            <a:ext cx="2284399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采购意向披露口径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792224"/>
            <a:ext cx="2613583" cy="129844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023" y="1920240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605A"/>
                </a:solidFill>
                <a:latin typeface="Noto Sans Mono CJK SC"/>
                <a:ea typeface="Noto Sans Mono CJK SC"/>
                <a:cs typeface="Noto Sans Mono CJK SC"/>
              </a:rPr>
              <a:t>1500</a:t>
            </a:r>
            <a:r>
              <a:rPr sz="130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1023" y="2359152"/>
            <a:ext cx="22843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可满足居住人数（至少）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023" y="2670048"/>
            <a:ext cx="2284399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采购意向披露口径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1183" y="1792224"/>
            <a:ext cx="2613583" cy="129844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5775" y="1920240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605A"/>
                </a:solidFill>
                <a:latin typeface="Noto Sans Mono CJK SC"/>
                <a:ea typeface="Noto Sans Mono CJK SC"/>
                <a:cs typeface="Noto Sans Mono CJK SC"/>
              </a:rPr>
              <a:t>8</a:t>
            </a:r>
            <a:r>
              <a:rPr sz="130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公里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5775" y="2359152"/>
            <a:ext cx="22843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距两校区直线距离（原则）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5775" y="2670048"/>
            <a:ext cx="2284399" cy="384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采购意向披露口径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364991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另一路采购意向口径预算约 5.3 亿元、须整栋购置；两种口径存在表述差异，以最终公告为准。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单床购置成本约 35.6 万元（5.336 亿元 ÷ 1500 床）【测算】；单位面积购置成本约 0.24 万元／平方米【测算】。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这是高校自主采购：走学校基建与教育预算、定价走市场评估，与政府收储的资金来源、定价机制、退出安排完全不同。【研判推断】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床位与单套折算待补；把机构采购计入收储制度，会系统性高估制度成熟度。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第二章 ／ 关键事实及其变化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三条线不同步：资金端先行、采购制度化最慢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错配解释了为什么钱到位了、量却没起来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92224"/>
          <a:ext cx="11057837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63253"/>
                <a:gridCol w="3615062"/>
                <a:gridCol w="5103618"/>
                <a:gridCol w="1275904"/>
              </a:tblGrid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线索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当期状态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证据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标注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资金端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已落地，融资成本一侧明显下移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中国人民银行2025-01-02优化保障性住房再贷款要求，调整支持比例（具体比例待补）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引用＋待补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政策端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停留在方向与年度安排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2026-03-05政府工作报告「盘活存量商品房」方向；2026-04-30深圳市住建局2026住房发展年度计划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引用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采购端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尚未成型：无需求清单、无准入标准、无预算科目、无退出通道四项前置模块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一线城市二手房收储案例与政策梳理（新浪财经2026-05-26）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研判推断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来源：中国人民银行 2025-01-02 / 中国政府网 2026-03-05 / 深圳市住建局 2026-04-30 / 新浪财经 2026-05-26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第二章 ／ 关键事实及其变化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上海551套：应作上限锚点，不是起步基数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最齐备的城市、一个窗口期；决定转化效率的不是资格名单长度，而是旧房处置与承接能力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92224"/>
            <a:ext cx="5428335" cy="141732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99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605A"/>
                </a:solidFill>
                <a:latin typeface="Noto Sans Mono CJK SC"/>
                <a:ea typeface="Noto Sans Mono CJK SC"/>
                <a:cs typeface="Noto Sans Mono CJK SC"/>
              </a:rPr>
              <a:t>551</a:t>
            </a:r>
            <a:r>
              <a:rPr sz="130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5099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徐汇、浦东、静安三试点区累计收房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50991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2026-02 启动；试点报道口径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792224"/>
            <a:ext cx="5428335" cy="141732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1023" y="1920240"/>
            <a:ext cx="50991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605A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sz="130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本账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1023" y="2359152"/>
            <a:ext cx="509915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1714"/>
                </a:solidFill>
                <a:latin typeface="Noto Sans CJK SC"/>
                <a:ea typeface="Noto Sans CJK SC"/>
                <a:cs typeface="Noto Sans CJK SC"/>
              </a:rPr>
              <a:t>政策性账与商业性账无法并表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1023" y="2670048"/>
            <a:ext cx="50991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吴晓波频道／新浪财经 2026-08-20 报道口径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48386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上海是全国资金、房源、需求三要素最齐备的城市；一个窗口期只有 551 套。【研判推断】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该数字应作全国上限锚点使用，不能当作起步基数——用它反推全国总量，等于把最优城市的天花板当平均值。【研判推断】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「两本账」是本页新增的机构事实：政策性账与商业性账无法并表，直接影响可审计性。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第二章 ／ 关键事实及其变化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补充事实与五城对照口径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收储重定义为对「卖旧买新」断裂处的买断式修复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92224"/>
            <a:ext cx="11057839" cy="914400"/>
          </a:xfrm>
          <a:prstGeom prst="roundRect">
            <a:avLst>
              <a:gd name="adj" fmla="val 4000"/>
            </a:avLst>
          </a:prstGeom>
          <a:solidFill>
            <a:srgbClr val="E2EDEA"/>
          </a:solidFill>
          <a:ln w="9525">
            <a:solidFill>
              <a:srgbClr val="106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38528"/>
            <a:ext cx="106189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0B4A45"/>
                </a:solidFill>
                <a:latin typeface="Noto Sans CJK SC"/>
                <a:ea typeface="Noto Sans CJK SC"/>
                <a:cs typeface="Noto Sans CJK SC"/>
              </a:rPr>
              <a:t>资格名单给的是购买权，成交取决于旧房能否处置。收储的真实作用在于给置换链条断裂处做一次买断式修复：国企出钱收旧房，居民完成换新。这一定性把考核口径从「收购套数」拉回「循环是否修复」。【研判推断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2608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五城对照的口径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3291840"/>
          <a:ext cx="11057838" cy="2048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0516"/>
                <a:gridCol w="4423135"/>
                <a:gridCol w="4624187"/>
              </a:tblGrid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城市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暴露的问题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观测口径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上海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转化瓶颈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收房套数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深圳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买方多元化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机构采购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郑州／杭州／武汉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分城市用途构成与收购决算数据暂缺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清单是否公开、采购数量是否入预算、运营数据是否披露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三城可比观测口径统一为三项：清单是否公开、数量是否入预算、运营数据是否披露。【研判推断】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第三章 ／ 归因分析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负carry、区位错配、改造合规：三处都是结构性的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57839" cy="157276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609343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其一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1591055"/>
            <a:ext cx="959479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负carry 是结构性的，运营补不上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1956815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保租房锚市场租金折价、人才房锚政策可承受价、高校宿舍锚学校付费能力，三类租金锚都低于改造后的综合资金成本，差额只能由财政或国企承担。核算口径：单位年净现金流＝租金×出租率−维护费−改造年摊，与同口径资金成本比较，为负即负carry项目。【研判推断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82111"/>
            <a:ext cx="11057839" cy="157276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310127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其二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3291839"/>
            <a:ext cx="959479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区位错配是结构性的，不是操作失误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3657599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可收购房源集中在供给过剩的外围板块与商办尾盘，真实需求集中在主城就业带与校区周边，两个分布空间上天然不重合。高校那单之所以可能成立，正因需求方可以自主选址；收储主体没有这个自由度。【研判推断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882896"/>
            <a:ext cx="11057839" cy="1572768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5010912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其三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4992624"/>
            <a:ext cx="959479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改造合规是确定性成本，且新增用途两端最重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5358383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学生宿舍涉及床位密度与消防分区，医疗养老涉及结构与合规，两类恰是改造强度最高的两端；非标房源越多，规模效应越被摊薄。消防能否通过，是运营侧最大的不确定性成本项。【研判推断】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三条共同点：都不是执行力问题，而是结构与规则问题。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第三章 ／ 归因分析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顺序倒置、退出缺位、补贴性质：后三条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3539642" cy="274320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19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其四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38528"/>
            <a:ext cx="317388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筛选顺序倒置是执行层通病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51760"/>
            <a:ext cx="317388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正确顺序是预租锁定、改造合规预审、现金流模型、估值、融资；现实往往先把收购量定下来再补前四项。顺序一倒置，考核必然落到收购套数。【研判推断】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6026" y="1481328"/>
            <a:ext cx="3539642" cy="274320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8906" y="1645919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其五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8906" y="1938528"/>
            <a:ext cx="317388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退出端缺位决定天花板，且三路径互斥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906" y="2651760"/>
            <a:ext cx="317388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REITs 在低租金、长回收期资产上并非普遍可行；整售依赖市场景气；划转与长期自持不产生现金回流。三条路径各有成立条件，不能同时承诺。【研判推断】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1481328"/>
            <a:ext cx="3539642" cy="274320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8004" y="1645919"/>
            <a:ext cx="3173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其六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8004" y="1938528"/>
            <a:ext cx="317388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补贴性质要区分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8004" y="2651760"/>
            <a:ext cx="317388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制度性补贴是对民生任务的预算化安排，有科目、有额度、可跨年；运营性依赖是现金流为负后被动挂账，越滚越大。判别标准是补贴是否进预算科目、是否与项目一一对应。【研判推断】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顺序倒置是最容易改也最容易被忽略的一条：考核一旦落在套数上，其余四项就没人负责了。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第三章 ／ 归因分析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四项判别阈值：当期均未打勾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四项须同时成立，缺一项即判定为个案化处置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92224"/>
          <a:ext cx="11057836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40585"/>
                <a:gridCol w="4607432"/>
                <a:gridCol w="2662072"/>
                <a:gridCol w="2047747"/>
              </a:tblGrid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阈值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年度化采购的判据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个案化处置的征象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当期状态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需求清单年度化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上年末形成经财政与住建联审的年度需求清单，含套数、区位、户型、租金区间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逐单临时立项、逐单定价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未见公开清单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定价用规则不用谈判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同区位同品质有评估价区间与统一折扣基准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每单单独过会定价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多数项目仍逐单定价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成本可跨年消化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缺口由租金提升、运营降本或政策性资金成本覆盖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缺口由财政补贴或国企利润逐年填补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缺口主要靠补贴填补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退出有预设通道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立项即明确退出方式与持有主体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立项不涉退出安排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退出通道普遍缺位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当期四项均未打勾，故判定为「个案化处置延续」。四项状态判断均为【研判推断】。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第四章 ／ 红队独立复核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四条预判逐条检验：全部成立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四条成立意味着本稿主张必须相应收窄：只主张制度要件可识别、可检验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92224"/>
          <a:ext cx="11057836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9337"/>
                <a:gridCol w="3317351"/>
                <a:gridCol w="2027270"/>
                <a:gridCol w="4883878"/>
              </a:tblGrid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编号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原预判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复核结论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要点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预判一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50%／20%／5% 不能当官方总体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成立，降级为案例结构示意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该组数字来自公开案例归纳、非统一统计，只有分子没有分母。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预判二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深圳大学 5.336 亿元不能作收储制度化证据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成立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该采购走教育预算与市场定价，计入收储会系统性高估制度成熟度。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预判三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点状案例不证制度化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成立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高校宿舍、医院与养老改造仍属单一标的自主决策，无法证明年度采购制度已形成。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预判四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REITs 退出并非普遍可行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成立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低租金、长回收期资产难满足现金流稳定性要求；宜作筛选标准，不宜作立项承诺。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红队节的作用是自证边界：本稿不主张制度已建立，只主张制度要件已可被识别和检验。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第五章 ／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用途—现金流矩阵（一）：需求与租金锚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用途是资本结构的选择变量：租金锚决定收入，改造强度决定成本，退出主线决定定价方式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92224"/>
          <a:ext cx="11057836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1050"/>
                <a:gridCol w="2318579"/>
                <a:gridCol w="2407755"/>
                <a:gridCol w="2140226"/>
                <a:gridCol w="2140226"/>
              </a:tblGrid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用途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需求确定性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租金锚（收入来源）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租期与收入稳定性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改造强度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保租房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高（轮候制、准入线）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市场租金折价，偏低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中高，长租为主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人才房·青年公寓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中高（产业政策驱动）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政策性可承受价，中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中，3—5年租期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低—中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安置房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高（征迁刚性需求）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征迁补偿与安置标准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高，计划驱动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低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高校宿舍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高（刚性床位）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学校付费，稳但低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很高，长期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中高（床位密度、消防）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医疗·养老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中（专业需求）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专业服务收费，高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高，长期服务合约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高（结构与合规）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占比口径为案例归纳；分城市数据与绝对量待补。（二）见下页：适配资本、退出主线、主要风险与数据标注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第五章 ／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用途—现金流矩阵（二）：资本、退出与风险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无退出通道的用途不得以退出溢价折让收购价，只能按长期自持的现金流定价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92224"/>
          <a:ext cx="11057837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59201"/>
                <a:gridCol w="2010516"/>
                <a:gridCol w="2513145"/>
                <a:gridCol w="2178059"/>
                <a:gridCol w="2596916"/>
              </a:tblGrid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用途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适配资本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退出主线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主要风险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数据标注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保租房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再贷款、专项债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REITs（个案，非普遍）／长期自持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负carry、财政依赖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占比＝案例归纳；租金折价率待补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人才房·青年公寓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国企＋政策性贷款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整售／自持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产业波动带动需求波动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占比＝案例归纳；分城市数据待补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安置房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财政＋城投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划转／自持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与征迁进度绑定、跨期错配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结构＝研判推断；绝对量待补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高校宿舍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学校自有资金、教育专项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无二级市场退出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点状、非标、审批周期长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深圳案例金额在案；床位待补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医疗·养老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财政／国企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无标准退出通道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改造合规成本最高、消防不确定性最大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均为点状案例；分项待补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三条使用规则：租金锚低于资金成本的用途，规模扩张须同步锁定补贴来源；改造强度高的用途只能逐单审批；无退出通道的用途只能按长期自持现金流定价。【研判推断】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第五章 ／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房源准入评分卡：四项一票否决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一票否决优先于总分排序：评分卡的功能是筛掉不可行项目，不是在同一批次内排序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92224"/>
          <a:ext cx="11057838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42973"/>
                <a:gridCol w="4976027"/>
                <a:gridCol w="2119419"/>
                <a:gridCol w="2119419"/>
              </a:tblGrid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维度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观测变量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判据方向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一票否决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区位与需求匹配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房源落在真实用工与就学半径内的轮候需求覆盖度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越高越好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是（错配即否决）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现金流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单位年净现金流＝租金×出租率−维护−改造年摊，与同口径资金成本比较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不低于融资成本方可入池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是（低于融资成本即否决）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合规与产权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消防与结构可否通过、用途变更路径、抵押查封与分割登记状态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全部可清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是（不合规或产权瑕疵即否决）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退出可及性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是否存在可执行退出路径或明确长期持有主体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二者至少有其一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是（皆无即否决）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改造经济性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单套改造造价、工期、非标项占比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越低越好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否（超阈值降级）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规模效率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单项目套数是否达到运营团队经济性下限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越高越好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否（低于下限降级）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运营数据可得性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空置率、运营费率、维修更新数据可否采集与审计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可得则加分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否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使用纪律：每套评分留痕可复核，否则年度化无法审计。【研判推断】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第五章 ／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退出谱系：三条路径互斥，不能同时承诺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57838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19419"/>
                <a:gridCol w="4238838"/>
                <a:gridCol w="2119419"/>
                <a:gridCol w="2580162"/>
              </a:tblGrid>
              <a:tr h="96012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退出路径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成立条件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不成立时的后果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适用边界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REITs 或不动产基金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现金流稳定可预测、资产权属与运营数据可审计、通道对低租金资产开放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无法发行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需先通过筛选标准检验，不可作立项承诺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整售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市场景气与接盘方存在、价格不低于账面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折价出售、损失确认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不宜作为政策项目的默认路径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划转与长期自持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有明确的长期持有主体与预算安排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资产与补贴责任长期挂在国企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需锁定预算科目，否则属隐性挂账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退出不通时，收储从准公共采购退化为准公共持有。【研判推断】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第五章 ／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全周期模型：五段结构与三项必备输出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三项须同时披露：静态回收期、净现值、补贴依赖度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92224"/>
          <a:ext cx="11057837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05783"/>
                <a:gridCol w="3685946"/>
                <a:gridCol w="4238838"/>
                <a:gridCol w="2027270"/>
              </a:tblGrid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变量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口径要求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输出用途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① 购置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收购价、交易税费、尽调与法务费、时间成本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以同板块可比真实成交价为基准，不用挂牌价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资产账起点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② 改造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单套改造造价、工期、合规审批成本、非标附加项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以同类型已完工项目结算价为基准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一次性资本支出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③ 运营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年租金、出租率、运营费率、维护更新率、租金递增假设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出租率与运营费率须来自同一运营主体实测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运营账现金流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④ 持有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资金成本、税费、通胀假设、折旧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资金成本与实际资金结构一致，再贷款、专项债、自筹分列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折现率与年摊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⑤ 退出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退出方式与退出时点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以情景区间表述，不作单点承诺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终值输入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998464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补贴依赖度是识别真假商业可行性的一眼判据；只报回收期不报补贴额视为不完整披露；补贴依赖度难以测算的项目，应判为结构未成立。【研判推断】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第五章 ／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平台责任边界：交付判据，不承担资产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一句话边界：平台交付可审计的判据，政府与国企承担资产与预算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92224"/>
            <a:ext cx="5410047" cy="2514600"/>
          </a:xfrm>
          <a:prstGeom prst="roundRect">
            <a:avLst>
              <a:gd name="adj" fmla="val 4000"/>
            </a:avLst>
          </a:prstGeom>
          <a:solidFill>
            <a:srgbClr val="E2EDEA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38528"/>
            <a:ext cx="50077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4A45"/>
                </a:solidFill>
                <a:latin typeface="Noto Serif CJK SC"/>
                <a:ea typeface="Noto Serif CJK SC"/>
                <a:cs typeface="Noto Serif CJK SC"/>
              </a:rPr>
              <a:t>可承接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40864"/>
            <a:ext cx="500771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需求清单结构化与轮候匹配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房源准入评分与留痕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可比估值与市场价偏离度测算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改造适配方案与改造单价成本库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运营数据采集与审计留痕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全周期测算与退出情景分析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4719" y="1792224"/>
            <a:ext cx="5410047" cy="2514600"/>
          </a:xfrm>
          <a:prstGeom prst="roundRect">
            <a:avLst>
              <a:gd name="adj" fmla="val 4000"/>
            </a:avLst>
          </a:prstGeom>
          <a:solidFill>
            <a:srgbClr val="F2E2DC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1938528"/>
            <a:ext cx="50077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3A26"/>
                </a:solidFill>
                <a:latin typeface="Noto Serif CJK SC"/>
                <a:ea typeface="Noto Serif CJK SC"/>
                <a:cs typeface="Noto Serif CJK SC"/>
              </a:rPr>
              <a:t>不可承接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340864"/>
            <a:ext cx="5007711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资产持有与资产负债表风险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政策性定价口径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租金或退出兜底承诺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政府预算审批与财力风险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单方面出具合规结论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· REITs 发行承销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35424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出具门槛：需求清单与现金流口径不公开的项目，不出具评分卡、现金流模型与责任边界清单——无法审计的输入，产出的只能是装饰性评分。【研判推断】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这一条也决定了第三方付费的性质：制度不成型阶段，付费更可能是一次性项目费或数据服务费。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第五章 ／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可证伪判据三条与观察指标七项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三条可证伪判据：预租锁定先于收购；审批路径清晰可预期；项目现金流可审计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92224"/>
          <a:ext cx="11057837" cy="38770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483"/>
                <a:gridCol w="4843516"/>
                <a:gridCol w="5391838"/>
              </a:tblGrid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序号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观察指标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观测口径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全市年度收购套数与收购金额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官方或决算口径，非报道口径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收购用途结构占比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是否由案例归纳升格为可比统计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单套改造成本与改造周期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同类型已完工项目结算均值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负carry 的实际承担方与预算科目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补贴是否进预算、是否与项目一一对应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需求主体签约率与入住率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床位型单列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地方国企自建与委托第三方比例及付费方式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年度化服务费与一次性项目费分别统计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REITs 或不动产基金通道的实际发行数量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具体数字待核实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29107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任一条可证伪判据不满足，项目就只能靠财政兜底维持。【研判推断】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第五章 ／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未来12个月三情景与先行指标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459"/>
                </a:solidFill>
                <a:latin typeface="Noto Sans CJK SC"/>
                <a:ea typeface="Noto Sans CJK SC"/>
                <a:cs typeface="Noto Sans CJK SC"/>
              </a:rPr>
              <a:t>基准情景最可能；乐观与风险均为条件情景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792224"/>
          <a:ext cx="11057837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6354"/>
                <a:gridCol w="3838258"/>
                <a:gridCol w="4203806"/>
                <a:gridCol w="1279419"/>
              </a:tblGrid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情景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触发条件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结果特征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性质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基准（最可能）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用途继续扩围，采购仍逐单推进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高校宿舍与医疗养老维持点状，收储对年度销售贡献有限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研判推断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乐观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出现首个把需求清单与采购合约同时公开的城市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准入标准可复制，收储进入常规年度安排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研判推断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风险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地方财力约束下补贴难进预算科目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部分项目从收购退回代管，第三方付费空间被压扁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研判推断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992624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先行指标五项：地方年度住房计划中的收储量表述是否由「推动」变为「采购＋套数」；专项债与再贷款投放是否对应具体房源清单；项目空置率是否下降；收储两本账是否公开；改造结算单价与运营费率是否形成可查口径。五项中出现三项以上给出明确口径，第二档判断即应重估。【研判推断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第五章 ／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不确定性：三处不透明决定判断精度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3539642" cy="192024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19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用途比例来源层级不足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49424"/>
            <a:ext cx="317388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据此推导的规模测算只能视为方向性判断。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6026" y="1481328"/>
            <a:ext cx="3539642" cy="192024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645919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实物规模不透明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8906" y="2249424"/>
            <a:ext cx="317388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2026 年实际收购的决算规模与套数是否可查，是判断制度是否成立的硬证据；口径不公开时，任何年度化判断都只能停留在推测。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5124" y="1481328"/>
            <a:ext cx="3539642" cy="1920240"/>
          </a:xfrm>
          <a:prstGeom prst="roundRect">
            <a:avLst>
              <a:gd name="adj" fmla="val 4000"/>
            </a:avLst>
          </a:prstGeom>
          <a:solidFill>
            <a:srgbClr val="FDFCF9"/>
          </a:solidFill>
          <a:ln w="952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8004" y="1645919"/>
            <a:ext cx="317388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付费空间不确定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8004" y="2249424"/>
            <a:ext cx="317388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地方国企有能力自建团队，第三方平台能否获得足够空间，取决于能否提供内部无法形成的审计独立性；若收储退化为纯财政补贴维持的安置行为，平台服务市场会明显小于预期。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639311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改造结算单价、运营费率、空置率、租金水平、各城市收储落地套数等绝对值，公开渠道口径不一，具体数字需核实；郑州、杭州、武汉的分城市用途构成与收购决算数据暂缺——本稿不以推测替代证据。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5618"/>
                </a:solidFill>
                <a:latin typeface="Noto Sans Mono CJK SC"/>
                <a:ea typeface="Noto Sans Mono CJK SC"/>
                <a:cs typeface="Noto Sans Mono CJK SC"/>
              </a:rPr>
              <a:t>附录 ／ 数据来源与口径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1714"/>
                </a:solidFill>
                <a:latin typeface="Noto Serif CJK SC"/>
                <a:ea typeface="Noto Serif CJK SC"/>
                <a:cs typeface="Noto Serif CJK SC"/>
              </a:rPr>
              <a:t>来源披露与口径提示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80160"/>
            <a:ext cx="11057839" cy="30480"/>
          </a:xfrm>
          <a:prstGeom prst="rect">
            <a:avLst/>
          </a:prstGeom>
          <a:solidFill>
            <a:srgbClr val="9A6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57837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6064"/>
                <a:gridCol w="1553580"/>
                <a:gridCol w="7128193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日期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0B4A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在稿中的用途</a:t>
                      </a:r>
                    </a:p>
                  </a:txBody>
                  <a:tcPr marL="54864" marR="45720" marT="27432" marB="27432" anchor="t">
                    <a:solidFill>
                      <a:srgbClr val="E2ED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中房网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2026-05-20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收购用途比例的公开案例归纳（非统一统计）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吴晓波频道／新浪财经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2026-08-20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收储「两本账」、上海以旧换新与用途改造案例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腾讯新闻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2026-09-09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深圳大学拟购楼作宿舍（金额口径）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中国政府网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2026-03-05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政府工作报告「盘活存量商品房」方向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深圳市住建局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2026-04-30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 住房发展年度计划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中国人民银行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2025-01-02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保障性住房再贷款支持比例调整（具体比例待补）</a:t>
                      </a:r>
                    </a:p>
                  </a:txBody>
                  <a:tcPr marL="54864" marR="45720" marT="27432" marB="27432" anchor="t">
                    <a:solidFill>
                      <a:srgbClr val="F7F5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A1714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新浪财经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2026-05-26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443E37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一线城市二手房收储案例与政策梳理</a:t>
                      </a:r>
                    </a:p>
                  </a:txBody>
                  <a:tcPr marL="54864" marR="45720" marT="27432" marB="27432" anchor="t"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155448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43E37"/>
                </a:solidFill>
                <a:latin typeface="Noto Sans CJK SC"/>
                <a:ea typeface="Noto Sans CJK SC"/>
                <a:cs typeface="Noto Sans CJK SC"/>
              </a:rPr>
              <a:t>口径提示：50%／20%／5% 为公开案例归纳，非统一统计，不可加总或推算全国规模；深圳大学 5.336 亿元为披露金额口径，床位与单套折算待补；单床 35.6 万元、单位面积 0.24 万元／平方米为测算。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0"/>
            <a:ext cx="1105783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F2F7F5"/>
                </a:solidFill>
                <a:latin typeface="Noto Serif CJK SC"/>
                <a:ea typeface="Noto Serif CJK SC"/>
                <a:cs typeface="Noto Serif CJK SC"/>
              </a:rPr>
              <a:t>平台交付可审计的判据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FC98A"/>
                </a:solidFill>
                <a:latin typeface="Noto Serif CJK SC"/>
                <a:ea typeface="Noto Serif CJK SC"/>
                <a:cs typeface="Noto Serif CJK SC"/>
              </a:rPr>
              <a:t>政府与国企承担资产与预算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57200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9E1DB"/>
                </a:solidFill>
                <a:latin typeface="Noto Sans CJK SC"/>
                <a:ea typeface="Noto Sans CJK SC"/>
                <a:cs typeface="Noto Sans CJK SC"/>
              </a:rPr>
              <a:t>收储用途扩围与平台机会 · 正式稿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9CFC8"/>
                </a:solidFill>
                <a:latin typeface="Noto Sans CJK SC"/>
                <a:ea typeface="Noto Sans CJK SC"/>
                <a:cs typeface="Noto Sans CJK SC"/>
              </a:rPr>
              <a:t>98wiki ｜ 智见 / 行业研究报告 · 行业研究，不构成投资建议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