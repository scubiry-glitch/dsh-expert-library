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开场先立主线：这份报告不讨论收储该不该做，而是判断它现在是什么、缺什么。第一句就要把「扩容不等于成型」说死。强调本稿对「制度已形成」是证伪立场，只主张制度要件可被识别和检验。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三处缺口按严重度递进讲：前两处是可补的规则空白，第三处决定天花板。收尾点一句：钱已经到位了，缺的是规则和退出。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这页是制度机制的底图。重点讲「授权链是地方授权加中央资金，不是全国统一授权」，所以规则只能逐城形成。三道审批是新增用途的主要隐性成本，为后面归因三埋线。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这页的核心是「不要把这个图当统计看」。三个比例来自公开案例归纳，只有分子没有分母。可以用的只有方向性结论：新用途从无到有。任何据此推算全国规模的测算都属于把案例当统计量用。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这页讲节奏错配。资金端已经先行动了，政策和采购端没跟上。这个错配解释了一个现象：钱到位了但量没起来。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551 这个数字最容易用错。它是最优城市的单窗口成绩，是天花板不是起点。如果把它当基数去推全国，会系统性高估制度成熟度。强调「不是名额不够，是承接能力不够」。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要防止一个误读：把高校采购计入收储制度。两者的资金来源、定价机制、退出安排完全不同。真正有价值的信号是需求方从政府部门扩展到了事业单位，以及需求方可以自主选址——这一点恰恰是收储主体没有的自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归因一。把公式念出来，强调它是核算口径而不是估算。核心是「结构性」三个字：不是运营做得不好，是租金锚本身就低于资金成本。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归因二。这页最好用一个具体的对照讲：高校能自主选址，所以它的采购算得过账；收储主体只能接手上面的房源，自由度不同，结论就不同。这是制度设计的问题，不是执行力的问题。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归因三。强调「确定性成本」这个词：改造合规不是风险，是必然要花的钱。新增用途的两端恰好是最贵的两端，所以扩围在成本上不是免费的。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归因四到六打包讲。顺序倒置是最容易改也最容易被忽略的一条：考核一旦落在套数上，其他四项就没人在意了。补贴那一条的判别标准很实用：看补贴有没有进预算科目、有没有跟项目一一对应。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这页是全篇的判别工具。四个阈值必须同时成立，不是打分制，是门槛制。念的方式：一项一项对，当前四项全空。这就是「现状是个案化处置」的判定依据。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红队节。这页的作用是自证边界：四条预判全部成立，意味着本稿的主张必须相应收窄——只主张制度要件可识别、可检验，不主张制度已建立。语气要干脆，这是纪律不是谦虚。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页，全篇最有操作价值的一页。讲法：用途不是一个「要收什么房」的问题，而是一个资本结构选择。租金锚决定收入，改造强度决定成本，退出主线决定定价方式。三条使用规则逐条念，尤其最后一条——没有退出通道就只能按长期自持定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评分卡。关键在「一票否决优先于总分排序」——这是个筛子不是排行榜。前四项任何一项不过直接出局，后三项只是降级。这样设计的目的：避免用总分把不可行项目算成可行。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退出谱系。这页要讲清楚「互斥」：三条路径不能同时承诺。最容易犯的错是立项时暗示 REITs 退出，但资产本身不满足条件。结论：REITs 是筛选标准，不是立项承诺。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责任边界。这页对平台自身定位最重要。可承接的六项都是「可审计的判据」，不可承接的都是「资产与预算」。出具门槛也要讲：需求清单与现金流口径不公开的项目，不出具评分卡与现金流模型，因为无法审计的输入只能产出装饰性评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三档判断。明确当前在第二档。第三档的触发条件是三个叠加，讲清楚哪三个，这样听的人可以自己去盯。三条可证伪判据任一条不满足，项目就只能靠财政兜底维持。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观察清单。这页是交给听众的工具：七项指标按口径盯。重点讲第一项——要官方或决算口径，不要报道口径。最后收在不确定性上：实物规模不透明是最大的未知，口径不公开时任何年度化判断都只能停留在推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来源与口径页。快速过，但要把两个免责说清楚：一是比例数字非统计口径，二是测算项不是官方数据。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0300"/>
            <a:ext cx="12954000" cy="245745"/>
          </a:xfrm>
          <a:custGeom>
            <a:avLst/>
            <a:gdLst/>
            <a:ahLst/>
            <a:cxnLst/>
            <a:rect l="l" t="t" r="r" b="b"/>
            <a:pathLst>
              <a:path w="12954000" h="245745">
                <a:moveTo>
                  <a:pt x="0" y="114300"/>
                </a:moveTo>
                <a:lnTo>
                  <a:pt x="400050" y="114300"/>
                </a:lnTo>
                <a:lnTo>
                  <a:pt x="514350" y="146304"/>
                </a:lnTo>
                <a:lnTo>
                  <a:pt x="628650" y="0"/>
                </a:lnTo>
                <a:lnTo>
                  <a:pt x="742950" y="245745"/>
                </a:lnTo>
                <a:lnTo>
                  <a:pt x="876300" y="114300"/>
                </a:lnTo>
                <a:lnTo>
                  <a:pt x="1619250" y="114300"/>
                </a:lnTo>
                <a:lnTo>
                  <a:pt x="2019300" y="114300"/>
                </a:lnTo>
                <a:lnTo>
                  <a:pt x="2133600" y="146304"/>
                </a:lnTo>
                <a:lnTo>
                  <a:pt x="2247900" y="0"/>
                </a:lnTo>
                <a:lnTo>
                  <a:pt x="2362200" y="245745"/>
                </a:lnTo>
                <a:lnTo>
                  <a:pt x="2495550" y="114300"/>
                </a:lnTo>
                <a:lnTo>
                  <a:pt x="3238500" y="114300"/>
                </a:lnTo>
                <a:lnTo>
                  <a:pt x="3638550" y="114300"/>
                </a:lnTo>
                <a:lnTo>
                  <a:pt x="3752850" y="146304"/>
                </a:lnTo>
                <a:lnTo>
                  <a:pt x="3867150" y="0"/>
                </a:lnTo>
                <a:lnTo>
                  <a:pt x="3981450" y="245745"/>
                </a:lnTo>
                <a:lnTo>
                  <a:pt x="4114800" y="114300"/>
                </a:lnTo>
                <a:lnTo>
                  <a:pt x="4857750" y="114300"/>
                </a:lnTo>
                <a:lnTo>
                  <a:pt x="5257800" y="114300"/>
                </a:lnTo>
                <a:lnTo>
                  <a:pt x="5372100" y="146304"/>
                </a:lnTo>
                <a:lnTo>
                  <a:pt x="5486400" y="0"/>
                </a:lnTo>
                <a:lnTo>
                  <a:pt x="5600700" y="245745"/>
                </a:lnTo>
                <a:lnTo>
                  <a:pt x="5734050" y="114300"/>
                </a:lnTo>
                <a:lnTo>
                  <a:pt x="6477000" y="114300"/>
                </a:lnTo>
                <a:lnTo>
                  <a:pt x="6877050" y="114300"/>
                </a:lnTo>
                <a:lnTo>
                  <a:pt x="6991350" y="146304"/>
                </a:lnTo>
                <a:lnTo>
                  <a:pt x="7105650" y="0"/>
                </a:lnTo>
                <a:lnTo>
                  <a:pt x="7219950" y="245745"/>
                </a:lnTo>
                <a:lnTo>
                  <a:pt x="7353300" y="114300"/>
                </a:lnTo>
                <a:lnTo>
                  <a:pt x="8096250" y="114300"/>
                </a:lnTo>
                <a:lnTo>
                  <a:pt x="8496300" y="114300"/>
                </a:lnTo>
                <a:lnTo>
                  <a:pt x="8610600" y="146304"/>
                </a:lnTo>
                <a:lnTo>
                  <a:pt x="8724900" y="0"/>
                </a:lnTo>
                <a:lnTo>
                  <a:pt x="8839200" y="245745"/>
                </a:lnTo>
                <a:lnTo>
                  <a:pt x="8972550" y="114300"/>
                </a:lnTo>
                <a:lnTo>
                  <a:pt x="9715500" y="114300"/>
                </a:lnTo>
                <a:lnTo>
                  <a:pt x="10115550" y="114300"/>
                </a:lnTo>
                <a:lnTo>
                  <a:pt x="10229850" y="146304"/>
                </a:lnTo>
                <a:lnTo>
                  <a:pt x="10344150" y="0"/>
                </a:lnTo>
                <a:lnTo>
                  <a:pt x="10458450" y="245745"/>
                </a:lnTo>
                <a:lnTo>
                  <a:pt x="10591800" y="114300"/>
                </a:lnTo>
                <a:lnTo>
                  <a:pt x="11334750" y="114300"/>
                </a:lnTo>
                <a:lnTo>
                  <a:pt x="11734800" y="114300"/>
                </a:lnTo>
                <a:lnTo>
                  <a:pt x="11849100" y="146304"/>
                </a:lnTo>
                <a:lnTo>
                  <a:pt x="11963400" y="0"/>
                </a:lnTo>
                <a:lnTo>
                  <a:pt x="12077700" y="245745"/>
                </a:lnTo>
                <a:lnTo>
                  <a:pt x="12211050" y="114300"/>
                </a:lnTo>
                <a:lnTo>
                  <a:pt x="12954000" y="114300"/>
                </a:lnTo>
              </a:path>
            </a:pathLst>
          </a:custGeom>
          <a:noFill/>
          <a:ln w="19050">
            <a:solidFill>
              <a:srgbClr val="8F611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662" y="3511698"/>
            <a:ext cx="828040" cy="276013"/>
          </a:xfrm>
          <a:prstGeom prst="roundRect">
            <a:avLst>
              <a:gd name="adj" fmla="val 50000"/>
            </a:avLst>
          </a:prstGeom>
          <a:solidFill>
            <a:srgbClr val="0E6A55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771" y="-4366587"/>
            <a:ext cx="552485" cy="207182"/>
          </a:xfrm>
          <a:prstGeom prst="roundRect">
            <a:avLst>
              <a:gd name="adj" fmla="val 50000"/>
            </a:avLst>
          </a:prstGeom>
          <a:solidFill>
            <a:srgbClr val="5F9E8C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1475" y="1133475"/>
            <a:ext cx="209550" cy="209550"/>
          </a:xfrm>
          <a:prstGeom prst="ellipse">
            <a:avLst/>
          </a:prstGeom>
          <a:solidFill>
            <a:srgbClr val="55636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685800"/>
            <a:ext cx="342900" cy="3429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" y="304800"/>
            <a:ext cx="152400" cy="152400"/>
          </a:xfrm>
          <a:prstGeom prst="ellipse">
            <a:avLst/>
          </a:prstGeom>
          <a:solidFill>
            <a:srgbClr val="8F611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8F6119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2807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收储用途扩围与平台机会</a:t>
            </a:r>
            <a:endParaRPr lang="en-US" sz="6300" dirty="0"/>
          </a:p>
        </p:txBody>
      </p:sp>
      <p:sp>
        <p:nvSpPr>
          <p:cNvPr id="12" name="Shape 10"/>
          <p:cNvSpPr/>
          <p:nvPr/>
        </p:nvSpPr>
        <p:spPr>
          <a:xfrm>
            <a:off x="914400" y="3829050"/>
            <a:ext cx="914400" cy="762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933950"/>
            <a:ext cx="6896100" cy="0"/>
          </a:xfrm>
          <a:prstGeom prst="line">
            <a:avLst/>
          </a:prstGeom>
          <a:noFill/>
          <a:ln w="13335">
            <a:solidFill>
              <a:srgbClr val="DCEB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93030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智见点评 · 制度设计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核心结论：需求池扩容，不等于制度成型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8F611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9325" y="2436809"/>
            <a:ext cx="139700" cy="174654"/>
          </a:xfrm>
          <a:custGeom>
            <a:avLst/>
            <a:gdLst/>
            <a:ahLst/>
            <a:cxnLst/>
            <a:rect l="l" t="t" r="r" b="b"/>
            <a:pathLst>
              <a:path w="139700" h="174654">
                <a:moveTo>
                  <a:pt x="139700" y="96048"/>
                </a:moveTo>
                <a:cubicBezTo>
                  <a:pt x="139700" y="139704"/>
                  <a:pt x="109141" y="161532"/>
                  <a:pt x="72819" y="174192"/>
                </a:cubicBezTo>
                <a:arcTo hR="8731" wR="8731" stAng="4276817" swAng="2348977"/>
                <a:cubicBezTo>
                  <a:pt x="30559" y="161532"/>
                  <a:pt x="0" y="139704"/>
                  <a:pt x="0" y="96048"/>
                </a:cubicBezTo>
                <a:lnTo>
                  <a:pt x="0" y="34929"/>
                </a:lnTo>
                <a:arcTo hR="8731" wR="8731" stAng="10800000" swAng="5400000"/>
                <a:cubicBezTo>
                  <a:pt x="26194" y="26198"/>
                  <a:pt x="48022" y="15720"/>
                  <a:pt x="63214" y="2449"/>
                </a:cubicBezTo>
                <a:arcTo hR="10216" wR="10216" stAng="13769437" swAng="4861127"/>
                <a:cubicBezTo>
                  <a:pt x="91765" y="15807"/>
                  <a:pt x="113506" y="26198"/>
                  <a:pt x="130969" y="26198"/>
                </a:cubicBezTo>
                <a:arcTo hR="8731" wR="8731" stAng="16200000" swAng="5400000"/>
                <a:close/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9175" y="2489200"/>
            <a:ext cx="6548" cy="34925"/>
          </a:xfrm>
          <a:custGeom>
            <a:avLst/>
            <a:gdLst/>
            <a:ahLst/>
            <a:cxnLst/>
            <a:rect l="l" t="t" r="r" b="b"/>
            <a:pathLst>
              <a:path w="6548" h="34925">
                <a:moveTo>
                  <a:pt x="0" y="0"/>
                </a:moveTo>
                <a:lnTo>
                  <a:pt x="0" y="34925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175" y="2559050"/>
            <a:ext cx="6548" cy="6548"/>
          </a:xfrm>
          <a:custGeom>
            <a:avLst/>
            <a:gdLst/>
            <a:ahLst/>
            <a:cxnLst/>
            <a:rect l="l" t="t" r="r" b="b"/>
            <a:pathLst>
              <a:path w="6548" h="6548">
                <a:moveTo>
                  <a:pt x="0" y="0"/>
                </a:moveTo>
                <a:lnTo>
                  <a:pt x="87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6350" y="2411730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对「年度化准公共采购已形成」予以证伪：现状是点状案例加价格型工具，不是采购制度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14400" y="3055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当期真实身份是止跌工具，不是回稳引擎【研判推断】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455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能压缩挂牌量、托住尾部成交价，但创造不出新增有效需求【研判推断】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855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用途扩围属需求侧扩容，负carry、区位错配、改造合规三个卡点一处未动【研判推断】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255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清单越宽，负carry项目占比越高，扩围边际效益递减【研判推断】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三处机制缺口决定制度天花板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23925" y="2989707"/>
            <a:ext cx="0" cy="11049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3950" y="3016377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23950" y="3443097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政策边界未回答三问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23950" y="3768852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授权对象、房源边界、用途决定权仍停在地方探索层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3950" y="3949827"/>
            <a:ext cx="119824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面，没有可复制规则【研判推断】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7225" y="2989707"/>
            <a:ext cx="0" cy="11049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7250" y="3016377"/>
            <a:ext cx="8439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4667250" y="3443097"/>
            <a:ext cx="843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缺可检验的判别阈值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7250" y="3768852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年度化采购与个案化处置之间没有判别标准【研判推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7250" y="3949827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断】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0525" y="2989707"/>
            <a:ext cx="0" cy="11049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0550" y="3016377"/>
            <a:ext cx="4895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8210550" y="3443097"/>
            <a:ext cx="4895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退出是最大缺口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10550" y="3768852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退出不通时，收储从准公共采购退化为准公共持有【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10550" y="3949827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研判推断】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三处缺口的共同点：都不是资金问题，而是规则问题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8" name="Shape 6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E6A55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谁来收、收什么、做什么：授权链是地方授权加中央资金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28700" y="2187893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机制问题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385647" y="2187893"/>
            <a:ext cx="1072075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当期答案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139632" y="2187893"/>
            <a:ext cx="296676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477453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89655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1565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73475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15385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57295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9205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8700" y="262223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85647" y="2622233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地方政府指定的国有企业；承接保障性住房再贷款的政策性收购主体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39632" y="2622233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04133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谁来收（边界）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85647" y="3041333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高校、医院以自有预算采购，属需求端机构购买方，不属政策性收储主体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39632" y="3041333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346043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收什么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85647" y="3460433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存量商品房中的现房或准现房，须满足区位可用、权属清晰、消防结构合规、用途变更可行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39632" y="3460433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28700" y="387953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做的顺序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385647" y="3879532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先定使用对象、再定房源；不是先收房再找用途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39632" y="3879532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429863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85647" y="4298633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保租房、人才房与青年公寓、高校宿舍、医院与养老配套四类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39632" y="4298633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引用·案例归纳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8700" y="4717733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三道审批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85647" y="4717733"/>
            <a:ext cx="1072075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用途变更、消防验收、结构安全；多数城市尚无标准路径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139632" y="4717733"/>
            <a:ext cx="296676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091113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授权链形态为地方授权加中央资金支持，规则只能逐城形成，复制成本高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标注体系：引用＝来源明确；研判推断＝无直接数据支撑的方向判断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用途口径外扩：是案例结构示意，不是统计口径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8F61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CE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5350" y="2343150"/>
            <a:ext cx="10687050" cy="0"/>
          </a:xfrm>
          <a:prstGeom prst="line">
            <a:avLst/>
          </a:prstGeom>
          <a:noFill/>
          <a:ln w="9525">
            <a:solidFill>
              <a:srgbClr val="5A6B66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5350" y="2838450"/>
            <a:ext cx="10687050" cy="0"/>
          </a:xfrm>
          <a:prstGeom prst="line">
            <a:avLst/>
          </a:prstGeom>
          <a:noFill/>
          <a:ln w="9525">
            <a:solidFill>
              <a:srgbClr val="5A6B66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5350" y="3333750"/>
            <a:ext cx="10687050" cy="0"/>
          </a:xfrm>
          <a:prstGeom prst="line">
            <a:avLst/>
          </a:prstGeom>
          <a:noFill/>
          <a:ln w="9525">
            <a:solidFill>
              <a:srgbClr val="5A6B66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3450" y="1847850"/>
            <a:ext cx="3486150" cy="1981200"/>
          </a:xfrm>
          <a:prstGeom prst="rect">
            <a:avLst/>
          </a:prstGeom>
          <a:solidFill>
            <a:srgbClr val="8F6119"/>
          </a:solidFill>
          <a:ln/>
        </p:spPr>
      </p:sp>
      <p:sp>
        <p:nvSpPr>
          <p:cNvPr id="14" name="Text 12"/>
          <p:cNvSpPr/>
          <p:nvPr/>
        </p:nvSpPr>
        <p:spPr>
          <a:xfrm>
            <a:off x="609600" y="1725930"/>
            <a:ext cx="4133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F1F1C"/>
                </a:solidFill>
              </a:rPr>
              <a:t>50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09600" y="3878580"/>
            <a:ext cx="4133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</a:rPr>
              <a:t>保租房</a:t>
            </a:r>
            <a:endParaRPr lang="en-US" sz="825" dirty="0"/>
          </a:p>
        </p:txBody>
      </p:sp>
      <p:sp>
        <p:nvSpPr>
          <p:cNvPr id="16" name="svg2pptx-gradient-s0004-0000"/>
          <p:cNvSpPr/>
          <p:nvPr/>
        </p:nvSpPr>
        <p:spPr>
          <a:xfrm>
            <a:off x="4495800" y="3036570"/>
            <a:ext cx="3486150" cy="792480"/>
          </a:xfrm>
          <a:prstGeom prst="rect">
            <a:avLst/>
          </a:prstGeom>
          <a:gradFill rotWithShape="1">
            <a:gsLst>
              <a:gs pos="0">
                <a:srgbClr val="8F6119">
                  <a:alpha val="75000"/>
                </a:srgbClr>
              </a:gs>
              <a:gs pos="100000">
                <a:srgbClr val="644412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17" name="Text 15"/>
          <p:cNvSpPr/>
          <p:nvPr/>
        </p:nvSpPr>
        <p:spPr>
          <a:xfrm>
            <a:off x="609600" y="2914650"/>
            <a:ext cx="112585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F1F1C"/>
                </a:solidFill>
              </a:rPr>
              <a:t>20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09600" y="3878580"/>
            <a:ext cx="112585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</a:rPr>
              <a:t>人才房/青年公寓</a:t>
            </a:r>
            <a:endParaRPr lang="en-US" sz="825" dirty="0"/>
          </a:p>
        </p:txBody>
      </p:sp>
      <p:sp>
        <p:nvSpPr>
          <p:cNvPr id="19" name="svg2pptx-gradient-s0004-0001"/>
          <p:cNvSpPr/>
          <p:nvPr/>
        </p:nvSpPr>
        <p:spPr>
          <a:xfrm>
            <a:off x="8058150" y="3630930"/>
            <a:ext cx="3486150" cy="198120"/>
          </a:xfrm>
          <a:prstGeom prst="rect">
            <a:avLst/>
          </a:prstGeom>
          <a:gradFill rotWithShape="1">
            <a:gsLst>
              <a:gs pos="0">
                <a:srgbClr val="8F6119">
                  <a:alpha val="75000"/>
                </a:srgbClr>
              </a:gs>
              <a:gs pos="100000">
                <a:srgbClr val="644412">
                  <a:alpha val="75000"/>
                </a:srgbClr>
              </a:gs>
            </a:gsLst>
            <a:lin ang="5400000" scaled="1"/>
          </a:gradFill>
          <a:ln/>
        </p:spPr>
      </p:sp>
      <p:sp>
        <p:nvSpPr>
          <p:cNvPr id="20" name="Text 18"/>
          <p:cNvSpPr/>
          <p:nvPr/>
        </p:nvSpPr>
        <p:spPr>
          <a:xfrm>
            <a:off x="6800850" y="3509010"/>
            <a:ext cx="60007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0F1F1C"/>
                </a:solidFill>
              </a:rPr>
              <a:t>5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800850" y="3878580"/>
            <a:ext cx="60007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</a:rPr>
              <a:t>学生宿舍等新用途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09600" y="18449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09600" y="19688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09600" y="209264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09600" y="22164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609600" y="23402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609600" y="24641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09600" y="258794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09600" y="27117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609600" y="28355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09600" y="29594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09600" y="308324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09600" y="3207067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09600" y="33308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09600" y="34547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609600" y="357854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09600" y="370236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09600" y="4217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保租房约 50%、人才房与青年公寓约 20%、学生宿舍等约 5%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09600" y="4617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三个比例只有分子、没有分母，加总不成全国结构，也不能推算全国规模【研判推断】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09600" y="5017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可用的部分是方向：新用途从无到有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来源：中房网 2026-05-20（存量房收购两周年公开案例归纳）｜非统一统计口径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三条线不同步：资金端先行，采购制度化最慢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8F6119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700" y="306133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38300" y="3061335"/>
            <a:ext cx="1146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当期状态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06818" y="3061335"/>
            <a:ext cx="259958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3350895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76999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8909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60819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" y="350901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资金端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638300" y="3495675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已落地，融资成本一侧明显下移：央行 2025-01-02 优化保障性住房再贷款要求，调整支持比例（具体比例待补）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06818" y="3509010"/>
            <a:ext cx="259958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引用＋待补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28700" y="392811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638300" y="3914775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停留在方向与年度安排：政府工作报告「盘活存量商品房」；深圳市住建局 2026 住房发展年度计划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06818" y="3914775"/>
            <a:ext cx="25995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434721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采购端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638300" y="4333875"/>
            <a:ext cx="11468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尚未成型：无需求清单、无准入标准、无预算科目、无退出通道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06818" y="4333875"/>
            <a:ext cx="259958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研判推断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0725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三条线的推进速度不一致，是当期最值得记的制度特征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上海551套：应作上限锚点，不作起步基数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14400" y="1809750"/>
            <a:ext cx="8382000" cy="2133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46697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551</a:t>
            </a:r>
            <a:pPr algn="l" indent="0" marL="0">
              <a:buNone/>
            </a:pPr>
            <a:r>
              <a:rPr lang="en-US" sz="135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04900" y="3011805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上海三试点区累计收房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04900" y="3221355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徐汇、浦东、静安；2026-02 启动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914400" y="41605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全国资金、房源、需求三要素最齐备的城市，一个窗口期只有 551 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5605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决定转化效率的不是资格名单长度，而是旧房处置与承接能力【研判推断】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960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该数字应作全国上限锚点，不能当起步基数【研判推断】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360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用它反推全国，等于把最优城市的天花板当平均值【研判推断】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551 套为三试点区累计收房口径（引用）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E6A55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20" name="Shape 18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CE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高校以机构购买方进场：证明需求，不证明制度</a:t>
            </a:r>
            <a:endParaRPr lang="en-US" sz="3750" dirty="0"/>
          </a:p>
        </p:txBody>
      </p:sp>
      <p:sp>
        <p:nvSpPr>
          <p:cNvPr id="9" name="Shape 7"/>
          <p:cNvSpPr/>
          <p:nvPr/>
        </p:nvSpPr>
        <p:spPr>
          <a:xfrm>
            <a:off x="533400" y="1714500"/>
            <a:ext cx="36068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3900" y="1962150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5.336</a:t>
            </a:r>
            <a:pPr algn="l" indent="0" marL="0">
              <a:buNone/>
            </a:pPr>
            <a:r>
              <a:rPr lang="en-US" sz="135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3900" y="2506980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深圳大学拟购楼作学生宿舍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900" y="2716530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腾讯新闻 2026-09-09 披露金额口径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4292600" y="1714500"/>
            <a:ext cx="36068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3100" y="1962150"/>
            <a:ext cx="82423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约35.6</a:t>
            </a:r>
            <a:pPr algn="l" indent="0" marL="0">
              <a:buNone/>
            </a:pPr>
            <a:r>
              <a:rPr lang="en-US" sz="135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万元/床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483100" y="2506980"/>
            <a:ext cx="8242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单床购置成本（测算）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3100" y="2716530"/>
            <a:ext cx="8242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5.336亿元 ÷ 1500床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8051800" y="1714500"/>
            <a:ext cx="360680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2300" y="1962150"/>
            <a:ext cx="4483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约0.24</a:t>
            </a:r>
            <a:pPr algn="l" indent="0" marL="0">
              <a:buNone/>
            </a:pPr>
            <a:r>
              <a:rPr lang="en-US" sz="135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万元/㎡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242300" y="2506980"/>
            <a:ext cx="4483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单位面积购置成本（测算）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42300" y="2716530"/>
            <a:ext cx="44831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5.336亿元 ÷ 2.25万㎡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33400" y="32461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另一路采购意向口径：预算约 5.3 亿元、建筑面积不低于 2.25 万㎡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3400" y="3646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可满足至少 1500 人、距两校区原则不超过 8 公里、须整栋购置（以最终公告为准）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3400" y="40462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这是高校自主采购：走教育预算、定价走市场评估【研判推断】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3400" y="44462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与政策性收储的资金来源、定价、退出安排完全不同【研判推断】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400" y="48463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它证明床位需求真实、需求方扩展到事业单位；不证明年度化采购制度已形成【研判推断】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床位与单套折算待补；两种口径存在表述差异，以最终公告为准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9091"/>
            </a:avLst>
          </a:prstGeom>
          <a:solidFill>
            <a:srgbClr val="0E6A5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归因（一）：负carry是结构性的，运营补不上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14400" y="18935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保租房锚市场租金折价、人才房锚政策可承受价、高校宿舍锚学校付费能力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93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三类租金锚都低于改造后综合资金成本，差额只能由财政或国企承担【研判推断】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693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核算口径：单位年净现金流＝租金×出租率 − 维护费 − 改造年摊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093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与同口径资金成本比较，为负即负carry项目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3493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补贴不进预算科目时，问题从当期推入运营期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24000" y="4400550"/>
            <a:ext cx="97536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38150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4100" y="4725194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52388"/>
                </a:moveTo>
                <a:lnTo>
                  <a:pt x="52388" y="52388"/>
                </a:ln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1863" y="4690269"/>
            <a:ext cx="174625" cy="87313"/>
          </a:xfrm>
          <a:custGeom>
            <a:avLst/>
            <a:gdLst/>
            <a:ahLst/>
            <a:cxnLst/>
            <a:rect l="l" t="t" r="r" b="b"/>
            <a:pathLst>
              <a:path w="174625" h="87313">
                <a:moveTo>
                  <a:pt x="174625" y="87313"/>
                </a:moveTo>
                <a:lnTo>
                  <a:pt x="100409" y="13097"/>
                </a:lnTo>
                <a:lnTo>
                  <a:pt x="56753" y="56753"/>
                </a:lnTo>
                <a:lnTo>
                  <a:pt x="0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" y="4621530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负carry是结构性的：运营补不上，只能由财政或国企承担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核算口径为研判推断，非官方标准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887730"/>
            <a:ext cx="115824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归因（二）：区位错配不是操作失误</a:t>
            </a:r>
            <a:endParaRPr lang="en-US" sz="3450" dirty="0"/>
          </a:p>
        </p:txBody>
      </p:sp>
      <p:sp>
        <p:nvSpPr>
          <p:cNvPr id="8" name="Shape 6"/>
          <p:cNvSpPr/>
          <p:nvPr/>
        </p:nvSpPr>
        <p:spPr>
          <a:xfrm>
            <a:off x="609600" y="1543050"/>
            <a:ext cx="457200" cy="0"/>
          </a:xfrm>
          <a:prstGeom prst="line">
            <a:avLst/>
          </a:prstGeom>
          <a:noFill/>
          <a:ln w="38100">
            <a:solidFill>
              <a:srgbClr val="8F61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6800" y="1543050"/>
            <a:ext cx="10515600" cy="0"/>
          </a:xfrm>
          <a:prstGeom prst="line">
            <a:avLst/>
          </a:prstGeom>
          <a:noFill/>
          <a:ln w="15240">
            <a:solidFill>
              <a:srgbClr val="DCE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247421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可收购房源集中在供给过剩的外围板块与商办尾盘，真实需求集中在主城就业带与校区周边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" y="287426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两个分布在空间上天然不重合，直接表现为空置率抬升与回收期拉长【研判推断】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27431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高校那单在经济上可能成立，正因需求方可以自主选址【研判推断】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9600" y="367436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收储主体没有这个自由度【研判推断】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4074414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用宿舍需求去承接远郊库存，等于用需求的名义给区位错配背书【研判推断】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" y="64008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区位错配是结构性的，不是操作失误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9091"/>
            </a:avLst>
          </a:prstGeom>
          <a:solidFill>
            <a:srgbClr val="0E6A5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归因（三）：改造合规是确定性成本，新增用途两端最重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2297663" y="2870454"/>
            <a:ext cx="1080873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改造强度最高两端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5010" y="2870454"/>
            <a:ext cx="552139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其他用途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3160014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579114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98214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417314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330479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合规关注点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97663" y="3304794"/>
            <a:ext cx="108087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学生宿舍：床位密度与消防分区；医疗养老：结构与合规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85010" y="3304794"/>
            <a:ext cx="552139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保租房、人才房：以装修与设备更新为主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72389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97663" y="3723894"/>
            <a:ext cx="108087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非标房源越多，规模效应越被摊薄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85010" y="3723894"/>
            <a:ext cx="552139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标准化程度较高，规模效应相对可保留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414299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最大不确定性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97663" y="4142994"/>
            <a:ext cx="1080873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消防能否通过，是运营侧最大的不确定性成本项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5010" y="4142994"/>
            <a:ext cx="552139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相对可控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新增用途两端恰是改造强度最高的两端；均为研判推断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归因（四至六）：顺序倒置、退出缺位、补贴性质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CEBE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CEBE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CEBE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CEBE5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925" y="2960751"/>
            <a:ext cx="0" cy="9525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3950" y="2987421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23950" y="3414141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筛选顺序倒置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23950" y="3696081"/>
            <a:ext cx="1198245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正确顺序是先预租锁定、合规预审、现金流、估值、融资；</a:t>
            </a:r>
            <a:endParaRPr lang="en-US" sz="450" dirty="0"/>
          </a:p>
        </p:txBody>
      </p:sp>
      <p:sp>
        <p:nvSpPr>
          <p:cNvPr id="16" name="Text 14"/>
          <p:cNvSpPr/>
          <p:nvPr/>
        </p:nvSpPr>
        <p:spPr>
          <a:xfrm>
            <a:off x="1123950" y="3772281"/>
            <a:ext cx="11982450" cy="68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现实往往先把收购量定下来再补前四项【研判推断】</a:t>
            </a:r>
            <a:endParaRPr lang="en-US" sz="450" dirty="0"/>
          </a:p>
        </p:txBody>
      </p:sp>
      <p:sp>
        <p:nvSpPr>
          <p:cNvPr id="17" name="Shape 15"/>
          <p:cNvSpPr/>
          <p:nvPr/>
        </p:nvSpPr>
        <p:spPr>
          <a:xfrm>
            <a:off x="3019425" y="2960751"/>
            <a:ext cx="0" cy="9525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9450" y="2987421"/>
            <a:ext cx="98869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3219450" y="3414141"/>
            <a:ext cx="98869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退出三路径互斥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19450" y="3682746"/>
            <a:ext cx="9886950" cy="4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</a:t>
            </a:r>
            <a:endParaRPr lang="en-US" sz="300" dirty="0"/>
          </a:p>
        </p:txBody>
      </p:sp>
      <p:sp>
        <p:nvSpPr>
          <p:cNvPr id="21" name="Text 19"/>
          <p:cNvSpPr/>
          <p:nvPr/>
        </p:nvSpPr>
        <p:spPr>
          <a:xfrm>
            <a:off x="3219450" y="3730371"/>
            <a:ext cx="9886950" cy="4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非普遍可行、整售依赖景气、划转自持不回流现金，不能同时承诺【研判推断】</a:t>
            </a:r>
            <a:endParaRPr lang="en-US" sz="300" dirty="0"/>
          </a:p>
        </p:txBody>
      </p:sp>
      <p:sp>
        <p:nvSpPr>
          <p:cNvPr id="22" name="Shape 20"/>
          <p:cNvSpPr/>
          <p:nvPr/>
        </p:nvSpPr>
        <p:spPr>
          <a:xfrm>
            <a:off x="5114925" y="2960751"/>
            <a:ext cx="0" cy="952500"/>
          </a:xfrm>
          <a:prstGeom prst="line">
            <a:avLst/>
          </a:prstGeom>
          <a:noFill/>
          <a:ln w="19050">
            <a:solidFill>
              <a:srgbClr val="8F611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14950" y="2987421"/>
            <a:ext cx="7791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8F61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5314950" y="3414141"/>
            <a:ext cx="7791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补贴性质需区分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14950" y="3709416"/>
            <a:ext cx="7791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制度性补贴有科目、有额度、可跨年；运营性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314950" y="3814191"/>
            <a:ext cx="77914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依赖是被动挂账，越滚越大【研判推断】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顺序一倒置，考核必然落到收购套数，需求真实性与退出可行性全部让位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四项判别阈值：当期均未打勾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28700" y="2654046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57500" y="2654046"/>
            <a:ext cx="102489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年度化采购的判据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969500" y="2654046"/>
            <a:ext cx="31369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当期状态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2943606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62706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81806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200906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620006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30883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需求清单年度化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57500" y="3088386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上年末形成经财政与住建联审的年度需求清单，含套数、区位、户型、租金区间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69500" y="3088386"/>
            <a:ext cx="3136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未见公开清单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8700" y="35074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定价用规则不用谈判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57500" y="3507486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同区位同品质有评估价区间与统一折扣基准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69500" y="3507486"/>
            <a:ext cx="3136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仍逐单定价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9265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成本可跨年消化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57500" y="3926586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缺口由租金提升、运营降本或政策性资金成本覆盖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969500" y="3926586"/>
            <a:ext cx="3136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主要靠补贴填补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4345686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退出有预设通道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57500" y="4345686"/>
            <a:ext cx="10248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立项即明确退出方式与持有主体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69500" y="4345686"/>
            <a:ext cx="3136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通道普遍缺位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719066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四项阈值须同时成立，缺一项即判定为个案化处置【研判推断】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当期四项均未打勾，故判定为个案化处置延续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810250" y="990600"/>
            <a:ext cx="571500" cy="38100"/>
          </a:xfrm>
          <a:prstGeom prst="roundRect">
            <a:avLst>
              <a:gd name="adj" fmla="val 50000"/>
            </a:avLst>
          </a:prstGeom>
          <a:solidFill>
            <a:srgbClr val="0E6A55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1264920"/>
            <a:ext cx="121920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红队复核：四条预判全部成立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809750" y="268719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预判一 · 成立：50%／20%／5%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09750" y="301104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来自公开案例归纳、非统一统计，只能说明新用途从无到有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09750" y="341109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预判二 · 成立：深圳大学 5.336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09750" y="373494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亿元是高校自主采购，计入收储会系统性高估制度成熟度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09750" y="413499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预判三 · 成立：高校宿舍、医院与养老改造仍属单一标的自主决策，不证制度化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09750" y="4535043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预判四 · 成立：REITs 宜作筛选标准使用，不宜作立项承诺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0" y="6019800"/>
            <a:ext cx="1219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四条预判逐条检验后全部成立，相应主张随之收窄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用途—现金流矩阵：用途是资本结构的选择变量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028700" y="274129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85476" y="2741295"/>
            <a:ext cx="1052092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需求确定性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72306" y="2741295"/>
            <a:ext cx="843409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租金锚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50453" y="2741295"/>
            <a:ext cx="655594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改造强度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45967" y="2741295"/>
            <a:ext cx="426043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退出主线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3030855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4995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86905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8815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70725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12635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317563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85476" y="3175635"/>
            <a:ext cx="10520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高（轮候制、准入线）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72306" y="3175635"/>
            <a:ext cx="84340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市场租金折价，偏低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50453" y="3175635"/>
            <a:ext cx="655594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845967" y="3175635"/>
            <a:ext cx="42604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REITs（个案）／长期自持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8700" y="359473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人才房·青年公寓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85476" y="3594735"/>
            <a:ext cx="10520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中高（产业政策驱动）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72306" y="3594735"/>
            <a:ext cx="84340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政策性可承受价，中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50453" y="3594735"/>
            <a:ext cx="655594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低—中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45967" y="3594735"/>
            <a:ext cx="42604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整售／自持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401383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安置房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85476" y="4013835"/>
            <a:ext cx="10520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高（征迁刚性需求）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72306" y="4013835"/>
            <a:ext cx="84340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征迁补偿与安置标准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50453" y="4013835"/>
            <a:ext cx="655594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845967" y="4013835"/>
            <a:ext cx="42604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划转／自持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443293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高校宿舍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585476" y="4432935"/>
            <a:ext cx="10520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高（刚性床位）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72306" y="4432935"/>
            <a:ext cx="84340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学校付费，稳但低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50453" y="4432935"/>
            <a:ext cx="655594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中高（床位密度、消防）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845967" y="4432935"/>
            <a:ext cx="42604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无二级市场退出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8700" y="485203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医疗·养老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85476" y="4852035"/>
            <a:ext cx="1052092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中（专业需求）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672306" y="4852035"/>
            <a:ext cx="843409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专业服务收费，高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50453" y="4852035"/>
            <a:ext cx="6555947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高（结构与合规）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845967" y="4852035"/>
            <a:ext cx="426043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无标准退出通道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14400" y="522541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占比口径为案例归纳；分城市数据与绝对量待补。用途是资本结构的选择变量【研判推断】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三条使用规则：租金锚低于资金成本的用途须同步锁定补贴来源；改造强度高的用途只能逐单审批；无退出通道的用途不得以退出溢价折让收购价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9091"/>
            </a:avLst>
          </a:prstGeom>
          <a:solidFill>
            <a:srgbClr val="0E6A5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房源准入评分卡：四项一票否决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28700" y="2139315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40580" y="2139315"/>
            <a:ext cx="1066582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观测变量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69837" y="2139315"/>
            <a:ext cx="433656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一票否决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2428875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8479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2670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861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052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5243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9434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362575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25736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区位与需求匹配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40580" y="25736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房源落在真实用工与就学半径内的轮候需求覆盖度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69837" y="25736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是（错配即否决）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28700" y="29927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40580" y="29927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单位年净现金流＝租金×出租率−维护−改造年摊，与同口径资金成本比较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69837" y="29927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是（低于融资成本即否决）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34118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合规与产权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40580" y="34118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消防与结构可否通过、用途变更路径、抵押查封与分割登记状态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69837" y="34118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是（不合规或有瑕疵即否决）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8309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退出可及性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40580" y="38309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是否存在可执行退出路径或明确长期持有主体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69837" y="38309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是（皆无即否决）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" y="42500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改造经济性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440580" y="42500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单套改造造价、工期、非标项占比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69837" y="42500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否（超阈值降级）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46691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规模效率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40580" y="46691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单项目套数是否达到运营团队经济性下限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769837" y="46691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否（低于下限降级）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" y="5088255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运营数据可得性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440580" y="5088255"/>
            <a:ext cx="106658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空置率、运营费率、维修更新数据可否采集与审计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69837" y="5088255"/>
            <a:ext cx="433656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5461635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四项一票否决优先于总分排序：评分卡的功能是筛掉不可行项目，不是在同批次内排序【研判推断】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使用纪律：每套评分留痕可复核，否则年度化无法审计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8" name="Shape 6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E6A55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退出谱系：三条路径互斥，不能同时承诺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28700" y="2665667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退出路径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451684" y="2665667"/>
            <a:ext cx="10654716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成立条件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21792" y="2665667"/>
            <a:ext cx="618460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不成立时的后果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858839" y="2665667"/>
            <a:ext cx="424756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适用边界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2955227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374327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793427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212527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700" y="3113342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 或不动产基金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2451684" y="3105722"/>
            <a:ext cx="10654716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现金流稳定可预测、权属与运营数据可审计、通道对低租金资产开放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21792" y="3100007"/>
            <a:ext cx="6184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无法发行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58839" y="3105722"/>
            <a:ext cx="424756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需先过筛选标准检验，不可作立项承诺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28700" y="3519107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51684" y="3519107"/>
            <a:ext cx="1065471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市场景气与接盘方存在、价格不低于账面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21792" y="3519107"/>
            <a:ext cx="618460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折价出售、损失确认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58839" y="3519107"/>
            <a:ext cx="42475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不宜作为政策项目默认路径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3938207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划转与长期自持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51684" y="3938207"/>
            <a:ext cx="1065471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有明确长期持有主体与预算安排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21792" y="3951542"/>
            <a:ext cx="618460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资产与补贴责任长期挂在国企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858839" y="3938207"/>
            <a:ext cx="424756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需锁定预算科目，否则属隐性挂账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311587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三条路径各有成立条件，不能同时承诺【研判推断】；REITs 非普遍可行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退出不通时，收储从准公共采购退化为准公共持有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平台责任边界：交付判据，不承担资产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857093" y="2748153"/>
            <a:ext cx="1124930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可承接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96096" y="2748153"/>
            <a:ext cx="661030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不可承接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3037713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5681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87591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9501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714113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3193923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需求与房源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57093" y="3193923"/>
            <a:ext cx="1124930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需求清单结构化与轮候匹配；房源准入评分与留痕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6096" y="3193923"/>
            <a:ext cx="66103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资产持有与资产负债表风险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8700" y="3613023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估值与改造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57093" y="3613023"/>
            <a:ext cx="1124930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可比估值与市场价偏离度测算；改造适配方案与改造单价成本库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6096" y="3613023"/>
            <a:ext cx="66103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政策性定价口径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8700" y="4032123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运营与测算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57093" y="4032123"/>
            <a:ext cx="1124930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运营数据采集与审计留痕；全周期测算与退出情景分析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6096" y="4032123"/>
            <a:ext cx="66103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租金或退出兜底承诺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8700" y="4451223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审批与发行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57093" y="4451223"/>
            <a:ext cx="1124930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提供可审计判据供决策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6096" y="4451223"/>
            <a:ext cx="661030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政府预算审批与财力风险；单方面出具合规结论；REITs 发行承销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一句话边界：平台交付可审计的判据，政府与国企承担资产与预算【研判推断】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三档判断与三条可证伪判据</a:t>
            </a:r>
            <a:endParaRPr lang="en-US" sz="4500" dirty="0"/>
          </a:p>
        </p:txBody>
      </p:sp>
      <p:sp>
        <p:nvSpPr>
          <p:cNvPr id="9" name="Shape 7"/>
          <p:cNvSpPr/>
          <p:nvPr/>
        </p:nvSpPr>
        <p:spPr>
          <a:xfrm>
            <a:off x="914400" y="3157157"/>
            <a:ext cx="254000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3385757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444812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801047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第一档 · 制度化条件可检验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4096322"/>
            <a:ext cx="1196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成立条件：年度采购清单、统一评估规则、公开的项目与运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143000" y="4201097"/>
            <a:ext cx="1196340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营数据三样同时出现，四项阈值可逐项打勾【研判推断】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3835400" y="3157157"/>
            <a:ext cx="254000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4000" y="3385757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44812"/>
            <a:ext cx="6565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64000" y="3801047"/>
            <a:ext cx="904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第二档 · 个案化处置延续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64000" y="4094417"/>
            <a:ext cx="90424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当前所在档。点状采购加地方年度计划滚动推进，规模取决于地方财</a:t>
            </a:r>
            <a:endParaRPr lang="en-US" sz="525" dirty="0"/>
          </a:p>
        </p:txBody>
      </p:sp>
      <p:sp>
        <p:nvSpPr>
          <p:cNvPr id="20" name="Text 18"/>
          <p:cNvSpPr/>
          <p:nvPr/>
        </p:nvSpPr>
        <p:spPr>
          <a:xfrm>
            <a:off x="4064000" y="4189667"/>
            <a:ext cx="9042400" cy="8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2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政而非需求强度；收储维持止跌功能，不产生回稳动力【研判推断】</a:t>
            </a:r>
            <a:endParaRPr lang="en-US" sz="525" dirty="0"/>
          </a:p>
        </p:txBody>
      </p:sp>
      <p:sp>
        <p:nvSpPr>
          <p:cNvPr id="21" name="Shape 19"/>
          <p:cNvSpPr/>
          <p:nvPr/>
        </p:nvSpPr>
        <p:spPr>
          <a:xfrm>
            <a:off x="6756400" y="3157157"/>
            <a:ext cx="2540000" cy="1362075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9525">
            <a:solidFill>
              <a:srgbClr val="DCE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5000" y="3385757"/>
            <a:ext cx="266700" cy="266700"/>
          </a:xfrm>
          <a:prstGeom prst="ellipse">
            <a:avLst/>
          </a:prstGeom>
          <a:solidFill>
            <a:srgbClr val="0E6A55"/>
          </a:solidFill>
          <a:ln/>
        </p:spPr>
      </p:sp>
      <p:sp>
        <p:nvSpPr>
          <p:cNvPr id="23" name="Text 21"/>
          <p:cNvSpPr/>
          <p:nvPr/>
        </p:nvSpPr>
        <p:spPr>
          <a:xfrm>
            <a:off x="1130300" y="3444812"/>
            <a:ext cx="1197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85000" y="3801047"/>
            <a:ext cx="6121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第三档 · 退化为准公共持有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85000" y="4098227"/>
            <a:ext cx="61214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最坏路径。触发条件：不设退出安排、补贴不进预算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985000" y="4222052"/>
            <a:ext cx="6121400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75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科目、运营数据不披露三者叠加【研判推断】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3530600" y="3838194"/>
            <a:ext cx="152400" cy="0"/>
          </a:xfrm>
          <a:prstGeom prst="line">
            <a:avLst/>
          </a:prstGeom>
          <a:noFill/>
          <a:ln w="14288">
            <a:solidFill>
              <a:srgbClr val="5A6B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83000" y="38000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A6B6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51600" y="3838194"/>
            <a:ext cx="152400" cy="0"/>
          </a:xfrm>
          <a:prstGeom prst="line">
            <a:avLst/>
          </a:prstGeom>
          <a:noFill/>
          <a:ln w="14288">
            <a:solidFill>
              <a:srgbClr val="5A6B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4000" y="3800094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A6B66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4800" dirty="0">
                <a:solidFill>
                  <a:srgbClr val="5A6B66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914400" y="60198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三条可证伪判据：预租锁定先于收购；审批路径清晰可预期；项目现金流可审计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观察指标七项与不确定性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28700" y="2176272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观察指标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0300" y="2176272"/>
            <a:ext cx="6896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观测口径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465832"/>
            <a:ext cx="103632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849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3040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7231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422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5613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9804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99532"/>
            <a:ext cx="103632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" y="26106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全市年度收购套数与收购金额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0300" y="26106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官方或决算口径，非报道口径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28700" y="30297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收购用途结构占比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0300" y="30297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是否由案例归纳升格为可比统计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8700" y="34488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单套改造成本与改造周期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0300" y="34488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同类型已完工项目结算均值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28700" y="38679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负carry 的实际承担方与预算科目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0300" y="38679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补贴是否进预算、是否与项目一一对应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42870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需求主体签约率与入住率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0300" y="42870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床位型单列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28700" y="47061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国企自建与委托第三方比例及付费方式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0300" y="47061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年度化服务费与一次性项目费分别统计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8700" y="5125212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REITs 或不动产基金实际发行数量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0300" y="5125212"/>
            <a:ext cx="6896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具体数字待核实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498592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口径不公开项一律不作推测：改造结算单价、运营费率、空置率、租金水平、各城市落地套数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郑州、杭州、武汉的分城市用途构成与收购决算数据暂缺，本稿不以推测替代证据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11250982" y="3875000"/>
            <a:ext cx="579764" cy="217412"/>
          </a:xfrm>
          <a:prstGeom prst="roundRect">
            <a:avLst>
              <a:gd name="adj" fmla="val 50000"/>
            </a:avLst>
          </a:prstGeom>
          <a:solidFill>
            <a:srgbClr val="55636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2020550" y="704850"/>
            <a:ext cx="190500" cy="190500"/>
          </a:xfrm>
          <a:prstGeom prst="ellipse">
            <a:avLst/>
          </a:prstGeom>
          <a:solidFill>
            <a:srgbClr val="8F6119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715750" y="819150"/>
            <a:ext cx="266700" cy="2667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9550" y="6457950"/>
            <a:ext cx="152400" cy="152400"/>
          </a:xfrm>
          <a:prstGeom prst="ellipse">
            <a:avLst/>
          </a:prstGeom>
          <a:solidFill>
            <a:srgbClr val="5F9E8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数据来源与口径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CEBE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CEBE5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CEBE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CEBE5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089404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38272" y="2089404"/>
            <a:ext cx="10468128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7441" y="2089404"/>
            <a:ext cx="9598959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在稿中的用途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14400" y="2378964"/>
            <a:ext cx="6019800" cy="0"/>
          </a:xfrm>
          <a:prstGeom prst="line">
            <a:avLst/>
          </a:prstGeom>
          <a:noFill/>
          <a:ln w="19050">
            <a:solidFill>
              <a:srgbClr val="0F1F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980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2171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6362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0553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4744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8935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312664"/>
            <a:ext cx="6019800" cy="0"/>
          </a:xfrm>
          <a:prstGeom prst="line">
            <a:avLst/>
          </a:prstGeom>
          <a:noFill/>
          <a:ln w="9525">
            <a:solidFill>
              <a:srgbClr val="DCEB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8700" y="25237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中房网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38272" y="25351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07441" y="25237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收购用途比例的公开案例归纳（非统一统计）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28700" y="2948559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吴晓波频道／新浪财经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38272" y="29542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07441" y="29428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收储「两本账」、上海以旧换新与用途改造案例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3619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腾讯新闻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38272" y="33733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07441" y="33619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深圳大学拟购楼作宿舍（金额口径）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8700" y="37810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中国政府网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638272" y="37924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07441" y="37810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政府工作报告「盘活存量商品房」方向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28700" y="42001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深圳市住建局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38272" y="42115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2026-04-30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07441" y="42001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住房发展年度计划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28700" y="46192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中国人民银行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38272" y="46306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2025-01-02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07441" y="4617339"/>
            <a:ext cx="95989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保障性住房再贷款支持比例调整（具体比例待补）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028700" y="5038344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新浪财经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638272" y="5049774"/>
            <a:ext cx="10468128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07441" y="5038344"/>
            <a:ext cx="959895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一线城市二手房收储案例与政策梳理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4400" y="5411724"/>
            <a:ext cx="121920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50%／20%／5% 为公开案例归纳，非统一统计，不可加总或推算全国规模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口径：深圳大学 5.336 亿元为披露金额口径，床位与单套折算待补；单床 35.6 万元、单位面积 0.24 万元／㎡ 为测算。标注体系：引用 / 测算 / 研判推断 / 待补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CEB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10300"/>
            <a:ext cx="12954000" cy="245745"/>
          </a:xfrm>
          <a:custGeom>
            <a:avLst/>
            <a:gdLst/>
            <a:ahLst/>
            <a:cxnLst/>
            <a:rect l="l" t="t" r="r" b="b"/>
            <a:pathLst>
              <a:path w="12954000" h="245745">
                <a:moveTo>
                  <a:pt x="0" y="114300"/>
                </a:moveTo>
                <a:lnTo>
                  <a:pt x="400050" y="114300"/>
                </a:lnTo>
                <a:lnTo>
                  <a:pt x="514350" y="146304"/>
                </a:lnTo>
                <a:lnTo>
                  <a:pt x="628650" y="0"/>
                </a:lnTo>
                <a:lnTo>
                  <a:pt x="742950" y="245745"/>
                </a:lnTo>
                <a:lnTo>
                  <a:pt x="876300" y="114300"/>
                </a:lnTo>
                <a:lnTo>
                  <a:pt x="1619250" y="114300"/>
                </a:lnTo>
                <a:lnTo>
                  <a:pt x="2019300" y="114300"/>
                </a:lnTo>
                <a:lnTo>
                  <a:pt x="2133600" y="146304"/>
                </a:lnTo>
                <a:lnTo>
                  <a:pt x="2247900" y="0"/>
                </a:lnTo>
                <a:lnTo>
                  <a:pt x="2362200" y="245745"/>
                </a:lnTo>
                <a:lnTo>
                  <a:pt x="2495550" y="114300"/>
                </a:lnTo>
                <a:lnTo>
                  <a:pt x="3238500" y="114300"/>
                </a:lnTo>
                <a:lnTo>
                  <a:pt x="3638550" y="114300"/>
                </a:lnTo>
                <a:lnTo>
                  <a:pt x="3752850" y="146304"/>
                </a:lnTo>
                <a:lnTo>
                  <a:pt x="3867150" y="0"/>
                </a:lnTo>
                <a:lnTo>
                  <a:pt x="3981450" y="245745"/>
                </a:lnTo>
                <a:lnTo>
                  <a:pt x="4114800" y="114300"/>
                </a:lnTo>
                <a:lnTo>
                  <a:pt x="4857750" y="114300"/>
                </a:lnTo>
                <a:lnTo>
                  <a:pt x="5257800" y="114300"/>
                </a:lnTo>
                <a:lnTo>
                  <a:pt x="5372100" y="146304"/>
                </a:lnTo>
                <a:lnTo>
                  <a:pt x="5486400" y="0"/>
                </a:lnTo>
                <a:lnTo>
                  <a:pt x="5600700" y="245745"/>
                </a:lnTo>
                <a:lnTo>
                  <a:pt x="5734050" y="114300"/>
                </a:lnTo>
                <a:lnTo>
                  <a:pt x="6477000" y="114300"/>
                </a:lnTo>
                <a:lnTo>
                  <a:pt x="6877050" y="114300"/>
                </a:lnTo>
                <a:lnTo>
                  <a:pt x="6991350" y="146304"/>
                </a:lnTo>
                <a:lnTo>
                  <a:pt x="7105650" y="0"/>
                </a:lnTo>
                <a:lnTo>
                  <a:pt x="7219950" y="245745"/>
                </a:lnTo>
                <a:lnTo>
                  <a:pt x="7353300" y="114300"/>
                </a:lnTo>
                <a:lnTo>
                  <a:pt x="8096250" y="114300"/>
                </a:lnTo>
                <a:lnTo>
                  <a:pt x="8496300" y="114300"/>
                </a:lnTo>
                <a:lnTo>
                  <a:pt x="8610600" y="146304"/>
                </a:lnTo>
                <a:lnTo>
                  <a:pt x="8724900" y="0"/>
                </a:lnTo>
                <a:lnTo>
                  <a:pt x="8839200" y="245745"/>
                </a:lnTo>
                <a:lnTo>
                  <a:pt x="8972550" y="114300"/>
                </a:lnTo>
                <a:lnTo>
                  <a:pt x="9715500" y="114300"/>
                </a:lnTo>
                <a:lnTo>
                  <a:pt x="10115550" y="114300"/>
                </a:lnTo>
                <a:lnTo>
                  <a:pt x="10229850" y="146304"/>
                </a:lnTo>
                <a:lnTo>
                  <a:pt x="10344150" y="0"/>
                </a:lnTo>
                <a:lnTo>
                  <a:pt x="10458450" y="245745"/>
                </a:lnTo>
                <a:lnTo>
                  <a:pt x="10591800" y="114300"/>
                </a:lnTo>
                <a:lnTo>
                  <a:pt x="11334750" y="114300"/>
                </a:lnTo>
                <a:lnTo>
                  <a:pt x="11734800" y="114300"/>
                </a:lnTo>
                <a:lnTo>
                  <a:pt x="11849100" y="146304"/>
                </a:lnTo>
                <a:lnTo>
                  <a:pt x="11963400" y="0"/>
                </a:lnTo>
                <a:lnTo>
                  <a:pt x="12077700" y="245745"/>
                </a:lnTo>
                <a:lnTo>
                  <a:pt x="12211050" y="114300"/>
                </a:lnTo>
                <a:lnTo>
                  <a:pt x="12954000" y="114300"/>
                </a:lnTo>
              </a:path>
            </a:pathLst>
          </a:custGeom>
          <a:noFill/>
          <a:ln w="19050">
            <a:solidFill>
              <a:srgbClr val="8F611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38662" y="3511698"/>
            <a:ext cx="828040" cy="276013"/>
          </a:xfrm>
          <a:prstGeom prst="roundRect">
            <a:avLst>
              <a:gd name="adj" fmla="val 50000"/>
            </a:avLst>
          </a:prstGeom>
          <a:solidFill>
            <a:srgbClr val="0E6A55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771" y="-4366587"/>
            <a:ext cx="552485" cy="207182"/>
          </a:xfrm>
          <a:prstGeom prst="roundRect">
            <a:avLst>
              <a:gd name="adj" fmla="val 50000"/>
            </a:avLst>
          </a:prstGeom>
          <a:solidFill>
            <a:srgbClr val="5F9E8C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01475" y="1133475"/>
            <a:ext cx="209550" cy="209550"/>
          </a:xfrm>
          <a:prstGeom prst="ellipse">
            <a:avLst/>
          </a:prstGeom>
          <a:solidFill>
            <a:srgbClr val="55636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685800"/>
            <a:ext cx="342900" cy="342900"/>
          </a:xfrm>
          <a:prstGeom prst="ellipse">
            <a:avLst/>
          </a:prstGeom>
          <a:noFill/>
          <a:ln w="15240">
            <a:solidFill>
              <a:srgbClr val="0E6A55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" y="304800"/>
            <a:ext cx="152400" cy="152400"/>
          </a:xfrm>
          <a:prstGeom prst="ellipse">
            <a:avLst/>
          </a:prstGeom>
          <a:solidFill>
            <a:srgbClr val="8F611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0" y="4572000"/>
            <a:ext cx="2667000" cy="2286000"/>
          </a:xfrm>
          <a:prstGeom prst="rect">
            <a:avLst/>
          </a:prstGeom>
          <a:solidFill>
            <a:srgbClr val="0E6A55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5715000"/>
            <a:ext cx="1333500" cy="1143000"/>
          </a:xfrm>
          <a:prstGeom prst="rect">
            <a:avLst/>
          </a:prstGeom>
          <a:solidFill>
            <a:srgbClr val="8F6119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8F611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1277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E6A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10000" y="163830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</a:t>
            </a:r>
            <a:endParaRPr lang="en-US" sz="9000" dirty="0"/>
          </a:p>
        </p:txBody>
      </p:sp>
      <p:sp>
        <p:nvSpPr>
          <p:cNvPr id="14" name="Text 12"/>
          <p:cNvSpPr/>
          <p:nvPr/>
        </p:nvSpPr>
        <p:spPr>
          <a:xfrm>
            <a:off x="3810000" y="287655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F1F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endParaRPr lang="en-US" sz="9000" dirty="0"/>
          </a:p>
        </p:txBody>
      </p:sp>
      <p:sp>
        <p:nvSpPr>
          <p:cNvPr id="15" name="Shape 13"/>
          <p:cNvSpPr/>
          <p:nvPr/>
        </p:nvSpPr>
        <p:spPr>
          <a:xfrm>
            <a:off x="3810000" y="4743450"/>
            <a:ext cx="7467600" cy="0"/>
          </a:xfrm>
          <a:prstGeom prst="line">
            <a:avLst/>
          </a:prstGeom>
          <a:noFill/>
          <a:ln w="13335">
            <a:solidFill>
              <a:srgbClr val="DCEBE5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