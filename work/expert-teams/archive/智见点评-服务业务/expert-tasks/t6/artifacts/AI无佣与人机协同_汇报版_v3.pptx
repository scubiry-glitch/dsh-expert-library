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经调整经营利润率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上年同期（测算）</c:v>
                </c:pt>
                <c:pt idx="1">
                  <c:v>本期（引用）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6.1</c:v>
                </c:pt>
                <c:pt idx="1">
                  <c:v>14.6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宋体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 val="0"/>
        <c:axPos val="l"/>
        <c:majorGridlines>
          <c:spPr>
            <a:ln>
              <a:solidFill>
                <a:srgbClr val="D6DC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【来源全表】新浪财经、中房网、钛媒体、证券时报、人民网、新华社、澎湃新闻、21 财经、北京商报、36 氪、虎嗅、亿欧（2025-09—2026-09 公开报道）；海外制度描述为公开报道口径、未经独立核验。封面。开场只给一句主基调：这是成本承担权之争。四格数字全部来自二季度披露与同源声明，口径已在每格下方标注。提醒听众：一边有利润表，一边有说明书，两者当前不可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五条判断按「性质—因果—缺口—结构—趋同」排。第三条是全场最该记住的：缺的不是责任共识，是责任合同。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结论页。四格：主基调、性质不对称、因果摆正、渠道与趋同。因果那格是本稿相对旧版的最大修订。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事实页。只放可核验的公开节点；人民网 8-24 的 Q2 数值未下发，明确标【待补】不补数。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证据页。左边是原生可编辑图表，轴上限 15%，两条绘图高度分别是 40.7% 与 97.3%，几何来自数据本身。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成本树是全文骨架。核验一格的错配最典型：AI 可以给结论，赔偿责任落不到算法头上。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方法论页。剥离之后不给倍数结论，只给用法：方向性证据，不作估值输入，不外推行业。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对称性检查：上一页剥离在位方的 6 倍，这一页剥离挑战方的三项证据；分级只用文字，不给权重百分比。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责任矩阵（3×4，第四列第三方机构承担见 PDF 全文）。纵轴定生死：责任落点比模型能力强弱重要得多。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三处断点里，第三处（资金安全）比佣金高低严重得多：掌握信息流却不承担持牌责任。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制度钥匙两把：居间与委托分开谈；独权代理与数据共享的基础设施。收尾落在建议责任与履约责任分证管理。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把结论落到场景：租赁做纯 AI、普通二手人机混合、高复杂由人主导。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合规三题：中立宣传、第三方履约、数据偏差。第二题里关联交易是「中立智能体」叙事最脆弱的一环。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四项前置条件+一项基础设施条件。这一页也是「趋同」为什么只能算边界条件的原因。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可证伪预言是这份研究最有价值的部分：它把「谁对谁错」变成未来 12 个月可查的观测点。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收尾。边界条件写成可证伪形式：如果零佣方公布完整价目与运营数据，本稿的核心因果判断需重估。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观察面板是下一次复核清单，共十项，其中制度类三项、结构类一项。刻意不设数值阈值。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留痕页。未采用数字留痕是防编造声明，必须随稿保留：四个未核实或量级估算的数值全部列出并说明为何不引用。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957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783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B9C4D6"/>
                </a:solidFill>
                <a:latin typeface="Times New Roman"/>
                <a:ea typeface="宋体"/>
                <a:cs typeface="宋体"/>
              </a:rPr>
              <a:t>98wiki ｜ 智见点评 · 行业研究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B9C4D6"/>
                </a:solidFill>
                <a:latin typeface="Times New Roman"/>
                <a:ea typeface="宋体"/>
                <a:cs typeface="宋体"/>
              </a:rPr>
              <a:t>居住服务 ｜ 正式稿 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EF2F9"/>
                </a:solidFill>
                <a:latin typeface="Times New Roman"/>
                <a:ea typeface="宋体"/>
                <a:cs typeface="宋体"/>
              </a:rPr>
              <a:t>AI 无佣与人机协同：成本承担权之争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82496"/>
            <a:ext cx="1105783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B9C4D6"/>
                </a:solidFill>
                <a:latin typeface="Times New Roman"/>
                <a:ea typeface="宋体"/>
                <a:cs typeface="宋体"/>
              </a:rPr>
              <a:t>三笔账记在谁的资产负债表上，决定这个业态的最终形状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751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B9C4D6"/>
                </a:solidFill>
                <a:latin typeface="Times New Roman"/>
                <a:ea typeface="宋体"/>
                <a:cs typeface="宋体"/>
              </a:rPr>
              <a:t>框架：通用四段式　｜　口径：全国（易居、贝壳业务口径）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B9C4D6"/>
                </a:solidFill>
                <a:latin typeface="Times New Roman"/>
                <a:ea typeface="宋体"/>
                <a:cs typeface="宋体"/>
              </a:rPr>
              <a:t>时段：2025-09 — 2026-09　｜　2026-09-16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15184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615184"/>
            <a:ext cx="45720" cy="78638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724912"/>
            <a:ext cx="10655503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「每一分收入由谁承担，错一单由谁负责。」</a:t>
            </a:r>
            <a:r>
              <a:rPr sz="16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模型是外生的、人人可得；三笔账是内生的、谁也无法白拿。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84448"/>
            <a:ext cx="2668447" cy="1481328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712463"/>
            <a:ext cx="2375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245 亿元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114800"/>
            <a:ext cx="2375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二季度净收入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700016"/>
            <a:ext cx="2375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引用｜2026-08-21 业绩披露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3391" y="3584448"/>
            <a:ext cx="2668447" cy="1481328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9695" y="3712463"/>
            <a:ext cx="2375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14.6%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695" y="4114800"/>
            <a:ext cx="2375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经调整经营利润率，同比 +8.5 个百分点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9695" y="4700016"/>
            <a:ext cx="2375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引用｜利润 35.9 亿元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9855" y="3584448"/>
            <a:ext cx="2668447" cy="1481328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6159" y="3712463"/>
            <a:ext cx="2375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9338 亿元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6159" y="4114800"/>
            <a:ext cx="2375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二季度总成交额，同比增长 6.3%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6159" y="4700016"/>
            <a:ext cx="2375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引用｜二手单量同比 +25%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6319" y="3584448"/>
            <a:ext cx="2668447" cy="1481328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2623" y="3712463"/>
            <a:ext cx="2375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2.26 亿套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2623" y="4114800"/>
            <a:ext cx="2375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楼盘字典覆盖（挑战方自述口径）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2623" y="4700016"/>
            <a:ext cx="2375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引用｜2026-05-28 同源声明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数据来源：12 家公开报道（详见报告来源页）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标注口径：【引用】／【测算】／【研判推断】／【待补】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卷首速览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五条判断：性质、因果、缺口、结构、趋同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一页读完：主基调与当前最大的验证缺口。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73936"/>
            <a:ext cx="36576" cy="78638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01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性质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83664"/>
            <a:ext cx="963137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两条路线不对称：零佣＋按项收费是进攻型重构；武装经纪人是防守型提效。一个在存量佣金池里提效，一个在攻击佣金池本身【研判推断】。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33472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633472"/>
            <a:ext cx="36576" cy="78638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761488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因果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2743200"/>
            <a:ext cx="963137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责任划分不清不是「零佣」未获验证的原因，而是它尚未签约的症状：不想承担履约责任，所以只能不收佣金。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93008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493008"/>
            <a:ext cx="36576" cy="78638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2102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0512" y="3602736"/>
            <a:ext cx="963137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三件可查实物均为【待补】：按项价目与验收标准、履约主体资质与独立性、运营数据（成本／完成率／纠纷率／退费率）。缺的不是责任共识，是责任合同。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352544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352544"/>
            <a:ext cx="36576" cy="78638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480559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结构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0512" y="4462272"/>
            <a:ext cx="963137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渠道会变重，不是变轻；服务者向权属风险、复杂谈判、家庭共同决策三段上移，而非被替代。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212079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212079"/>
            <a:ext cx="36576" cy="786384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340095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趋同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10512" y="5321807"/>
            <a:ext cx="963137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「趋同」是边界条件，不是主基调；以「零佣方是否公布按项收费价目表与验收条款」为标志，并需四项制度前置条件。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来源：本报告关键性结论（渲染源 v3）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本页含【研判推断】与【待补】标注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关键性结论：成本承担权之争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分水岭只有一句：每一分收入由谁承担，错一单由谁负责。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5428335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506257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主基调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错误建议的责任、线下履约的成本、冷启动的补贴，三笔账记在谁的资产负债表上，决定这个业态的最终形状。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模型是外生的、人人可得；三笔账是内生的、谁也无法白拿。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1773936"/>
            <a:ext cx="5428335" cy="210312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9311" y="1920240"/>
            <a:ext cx="506257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两条路线不对称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「零佣＋按项收费」：入口定价权的进攻型重构，赌注在按项收费能否覆盖核验与履约成本【研判推断】。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「武装经纪人」：单件履约成本的防守型提效，收益落在经纪人留存与股东利润率上【研判推断】。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78224"/>
            <a:ext cx="5428335" cy="173736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224528"/>
            <a:ext cx="50625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因果顺序必须摆正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纯居间模式下责任恰恰是清晰的：报告机会、不担结果，履约责任清晰地留在平台之外。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把因果倒过来，会以为补一份责任清单就能验证零佣。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4078224"/>
            <a:ext cx="5428335" cy="17373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9311" y="4224528"/>
            <a:ext cx="50625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渠道与趋同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渠道会变重，不是变轻；服务者向权属风险、复杂谈判、家庭共同决策三段上移。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「趋同」是边界条件，需四项制度前置条件同时具备【研判推断】。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来源：本报告关键性结论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观点标注【研判推断】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关键事实：一边抽走脑力环节，一边改写履约成本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两家方向相反且互不冲突。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5428335" cy="23774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50625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挑战方：易居·小新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2026-05-27/28 提出「AI 做居间，成交无佣；服务凭专业，按劳计费」。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楼盘字典超 2.26 亿套【引用】；同源明确「运营数据不足」【引用】。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2026-06-16 钛媒体列五项落地难关；2026-09-08 珠海启动买卖双方公测【引用】。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被抽走的恰是四项无法律责任的脑力环节，核验与签约留在体系外。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1773936"/>
            <a:ext cx="5428335" cy="237744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9311" y="1920240"/>
            <a:ext cx="50625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在位方：贝壳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2026-03-29 撤南北大区，改设十大直属区域，3000 名干部下一线【引用】。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2026-05-08 重仓服务者，52 万经纪人改称「社区客户经理」【引用】。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2026-08-17 线上服务助手成交效率提升 6 倍（北京单城、2026-03 试点、近 10 万人次、AI＋人工）【引用】。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2026-08-21 二季度量、利润、人效同向。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352544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480560"/>
            <a:ext cx="106555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时间轴关键点：</a:t>
            </a: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03-29 组织先动 → 05-08 身份改写 → 05-27/28 挑战方入场 → 06-16 落地难关 → 08-17 效率指标 → 08-21 利润表 → 09-08 进入公测。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来源：21 财经、36 氪、虎嗅；新浪财经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人民网 08-24 的 Q2 数值未下发，不补数【待补】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图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二季度经营质量：利润率对比条与自洽校验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纵轴为经调整经营利润率（%），零轴起算，条高 = 数值 ÷ 坐标域上限 15%。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828800"/>
          <a:ext cx="566928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37376" y="1828800"/>
            <a:ext cx="5187391" cy="1316736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6" y="1975104"/>
            <a:ext cx="4821631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同比差额 +8.5 个百分点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14.6% − 8.5 个百分点 = 6.1%【测算】。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改善是量、利润、人效同向出现的，不是单点指标。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37376" y="3273552"/>
            <a:ext cx="5187391" cy="157276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6" y="3419856"/>
            <a:ext cx="4821631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自洽校验【测算】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经调整经营利润 35.9 ÷ 净收入 245 ≈ 14.7%（保留一位小数），与披露 14.6% 一致，差异属舍入。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两项均为正文引用数字的算术派生，见文末附图数据说明。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来源：二季度业绩披露 2026-08-21（公开报道口径，非审计口径）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本页不含新造数字；派生项标注【测算】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全流程成本树：AI 只压一段，不压全链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八段；可压缩性与刚性与否为定性判断【研判推断】，不赋权重、不编数值。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73936"/>
          <a:ext cx="1105783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732"/>
                <a:gridCol w="3618929"/>
                <a:gridCol w="2111041"/>
                <a:gridCol w="2211567"/>
                <a:gridCol w="2211567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环节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主要成本项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AI 可压缩性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成本承担方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刚性／错配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获客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流量采买、线索分发、门店转化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高（可变成本）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平台／门店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非刚性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核验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产权、查封、共有、欠费、学位占用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低（仅做预检）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须具名持牌人签字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刚性；错配最典型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匹配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楼盘字典、推荐、带看路径规划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高（边际最低）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平台／算法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非刚性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谈判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价格与条款博弈、情绪管理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低（责任关系密集）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服务者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刚性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带看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现场时间、交通、钥匙门禁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低—中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门店／服务者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刚性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按揭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资质预审、银行对接、材料合规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中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平台＋金融机构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半刚性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过户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网签、税费、登记、资金监管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中（流程化不可容错）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居间机构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刚性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售后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交房、维修、纠纷兜底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低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品牌方／机构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刚性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175504"/>
            <a:ext cx="11057839" cy="658368"/>
          </a:xfrm>
          <a:prstGeom prst="roundRect">
            <a:avLst>
              <a:gd name="adj" fmla="val 6000"/>
            </a:avLst>
          </a:prstGeom>
          <a:solidFill>
            <a:srgbClr val="E7ECF4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285232"/>
            <a:ext cx="1065550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结构判断：</a:t>
            </a: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AI 压缩集中在前四段的可变成本；核验签字、带看、售后三段是刚性成本，只改变由谁承担，不因模型变强而消失【研判推断】。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 3.1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核验分项数额无公开数据【待补】；定性判断不赋权重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「6 倍效率」的三重剥离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三重混淆未剥离，该数字仅作节点效率指标。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11057839" cy="1005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1883664"/>
            <a:ext cx="102897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分母口径限定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分母为「经线上服务助手深度沟通后流转至经纪人的客户」，非全部客源，存在选择偏差；服务本身是「AI＋人工」，名义倍数已混入人工贡献【引用】。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71215"/>
            <a:ext cx="11057839" cy="1005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01752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980944"/>
            <a:ext cx="102897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同期三项变动叠加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2026-03-29 组织调整压缩管理层级；二季度二手房单量同比增长 25% 的分母效应；企业自述、无第三方复核。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68496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E7ECF4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096511"/>
            <a:ext cx="10655503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剥离后的用法：</a:t>
            </a: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不可归因 AI，不可外推全链条成本；在补出「未使用 AI 服务者人效」对照组之前，只作方向性证据【研判推断】。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来源：证券时报、人民网；新浪财经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结论为【研判推断】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挑战方证据分级与重估阈值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三者混为「已验证模式」属引用越界。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11057839" cy="859536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01952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2.26 亿套楼盘字典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31136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事实 · 成本结构证据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956816"/>
            <a:ext cx="69247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房源数据结构化已接近完成，搜寻环节的信息成本会持续下降。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24912"/>
            <a:ext cx="11057839" cy="859536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852928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「成交无佣」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182112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定位 · 定价策略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907792"/>
            <a:ext cx="69247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不是已验证的经济模型；可以今天宣布，代价必须明天兑付。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675887"/>
            <a:ext cx="11057839" cy="859536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803903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「运营数据不足」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133087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自陈的模型缺口 · 最弱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58768"/>
            <a:ext cx="69247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按现证据判定：「零佣」是产品定位而非已验证经济模型【研判推断】。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663440"/>
            <a:ext cx="11057839" cy="804672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791455"/>
            <a:ext cx="1065550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重估阈值：</a:t>
            </a: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连续 2 个季度不披露可核验的成交／运营数据，即判定为营销定位。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来源：中房网、钛媒体、证券时报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分级为【研判推断】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责任边界矩阵：纵轴定生死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横轴＝谁给出建议；纵轴＝谁承担履约结果。判断一个模式能否成立只看纵轴。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11057839" cy="566928"/>
          </a:xfrm>
          <a:prstGeom prst="roundRect">
            <a:avLst>
              <a:gd name="adj" fmla="val 6000"/>
            </a:avLst>
          </a:prstGeom>
          <a:solidFill>
            <a:srgbClr val="E7ECF4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83664"/>
            <a:ext cx="10692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读法：</a:t>
            </a:r>
            <a:r>
              <a:rPr sz="1200" b="0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横轴换多少次模型，都不改变纵轴上的责任落点。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468880"/>
          <a:ext cx="11057837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567"/>
                <a:gridCol w="3232291"/>
                <a:gridCol w="2892050"/>
                <a:gridCol w="2721929"/>
              </a:tblGrid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建议责任＼履约责任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平台承担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持牌履约方承担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服务者个人承担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纯 AI 建议（无人工复核）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会计上成立、法律上高风险：须同时具备履约资质与赔付能力（挑战方当前形态）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须逐项签署委托与验收条款；平台沦为引流方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不成立：责任链断裂处即纠纷起点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AI 建议＋持牌经纪人复核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人机协同最可能的稳态：平台担算法与数据责任（在位方路线方向）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合同层须明确「谁签字谁担责」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须配套建议日志与执业保险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纯人工建议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平台仅提供信息基础设施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传统居间形态，责任清晰但成本不摊薄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传统形态，个人信用即风险敞口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 3.4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矩阵判断均为【研判推断】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责任链条的三处断点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最需要盯的三处，也是纠纷的起点。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11057839" cy="10607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20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5" y="1901952"/>
            <a:ext cx="10198303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建议与签字分离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AI 给建议、人签字，若建议日志不可追溯，签字的持牌人承担了非自己生成的判断，责任与权力不匹配。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26080"/>
            <a:ext cx="11057839" cy="10607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07238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3054096"/>
            <a:ext cx="10198303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按项收费无验收标准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按项收费在法律上是把一份佣金拆成 N 份服务合同，每份都需要验收标准、失败退费与赔付上限，否则退化为「收费按项、责任不按项」【研判推断】。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78224"/>
            <a:ext cx="11057839" cy="10607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224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5" y="4206240"/>
            <a:ext cx="10198303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资金安全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若按揭材料、监管资金与过户材料经第三方之手而平台掌握信息流，平台获得资金池影响力却无持牌责任，这一项比佣金高低严重得多。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 3.4（责任链条断点）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第②条为【研判推断】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制度钥匙：居间与委托分开谈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费用没有消失，只是换了主体承担。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5428335" cy="2157984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5062575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第一把钥匙：居间 vs 委托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居间只报告机会、不承担结果责任；委托代理才对结果负责。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纯居间模式下「零佣」在会计上成立，原因不是「责任不清」，而是责任清晰地留在平台之外，平台同时放弃了履约报酬。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一旦要为核验、过户、纠纷兜底，费用必然回来。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1773936"/>
            <a:ext cx="5428335" cy="215798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9311" y="1920240"/>
            <a:ext cx="5062575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第二把钥匙：基础设施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中国缺少独权代理与跨市场数据共享（MLS）这一层基础设施。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没有它，所有「去佣金」尝试都会退化为费率战——费率之争的底层是责任之争【研判推断】。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落点：建议责任与履约责任分证管理。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133087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261104"/>
            <a:ext cx="106555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操作落点：</a:t>
            </a: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AI 仅限信息核验与标准化咨询；权属、按揭、签约须由具名持牌人签署并强制投保。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 3.5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海外对标为公开报道口径、未经独立核验，仅作方向性对比，不落数字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3.6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三类交易场景路线选择器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同一套技术在三种责任结构下的不同结论。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73936"/>
          <a:ext cx="11057837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378"/>
                <a:gridCol w="4607432"/>
                <a:gridCol w="4976027"/>
              </a:tblGrid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场景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特征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路线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租赁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标准化最高、单笔金额小、重复率高、纠纷集中于押金与维修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纯 AI 可先跑通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普通二手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含核验、赎楼、按揭三项持牌环节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人机混合是唯一稳态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高复杂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继承析产、共有产权、法拍、家庭决策分歧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人主导；AI 的价值是把信息整理到家庭能吵得下去，不是替家庭决策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 3.6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场景归类为【研判推断】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3.7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合规风险三题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把「中立」从形容词变成规则条款与披露义务，它才是资产。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11057839" cy="10607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2024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1901952"/>
            <a:ext cx="10180015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「算法中立」宣传的合规风险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至少要拆成三份可验证承诺：算法规则可审计、利益关系披露、数据来源可追溯（2.26 亿套是覆盖广度，覆盖广度不等于准确性）【研判推断】。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26080"/>
            <a:ext cx="11057839" cy="10607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07238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3054096"/>
            <a:ext cx="10180015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第三方履约的合规风险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责任切割（「系统说的」不能成为免责事由）、验收与失败退还、资金与个人信息合规；若履约方与平台关联，按项收费实质是集团内利润转移，会同时触发关联交易披露与「中立」自相矛盾。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78224"/>
            <a:ext cx="11057839" cy="10607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22452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4206240"/>
            <a:ext cx="10180015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数据偏差风险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偏差不在覆盖量，而在四类系统性偏差：时效偏差、口径偏差、样本偏差、激励偏差；能被技术缓解，不能被「零佣」消灭【研判推断】。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 3.7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判断为【研判推断】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3.8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趋同的四项制度前置条件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趋同不是模型问题，是责任可分配性问题，四项缺一不可【研判推断】。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2654731" cy="219456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3255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9424"/>
            <a:ext cx="23255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建议可追溯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79776"/>
            <a:ext cx="232554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每条 AI 建议挂责任主体、数据依据与时效，把「双责任主体」从模糊变可追责。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7963" y="1773936"/>
            <a:ext cx="2654731" cy="219456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2555" y="1920240"/>
            <a:ext cx="23255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2555" y="2249424"/>
            <a:ext cx="23255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价目与验收条款公开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2555" y="2779776"/>
            <a:ext cx="232554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公开价目、验收标准、失败退费与赔付上限，这也是 Q1 的观测点。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8999" y="1773936"/>
            <a:ext cx="2654731" cy="219456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3591" y="1920240"/>
            <a:ext cx="23255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3591" y="2249424"/>
            <a:ext cx="23255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履约主体独立且有资质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3591" y="2779776"/>
            <a:ext cx="232554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履约方须持对应资质并披露与平台的利益关系；平台不宜既是规则制定者又是履约者。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035" y="1773936"/>
            <a:ext cx="2654731" cy="219456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627" y="1920240"/>
            <a:ext cx="23255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627" y="2249424"/>
            <a:ext cx="23255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数据质量强制标准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627" y="2779776"/>
            <a:ext cx="232554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去重规则、时效上限、来源标注、纠错机制可审计：闭环的真实性纪律靠自律，公共的真实性纪律靠制度。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169664"/>
            <a:ext cx="11057839" cy="8229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279392"/>
            <a:ext cx="10655503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另有一项行业基础设施条件：</a:t>
            </a: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独家委托合同（独权代理）采用率。若仍接近零，趋同只能以费率战的方式完成——这是「趋同」的最坏路径【研判推断】。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 3.8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条件与判断为【研判推断】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3.9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Q1—Q5 可证伪预言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把判断写成可被反证的形式。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73936"/>
          <a:ext cx="11057837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110"/>
                <a:gridCol w="3955649"/>
                <a:gridCol w="2337429"/>
                <a:gridCol w="3955649"/>
              </a:tblGrid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编号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预言内容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观测点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判定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Q1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零佣方合同出现按项收费价目与验收退费条款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合同与官网，12 个月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未出现→支持营销定位；出现且能覆盖履约成本→本判断被反证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Q2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「中立」转为可审计排序规则与利益披露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平台规则页，半年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无→「中立」是合规敞口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Q3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履约主体取得资质且独立于平台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资质公示，事件驱动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无→按项收费合法性弱于吸引力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Q4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保险公司对「AI 居间建议」承保并定价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保险产品，事件驱动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可保性是当代最重要的制度信号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Q5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独家委托合同采用率仍接近零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行业协会或抽样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接近零→成本重组无从谈起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 3.9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判定列为【研判推断】；Q1 覆盖率口径为【测算】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收尾：三条洞察、不确定性、两条边界条件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责任机制重构；挤出不是提效；规模不带来摊销。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0195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洞察 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1883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责任机制重构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883664"/>
            <a:ext cx="69247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行业要从关系型撮合转向可追溯的履约，「谁签字、谁赔付」必须从业务话术变成合同条款。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33472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761488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洞察 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743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挤出不是提效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743200"/>
            <a:ext cx="69247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若经纪人净流出而人均人效上升，那是挤出，不是提效。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93008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621024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洞察 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8" y="360273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规模不带来摊销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602736"/>
            <a:ext cx="69247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核验、带看、过户是随单量线性增长的人力成本，这是纯 AI 路线的天花板所在。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07407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498848"/>
            <a:ext cx="10655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9C4A38"/>
                </a:solidFill>
                <a:latin typeface="Times New Roman"/>
                <a:ea typeface="宋体"/>
                <a:cs typeface="宋体"/>
              </a:rPr>
              <a:t>边界① 零佣方不公开按项履约价目、不软化「无佣」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则 4—6 个季度内「趋同」不再成立。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12079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303520"/>
            <a:ext cx="10655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9C4A38"/>
                </a:solidFill>
                <a:latin typeface="Times New Roman"/>
                <a:ea typeface="宋体"/>
                <a:cs typeface="宋体"/>
              </a:rPr>
              <a:t>边界② 监管按「流程合规」而非「资格资质」确权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则居间责任分类价值下降；「2026—2027 年内无可承保零佣模型」需同步下修（以强制执业责任保险落地为条件）。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来源：本报告收尾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挑战方运营与赔付数据无公开来源【待补】；6 倍不可外推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4—6 季度观察面板（十项）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观察期设定为【研判推断】；重估阈值为定性判读，未披露指标不新造数值。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73936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603"/>
                <a:gridCol w="3317351"/>
                <a:gridCol w="2211567"/>
                <a:gridCol w="4678316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维度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指标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口径／频次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重估阈值</a:t>
                      </a:r>
                    </a:p>
                  </a:txBody>
                  <a:tcPr anchor="ctr" marL="73152" marR="73152" marT="18288" marB="18288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定价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按项收费价目表与验收标准是否公布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官方发布，季度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公布→收敛启动；连续 2 季度不披露→判营销定位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效率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人机交接率（AI 可端到端完成占比）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企业或第三方，季度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交接率升而返工率同升→人机混岗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成本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单均全链条成本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分母＝完整成交单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只披露节点倍数→视为营销口径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人效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人均成交套数与服务者净留存率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财报／调研，季度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净流出＋人效升→挤出而非提效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渗透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AI 使用服务者覆盖率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企业口径，季／半年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≥50%，须区分强制与自愿使用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风险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核验纠纷率、赔付金额、返工率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诉讼与投诉抽样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搜寻成本降而返工率升→履约成本转移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制度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居间责任分类与强制 E&amp;O／保证金规则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监管文件，事件驱动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出台→责任分证管理落地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制度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AI 建议责任归属的处罚或判例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监管／司法，事件驱动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出现判例→定价权重估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制度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「AI 居间建议」可保性与承保定价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保险产品，事件驱动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不可承保→履约承诺无兜底（Q4）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0F1A2E"/>
                          </a:solidFill>
                          <a:latin typeface="Times New Roman"/>
                          <a:ea typeface="宋体"/>
                          <a:cs typeface="宋体"/>
                        </a:rPr>
                        <a:t>结构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独家委托合同采用率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行业协会或抽样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15C"/>
                          </a:solidFill>
                          <a:latin typeface="Times New Roman"/>
                          <a:ea typeface="宋体"/>
                          <a:cs typeface="宋体"/>
                        </a:rPr>
                        <a:t>接近零→MLS 式成本重组无从谈起（Q5）</a:t>
                      </a:r>
                    </a:p>
                  </a:txBody>
                  <a:tcPr anchor="ctr" marL="73152" marR="73152" marT="18288" marB="18288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来源：本报告 4.2（十项观察面板）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含新增项：可保性、独家委托采用率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来源与留痕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B3A6B"/>
                </a:solidFill>
                <a:latin typeface="Times New Roman"/>
                <a:ea typeface="宋体"/>
                <a:cs typeface="宋体"/>
              </a:rPr>
              <a:t>来源、标注口径与未采用数字留痕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20116"/>
          </a:xfrm>
          <a:prstGeom prst="rect">
            <a:avLst/>
          </a:prstGeom>
          <a:solidFill>
            <a:srgbClr val="A9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未采用数字留痕随稿保留。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5428335" cy="20116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506257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标注口径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【引用】公开报道；【测算】模型推算；【研判推断】分析性判断；【待补】数据不可得、进观察面板不补编。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图 1 两项条高与自洽校验均为正文引用数字的算术派生，标注【测算】。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1773936"/>
            <a:ext cx="5428335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9311" y="1920240"/>
            <a:ext cx="506257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数据来源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新浪财经、中房网、钛媒体、证券时报、人民网、新华社、澎湃新闻、21 财经、北京商报、36 氪、虎嗅、亿欧（2025-09—2026-09 公开报道）。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海外制度描述为公开报道口径、未经独立核验。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986783"/>
            <a:ext cx="11057839" cy="1700784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114800"/>
            <a:ext cx="1065550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A2E"/>
                </a:solidFill>
                <a:latin typeface="Times New Roman"/>
                <a:ea typeface="宋体"/>
                <a:cs typeface="宋体"/>
              </a:rPr>
              <a:t>未采用数字留痕（防编造）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①「存量住房资产 250 万亿元」未核到可靠来源（可核第三方为 2021 年口径约 418 万亿元，时点差异大），正文改用「存量流通」表述；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②「核验约 40 项」无公开权威清单，改为定性列举；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415C"/>
                </a:solidFill>
                <a:latin typeface="Times New Roman"/>
                <a:ea typeface="宋体"/>
                <a:cs typeface="宋体"/>
              </a:rPr>
              <a:t>③人均年成交 2—3 单、套均 400 万元、费率 2.5—3%、单位可变成本降 10—20% 均系量级估算，正式稿不引用具体数值，仅保留方法框架。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825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免责：行业研究，不构成投资建议；测算／研判推断非官方统计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1727" y="638251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A6880"/>
                </a:solidFill>
                <a:latin typeface="Times New Roman"/>
                <a:ea typeface="宋体"/>
                <a:cs typeface="宋体"/>
              </a:rPr>
              <a:t>智见点评 · 服务业务　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12648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5E12"/>
                </a:solidFill>
                <a:latin typeface="Times New Roman"/>
                <a:ea typeface="宋体"/>
                <a:cs typeface="宋体"/>
              </a:rPr>
              <a:t>本报告未新造数字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