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开场说明数据口径与正式稿性质：本页为封面。核心信息：成都二手房进入底部区域但未确认；判定交给量价连续三个月交叉验证。数据时段 2025-09 至 2026-08，城市级二手房，成交价为贝壳交付口径而非挂牌价；8 月疑似未完月。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卷首速览页：四象限（价格/量能/结构/节奏）+ 三个记忆点。强调两处口径提醒：带看与成交量的“量能端证据为零”；8 月为疑似未完月，只作方向参考。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双侧证据并置是本篇方法：价格端跌幅收窄（-19.7%→-9.4%）说明最陡一段已过；但量能端（带看 -27%、8 月疑似腰斩）尚未企稳。结论：底部区域成立、右侧未确认。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节奏判断：基准情形为 L 型低位磨底。三个情形都给了可证伪的触发条件：上行要 9-10 月旺季站回万套；下修触发线是 6,000 套或带看深跌。强调政策脉冲只持续 1-2 个月，不能当作见底信号。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价格侧：同比降幅从 -19.7% 收窄到 -9.4% 是最大正面证据；但 7 月指数环比 -1.1%、8 月价格环比 -1.7% 打破 6-7 月企稳。本图只展示两个同质口径锚点，中间月份未披露，柱长按满刻度 -19.7% 绘制。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量能侧是本篇最弱的一环：3 月 12,849 套的回暖被随后四个月连降证伪；8 月 4,507 套疑似腰斩但属未完月，不能单月定生死。带看同比 -27% 说明需求端仍在收缩。量在价先，量能止跌是确认底部的前提。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供给侧出现正面信号：新增挂牌同比转负意味着业主惜售、供给先出清。去化周期存在 6.8 与 30 个月两个口径，差在僵尸挂牌剔除规则，引用时必须说明取哪个边界。降价榜集中在 500 万以上高端盘，是“挂牌向成交收敛”的过程，跟踪指标是大额调价案例是否连续两个月消失。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五项确认条件全部量化：量能 8,000 套/月×3 个月、指数环比止稳、高端大降价案例消失、带看同比回 -10% 内、去化回落 6.5 个月内。说明 7 月 -1.1% 是价格条件的最新反例；去化项需要先修复口径（6.8 个月 vs 30 个月的分母定义）。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三类决策按风险结构给建议：刚需开始看但不必抢跑、以小区真实成交价为锚；业主不在带看 -27% 时点砸盘、一次定价到位，500 万以上正视双压；置换结构最优，先卖后买，高端大调价是谈判窗口。所有建议都以“近三个月同小区成交价”为锚，而非城市均价。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五条防误导清单防止误读：单月不作数、个案不等于城市、两套成交口径不可跨比、政策脉冲不等于见底、挂牌降价是收敛而非崩盘。对外沟通时优先引用这五条，避免以偏概全。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收尾页：统一披露口径与来源；六个补数观察项需要后续数据（8 月终值、去化分母定义、分总价段时序等）；免责声明：行业研究不构成投资建议，所有预测为研判推断。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A9C1EC"/>
                </a:solidFill>
                <a:latin typeface="微软雅黑"/>
                <a:ea typeface="微软雅黑"/>
              </a:rPr>
              <a:t>98wiki ｜ 智见 · 行业研究报告　|　智见点评 · 特定问题 / 目标城市形势判断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8C47C"/>
                </a:solidFill>
                <a:latin typeface="微软雅黑"/>
                <a:ea typeface="微软雅黑"/>
              </a:rPr>
              <a:t>正式稿 FINAL　·　数据截至 2026-08（8 月疑似未完月）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成都二手房：已入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000" b="1" i="0">
                <a:solidFill>
                  <a:srgbClr val="E8C47C"/>
                </a:solidFill>
                <a:latin typeface="微软雅黑"/>
                <a:ea typeface="微软雅黑"/>
              </a:rPr>
              <a:t>“底部区域”</a:t>
            </a: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6D6F2"/>
                </a:solidFill>
                <a:latin typeface="微软雅黑"/>
                <a:ea typeface="微软雅黑"/>
              </a:rPr>
              <a:t>底部尚未确认成立：距离“确认见底”还差一步，这一步是量能止跌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E8C47C"/>
                </a:solidFill>
                <a:latin typeface="微软雅黑"/>
                <a:ea typeface="微软雅黑"/>
              </a:rPr>
              <a:t>主基调 KEYNOTE：</a:t>
            </a:r>
            <a:r>
              <a:rPr sz="1250" b="0" i="0">
                <a:solidFill>
                  <a:srgbClr val="DFE8F9"/>
                </a:solidFill>
                <a:latin typeface="微软雅黑"/>
                <a:ea typeface="微软雅黑"/>
              </a:rPr>
              <a:t>价格端证据过半，量能端证据为零；判定交给量价连续三个月的交叉验证。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11,756 元/㎡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2026-08 二手成交均价（贝壳交付·城市级）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-9.2%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12 个月累计跌幅（2025-09→2026-08）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-9.4%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2026-08 同比（2025-12 曾 -19.7%）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81.1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贝壳指数 2026-07（2018-11=100，较基期 -19%）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FA9D6"/>
                </a:solidFill>
                <a:latin typeface="微软雅黑"/>
                <a:ea typeface="微软雅黑"/>
              </a:rPr>
              <a:t>口径：成交价=政研通贝壳交付（城市级均价，非挂牌价）；指数=贝壳官方房价指数（重复交易法，2018-11=100）；预测类表述为研判推断/估算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30 秒读完 · 卷首速览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一句话：接近见底，未到确认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四组关键数字 + 三个记忆点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E9EF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D5BD8"/>
                </a:solidFill>
                <a:latin typeface="微软雅黑"/>
                <a:ea typeface="微软雅黑"/>
              </a:rPr>
              <a:t>价格端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同比跌幅收窄过半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-19.7% → -9.4%（2025-12 → 2026-08）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FAF3E3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B07A17"/>
                </a:solidFill>
                <a:latin typeface="微软雅黑"/>
                <a:ea typeface="微软雅黑"/>
              </a:rPr>
              <a:t>量能端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证据为零，先行指标仍弱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带看同比 -27%；8 月成交 4,507 套（-41%，未完月）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FBEFEC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结构端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高端补跌未完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降价榜清一色 500 万以上，4-6 月集中上架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ECF5F0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E7A55"/>
                </a:solidFill>
                <a:latin typeface="微软雅黑"/>
                <a:ea typeface="微软雅黑"/>
              </a:rPr>
              <a:t>节奏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L 型磨底，非 V 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基准：Q4 月成交 6,000~9,000 套（估算）；2027H1 或见右侧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11183112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1071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多视角研判收敛：</a:t>
            </a:r>
            <a:r>
              <a:rPr sz="1200" b="0" i="0">
                <a:solidFill>
                  <a:srgbClr val="3A465C"/>
                </a:solidFill>
                <a:latin typeface="微软雅黑"/>
                <a:ea typeface="微软雅黑"/>
              </a:rPr>
              <a:t>成都二手处于跌幅收窄的减速下行段；底部区域成立、右侧信号未现。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4223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记忆点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11480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跌速砍半 ≠ 下跌结束：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拐点要连续三个月交叉验证，单月不作数（3 月 12,849 套的“回暖”已被连降证伪）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10328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记忆点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001768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均价会骗人，同质口径的指数更可信：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均价 -9.2% 含低价段占比上升的结构扰动；1-4 月百万以内占比过半（53.9% / 52.4%）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161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记忆点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88873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降价榜是探针，不是警报：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挂牌向成交收敛未走完=下跌未尽；跟踪：500 万以上大调价新案例是否连 2 个月消失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问题① · 是否接近见底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结论：接近见底，距离确认还差“量能止跌”一步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支持与反对的依据同栏并列，都来自同一套数据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9EFFA"/>
          </a:solidFill>
          <a:ln w="9525">
            <a:solidFill>
              <a:srgbClr val="B9C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E46B8"/>
                </a:solidFill>
                <a:latin typeface="微软雅黑"/>
                <a:ea typeface="微软雅黑"/>
              </a:rPr>
              <a:t>成都二手房价接近见底。</a:t>
            </a:r>
            <a:r>
              <a:rPr sz="1350" b="0" i="0">
                <a:solidFill>
                  <a:srgbClr val="141D31"/>
                </a:solidFill>
                <a:latin typeface="微软雅黑"/>
                <a:ea typeface="微软雅黑"/>
              </a:rPr>
              <a:t>已过急跌段、右侧未到：处于跌幅收窄的减速下行段——底部区域成立、右侧信号未现，</a:t>
            </a:r>
            <a:r>
              <a:rPr sz="1350" b="1" i="0">
                <a:solidFill>
                  <a:srgbClr val="1E46B8"/>
                </a:solidFill>
                <a:latin typeface="微软雅黑"/>
                <a:ea typeface="微软雅黑"/>
              </a:rPr>
              <a:t>确认需等量能止跌。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E46B8"/>
                </a:solidFill>
                <a:latin typeface="微软雅黑"/>
                <a:ea typeface="微软雅黑"/>
              </a:rPr>
              <a:t>支持接近底部的依据（价格端过半）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A33D2F"/>
                </a:solidFill>
                <a:latin typeface="微软雅黑"/>
                <a:ea typeface="微软雅黑"/>
              </a:rPr>
              <a:t>反对确认的依据（量能端）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54864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523951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成交价同比由 2025-12 的 -19.7% 收窄至 2026-08 的 -9.4%；12 个月累计 -9.2%（12,943→11,756 元/㎡）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贝壳指数月环比 3-6 月收窄至 -0.4%~+0.1%，4 月一度转正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新增挂牌同比自 4 月转负、7 月 -14.8%：供给先于价格出清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降价榜集中在 500 万以上高端盘，低总价刚需段未现大规模调价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8006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7 月指数环比 -1.1%、8 月成交价环比 -1.7%：6-7 月的企稳被打破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带看自 3 月 27.6 万连降至 7 月 17.2 万、同比 -27%（先行指标）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8 月成交 4,507 套、同比 -41%（未完月，仅方向参考）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量在价先：量未企稳，“见底”只是价格侧推测，不是双侧确认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704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边界：</a:t>
            </a:r>
            <a:r>
              <a:rPr sz="1100" b="0" i="0">
                <a:solidFill>
                  <a:srgbClr val="66738C"/>
                </a:solidFill>
                <a:latin typeface="微软雅黑"/>
                <a:ea typeface="微软雅黑"/>
              </a:rPr>
              <a:t>8 月为疑似未完月（目录更新 2026-07-11），不能单月定生死；城市均价不代表具体小区/房源。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问题② · 未来 6-12 个月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低位磨底：L 型而非 V 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三种情形的触发条件与验证时点 · 区间为估算（研判推断）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21024" cy="3246120"/>
          </a:xfrm>
          <a:prstGeom prst="roundRect">
            <a:avLst>
              <a:gd name="adj" fmla="val 5500"/>
            </a:avLst>
          </a:prstGeom>
          <a:solidFill>
            <a:srgbClr val="E9EF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636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基准情形 · 研判推断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41D31"/>
                </a:solidFill>
                <a:latin typeface="微软雅黑"/>
                <a:ea typeface="微软雅黑"/>
              </a:rPr>
              <a:t>低位磨底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2026Q4 月成交在 6,000~9,000 套区间波动（估算，7 月 7,764 套为参考）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贝壳指数围绕 80 点窄幅震荡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高端盘零星补跌、幅度收窄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621024" cy="3246120"/>
          </a:xfrm>
          <a:prstGeom prst="roundRect">
            <a:avLst>
              <a:gd name="adj" fmla="val 5500"/>
            </a:avLst>
          </a:prstGeom>
          <a:solidFill>
            <a:srgbClr val="ECF5F0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5636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A55"/>
                </a:solidFill>
                <a:latin typeface="微软雅黑"/>
                <a:ea typeface="微软雅黑"/>
              </a:rPr>
              <a:t>上行确认情形 · 研判推断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87451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41D31"/>
                </a:solidFill>
                <a:latin typeface="微软雅黑"/>
                <a:ea typeface="微软雅黑"/>
              </a:rPr>
              <a:t>2027H1 或见右侧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3774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9-10 月旺季月成交回到万套上方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新增挂牌同比续负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最早确认窗口：2027-03 小阳春（对照基数最有利）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1" y="1417320"/>
            <a:ext cx="3621024" cy="3246120"/>
          </a:xfrm>
          <a:prstGeom prst="roundRect">
            <a:avLst>
              <a:gd name="adj" fmla="val 5500"/>
            </a:avLst>
          </a:prstGeom>
          <a:solidFill>
            <a:srgbClr val="FBEFEC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5636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33D2F"/>
                </a:solidFill>
                <a:latin typeface="微软雅黑"/>
                <a:ea typeface="微软雅黑"/>
              </a:rPr>
              <a:t>下修情形 · 研判推断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87451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41D31"/>
                </a:solidFill>
                <a:latin typeface="微软雅黑"/>
                <a:ea typeface="微软雅黑"/>
              </a:rPr>
              <a:t>底部后移 1-2 个季度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3774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月成交跌破 6,000 套，或带看深跌不止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底部后移至 2027 年下半年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量能止缩后需再观察一个季度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183112" cy="86868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B07A17"/>
                </a:solidFill>
                <a:latin typeface="微软雅黑"/>
                <a:ea typeface="微软雅黑"/>
              </a:rPr>
              <a:t>政策只造 1-2 个月脉冲：</a:t>
            </a:r>
            <a:r>
              <a:rPr sz="1200" b="0" i="0">
                <a:solidFill>
                  <a:srgbClr val="3A465C"/>
                </a:solidFill>
                <a:latin typeface="微软雅黑"/>
                <a:ea typeface="微软雅黑"/>
              </a:rPr>
              <a:t>4 月指数环比转正被 7 月 -1.1% 证伪即为实例。政策落地不是确认信号——效力以落地后 2-3 个月的量能持续性检验。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数据侧写 A · 价格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跌幅收窄一半，磨底未完成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两个同质口径锚点（贝壳交付·成交价，同比）；中间月份未逐月披露，仅连锚点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636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同比降幅：2025-12 最深 → 2026-08 收窄约一半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2025-12 同比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79"/>
            <a:ext cx="6766560" cy="384048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2011679"/>
            <a:ext cx="6766560" cy="384048"/>
          </a:xfrm>
          <a:prstGeom prst="roundRect">
            <a:avLst>
              <a:gd name="adj" fmla="val 50000"/>
            </a:avLst>
          </a:prstGeom>
          <a:solidFill>
            <a:srgbClr val="7E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95681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41D31"/>
                </a:solidFill>
                <a:latin typeface="微软雅黑"/>
                <a:ea typeface="微软雅黑"/>
              </a:rPr>
              <a:t>-19.7%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2026-08 同比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724912"/>
            <a:ext cx="6766560" cy="384048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1760" y="2724912"/>
            <a:ext cx="3227649" cy="384048"/>
          </a:xfrm>
          <a:prstGeom prst="roundRect">
            <a:avLst>
              <a:gd name="adj" fmla="val 50000"/>
            </a:avLst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6700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41D31"/>
                </a:solidFill>
                <a:latin typeface="微软雅黑"/>
                <a:ea typeface="微软雅黑"/>
              </a:rPr>
              <a:t>-9.4%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3A465C"/>
                </a:solidFill>
                <a:latin typeface="微软雅黑"/>
                <a:ea typeface="微软雅黑"/>
              </a:rPr>
              <a:t>12 个月累计 -9.2%（12,943 → 11,756 元/㎡）；近三月环比：2026-06 -2.4%、07 +0.1%、08 -1.7%。</a:t>
            </a:r>
            <a:r>
              <a:rPr sz="1050" b="1" i="0">
                <a:solidFill>
                  <a:srgbClr val="A33D2F"/>
                </a:solidFill>
                <a:latin typeface="微软雅黑"/>
                <a:ea typeface="微软雅黑"/>
              </a:rPr>
              <a:t>8 月疑似未完月。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口径：城市级均价（贝壳交付），不代表具体小区/房源；图注：柱长按 -19.7% 满刻度绘制。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贝壳官方房价指数（重复交易法，2018-11=100）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453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2026-07 点位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E46B8"/>
                </a:solidFill>
                <a:latin typeface="微软雅黑"/>
                <a:ea typeface="微软雅黑"/>
              </a:rPr>
              <a:t>81.1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148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较基期累计 -19%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6" y="43434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4453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同比（较一年前）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E46B8"/>
                </a:solidFill>
                <a:latin typeface="微软雅黑"/>
                <a:ea typeface="微软雅黑"/>
              </a:rPr>
              <a:t>-10.3%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5148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7 月环比 -1.1%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1" y="43434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3" y="4453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3-6 月环比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3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E46B8"/>
                </a:solidFill>
                <a:latin typeface="微软雅黑"/>
                <a:ea typeface="微软雅黑"/>
              </a:rPr>
              <a:t>-0.4% ~ +0.1%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3" y="5148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4 月一度转正（后被证伪）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7332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B07A17"/>
                </a:solidFill>
                <a:latin typeface="微软雅黑"/>
                <a:ea typeface="微软雅黑"/>
              </a:rPr>
              <a:t>判断：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跌速砍半 ≠ 下跌结束；7 月 -1.1% 说明磨底未完成。量价打架时以同质口径指数为准。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数据侧写 B · 量能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小阳春脉冲被证伪：量能连降四个月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3 月峰值 → 7 月回落 → 8 月疑似腰斩（未完月，虚线示意）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2084831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12k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743200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8k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401568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4k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4050792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593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103120"/>
            <a:ext cx="1371600" cy="1965960"/>
          </a:xfrm>
          <a:prstGeom prst="roundRect">
            <a:avLst>
              <a:gd name="adj" fmla="val 18000"/>
            </a:avLst>
          </a:prstGeom>
          <a:solidFill>
            <a:srgbClr val="2D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7922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1D31"/>
                </a:solidFill>
                <a:latin typeface="微软雅黑"/>
                <a:ea typeface="微软雅黑"/>
              </a:rPr>
              <a:t>12,849 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A465C"/>
                </a:solidFill>
                <a:latin typeface="微软雅黑"/>
                <a:ea typeface="微软雅黑"/>
              </a:rPr>
              <a:t>2026-03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6738C"/>
                </a:solidFill>
                <a:latin typeface="微软雅黑"/>
                <a:ea typeface="微软雅黑"/>
              </a:rPr>
              <a:t>同比 +7.8%（小阳春峰值）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881640"/>
            <a:ext cx="1371600" cy="1187439"/>
          </a:xfrm>
          <a:prstGeom prst="roundRect">
            <a:avLst>
              <a:gd name="adj" fmla="val 18000"/>
            </a:avLst>
          </a:prstGeom>
          <a:solidFill>
            <a:srgbClr val="7F9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5707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1D31"/>
                </a:solidFill>
                <a:latin typeface="微软雅黑"/>
                <a:ea typeface="微软雅黑"/>
              </a:rPr>
              <a:t>7,764 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1422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A465C"/>
                </a:solidFill>
                <a:latin typeface="微软雅黑"/>
                <a:ea typeface="微软雅黑"/>
              </a:rPr>
              <a:t>2026-07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434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6738C"/>
                </a:solidFill>
                <a:latin typeface="微软雅黑"/>
                <a:ea typeface="微软雅黑"/>
              </a:rPr>
              <a:t>同比 -2.8%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79028"/>
            <a:ext cx="1371600" cy="690051"/>
          </a:xfrm>
          <a:prstGeom prst="roundRect">
            <a:avLst>
              <a:gd name="adj" fmla="val 18000"/>
            </a:avLst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0681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1D31"/>
                </a:solidFill>
                <a:latin typeface="微软雅黑"/>
                <a:ea typeface="微软雅黑"/>
              </a:rPr>
              <a:t>4,507 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1422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A465C"/>
                </a:solidFill>
                <a:latin typeface="微软雅黑"/>
                <a:ea typeface="微软雅黑"/>
              </a:rPr>
              <a:t>2026-08*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434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6738C"/>
                </a:solidFill>
                <a:latin typeface="微软雅黑"/>
                <a:ea typeface="微软雅黑"/>
              </a:rPr>
              <a:t>同比 -41%（疑似未完月）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18888"/>
            <a:ext cx="11183112" cy="11704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A465C"/>
                </a:solidFill>
                <a:latin typeface="微软雅黑"/>
                <a:ea typeface="微软雅黑"/>
              </a:rPr>
              <a:t>带看量（先行指标）同向走弱：2026-03 27.6 万客户 → 07 17.2 万，连降 4 个月，7 月同比 -27%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1E46B8"/>
                </a:solidFill>
                <a:latin typeface="微软雅黑"/>
                <a:ea typeface="微软雅黑"/>
              </a:rPr>
              <a:t>量在价先：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量能未企稳则“见底”只是价格侧推测。8 月目录更新于 2026-07-11，疑似未完月、仅方向参考，先等终值再判断是否击穿 7,000 套警戒（待补）。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数据侧写 C · 供给与高端降价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供给先出清；高端补跌未完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新增挂牌转负是价格先行的供给信号；降价榜是下跌探针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新增挂牌（7 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45,733 → 32,268 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3 月峰值 → 7 月；同比自 4 月起转负，7 月 -14.8%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平台在售存量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≈24.2 万套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月成交约 8 千套 → 供需流量比约 4:1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去化周期（2026-07）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6.8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去年同月 6.1；分档：&lt;6 偏热 / 6-12 中性偏冷 / 12-24 冷 / &gt;24 极冷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百万以内成交占比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过半（1-4 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贝壳西南 53.9% / 中指 52.4%；2025 全年 48.16%（刚需=市场主力）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2783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33D2F"/>
                </a:solidFill>
                <a:latin typeface="微软雅黑"/>
                <a:ea typeface="微软雅黑"/>
              </a:rPr>
              <a:t>口径提示（重要）：</a:t>
            </a:r>
            <a:r>
              <a:rPr sz="1100" b="0" i="0">
                <a:solidFill>
                  <a:srgbClr val="66738C"/>
                </a:solidFill>
                <a:latin typeface="微软雅黑"/>
                <a:ea typeface="微软雅黑"/>
              </a:rPr>
              <a:t>去化 6.8 个月与「24.2 万套 ÷ 月成交约 8 千套 ≈ 30 个月」差约五倍，差在僵尸挂牌剔除规则：6.8 月取乐观边界、30 月取悲观边界；分母定义明确前不作确认信号（研判推断）。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11183112" cy="384048"/>
          </a:xfrm>
          <a:prstGeom prst="roundRect">
            <a:avLst>
              <a:gd name="adj" fmla="val 50000"/>
            </a:avLst>
          </a:prstGeom>
          <a:solidFill>
            <a:srgbClr val="0B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73075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高端盘降价榜（挂牌价口径 · 贝壳平台）：下跌的探针，不是警报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银泰中心·某房源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累计 -1,700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约 -24%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建发浅水湾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累计 -1,680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约 -43%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35624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4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金林半岛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-700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数百万级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中航云岭二期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-500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数百万级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2064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判读：</a:t>
            </a:r>
            <a:r>
              <a:rPr sz="1100" b="0" i="0">
                <a:solidFill>
                  <a:srgbClr val="3A465C"/>
                </a:solidFill>
                <a:latin typeface="微软雅黑"/>
                <a:ea typeface="微软雅黑"/>
              </a:rPr>
              <a:t>挂牌降幅远超成交均价累计跌幅，是挂牌向成交收敛（收敛未完=下跌未尽）；但高端补跌也常是“最后一跌”形态。跟踪法：500 万以上累计降幅超 15% 的新案例是否连续 2 个月消失。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52159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样本结构：清一色总价 500 万以上改善/高端盘，上架集中于 2026 年 4-6 月；个案不等于城市信号。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把“感觉见底”换成可验证阈值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底部确认 = 以下五项信号齐备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全部阈值可检验 · 预测标注研判推断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① 量能企稳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5819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政研通（贝壳交付·城市级）月成交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636776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连续 3 个月 ≥ 8,000 套且不创新低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6916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验证 3 个月；8 月先等终值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76856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5973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② 价格右侧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500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贝壳指数（重复交易法）月环比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404872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连续 3 个月 ≥ -0.2% ~ -0.3% 且不创新低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59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最早 2026-11 判定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44952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③ 高端退潮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11810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贝壳降价榜（挂牌价口径）500 万以上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17296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累计降幅 &gt; 15% 新案例连续 2 个月消失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278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2-3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13048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959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④ 带看回暖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886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贝壳带看（先行指标）同比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41063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回到 -10% 以内或转正（当前 -27%）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9959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2 个月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81144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640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⑤ 去化回落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65429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去化周期（口径修复前置）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709159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回到 6.5 个月以内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7640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季度观察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440679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33D2F"/>
                </a:solidFill>
                <a:latin typeface="微软雅黑"/>
                <a:ea typeface="微软雅黑"/>
              </a:rPr>
              <a:t>反例提醒：</a:t>
            </a:r>
            <a:r>
              <a:rPr sz="1100" b="0" i="0">
                <a:solidFill>
                  <a:srgbClr val="3A465C"/>
                </a:solidFill>
                <a:latin typeface="微软雅黑"/>
                <a:ea typeface="微软雅黑"/>
              </a:rPr>
              <a:t>7 月指数环比 -1.1% 是②的直接反例；去化项在口径修复（僵尸挂牌剔除规则）前不作确认信号。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问题③ · 三类决策落点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刚需：可以开始看，不必抢跑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每类都给出定价锚与边界条件（正式稿）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21024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21024" cy="566928"/>
          </a:xfrm>
          <a:prstGeom prst="roundRect">
            <a:avLst>
              <a:gd name="adj" fmla="val 5000"/>
            </a:avLst>
          </a:prstGeom>
          <a:solidFill>
            <a:srgbClr val="2D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刚需买入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32918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急跌段已过，余下是阴跌而非暴跌风险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百万以内占比过半：刚需正是市场主力，议价空间仍在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定价锚=目标小区近三个月真实成交价，不是城市均价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等 9-10 月量能验证后定签约节奏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" y="5184648"/>
            <a:ext cx="3328416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230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66738C"/>
                </a:solidFill>
                <a:latin typeface="微软雅黑"/>
                <a:ea typeface="微软雅黑"/>
              </a:rPr>
              <a:t>边界：城市均价企稳 ≠ 目标房源同步企稳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417320"/>
            <a:ext cx="3621024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8536" y="1417320"/>
            <a:ext cx="3621024" cy="566928"/>
          </a:xfrm>
          <a:prstGeom prst="roundRect">
            <a:avLst>
              <a:gd name="adj" fmla="val 5000"/>
            </a:avLst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业主卖出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148840"/>
            <a:ext cx="32918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不在带看 -27% 的时点恐慌砸盘，也不高挂慢降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约 4:1 流量比下，流动性比挂牌价重要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定价锚=近三个月同小区成交价，不是买入价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一次到位、诚实定价是最快卖出策略；500 万以上正视补跌缩量双压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5184648"/>
            <a:ext cx="3328416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5230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66738C"/>
                </a:solidFill>
                <a:latin typeface="微软雅黑"/>
                <a:ea typeface="微软雅黑"/>
              </a:rPr>
              <a:t>边界：挂牌大降价≠崩盘，是挂牌向成交收敛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1" y="1417320"/>
            <a:ext cx="3621024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74151" y="1417320"/>
            <a:ext cx="3621024" cy="566928"/>
          </a:xfrm>
          <a:prstGeom prst="roundRect">
            <a:avLst>
              <a:gd name="adj" fmla="val 5000"/>
            </a:avLst>
          </a:prstGeom>
          <a:solidFill>
            <a:srgbClr val="2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置换（结构最优）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148840"/>
            <a:ext cx="32918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买卖两端过去 12 个月同跌约 9%：价差成本收窄、摩擦成本低位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先卖后买：旧房按成交价而非预期价定价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买入端盯“好地段+好产品”；高端盘大幅调价正是谈判窗口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5" y="5184648"/>
            <a:ext cx="3328416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5230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66738C"/>
                </a:solidFill>
                <a:latin typeface="微软雅黑"/>
                <a:ea typeface="微软雅黑"/>
              </a:rPr>
              <a:t>前置约束：旧房流动性 + 新标的品质鉴别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读数据前先看这里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防误导清单：五条铁律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防止把个案当城市、把口径混着比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单月不等于拐点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563624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3 月 12,849 套（+7.8%）被随后四个月连降证伪；8 月未完月同样不能单月定生死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95728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95728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个案不等于城市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42032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银泰中心式个案不构成城市信号；核心矛盾是约 24.2 万套在售存量与约 4:1 供需流量比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74136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74136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93008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3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口径不能混用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520440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公开报道 4 月成都二手网签 24,498 套、二手市占率约 80%，量级约为题供贝壳口径春季峰值的两倍；全网签 vs 平台活跃成交不可跨口径比绝对量，趋势只用同比/环比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52544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52544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71416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政策不等于见底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498848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效力以落地后 2-3 个月量能持续性检验；4 月指数转正被 7 月 -1.1% 证伪即为实例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30952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330952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49824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5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挂牌大降价不等于崩盘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477256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是挂牌向成交的收敛；收敛未完恰是下跌未尽的证据，见底反而要等它走完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来源披露 · 补数路径 · 免责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口径与后续观察项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正式稿 · 仅留数据来源；预测为研判推断 / 估算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成都二手房形势研判（正式稿 · 2026-09-05）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1" i="0">
                <a:solidFill>
                  <a:srgbClr val="141D31"/>
                </a:solidFill>
                <a:latin typeface="微软雅黑"/>
                <a:ea typeface="微软雅黑"/>
              </a:rPr>
              <a:t>数据口径：</a:t>
            </a: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成交价=政研通·贝壳交付数据（城市级均价，非挂牌价，2025-09~2026-08）；指数=贝壳官方房价指数（重复交易法，2018-11=100）；在售存量/新增挂牌/带看/降价榜=贝壳平台检索（挂牌价口径）。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80" b="1" i="0">
                <a:solidFill>
                  <a:srgbClr val="A33D2F"/>
                </a:solidFill>
                <a:latin typeface="微软雅黑"/>
                <a:ea typeface="微软雅黑"/>
              </a:rPr>
              <a:t>2026-08 疑似未完月</a:t>
            </a: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（目录更新于 2026-07-11），仅方向参考。外部交叉来源（仅量级/结构背景，与题供口径分列未混用）：新浪财经转载《成都房产发布》（2026-05-12）。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补数路径（后续观察项）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29000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520440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① 分总价段量价时序：检验“跌幅收窄=低价段占比上升”结构假象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3429000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3520440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② 8 月全月终值：是否击穿 7,000 套量能警戒（待补）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95928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087368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③ 去化周期分母定义：活跃挂牌剔除规则（待补）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3995928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4087368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④ 高端盘逐案核对：挂牌虚高回落 vs 真实下修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62856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654296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⑤ 新房对照系：二手底部依赖新房停止以价换量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4562856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4654296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⑥ 转化与折扣指标：抗季节干扰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0B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589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行业研究，不构成投资建议；测算/估算/研判推断非官方统计。数字为城市级口径，不代表具体小区或房源。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框架：用户视角五层（结论→记忆点→条件清单→补数→防误导→决策落点）；主基调为“底部区域、未确认”，分歧仅在确认节奏与信号标准，偏离观点降级为边界条件/风险提示。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