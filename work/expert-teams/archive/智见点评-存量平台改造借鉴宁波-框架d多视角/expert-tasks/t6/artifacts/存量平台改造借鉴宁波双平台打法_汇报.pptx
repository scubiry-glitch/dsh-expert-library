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开场：向行领导汇报存量平台改造方案。一句话定调——宁波银行从0到1新建双平台，我行从1到N改造存量，学逻辑不学形态。数据口径：苏银研究院第17期（2026H1半年报）、量子教育会议纪要（2026-08-26）、宁波银行官方公开资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核心结论页：先给结论再讲论据。800万月活是现成底座，宁波用17.6万企业用户撬动2000亿对公理财与85%代理类中收，本质差距是转化率。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数据页：四项对比必须讲清量纲。营收+11.54%、净利+12.12%、两项收入增速18.2% vs 我行11%。代理类49.9亿高我行29.1亿。私行4206亿占29.4% vs 2552亿/13.9%。对公理财2000亿+ vs 658亿。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样板页：宁波=从0到1新建双平台，直接面向对公/代发客户；江苏本地已跑通，南京能做各分行就能做。双平台团队阿里/字节社招、单岗年薪百万级——成本结构不照抄。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学什么页：四条逻辑逐条展开。强调独立运营的人才机制成本高，但我们用存量团队+能力采购，底座必须是自己的。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架构页：一个入口、两条转化链、公私联动。私行客户走重渠道，任务入口只做触达与预约。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试点页：两场景并行90天。试点A测转化率，试点B测留存沉淀渗透。试点即止损闸门——不达标回调打法，避免全面铺开。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验收页：核心是业务沉淀而非注册数。对标宁波活期占比35.57%、代理类占中收85%的结构校准路径。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风险页：第一组为合规与底线（checklist），第二组为不确定性与趋势（numbered）。所有预测性表述均为研判推断。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结语：存量平台改造不是短期冲规模，而是以长期主义重构客户经营体系——把苏银生活从生活服务平台升级为资源整合与转化平台，实现资金中介向资源中介升级，支撑双提升。数据来源：苏银研究院第17期（宁波银行2026H1半年报口径）、量子教育会议纪要（2026-08-26）、宁波银行官方公开资料；行内商密仅聚合口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ap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n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2"/>
          </a:solidFill>
          <a:ln/>
        </p:spPr>
      </p:sp>
      <p:sp>
        <p:nvSpPr>
          <p:cNvPr id="3" name="Shape 1"/>
          <p:cNvSpPr/>
          <p:nvPr/>
        </p:nvSpPr>
        <p:spPr>
          <a:xfrm>
            <a:off x="914400" y="1066800"/>
            <a:ext cx="228600" cy="228600"/>
          </a:xfrm>
          <a:prstGeom prst="ellipse">
            <a:avLst/>
          </a:prstGeom>
          <a:solidFill>
            <a:srgbClr val="7A5A0E"/>
          </a:solidFill>
          <a:ln/>
        </p:spPr>
      </p:sp>
      <p:sp>
        <p:nvSpPr>
          <p:cNvPr id="4" name="Text 2"/>
          <p:cNvSpPr/>
          <p:nvPr/>
        </p:nvSpPr>
        <p:spPr>
          <a:xfrm>
            <a:off x="1371600" y="1051560"/>
            <a:ext cx="11734800" cy="3657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051C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江苏银行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0077450" y="952500"/>
            <a:ext cx="1200150" cy="457200"/>
          </a:xfrm>
          <a:prstGeom prst="roundRect">
            <a:avLst>
              <a:gd name="adj" fmla="val 8333"/>
            </a:avLst>
          </a:prstGeom>
          <a:noFill/>
          <a:ln w="19050">
            <a:solidFill>
              <a:srgbClr val="051C2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077450" y="952500"/>
            <a:ext cx="76200" cy="457200"/>
          </a:xfrm>
          <a:prstGeom prst="rect">
            <a:avLst/>
          </a:prstGeom>
          <a:solidFill>
            <a:srgbClr val="7A5A0E"/>
          </a:solidFill>
          <a:ln/>
        </p:spPr>
      </p:sp>
      <p:sp>
        <p:nvSpPr>
          <p:cNvPr id="7" name="Text 5"/>
          <p:cNvSpPr/>
          <p:nvPr/>
        </p:nvSpPr>
        <p:spPr>
          <a:xfrm>
            <a:off x="9296400" y="1049655"/>
            <a:ext cx="2895600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950" dirty="0">
                <a:solidFill>
                  <a:srgbClr val="051C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Internal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914400" y="2426970"/>
            <a:ext cx="11277600" cy="960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300" b="1" dirty="0">
                <a:solidFill>
                  <a:srgbClr val="051C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存量平台改造借鉴宁波双平</a:t>
            </a:r>
            <a:endParaRPr lang="en-US" sz="6300" dirty="0"/>
          </a:p>
        </p:txBody>
      </p:sp>
      <p:sp>
        <p:nvSpPr>
          <p:cNvPr id="9" name="Text 7"/>
          <p:cNvSpPr/>
          <p:nvPr/>
        </p:nvSpPr>
        <p:spPr>
          <a:xfrm>
            <a:off x="914400" y="3293745"/>
            <a:ext cx="11277600" cy="960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300" b="1" dirty="0">
                <a:solidFill>
                  <a:srgbClr val="051C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台打法</a:t>
            </a:r>
            <a:endParaRPr lang="en-US" sz="6300" dirty="0"/>
          </a:p>
        </p:txBody>
      </p:sp>
      <p:sp>
        <p:nvSpPr>
          <p:cNvPr id="10" name="Shape 8"/>
          <p:cNvSpPr/>
          <p:nvPr/>
        </p:nvSpPr>
        <p:spPr>
          <a:xfrm>
            <a:off x="914400" y="4314825"/>
            <a:ext cx="914400" cy="76200"/>
          </a:xfrm>
          <a:prstGeom prst="rect">
            <a:avLst/>
          </a:prstGeom>
          <a:solidFill>
            <a:srgbClr val="051C2C"/>
          </a:solidFill>
          <a:ln/>
        </p:spPr>
      </p:sp>
      <p:sp>
        <p:nvSpPr>
          <p:cNvPr id="11" name="Shape 9"/>
          <p:cNvSpPr/>
          <p:nvPr/>
        </p:nvSpPr>
        <p:spPr>
          <a:xfrm>
            <a:off x="914400" y="5419725"/>
            <a:ext cx="6896100" cy="0"/>
          </a:xfrm>
          <a:prstGeom prst="line">
            <a:avLst/>
          </a:prstGeom>
          <a:noFill/>
          <a:ln w="13335">
            <a:solidFill>
              <a:srgbClr val="D5D5C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5678805"/>
            <a:ext cx="11277600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95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2026-08-27</a:t>
            </a:r>
            <a:pPr algn="l" indent="0" marL="0">
              <a:buNone/>
            </a:pPr>
            <a:r>
              <a:rPr lang="en-US" sz="195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·    正式稿</a:t>
            </a:r>
            <a:endParaRPr lang="en-US" sz="1950" dirty="0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2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914400"/>
            <a:ext cx="38100" cy="5181600"/>
          </a:xfrm>
          <a:prstGeom prst="rect">
            <a:avLst/>
          </a:prstGeom>
          <a:solidFill>
            <a:srgbClr val="051C2C"/>
          </a:solidFill>
          <a:ln/>
        </p:spPr>
      </p:sp>
      <p:sp>
        <p:nvSpPr>
          <p:cNvPr id="4" name="Shape 2"/>
          <p:cNvSpPr/>
          <p:nvPr/>
        </p:nvSpPr>
        <p:spPr>
          <a:xfrm>
            <a:off x="409575" y="847725"/>
            <a:ext cx="133350" cy="133350"/>
          </a:xfrm>
          <a:prstGeom prst="ellipse">
            <a:avLst/>
          </a:prstGeom>
          <a:solidFill>
            <a:srgbClr val="051C2C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914400"/>
            <a:ext cx="609600" cy="304800"/>
          </a:xfrm>
          <a:prstGeom prst="roundRect">
            <a:avLst>
              <a:gd name="adj" fmla="val 18750"/>
            </a:avLst>
          </a:prstGeom>
          <a:solidFill>
            <a:srgbClr val="051C2C"/>
          </a:solidFill>
          <a:ln/>
        </p:spPr>
      </p:sp>
      <p:sp>
        <p:nvSpPr>
          <p:cNvPr id="6" name="Text 4"/>
          <p:cNvSpPr/>
          <p:nvPr/>
        </p:nvSpPr>
        <p:spPr>
          <a:xfrm>
            <a:off x="0" y="998220"/>
            <a:ext cx="243840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1.1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1714500" y="885825"/>
            <a:ext cx="104775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51C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核心结论：学逻辑，不学形态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1524000" y="1552575"/>
            <a:ext cx="9753600" cy="0"/>
          </a:xfrm>
          <a:prstGeom prst="line">
            <a:avLst/>
          </a:prstGeom>
          <a:noFill/>
          <a:ln w="9525">
            <a:solidFill>
              <a:srgbClr val="D5D5C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4400" y="1533525"/>
            <a:ext cx="609600" cy="38100"/>
          </a:xfrm>
          <a:prstGeom prst="rect">
            <a:avLst/>
          </a:prstGeom>
          <a:solidFill>
            <a:srgbClr val="2E9E6B"/>
          </a:solidFill>
          <a:ln/>
        </p:spPr>
      </p:sp>
      <p:sp>
        <p:nvSpPr>
          <p:cNvPr id="10" name="Shape 8"/>
          <p:cNvSpPr/>
          <p:nvPr/>
        </p:nvSpPr>
        <p:spPr>
          <a:xfrm>
            <a:off x="1001713" y="1886744"/>
            <a:ext cx="6548" cy="61119"/>
          </a:xfrm>
          <a:custGeom>
            <a:avLst/>
            <a:gdLst/>
            <a:ahLst/>
            <a:cxnLst/>
            <a:rect l="l" t="t" r="r" b="b"/>
            <a:pathLst>
              <a:path w="6548" h="61119">
                <a:moveTo>
                  <a:pt x="0" y="61119"/>
                </a:moveTo>
                <a:lnTo>
                  <a:pt x="0" y="0"/>
                </a:lnTo>
              </a:path>
            </a:pathLst>
          </a:custGeom>
          <a:noFill/>
          <a:ln w="17463">
            <a:solidFill>
              <a:srgbClr val="2E9E6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40594" y="1808167"/>
            <a:ext cx="157171" cy="43652"/>
          </a:xfrm>
          <a:custGeom>
            <a:avLst/>
            <a:gdLst/>
            <a:ahLst/>
            <a:cxnLst/>
            <a:rect l="l" t="t" r="r" b="b"/>
            <a:pathLst>
              <a:path w="157171" h="43652">
                <a:moveTo>
                  <a:pt x="70889" y="1785"/>
                </a:moveTo>
                <a:arcTo hR="17463" wR="17463" stAng="14631853" swAng="3136294"/>
                <a:lnTo>
                  <a:pt x="154727" y="35366"/>
                </a:lnTo>
                <a:arcTo hR="4366" wR="4366" stAng="17766200" swAng="9240706"/>
                <a:lnTo>
                  <a:pt x="4366" y="43652"/>
                </a:lnTo>
                <a:arcTo hR="4366" wR="4366" stAng="5399984" swAng="9233800"/>
                <a:close/>
              </a:path>
            </a:pathLst>
          </a:custGeom>
          <a:noFill/>
          <a:ln w="17463">
            <a:solidFill>
              <a:srgbClr val="2E9E6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36638" y="1886744"/>
            <a:ext cx="6548" cy="61119"/>
          </a:xfrm>
          <a:custGeom>
            <a:avLst/>
            <a:gdLst/>
            <a:ahLst/>
            <a:cxnLst/>
            <a:rect l="l" t="t" r="r" b="b"/>
            <a:pathLst>
              <a:path w="6548" h="61119">
                <a:moveTo>
                  <a:pt x="0" y="61119"/>
                </a:moveTo>
                <a:lnTo>
                  <a:pt x="0" y="0"/>
                </a:lnTo>
              </a:path>
            </a:pathLst>
          </a:custGeom>
          <a:noFill/>
          <a:ln w="17463">
            <a:solidFill>
              <a:srgbClr val="2E9E6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71563" y="1886744"/>
            <a:ext cx="6548" cy="61119"/>
          </a:xfrm>
          <a:custGeom>
            <a:avLst/>
            <a:gdLst/>
            <a:ahLst/>
            <a:cxnLst/>
            <a:rect l="l" t="t" r="r" b="b"/>
            <a:pathLst>
              <a:path w="6548" h="61119">
                <a:moveTo>
                  <a:pt x="0" y="61119"/>
                </a:moveTo>
                <a:lnTo>
                  <a:pt x="0" y="0"/>
                </a:lnTo>
              </a:path>
            </a:pathLst>
          </a:custGeom>
          <a:noFill/>
          <a:ln w="17463">
            <a:solidFill>
              <a:srgbClr val="2E9E6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40594" y="1982788"/>
            <a:ext cx="157163" cy="6548"/>
          </a:xfrm>
          <a:custGeom>
            <a:avLst/>
            <a:gdLst/>
            <a:ahLst/>
            <a:cxnLst/>
            <a:rect l="l" t="t" r="r" b="b"/>
            <a:pathLst>
              <a:path w="157163" h="6548">
                <a:moveTo>
                  <a:pt x="0" y="0"/>
                </a:moveTo>
                <a:lnTo>
                  <a:pt x="157163" y="0"/>
                </a:lnTo>
              </a:path>
            </a:pathLst>
          </a:custGeom>
          <a:noFill/>
          <a:ln w="17463">
            <a:solidFill>
              <a:srgbClr val="2E9E6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66788" y="1886744"/>
            <a:ext cx="6548" cy="61119"/>
          </a:xfrm>
          <a:custGeom>
            <a:avLst/>
            <a:gdLst/>
            <a:ahLst/>
            <a:cxnLst/>
            <a:rect l="l" t="t" r="r" b="b"/>
            <a:pathLst>
              <a:path w="6548" h="61119">
                <a:moveTo>
                  <a:pt x="0" y="61119"/>
                </a:moveTo>
                <a:lnTo>
                  <a:pt x="0" y="0"/>
                </a:lnTo>
              </a:path>
            </a:pathLst>
          </a:custGeom>
          <a:noFill/>
          <a:ln w="17463">
            <a:solidFill>
              <a:srgbClr val="2E9E6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76350" y="1777365"/>
            <a:ext cx="11830050" cy="3200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51C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学宁波，学逻辑不学形态：90天两场景试点定取舍，验收看活期、代发留存、卡渗透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1276350" y="2120265"/>
            <a:ext cx="11830050" cy="3200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51C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、中收，不看注册数。</a:t>
            </a:r>
            <a:endParaRPr lang="en-US" sz="2100" dirty="0"/>
          </a:p>
        </p:txBody>
      </p:sp>
      <p:sp>
        <p:nvSpPr>
          <p:cNvPr id="18" name="Shape 16"/>
          <p:cNvSpPr/>
          <p:nvPr/>
        </p:nvSpPr>
        <p:spPr>
          <a:xfrm>
            <a:off x="914400" y="2714625"/>
            <a:ext cx="1950720" cy="11430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</p:spPr>
      </p:sp>
      <p:sp>
        <p:nvSpPr>
          <p:cNvPr id="19" name="Shape 17"/>
          <p:cNvSpPr/>
          <p:nvPr/>
        </p:nvSpPr>
        <p:spPr>
          <a:xfrm>
            <a:off x="1119188" y="2921794"/>
            <a:ext cx="114300" cy="57150"/>
          </a:xfrm>
          <a:custGeom>
            <a:avLst/>
            <a:gdLst/>
            <a:ahLst/>
            <a:cxnLst/>
            <a:rect l="l" t="t" r="r" b="b"/>
            <a:pathLst>
              <a:path w="114300" h="57150">
                <a:moveTo>
                  <a:pt x="114300" y="57150"/>
                </a:moveTo>
                <a:arcTo hR="57150" wR="57150" stAng="0" swAng="-10800000"/>
              </a:path>
            </a:pathLst>
          </a:custGeom>
          <a:noFill/>
          <a:ln w="14288">
            <a:solidFill>
              <a:srgbClr val="051C2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140619" y="2850356"/>
            <a:ext cx="71438" cy="71438"/>
          </a:xfrm>
          <a:prstGeom prst="ellipse">
            <a:avLst/>
          </a:prstGeom>
          <a:noFill/>
          <a:ln w="14288">
            <a:solidFill>
              <a:srgbClr val="051C2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230273" y="2855357"/>
            <a:ext cx="31790" cy="116443"/>
          </a:xfrm>
          <a:custGeom>
            <a:avLst/>
            <a:gdLst/>
            <a:ahLst/>
            <a:cxnLst/>
            <a:rect l="l" t="t" r="r" b="b"/>
            <a:pathLst>
              <a:path w="31790" h="116443">
                <a:moveTo>
                  <a:pt x="31790" y="116443"/>
                </a:moveTo>
                <a:cubicBezTo>
                  <a:pt x="31790" y="92369"/>
                  <a:pt x="17502" y="70009"/>
                  <a:pt x="3215" y="59293"/>
                </a:cubicBezTo>
                <a:arcTo hR="35719" wR="35719" stAng="3187248" swAng="-6746899"/>
              </a:path>
            </a:pathLst>
          </a:custGeom>
          <a:noFill/>
          <a:ln w="14288">
            <a:solidFill>
              <a:srgbClr val="051C2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104900" y="3019425"/>
            <a:ext cx="120015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51C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800</a:t>
            </a:r>
            <a:pPr algn="l" indent="0" marL="0">
              <a:buNone/>
            </a:pPr>
            <a:r>
              <a:rPr lang="en-US" sz="1350" b="1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万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914400" y="2905125"/>
            <a:ext cx="176022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500" dirty="0">
                <a:solidFill>
                  <a:srgbClr val="6B6B6B"/>
                </a:solidFill>
              </a:rPr>
              <a:t>→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104900" y="3507105"/>
            <a:ext cx="120015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苏银生活月活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017520" y="2714625"/>
            <a:ext cx="1950720" cy="11430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</p:spPr>
      </p:sp>
      <p:sp>
        <p:nvSpPr>
          <p:cNvPr id="26" name="Shape 24"/>
          <p:cNvSpPr/>
          <p:nvPr/>
        </p:nvSpPr>
        <p:spPr>
          <a:xfrm>
            <a:off x="3243739" y="2850356"/>
            <a:ext cx="121444" cy="121444"/>
          </a:xfrm>
          <a:custGeom>
            <a:avLst/>
            <a:gdLst/>
            <a:ahLst/>
            <a:cxnLst/>
            <a:rect l="l" t="t" r="r" b="b"/>
            <a:pathLst>
              <a:path w="121444" h="121444">
                <a:moveTo>
                  <a:pt x="42863" y="100013"/>
                </a:moveTo>
                <a:lnTo>
                  <a:pt x="64294" y="100013"/>
                </a:lnTo>
                <a:lnTo>
                  <a:pt x="64294" y="114300"/>
                </a:lnTo>
                <a:arcTo hR="7144" wR="7144" stAng="10800000" swAng="-5400000"/>
                <a:lnTo>
                  <a:pt x="85725" y="121444"/>
                </a:lnTo>
                <a:arcTo hR="7144" wR="7144" stAng="5400000" swAng="-5400000"/>
                <a:lnTo>
                  <a:pt x="92869" y="92869"/>
                </a:lnTo>
                <a:arcTo hR="22574" wR="22574" stAng="4295142" swAng="-3190284"/>
                <a:lnTo>
                  <a:pt x="114300" y="78581"/>
                </a:lnTo>
                <a:arcTo hR="7144" wR="7144" stAng="5400000" swAng="-5400000"/>
                <a:lnTo>
                  <a:pt x="121444" y="57150"/>
                </a:lnTo>
                <a:arcTo hR="7144" wR="7144" stAng="0" swAng="-5400000"/>
                <a:lnTo>
                  <a:pt x="107156" y="50006"/>
                </a:lnTo>
                <a:arcTo hR="35719" wR="35719" stAng="0" swAng="-3187806"/>
                <a:lnTo>
                  <a:pt x="92869" y="0"/>
                </a:lnTo>
                <a:arcTo hR="28575" wR="28575" stAng="16200000" swAng="-3187806"/>
                <a:lnTo>
                  <a:pt x="67866" y="14288"/>
                </a:lnTo>
                <a:lnTo>
                  <a:pt x="42863" y="14288"/>
                </a:lnTo>
                <a:arcTo hR="42863" wR="42863" stAng="16200000" swAng="-5400000"/>
                <a:lnTo>
                  <a:pt x="0" y="64294"/>
                </a:lnTo>
                <a:arcTo hR="35719" wR="35719" stAng="10800000" swAng="-3187806"/>
                <a:lnTo>
                  <a:pt x="14288" y="114300"/>
                </a:lnTo>
                <a:arcTo hR="7144" wR="7144" stAng="10800000" swAng="-5400000"/>
                <a:lnTo>
                  <a:pt x="35719" y="121444"/>
                </a:lnTo>
                <a:arcTo hR="7144" wR="7144" stAng="5400000" swAng="-5400000"/>
                <a:close/>
              </a:path>
            </a:pathLst>
          </a:custGeom>
          <a:noFill/>
          <a:ln w="14288">
            <a:solidFill>
              <a:srgbClr val="051C2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322320" y="2900363"/>
            <a:ext cx="5358" cy="5358"/>
          </a:xfrm>
          <a:custGeom>
            <a:avLst/>
            <a:gdLst/>
            <a:ahLst/>
            <a:cxnLst/>
            <a:rect l="l" t="t" r="r" b="b"/>
            <a:pathLst>
              <a:path w="5358" h="5358">
                <a:moveTo>
                  <a:pt x="0" y="0"/>
                </a:moveTo>
                <a:lnTo>
                  <a:pt x="71" y="0"/>
                </a:lnTo>
              </a:path>
            </a:pathLst>
          </a:custGeom>
          <a:noFill/>
          <a:ln w="14288">
            <a:solidFill>
              <a:srgbClr val="051C2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222308" y="2886075"/>
            <a:ext cx="21431" cy="21431"/>
          </a:xfrm>
          <a:custGeom>
            <a:avLst/>
            <a:gdLst/>
            <a:ahLst/>
            <a:cxnLst/>
            <a:rect l="l" t="t" r="r" b="b"/>
            <a:pathLst>
              <a:path w="21431" h="21431">
                <a:moveTo>
                  <a:pt x="0" y="0"/>
                </a:moveTo>
                <a:lnTo>
                  <a:pt x="0" y="7144"/>
                </a:lnTo>
                <a:arcTo hR="14288" wR="14288" stAng="10800000" swAng="-5400000"/>
                <a:lnTo>
                  <a:pt x="21431" y="21431"/>
                </a:lnTo>
              </a:path>
            </a:pathLst>
          </a:custGeom>
          <a:noFill/>
          <a:ln w="14288">
            <a:solidFill>
              <a:srgbClr val="051C2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08020" y="3019425"/>
            <a:ext cx="989838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51C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35.57</a:t>
            </a:r>
            <a:pPr algn="l" indent="0" marL="0">
              <a:buNone/>
            </a:pPr>
            <a:r>
              <a:rPr lang="en-US" sz="1350" b="1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%</a:t>
            </a:r>
            <a:endParaRPr lang="en-US" sz="3000" dirty="0"/>
          </a:p>
        </p:txBody>
      </p:sp>
      <p:sp>
        <p:nvSpPr>
          <p:cNvPr id="30" name="Text 28"/>
          <p:cNvSpPr/>
          <p:nvPr/>
        </p:nvSpPr>
        <p:spPr>
          <a:xfrm>
            <a:off x="914400" y="2905125"/>
            <a:ext cx="386334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500" dirty="0">
                <a:solidFill>
                  <a:srgbClr val="0A0E14"/>
                </a:solidFill>
              </a:rPr>
              <a:t>↑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3208020" y="3507105"/>
            <a:ext cx="989838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宁波活期占比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5120640" y="2714625"/>
            <a:ext cx="1950720" cy="11430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</p:spPr>
      </p:sp>
      <p:sp>
        <p:nvSpPr>
          <p:cNvPr id="33" name="Shape 31"/>
          <p:cNvSpPr/>
          <p:nvPr/>
        </p:nvSpPr>
        <p:spPr>
          <a:xfrm>
            <a:off x="5396858" y="2843184"/>
            <a:ext cx="71480" cy="71473"/>
          </a:xfrm>
          <a:custGeom>
            <a:avLst/>
            <a:gdLst/>
            <a:ahLst/>
            <a:cxnLst/>
            <a:rect l="l" t="t" r="r" b="b"/>
            <a:pathLst>
              <a:path w="71480" h="71473">
                <a:moveTo>
                  <a:pt x="64301" y="71466"/>
                </a:moveTo>
                <a:cubicBezTo>
                  <a:pt x="68244" y="71466"/>
                  <a:pt x="71480" y="68259"/>
                  <a:pt x="71087" y="64337"/>
                </a:cubicBezTo>
                <a:arcTo hR="71438" wR="71438" stAng="21255933" swAng="-4712634"/>
                <a:cubicBezTo>
                  <a:pt x="3200" y="0"/>
                  <a:pt x="0" y="3236"/>
                  <a:pt x="0" y="7179"/>
                </a:cubicBezTo>
                <a:lnTo>
                  <a:pt x="0" y="64329"/>
                </a:lnTo>
                <a:arcTo hR="7144" wR="7144" stAng="10800000" swAng="-5400000"/>
                <a:close/>
              </a:path>
            </a:pathLst>
          </a:custGeom>
          <a:noFill/>
          <a:ln w="14288">
            <a:solidFill>
              <a:srgbClr val="051C2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325425" y="2849142"/>
            <a:ext cx="137234" cy="136912"/>
          </a:xfrm>
          <a:custGeom>
            <a:avLst/>
            <a:gdLst/>
            <a:ahLst/>
            <a:cxnLst/>
            <a:rect l="l" t="t" r="r" b="b"/>
            <a:pathLst>
              <a:path w="137234" h="136912">
                <a:moveTo>
                  <a:pt x="137234" y="93297"/>
                </a:moveTo>
                <a:arcTo hR="71438" wR="71438" stAng="1375281" swAng="13410179"/>
              </a:path>
            </a:pathLst>
          </a:custGeom>
          <a:noFill/>
          <a:ln w="14288">
            <a:solidFill>
              <a:srgbClr val="051C2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311140" y="3019425"/>
            <a:ext cx="779526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51C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10.42</a:t>
            </a:r>
            <a:pPr algn="l" indent="0" marL="0">
              <a:buNone/>
            </a:pPr>
            <a:r>
              <a:rPr lang="en-US" sz="1350" b="1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%</a:t>
            </a:r>
            <a:endParaRPr lang="en-US" sz="3000" dirty="0"/>
          </a:p>
        </p:txBody>
      </p:sp>
      <p:sp>
        <p:nvSpPr>
          <p:cNvPr id="36" name="Text 34"/>
          <p:cNvSpPr/>
          <p:nvPr/>
        </p:nvSpPr>
        <p:spPr>
          <a:xfrm>
            <a:off x="914400" y="2905125"/>
            <a:ext cx="596646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500" dirty="0">
                <a:solidFill>
                  <a:srgbClr val="0A0E14"/>
                </a:solidFill>
              </a:rPr>
              <a:t>↑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5311140" y="3507105"/>
            <a:ext cx="779526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宁波中收占比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7223760" y="2714625"/>
            <a:ext cx="1950720" cy="11430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</p:spPr>
      </p:sp>
      <p:sp>
        <p:nvSpPr>
          <p:cNvPr id="39" name="Shape 37"/>
          <p:cNvSpPr/>
          <p:nvPr/>
        </p:nvSpPr>
        <p:spPr>
          <a:xfrm flipV="1">
            <a:off x="7449979" y="2864644"/>
            <a:ext cx="100013" cy="100013"/>
          </a:xfrm>
          <a:prstGeom prst="line">
            <a:avLst/>
          </a:prstGeom>
          <a:noFill/>
          <a:ln w="14288">
            <a:solidFill>
              <a:srgbClr val="051C2C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442835" y="2857500"/>
            <a:ext cx="35719" cy="35719"/>
          </a:xfrm>
          <a:prstGeom prst="ellipse">
            <a:avLst/>
          </a:prstGeom>
          <a:noFill/>
          <a:ln w="14288">
            <a:solidFill>
              <a:srgbClr val="051C2C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521416" y="2936081"/>
            <a:ext cx="35719" cy="35719"/>
          </a:xfrm>
          <a:prstGeom prst="ellipse">
            <a:avLst/>
          </a:prstGeom>
          <a:noFill/>
          <a:ln w="14288">
            <a:solidFill>
              <a:srgbClr val="051C2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414260" y="3019425"/>
            <a:ext cx="569214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51C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85</a:t>
            </a:r>
            <a:pPr algn="l" indent="0" marL="0">
              <a:buNone/>
            </a:pPr>
            <a:r>
              <a:rPr lang="en-US" sz="1350" b="1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%</a:t>
            </a:r>
            <a:endParaRPr lang="en-US" sz="3000" dirty="0"/>
          </a:p>
        </p:txBody>
      </p:sp>
      <p:sp>
        <p:nvSpPr>
          <p:cNvPr id="43" name="Text 41"/>
          <p:cNvSpPr/>
          <p:nvPr/>
        </p:nvSpPr>
        <p:spPr>
          <a:xfrm>
            <a:off x="914400" y="2905125"/>
            <a:ext cx="806958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500" dirty="0">
                <a:solidFill>
                  <a:srgbClr val="0A0E14"/>
                </a:solidFill>
              </a:rPr>
              <a:t>↑</a:t>
            </a:r>
            <a:endParaRPr lang="en-US" sz="1500" dirty="0"/>
          </a:p>
        </p:txBody>
      </p:sp>
      <p:sp>
        <p:nvSpPr>
          <p:cNvPr id="44" name="Text 42"/>
          <p:cNvSpPr/>
          <p:nvPr/>
        </p:nvSpPr>
        <p:spPr>
          <a:xfrm>
            <a:off x="7414260" y="3507105"/>
            <a:ext cx="569214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代理类占中收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9326880" y="2714625"/>
            <a:ext cx="1950720" cy="11430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</p:spPr>
      </p:sp>
      <p:sp>
        <p:nvSpPr>
          <p:cNvPr id="46" name="Shape 44"/>
          <p:cNvSpPr/>
          <p:nvPr/>
        </p:nvSpPr>
        <p:spPr>
          <a:xfrm>
            <a:off x="9588818" y="2914650"/>
            <a:ext cx="28575" cy="5358"/>
          </a:xfrm>
          <a:custGeom>
            <a:avLst/>
            <a:gdLst/>
            <a:ahLst/>
            <a:cxnLst/>
            <a:rect l="l" t="t" r="r" b="b"/>
            <a:pathLst>
              <a:path w="28575" h="5358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/>
          <a:ln w="14288">
            <a:solidFill>
              <a:srgbClr val="051C2C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9588818" y="2886075"/>
            <a:ext cx="28575" cy="5358"/>
          </a:xfrm>
          <a:custGeom>
            <a:avLst/>
            <a:gdLst/>
            <a:ahLst/>
            <a:cxnLst/>
            <a:rect l="l" t="t" r="r" b="b"/>
            <a:pathLst>
              <a:path w="28575" h="5358">
                <a:moveTo>
                  <a:pt x="0" y="0"/>
                </a:moveTo>
                <a:lnTo>
                  <a:pt x="28575" y="0"/>
                </a:lnTo>
              </a:path>
            </a:pathLst>
          </a:custGeom>
          <a:noFill/>
          <a:ln w="14288">
            <a:solidFill>
              <a:srgbClr val="051C2C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9588818" y="2943225"/>
            <a:ext cx="28575" cy="35719"/>
          </a:xfrm>
          <a:custGeom>
            <a:avLst/>
            <a:gdLst/>
            <a:ahLst/>
            <a:cxnLst/>
            <a:rect l="l" t="t" r="r" b="b"/>
            <a:pathLst>
              <a:path w="28575" h="35719">
                <a:moveTo>
                  <a:pt x="28575" y="35719"/>
                </a:moveTo>
                <a:lnTo>
                  <a:pt x="28575" y="14288"/>
                </a:lnTo>
                <a:arcTo hR="14288" wR="14288" stAng="0" swAng="-10800000"/>
                <a:lnTo>
                  <a:pt x="0" y="35719"/>
                </a:lnTo>
              </a:path>
            </a:pathLst>
          </a:custGeom>
          <a:noFill/>
          <a:ln w="14288">
            <a:solidFill>
              <a:srgbClr val="051C2C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9531668" y="2878931"/>
            <a:ext cx="142875" cy="100013"/>
          </a:xfrm>
          <a:custGeom>
            <a:avLst/>
            <a:gdLst/>
            <a:ahLst/>
            <a:cxnLst/>
            <a:rect l="l" t="t" r="r" b="b"/>
            <a:pathLst>
              <a:path w="142875" h="100013">
                <a:moveTo>
                  <a:pt x="28575" y="21431"/>
                </a:moveTo>
                <a:lnTo>
                  <a:pt x="14288" y="21431"/>
                </a:lnTo>
                <a:arcTo hR="14288" wR="14288" stAng="16200000" swAng="-5400000"/>
                <a:lnTo>
                  <a:pt x="0" y="85725"/>
                </a:lnTo>
                <a:arcTo hR="14288" wR="14288" stAng="10800000" swAng="-5400000"/>
                <a:lnTo>
                  <a:pt x="128588" y="100013"/>
                </a:lnTo>
                <a:arcTo hR="14288" wR="14288" stAng="5400000" swAng="-5400000"/>
                <a:lnTo>
                  <a:pt x="142875" y="14288"/>
                </a:lnTo>
                <a:arcTo hR="14288" wR="14288" stAng="0" swAng="-5400000"/>
                <a:lnTo>
                  <a:pt x="114300" y="0"/>
                </a:lnTo>
              </a:path>
            </a:pathLst>
          </a:custGeom>
          <a:noFill/>
          <a:ln w="14288">
            <a:solidFill>
              <a:srgbClr val="051C2C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9560243" y="2850356"/>
            <a:ext cx="85725" cy="128588"/>
          </a:xfrm>
          <a:custGeom>
            <a:avLst/>
            <a:gdLst/>
            <a:ahLst/>
            <a:cxnLst/>
            <a:rect l="l" t="t" r="r" b="b"/>
            <a:pathLst>
              <a:path w="85725" h="128588">
                <a:moveTo>
                  <a:pt x="0" y="128588"/>
                </a:moveTo>
                <a:lnTo>
                  <a:pt x="0" y="14288"/>
                </a:lnTo>
                <a:arcTo hR="14288" wR="14288" stAng="10800000" swAng="5400000"/>
                <a:lnTo>
                  <a:pt x="71438" y="0"/>
                </a:lnTo>
                <a:arcTo hR="14288" wR="14288" stAng="16200000" swAng="5400000"/>
                <a:lnTo>
                  <a:pt x="85725" y="128588"/>
                </a:lnTo>
              </a:path>
            </a:pathLst>
          </a:custGeom>
          <a:noFill/>
          <a:ln w="14288">
            <a:solidFill>
              <a:srgbClr val="051C2C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9517380" y="3019425"/>
            <a:ext cx="358902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51C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17.6</a:t>
            </a:r>
            <a:pPr algn="l" indent="0" marL="0">
              <a:buNone/>
            </a:pPr>
            <a:r>
              <a:rPr lang="en-US" sz="1350" b="1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万</a:t>
            </a:r>
            <a:endParaRPr lang="en-US" sz="3000" dirty="0"/>
          </a:p>
        </p:txBody>
      </p:sp>
      <p:sp>
        <p:nvSpPr>
          <p:cNvPr id="52" name="Text 50"/>
          <p:cNvSpPr/>
          <p:nvPr/>
        </p:nvSpPr>
        <p:spPr>
          <a:xfrm>
            <a:off x="914400" y="2905125"/>
            <a:ext cx="101727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500" dirty="0">
                <a:solidFill>
                  <a:srgbClr val="0A0E14"/>
                </a:solidFill>
              </a:rPr>
              <a:t>↑</a:t>
            </a:r>
            <a:endParaRPr lang="en-US" sz="1500" dirty="0"/>
          </a:p>
        </p:txBody>
      </p:sp>
      <p:sp>
        <p:nvSpPr>
          <p:cNvPr id="53" name="Text 51"/>
          <p:cNvSpPr/>
          <p:nvPr/>
        </p:nvSpPr>
        <p:spPr>
          <a:xfrm>
            <a:off x="9517380" y="3507105"/>
            <a:ext cx="358902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波波知了企业用户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914400" y="4010025"/>
            <a:ext cx="10363200" cy="1619250"/>
          </a:xfrm>
          <a:prstGeom prst="roundRect">
            <a:avLst>
              <a:gd name="adj" fmla="val 3529"/>
            </a:avLst>
          </a:prstGeom>
          <a:solidFill>
            <a:srgbClr val="051C2C"/>
          </a:solidFill>
          <a:ln/>
        </p:spPr>
      </p:sp>
      <p:sp>
        <p:nvSpPr>
          <p:cNvPr id="55" name="Shape 53"/>
          <p:cNvSpPr/>
          <p:nvPr/>
        </p:nvSpPr>
        <p:spPr>
          <a:xfrm>
            <a:off x="914400" y="4038600"/>
            <a:ext cx="10363200" cy="1590675"/>
          </a:xfrm>
          <a:prstGeom prst="roundRect">
            <a:avLst>
              <a:gd name="adj" fmla="val 3593"/>
            </a:avLst>
          </a:prstGeom>
          <a:solidFill>
            <a:srgbClr val="FFFFFF"/>
          </a:solidFill>
          <a:ln/>
        </p:spPr>
      </p:sp>
      <p:sp>
        <p:nvSpPr>
          <p:cNvPr id="56" name="Shape 54"/>
          <p:cNvSpPr/>
          <p:nvPr/>
        </p:nvSpPr>
        <p:spPr>
          <a:xfrm>
            <a:off x="1063625" y="4754563"/>
            <a:ext cx="158750" cy="158750"/>
          </a:xfrm>
          <a:prstGeom prst="ellipse">
            <a:avLst/>
          </a:prstGeom>
          <a:noFill/>
          <a:ln w="15875">
            <a:solidFill>
              <a:srgbClr val="051C2C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095375" y="4786313"/>
            <a:ext cx="95250" cy="95250"/>
          </a:xfrm>
          <a:prstGeom prst="ellipse">
            <a:avLst/>
          </a:prstGeom>
          <a:noFill/>
          <a:ln w="15875">
            <a:solidFill>
              <a:srgbClr val="051C2C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1127125" y="4818063"/>
            <a:ext cx="31750" cy="31750"/>
          </a:xfrm>
          <a:prstGeom prst="ellipse">
            <a:avLst/>
          </a:prstGeom>
          <a:noFill/>
          <a:ln w="15875">
            <a:solidFill>
              <a:srgbClr val="051C2C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1333500" y="4251960"/>
            <a:ext cx="11772900" cy="3657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051C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苏银生活年底月活目标 1000 万；宁波手续费净收入</a:t>
            </a:r>
            <a:endParaRPr lang="en-US" sz="2400" dirty="0"/>
          </a:p>
        </p:txBody>
      </p:sp>
      <p:sp>
        <p:nvSpPr>
          <p:cNvPr id="60" name="Text 58"/>
          <p:cNvSpPr/>
          <p:nvPr/>
        </p:nvSpPr>
        <p:spPr>
          <a:xfrm>
            <a:off x="1333500" y="4680585"/>
            <a:ext cx="11772900" cy="3657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051C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+53.9%。这是三低时代支撑双提升的战略路径，须以长期主义与正确政绩</a:t>
            </a:r>
            <a:endParaRPr lang="en-US" sz="2400" dirty="0"/>
          </a:p>
        </p:txBody>
      </p:sp>
      <p:sp>
        <p:nvSpPr>
          <p:cNvPr id="61" name="Text 59"/>
          <p:cNvSpPr/>
          <p:nvPr/>
        </p:nvSpPr>
        <p:spPr>
          <a:xfrm>
            <a:off x="1333500" y="5109210"/>
            <a:ext cx="11772900" cy="3657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051C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观推进。</a:t>
            </a:r>
            <a:endParaRPr lang="en-US" sz="2400" dirty="0"/>
          </a:p>
        </p:txBody>
      </p:sp>
      <p:sp>
        <p:nvSpPr>
          <p:cNvPr id="62" name="Shape 60"/>
          <p:cNvSpPr/>
          <p:nvPr/>
        </p:nvSpPr>
        <p:spPr>
          <a:xfrm>
            <a:off x="533400" y="6324600"/>
            <a:ext cx="11125200" cy="0"/>
          </a:xfrm>
          <a:prstGeom prst="line">
            <a:avLst/>
          </a:prstGeom>
          <a:noFill/>
          <a:ln w="11430">
            <a:solidFill>
              <a:srgbClr val="D5D5CB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53340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Internal · 江苏银行</a:t>
            </a:r>
            <a:endParaRPr lang="en-US" sz="1500" dirty="0"/>
          </a:p>
        </p:txBody>
      </p:sp>
      <p:sp>
        <p:nvSpPr>
          <p:cNvPr id="64" name="Text 62"/>
          <p:cNvSpPr/>
          <p:nvPr/>
        </p:nvSpPr>
        <p:spPr>
          <a:xfrm>
            <a:off x="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正式稿 · 2026-08-27</a:t>
            </a:r>
            <a:endParaRPr lang="en-US" sz="1500" dirty="0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2"/>
          </a:solidFill>
          <a:ln/>
        </p:spPr>
      </p:sp>
      <p:sp>
        <p:nvSpPr>
          <p:cNvPr id="3" name="Shape 1"/>
          <p:cNvSpPr/>
          <p:nvPr/>
        </p:nvSpPr>
        <p:spPr>
          <a:xfrm>
            <a:off x="914400" y="1905000"/>
            <a:ext cx="10363200" cy="0"/>
          </a:xfrm>
          <a:prstGeom prst="line">
            <a:avLst/>
          </a:prstGeom>
          <a:noFill/>
          <a:ln w="13335">
            <a:solidFill>
              <a:srgbClr val="D5D5C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4419600"/>
            <a:ext cx="11277600" cy="2514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6500" b="1" dirty="0">
                <a:solidFill>
                  <a:srgbClr val="7A5A0E">
                    <a:alpha val="12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6500" dirty="0"/>
          </a:p>
        </p:txBody>
      </p:sp>
      <p:sp>
        <p:nvSpPr>
          <p:cNvPr id="5" name="Text 3"/>
          <p:cNvSpPr/>
          <p:nvPr/>
        </p:nvSpPr>
        <p:spPr>
          <a:xfrm>
            <a:off x="914400" y="3131820"/>
            <a:ext cx="11277600" cy="731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051C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形势判断与关键事实：三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914400" y="3789045"/>
            <a:ext cx="11277600" cy="731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051C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低时代，差距在经营逻辑</a:t>
            </a:r>
            <a:endParaRPr lang="en-US" sz="4800" dirty="0"/>
          </a:p>
        </p:txBody>
      </p:sp>
      <p:sp>
        <p:nvSpPr>
          <p:cNvPr id="7" name="Shape 5"/>
          <p:cNvSpPr/>
          <p:nvPr/>
        </p:nvSpPr>
        <p:spPr>
          <a:xfrm>
            <a:off x="914400" y="4953000"/>
            <a:ext cx="10363200" cy="0"/>
          </a:xfrm>
          <a:prstGeom prst="line">
            <a:avLst/>
          </a:prstGeom>
          <a:noFill/>
          <a:ln w="13335">
            <a:solidFill>
              <a:srgbClr val="D5D5CB"/>
            </a:solidFill>
            <a:prstDash val="solid"/>
          </a:ln>
        </p:spPr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2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914400"/>
            <a:ext cx="38100" cy="5181600"/>
          </a:xfrm>
          <a:prstGeom prst="rect">
            <a:avLst/>
          </a:prstGeom>
          <a:solidFill>
            <a:srgbClr val="051C2C"/>
          </a:solidFill>
          <a:ln/>
        </p:spPr>
      </p:sp>
      <p:sp>
        <p:nvSpPr>
          <p:cNvPr id="4" name="Shape 2"/>
          <p:cNvSpPr/>
          <p:nvPr/>
        </p:nvSpPr>
        <p:spPr>
          <a:xfrm>
            <a:off x="409575" y="847725"/>
            <a:ext cx="133350" cy="133350"/>
          </a:xfrm>
          <a:prstGeom prst="ellipse">
            <a:avLst/>
          </a:prstGeom>
          <a:solidFill>
            <a:srgbClr val="051C2C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914400"/>
            <a:ext cx="609600" cy="304800"/>
          </a:xfrm>
          <a:prstGeom prst="roundRect">
            <a:avLst>
              <a:gd name="adj" fmla="val 18750"/>
            </a:avLst>
          </a:prstGeom>
          <a:solidFill>
            <a:srgbClr val="051C2C"/>
          </a:solidFill>
          <a:ln/>
        </p:spPr>
      </p:sp>
      <p:sp>
        <p:nvSpPr>
          <p:cNvPr id="6" name="Text 4"/>
          <p:cNvSpPr/>
          <p:nvPr/>
        </p:nvSpPr>
        <p:spPr>
          <a:xfrm>
            <a:off x="0" y="998220"/>
            <a:ext cx="243840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1.1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1714500" y="885825"/>
            <a:ext cx="104775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51C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对标差距：负债、中收、财富、对公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1200150" y="2162175"/>
            <a:ext cx="4743450" cy="0"/>
          </a:xfrm>
          <a:prstGeom prst="line">
            <a:avLst/>
          </a:prstGeom>
          <a:noFill/>
          <a:ln w="9525">
            <a:solidFill>
              <a:srgbClr val="6B6B6B">
                <a:alpha val="1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200150" y="2657475"/>
            <a:ext cx="4743450" cy="0"/>
          </a:xfrm>
          <a:prstGeom prst="line">
            <a:avLst/>
          </a:prstGeom>
          <a:noFill/>
          <a:ln w="9525">
            <a:solidFill>
              <a:srgbClr val="6B6B6B">
                <a:alpha val="1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200150" y="3152775"/>
            <a:ext cx="4743450" cy="0"/>
          </a:xfrm>
          <a:prstGeom prst="line">
            <a:avLst/>
          </a:prstGeom>
          <a:noFill/>
          <a:ln w="9525">
            <a:solidFill>
              <a:srgbClr val="6B6B6B">
                <a:alpha val="1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238250" y="2925473"/>
            <a:ext cx="535781" cy="722602"/>
          </a:xfrm>
          <a:prstGeom prst="rect">
            <a:avLst/>
          </a:prstGeom>
          <a:solidFill>
            <a:srgbClr val="6C6C6C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2803553"/>
            <a:ext cx="1183481" cy="125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825" dirty="0">
                <a:solidFill>
                  <a:srgbClr val="6B6B6B"/>
                </a:solidFill>
              </a:rPr>
              <a:t>18.2</a:t>
            </a:r>
            <a:endParaRPr lang="en-US" sz="825" dirty="0"/>
          </a:p>
        </p:txBody>
      </p:sp>
      <p:sp>
        <p:nvSpPr>
          <p:cNvPr id="13" name="Shape 11"/>
          <p:cNvSpPr/>
          <p:nvPr/>
        </p:nvSpPr>
        <p:spPr>
          <a:xfrm>
            <a:off x="1812131" y="3211338"/>
            <a:ext cx="535781" cy="436737"/>
          </a:xfrm>
          <a:prstGeom prst="rect">
            <a:avLst/>
          </a:prstGeom>
          <a:solidFill>
            <a:srgbClr val="051C2C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3089418"/>
            <a:ext cx="2331244" cy="125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825" dirty="0">
                <a:solidFill>
                  <a:srgbClr val="6B6B6B"/>
                </a:solidFill>
              </a:rPr>
              <a:t>11</a:t>
            </a:r>
            <a:endParaRPr lang="en-US" sz="825" dirty="0"/>
          </a:p>
        </p:txBody>
      </p:sp>
      <p:sp>
        <p:nvSpPr>
          <p:cNvPr id="15" name="Text 13"/>
          <p:cNvSpPr/>
          <p:nvPr/>
        </p:nvSpPr>
        <p:spPr>
          <a:xfrm>
            <a:off x="914400" y="3697605"/>
            <a:ext cx="1757363" cy="125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825" dirty="0">
                <a:solidFill>
                  <a:srgbClr val="6B6B6B"/>
                </a:solidFill>
              </a:rPr>
              <a:t>两项收入增速%</a:t>
            </a:r>
            <a:endParaRPr lang="en-US" sz="825" dirty="0"/>
          </a:p>
        </p:txBody>
      </p:sp>
      <p:sp>
        <p:nvSpPr>
          <p:cNvPr id="16" name="Shape 14"/>
          <p:cNvSpPr/>
          <p:nvPr/>
        </p:nvSpPr>
        <p:spPr>
          <a:xfrm>
            <a:off x="2424113" y="1666875"/>
            <a:ext cx="535781" cy="1981200"/>
          </a:xfrm>
          <a:prstGeom prst="rect">
            <a:avLst/>
          </a:prstGeom>
          <a:solidFill>
            <a:srgbClr val="6C6C6C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1544955"/>
            <a:ext cx="3555206" cy="125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825" dirty="0">
                <a:solidFill>
                  <a:srgbClr val="6B6B6B"/>
                </a:solidFill>
              </a:rPr>
              <a:t>49.9</a:t>
            </a:r>
            <a:endParaRPr lang="en-US" sz="825" dirty="0"/>
          </a:p>
        </p:txBody>
      </p:sp>
      <p:sp>
        <p:nvSpPr>
          <p:cNvPr id="18" name="Shape 16"/>
          <p:cNvSpPr/>
          <p:nvPr/>
        </p:nvSpPr>
        <p:spPr>
          <a:xfrm>
            <a:off x="2997994" y="2492706"/>
            <a:ext cx="535781" cy="1155369"/>
          </a:xfrm>
          <a:prstGeom prst="rect">
            <a:avLst/>
          </a:prstGeom>
          <a:solidFill>
            <a:srgbClr val="051C2C"/>
          </a:solidFill>
          <a:ln/>
        </p:spPr>
      </p:sp>
      <p:sp>
        <p:nvSpPr>
          <p:cNvPr id="19" name="Text 17"/>
          <p:cNvSpPr/>
          <p:nvPr/>
        </p:nvSpPr>
        <p:spPr>
          <a:xfrm>
            <a:off x="914400" y="2370786"/>
            <a:ext cx="4702969" cy="125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825" dirty="0">
                <a:solidFill>
                  <a:srgbClr val="6B6B6B"/>
                </a:solidFill>
              </a:rPr>
              <a:t>29.1</a:t>
            </a:r>
            <a:endParaRPr lang="en-US" sz="825" dirty="0"/>
          </a:p>
        </p:txBody>
      </p:sp>
      <p:sp>
        <p:nvSpPr>
          <p:cNvPr id="20" name="Text 18"/>
          <p:cNvSpPr/>
          <p:nvPr/>
        </p:nvSpPr>
        <p:spPr>
          <a:xfrm>
            <a:off x="914400" y="3697605"/>
            <a:ext cx="4129088" cy="125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825" dirty="0">
                <a:solidFill>
                  <a:srgbClr val="6B6B6B"/>
                </a:solidFill>
              </a:rPr>
              <a:t>代理类收入(亿)</a:t>
            </a:r>
            <a:endParaRPr lang="en-US" sz="825" dirty="0"/>
          </a:p>
        </p:txBody>
      </p:sp>
      <p:sp>
        <p:nvSpPr>
          <p:cNvPr id="21" name="Shape 19"/>
          <p:cNvSpPr/>
          <p:nvPr/>
        </p:nvSpPr>
        <p:spPr>
          <a:xfrm>
            <a:off x="3609975" y="2480795"/>
            <a:ext cx="535781" cy="1167280"/>
          </a:xfrm>
          <a:prstGeom prst="rect">
            <a:avLst/>
          </a:prstGeom>
          <a:solidFill>
            <a:srgbClr val="6C6C6C"/>
          </a:solidFill>
          <a:ln/>
        </p:spPr>
      </p:sp>
      <p:sp>
        <p:nvSpPr>
          <p:cNvPr id="22" name="Text 20"/>
          <p:cNvSpPr/>
          <p:nvPr/>
        </p:nvSpPr>
        <p:spPr>
          <a:xfrm>
            <a:off x="914400" y="2358875"/>
            <a:ext cx="5926931" cy="125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825" dirty="0">
                <a:solidFill>
                  <a:srgbClr val="6B6B6B"/>
                </a:solidFill>
              </a:rPr>
              <a:t>29.4</a:t>
            </a:r>
            <a:endParaRPr lang="en-US" sz="825" dirty="0"/>
          </a:p>
        </p:txBody>
      </p:sp>
      <p:sp>
        <p:nvSpPr>
          <p:cNvPr id="23" name="Shape 21"/>
          <p:cNvSpPr/>
          <p:nvPr/>
        </p:nvSpPr>
        <p:spPr>
          <a:xfrm>
            <a:off x="4183856" y="3096198"/>
            <a:ext cx="535781" cy="551877"/>
          </a:xfrm>
          <a:prstGeom prst="rect">
            <a:avLst/>
          </a:prstGeom>
          <a:solidFill>
            <a:srgbClr val="051C2C"/>
          </a:solidFill>
          <a:ln/>
        </p:spPr>
      </p:sp>
      <p:sp>
        <p:nvSpPr>
          <p:cNvPr id="24" name="Text 22"/>
          <p:cNvSpPr/>
          <p:nvPr/>
        </p:nvSpPr>
        <p:spPr>
          <a:xfrm>
            <a:off x="914400" y="2974278"/>
            <a:ext cx="7074694" cy="125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825" dirty="0">
                <a:solidFill>
                  <a:srgbClr val="6B6B6B"/>
                </a:solidFill>
              </a:rPr>
              <a:t>13.9</a:t>
            </a:r>
            <a:endParaRPr lang="en-US" sz="825" dirty="0"/>
          </a:p>
        </p:txBody>
      </p:sp>
      <p:sp>
        <p:nvSpPr>
          <p:cNvPr id="25" name="Text 23"/>
          <p:cNvSpPr/>
          <p:nvPr/>
        </p:nvSpPr>
        <p:spPr>
          <a:xfrm>
            <a:off x="914400" y="3697605"/>
            <a:ext cx="6500813" cy="125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825" dirty="0">
                <a:solidFill>
                  <a:srgbClr val="6B6B6B"/>
                </a:solidFill>
              </a:rPr>
              <a:t>私行AUM占比%</a:t>
            </a:r>
            <a:endParaRPr lang="en-US" sz="825" dirty="0"/>
          </a:p>
        </p:txBody>
      </p:sp>
      <p:sp>
        <p:nvSpPr>
          <p:cNvPr id="26" name="Shape 24"/>
          <p:cNvSpPr/>
          <p:nvPr/>
        </p:nvSpPr>
        <p:spPr>
          <a:xfrm>
            <a:off x="4795838" y="2854007"/>
            <a:ext cx="535781" cy="794068"/>
          </a:xfrm>
          <a:prstGeom prst="rect">
            <a:avLst/>
          </a:prstGeom>
          <a:solidFill>
            <a:srgbClr val="6C6C6C"/>
          </a:solidFill>
          <a:ln/>
        </p:spPr>
      </p:sp>
      <p:sp>
        <p:nvSpPr>
          <p:cNvPr id="27" name="Text 25"/>
          <p:cNvSpPr/>
          <p:nvPr/>
        </p:nvSpPr>
        <p:spPr>
          <a:xfrm>
            <a:off x="914400" y="2732087"/>
            <a:ext cx="8298656" cy="125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825" dirty="0">
                <a:solidFill>
                  <a:srgbClr val="6B6B6B"/>
                </a:solidFill>
              </a:rPr>
              <a:t>20</a:t>
            </a:r>
            <a:endParaRPr lang="en-US" sz="825" dirty="0"/>
          </a:p>
        </p:txBody>
      </p:sp>
      <p:sp>
        <p:nvSpPr>
          <p:cNvPr id="28" name="Shape 26"/>
          <p:cNvSpPr/>
          <p:nvPr/>
        </p:nvSpPr>
        <p:spPr>
          <a:xfrm>
            <a:off x="5369719" y="3386827"/>
            <a:ext cx="535781" cy="261248"/>
          </a:xfrm>
          <a:prstGeom prst="rect">
            <a:avLst/>
          </a:prstGeom>
          <a:solidFill>
            <a:srgbClr val="051C2C"/>
          </a:solidFill>
          <a:ln/>
        </p:spPr>
      </p:sp>
      <p:sp>
        <p:nvSpPr>
          <p:cNvPr id="29" name="Text 27"/>
          <p:cNvSpPr/>
          <p:nvPr/>
        </p:nvSpPr>
        <p:spPr>
          <a:xfrm>
            <a:off x="914400" y="3264907"/>
            <a:ext cx="9446419" cy="125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825" dirty="0">
                <a:solidFill>
                  <a:srgbClr val="6B6B6B"/>
                </a:solidFill>
              </a:rPr>
              <a:t>6.58</a:t>
            </a:r>
            <a:endParaRPr lang="en-US" sz="825" dirty="0"/>
          </a:p>
        </p:txBody>
      </p:sp>
      <p:sp>
        <p:nvSpPr>
          <p:cNvPr id="30" name="Text 28"/>
          <p:cNvSpPr/>
          <p:nvPr/>
        </p:nvSpPr>
        <p:spPr>
          <a:xfrm>
            <a:off x="914400" y="3697605"/>
            <a:ext cx="8872538" cy="125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825" dirty="0">
                <a:solidFill>
                  <a:srgbClr val="6B6B6B"/>
                </a:solidFill>
              </a:rPr>
              <a:t>对公理财(百亿)</a:t>
            </a:r>
            <a:endParaRPr lang="en-US" sz="825" dirty="0"/>
          </a:p>
        </p:txBody>
      </p:sp>
      <p:sp>
        <p:nvSpPr>
          <p:cNvPr id="31" name="Text 29"/>
          <p:cNvSpPr/>
          <p:nvPr/>
        </p:nvSpPr>
        <p:spPr>
          <a:xfrm>
            <a:off x="914400" y="3888105"/>
            <a:ext cx="5314950" cy="125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825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指标</a:t>
            </a:r>
            <a:endParaRPr lang="en-US" sz="825" dirty="0"/>
          </a:p>
        </p:txBody>
      </p:sp>
      <p:sp>
        <p:nvSpPr>
          <p:cNvPr id="32" name="Text 30"/>
          <p:cNvSpPr/>
          <p:nvPr/>
        </p:nvSpPr>
        <p:spPr>
          <a:xfrm>
            <a:off x="914400" y="2530793"/>
            <a:ext cx="190500" cy="125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825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</a:t>
            </a:r>
            <a:endParaRPr lang="en-US" sz="825" dirty="0"/>
          </a:p>
        </p:txBody>
      </p:sp>
      <p:sp>
        <p:nvSpPr>
          <p:cNvPr id="33" name="Text 31"/>
          <p:cNvSpPr/>
          <p:nvPr/>
        </p:nvSpPr>
        <p:spPr>
          <a:xfrm>
            <a:off x="914400" y="2654618"/>
            <a:ext cx="190500" cy="125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825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值</a:t>
            </a:r>
            <a:endParaRPr lang="en-US" sz="825" dirty="0"/>
          </a:p>
        </p:txBody>
      </p:sp>
      <p:sp>
        <p:nvSpPr>
          <p:cNvPr id="34" name="Shape 32"/>
          <p:cNvSpPr/>
          <p:nvPr/>
        </p:nvSpPr>
        <p:spPr>
          <a:xfrm>
            <a:off x="1200150" y="4105275"/>
            <a:ext cx="95250" cy="95250"/>
          </a:xfrm>
          <a:prstGeom prst="rect">
            <a:avLst/>
          </a:prstGeom>
          <a:solidFill>
            <a:srgbClr val="6C6C6C"/>
          </a:solidFill>
          <a:ln/>
        </p:spPr>
      </p:sp>
      <p:sp>
        <p:nvSpPr>
          <p:cNvPr id="35" name="Text 33"/>
          <p:cNvSpPr/>
          <p:nvPr/>
        </p:nvSpPr>
        <p:spPr>
          <a:xfrm>
            <a:off x="1352550" y="4116705"/>
            <a:ext cx="11753850" cy="125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25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宁波银行</a:t>
            </a:r>
            <a:endParaRPr lang="en-US" sz="825" dirty="0"/>
          </a:p>
        </p:txBody>
      </p:sp>
      <p:sp>
        <p:nvSpPr>
          <p:cNvPr id="36" name="Shape 34"/>
          <p:cNvSpPr/>
          <p:nvPr/>
        </p:nvSpPr>
        <p:spPr>
          <a:xfrm>
            <a:off x="2438400" y="4105275"/>
            <a:ext cx="95250" cy="95250"/>
          </a:xfrm>
          <a:prstGeom prst="rect">
            <a:avLst/>
          </a:prstGeom>
          <a:solidFill>
            <a:srgbClr val="051C2C"/>
          </a:solidFill>
          <a:ln/>
        </p:spPr>
      </p:sp>
      <p:sp>
        <p:nvSpPr>
          <p:cNvPr id="37" name="Text 35"/>
          <p:cNvSpPr/>
          <p:nvPr/>
        </p:nvSpPr>
        <p:spPr>
          <a:xfrm>
            <a:off x="2590800" y="4116705"/>
            <a:ext cx="10515600" cy="125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25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我行</a:t>
            </a:r>
            <a:endParaRPr lang="en-US" sz="825" dirty="0"/>
          </a:p>
        </p:txBody>
      </p:sp>
      <p:sp>
        <p:nvSpPr>
          <p:cNvPr id="38" name="Text 36"/>
          <p:cNvSpPr/>
          <p:nvPr/>
        </p:nvSpPr>
        <p:spPr>
          <a:xfrm>
            <a:off x="6248400" y="1609725"/>
            <a:ext cx="1219200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875" dirty="0">
                <a:solidFill>
                  <a:srgbClr val="051C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负债端：宁波存款成本率 1.32%（降</a:t>
            </a:r>
            <a:endParaRPr lang="en-US" sz="1875" dirty="0"/>
          </a:p>
        </p:txBody>
      </p:sp>
      <p:sp>
        <p:nvSpPr>
          <p:cNvPr id="39" name="Text 37"/>
          <p:cNvSpPr/>
          <p:nvPr/>
        </p:nvSpPr>
        <p:spPr>
          <a:xfrm>
            <a:off x="6248400" y="1943100"/>
            <a:ext cx="1219200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875" dirty="0">
                <a:solidFill>
                  <a:srgbClr val="051C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39bp）、活期占比 35.57%</a:t>
            </a:r>
            <a:endParaRPr lang="en-US" sz="1875" dirty="0"/>
          </a:p>
        </p:txBody>
      </p:sp>
      <p:sp>
        <p:nvSpPr>
          <p:cNvPr id="40" name="Text 38"/>
          <p:cNvSpPr/>
          <p:nvPr/>
        </p:nvSpPr>
        <p:spPr>
          <a:xfrm>
            <a:off x="6248400" y="2352675"/>
            <a:ext cx="1219200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875" dirty="0">
                <a:solidFill>
                  <a:srgbClr val="051C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中收端：代理类收入 49.9 亿（高我行 29.1</a:t>
            </a:r>
            <a:endParaRPr lang="en-US" sz="1875" dirty="0"/>
          </a:p>
        </p:txBody>
      </p:sp>
      <p:sp>
        <p:nvSpPr>
          <p:cNvPr id="41" name="Text 39"/>
          <p:cNvSpPr/>
          <p:nvPr/>
        </p:nvSpPr>
        <p:spPr>
          <a:xfrm>
            <a:off x="6248400" y="2686050"/>
            <a:ext cx="1219200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875" dirty="0">
                <a:solidFill>
                  <a:srgbClr val="051C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亿）占中收 85%</a:t>
            </a:r>
            <a:endParaRPr lang="en-US" sz="1875" dirty="0"/>
          </a:p>
        </p:txBody>
      </p:sp>
      <p:sp>
        <p:nvSpPr>
          <p:cNvPr id="42" name="Text 40"/>
          <p:cNvSpPr/>
          <p:nvPr/>
        </p:nvSpPr>
        <p:spPr>
          <a:xfrm>
            <a:off x="6248400" y="3095625"/>
            <a:ext cx="1219200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875" dirty="0">
                <a:solidFill>
                  <a:srgbClr val="051C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财富/对公：私行 AUM 4206 亿占 29.4% vs</a:t>
            </a:r>
            <a:endParaRPr lang="en-US" sz="1875" dirty="0"/>
          </a:p>
        </p:txBody>
      </p:sp>
      <p:sp>
        <p:nvSpPr>
          <p:cNvPr id="43" name="Text 41"/>
          <p:cNvSpPr/>
          <p:nvPr/>
        </p:nvSpPr>
        <p:spPr>
          <a:xfrm>
            <a:off x="6248400" y="3429000"/>
            <a:ext cx="1219200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875" dirty="0">
                <a:solidFill>
                  <a:srgbClr val="051C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2552 亿/13.9%；对公理财 2000 亿+ vs 658 亿</a:t>
            </a:r>
            <a:endParaRPr lang="en-US" sz="1875" dirty="0"/>
          </a:p>
        </p:txBody>
      </p:sp>
      <p:sp>
        <p:nvSpPr>
          <p:cNvPr id="44" name="Shape 42"/>
          <p:cNvSpPr/>
          <p:nvPr/>
        </p:nvSpPr>
        <p:spPr>
          <a:xfrm>
            <a:off x="533400" y="6324600"/>
            <a:ext cx="11125200" cy="0"/>
          </a:xfrm>
          <a:prstGeom prst="line">
            <a:avLst/>
          </a:prstGeom>
          <a:noFill/>
          <a:ln w="11430">
            <a:solidFill>
              <a:srgbClr val="D5D5C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3340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Internal · 江苏银行</a:t>
            </a:r>
            <a:endParaRPr lang="en-US" sz="1500" dirty="0"/>
          </a:p>
        </p:txBody>
      </p:sp>
      <p:sp>
        <p:nvSpPr>
          <p:cNvPr id="46" name="Text 44"/>
          <p:cNvSpPr/>
          <p:nvPr/>
        </p:nvSpPr>
        <p:spPr>
          <a:xfrm>
            <a:off x="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正式稿 · 2026-08-27</a:t>
            </a:r>
            <a:endParaRPr lang="en-US" sz="1500" dirty="0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2133600"/>
          </a:xfrm>
          <a:prstGeom prst="rect">
            <a:avLst/>
          </a:prstGeom>
          <a:solidFill>
            <a:srgbClr val="051C2C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426720"/>
            <a:ext cx="1127760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形势判断与关键事实：三低时代，差距在经营逻辑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914400" y="807720"/>
            <a:ext cx="11277600" cy="502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样板就在腹地：逻辑已经跑通</a:t>
            </a:r>
            <a:endParaRPr lang="en-US" sz="3300" dirty="0"/>
          </a:p>
        </p:txBody>
      </p:sp>
      <p:sp>
        <p:nvSpPr>
          <p:cNvPr id="6" name="Shape 4"/>
          <p:cNvSpPr/>
          <p:nvPr/>
        </p:nvSpPr>
        <p:spPr>
          <a:xfrm>
            <a:off x="914400" y="2286000"/>
            <a:ext cx="2476500" cy="140970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1143000" y="2286000"/>
            <a:ext cx="304800" cy="28575"/>
          </a:xfrm>
          <a:prstGeom prst="roundRect">
            <a:avLst>
              <a:gd name="adj" fmla="val 50000"/>
            </a:avLst>
          </a:prstGeom>
          <a:solidFill>
            <a:srgbClr val="7A5A0E"/>
          </a:solidFill>
          <a:ln/>
        </p:spPr>
      </p:sp>
      <p:sp>
        <p:nvSpPr>
          <p:cNvPr id="8" name="Shape 6"/>
          <p:cNvSpPr/>
          <p:nvPr/>
        </p:nvSpPr>
        <p:spPr>
          <a:xfrm>
            <a:off x="1238250" y="2590800"/>
            <a:ext cx="38100" cy="7144"/>
          </a:xfrm>
          <a:custGeom>
            <a:avLst/>
            <a:gdLst/>
            <a:ahLst/>
            <a:cxnLst/>
            <a:rect l="l" t="t" r="r" b="b"/>
            <a:pathLst>
              <a:path w="38100" h="7144">
                <a:moveTo>
                  <a:pt x="0" y="0"/>
                </a:moveTo>
                <a:lnTo>
                  <a:pt x="38100" y="0"/>
                </a:lnTo>
              </a:path>
            </a:pathLst>
          </a:custGeom>
          <a:noFill/>
          <a:ln w="19050">
            <a:solidFill>
              <a:srgbClr val="051C2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238250" y="2552700"/>
            <a:ext cx="38100" cy="7144"/>
          </a:xfrm>
          <a:custGeom>
            <a:avLst/>
            <a:gdLst/>
            <a:ahLst/>
            <a:cxnLst/>
            <a:rect l="l" t="t" r="r" b="b"/>
            <a:pathLst>
              <a:path w="38100" h="7144">
                <a:moveTo>
                  <a:pt x="0" y="0"/>
                </a:moveTo>
                <a:lnTo>
                  <a:pt x="38100" y="0"/>
                </a:lnTo>
              </a:path>
            </a:pathLst>
          </a:custGeom>
          <a:noFill/>
          <a:ln w="19050">
            <a:solidFill>
              <a:srgbClr val="051C2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238250" y="2628900"/>
            <a:ext cx="38100" cy="47625"/>
          </a:xfrm>
          <a:custGeom>
            <a:avLst/>
            <a:gdLst/>
            <a:ahLst/>
            <a:cxnLst/>
            <a:rect l="l" t="t" r="r" b="b"/>
            <a:pathLst>
              <a:path w="38100" h="47625">
                <a:moveTo>
                  <a:pt x="38100" y="47625"/>
                </a:moveTo>
                <a:lnTo>
                  <a:pt x="38100" y="19050"/>
                </a:lnTo>
                <a:arcTo hR="19050" wR="19050" stAng="0" swAng="-10800000"/>
                <a:lnTo>
                  <a:pt x="0" y="47625"/>
                </a:lnTo>
              </a:path>
            </a:pathLst>
          </a:custGeom>
          <a:noFill/>
          <a:ln w="19050">
            <a:solidFill>
              <a:srgbClr val="051C2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62050" y="2543175"/>
            <a:ext cx="190500" cy="133350"/>
          </a:xfrm>
          <a:custGeom>
            <a:avLst/>
            <a:gdLst/>
            <a:ahLst/>
            <a:cxnLst/>
            <a:rect l="l" t="t" r="r" b="b"/>
            <a:pathLst>
              <a:path w="190500" h="133350">
                <a:moveTo>
                  <a:pt x="38100" y="28575"/>
                </a:moveTo>
                <a:lnTo>
                  <a:pt x="19050" y="28575"/>
                </a:lnTo>
                <a:arcTo hR="19050" wR="19050" stAng="16200000" swAng="-5400000"/>
                <a:lnTo>
                  <a:pt x="0" y="114300"/>
                </a:lnTo>
                <a:arcTo hR="19050" wR="19050" stAng="10800000" swAng="-5400000"/>
                <a:lnTo>
                  <a:pt x="171450" y="133350"/>
                </a:lnTo>
                <a:arcTo hR="19050" wR="19050" stAng="5400000" swAng="-5400000"/>
                <a:lnTo>
                  <a:pt x="190500" y="19050"/>
                </a:lnTo>
                <a:arcTo hR="19050" wR="19050" stAng="0" swAng="-5400000"/>
                <a:lnTo>
                  <a:pt x="152400" y="0"/>
                </a:lnTo>
              </a:path>
            </a:pathLst>
          </a:custGeom>
          <a:noFill/>
          <a:ln w="19050">
            <a:solidFill>
              <a:srgbClr val="051C2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200150" y="2505075"/>
            <a:ext cx="114300" cy="171450"/>
          </a:xfrm>
          <a:custGeom>
            <a:avLst/>
            <a:gdLst/>
            <a:ahLst/>
            <a:cxnLst/>
            <a:rect l="l" t="t" r="r" b="b"/>
            <a:pathLst>
              <a:path w="114300" h="171450">
                <a:moveTo>
                  <a:pt x="0" y="171450"/>
                </a:moveTo>
                <a:lnTo>
                  <a:pt x="0" y="19050"/>
                </a:lnTo>
                <a:arcTo hR="19050" wR="19050" stAng="10800000" swAng="5400000"/>
                <a:lnTo>
                  <a:pt x="95250" y="0"/>
                </a:lnTo>
                <a:arcTo hR="19050" wR="19050" stAng="16200000" swAng="5400000"/>
                <a:lnTo>
                  <a:pt x="114300" y="171450"/>
                </a:lnTo>
              </a:path>
            </a:pathLst>
          </a:custGeom>
          <a:noFill/>
          <a:ln w="19050">
            <a:solidFill>
              <a:srgbClr val="051C2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43000" y="2857500"/>
            <a:ext cx="119634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51C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波波知了 · 经营侧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143000" y="3181350"/>
            <a:ext cx="119634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企业外部经营综合企服：出海对接、节能规划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1143000" y="3314700"/>
            <a:ext cx="1196340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、AI 赋能，聚焦江浙沪制造/科技/外贸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3543300" y="2286000"/>
            <a:ext cx="2476500" cy="140970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/>
        </p:spPr>
      </p:sp>
      <p:sp>
        <p:nvSpPr>
          <p:cNvPr id="17" name="Shape 15"/>
          <p:cNvSpPr/>
          <p:nvPr/>
        </p:nvSpPr>
        <p:spPr>
          <a:xfrm>
            <a:off x="3771900" y="2286000"/>
            <a:ext cx="304800" cy="28575"/>
          </a:xfrm>
          <a:prstGeom prst="roundRect">
            <a:avLst>
              <a:gd name="adj" fmla="val 50000"/>
            </a:avLst>
          </a:prstGeom>
          <a:solidFill>
            <a:srgbClr val="7A5A0E"/>
          </a:solidFill>
          <a:ln/>
        </p:spPr>
      </p:sp>
      <p:sp>
        <p:nvSpPr>
          <p:cNvPr id="18" name="Shape 16"/>
          <p:cNvSpPr/>
          <p:nvPr/>
        </p:nvSpPr>
        <p:spPr>
          <a:xfrm>
            <a:off x="3790950" y="2600325"/>
            <a:ext cx="152400" cy="76200"/>
          </a:xfrm>
          <a:custGeom>
            <a:avLst/>
            <a:gdLst/>
            <a:ahLst/>
            <a:cxnLst/>
            <a:rect l="l" t="t" r="r" b="b"/>
            <a:pathLst>
              <a:path w="152400" h="76200">
                <a:moveTo>
                  <a:pt x="152400" y="76200"/>
                </a:moveTo>
                <a:arcTo hR="76200" wR="76200" stAng="0" swAng="-10800000"/>
              </a:path>
            </a:pathLst>
          </a:custGeom>
          <a:noFill/>
          <a:ln w="19050">
            <a:solidFill>
              <a:srgbClr val="051C2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819525" y="2505075"/>
            <a:ext cx="95250" cy="95250"/>
          </a:xfrm>
          <a:prstGeom prst="ellipse">
            <a:avLst/>
          </a:prstGeom>
          <a:noFill/>
          <a:ln w="19050">
            <a:solidFill>
              <a:srgbClr val="051C2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939064" y="2511743"/>
            <a:ext cx="42386" cy="155258"/>
          </a:xfrm>
          <a:custGeom>
            <a:avLst/>
            <a:gdLst/>
            <a:ahLst/>
            <a:cxnLst/>
            <a:rect l="l" t="t" r="r" b="b"/>
            <a:pathLst>
              <a:path w="42386" h="155258">
                <a:moveTo>
                  <a:pt x="42386" y="155258"/>
                </a:moveTo>
                <a:cubicBezTo>
                  <a:pt x="42386" y="123158"/>
                  <a:pt x="23336" y="93345"/>
                  <a:pt x="4286" y="79058"/>
                </a:cubicBezTo>
                <a:arcTo hR="47625" wR="47625" stAng="3187248" swAng="-6746899"/>
              </a:path>
            </a:pathLst>
          </a:custGeom>
          <a:noFill/>
          <a:ln w="19050">
            <a:solidFill>
              <a:srgbClr val="051C2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771900" y="2857500"/>
            <a:ext cx="93345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51C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数字人力 · 组织侧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3771900" y="3183255"/>
            <a:ext cx="9334500" cy="125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25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企业内部组织运营与人薪税费：只撮合不</a:t>
            </a:r>
            <a:endParaRPr lang="en-US" sz="825" dirty="0"/>
          </a:p>
        </p:txBody>
      </p:sp>
      <p:sp>
        <p:nvSpPr>
          <p:cNvPr id="23" name="Text 21"/>
          <p:cNvSpPr/>
          <p:nvPr/>
        </p:nvSpPr>
        <p:spPr>
          <a:xfrm>
            <a:off x="3771900" y="3326130"/>
            <a:ext cx="9334500" cy="125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25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交付、不收服务费，2026 年底上线</a:t>
            </a:r>
            <a:endParaRPr lang="en-US" sz="825" dirty="0"/>
          </a:p>
        </p:txBody>
      </p:sp>
      <p:sp>
        <p:nvSpPr>
          <p:cNvPr id="24" name="Shape 22"/>
          <p:cNvSpPr/>
          <p:nvPr/>
        </p:nvSpPr>
        <p:spPr>
          <a:xfrm>
            <a:off x="6172200" y="2286000"/>
            <a:ext cx="2476500" cy="140970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/>
        </p:spPr>
      </p:sp>
      <p:sp>
        <p:nvSpPr>
          <p:cNvPr id="25" name="Shape 23"/>
          <p:cNvSpPr/>
          <p:nvPr/>
        </p:nvSpPr>
        <p:spPr>
          <a:xfrm>
            <a:off x="6400800" y="2286000"/>
            <a:ext cx="304800" cy="28575"/>
          </a:xfrm>
          <a:prstGeom prst="roundRect">
            <a:avLst>
              <a:gd name="adj" fmla="val 50000"/>
            </a:avLst>
          </a:prstGeom>
          <a:solidFill>
            <a:srgbClr val="7A5A0E"/>
          </a:solidFill>
          <a:ln/>
        </p:spPr>
      </p:sp>
      <p:sp>
        <p:nvSpPr>
          <p:cNvPr id="26" name="Shape 24"/>
          <p:cNvSpPr/>
          <p:nvPr/>
        </p:nvSpPr>
        <p:spPr>
          <a:xfrm>
            <a:off x="6505575" y="2628900"/>
            <a:ext cx="53543" cy="34493"/>
          </a:xfrm>
          <a:custGeom>
            <a:avLst/>
            <a:gdLst/>
            <a:ahLst/>
            <a:cxnLst/>
            <a:rect l="l" t="t" r="r" b="b"/>
            <a:pathLst>
              <a:path w="53543" h="34493">
                <a:moveTo>
                  <a:pt x="0" y="9525"/>
                </a:moveTo>
                <a:lnTo>
                  <a:pt x="19050" y="28575"/>
                </a:lnTo>
                <a:arcTo hR="20206" wR="20206" stAng="8100000" swAng="-10800000"/>
              </a:path>
            </a:pathLst>
          </a:custGeom>
          <a:noFill/>
          <a:ln w="19050">
            <a:solidFill>
              <a:srgbClr val="051C2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466319" y="2505070"/>
            <a:ext cx="134506" cy="134510"/>
          </a:xfrm>
          <a:custGeom>
            <a:avLst/>
            <a:gdLst/>
            <a:ahLst/>
            <a:cxnLst/>
            <a:rect l="l" t="t" r="r" b="b"/>
            <a:pathLst>
              <a:path w="134506" h="134510">
                <a:moveTo>
                  <a:pt x="67831" y="104780"/>
                </a:moveTo>
                <a:lnTo>
                  <a:pt x="91643" y="128592"/>
                </a:lnTo>
                <a:arcTo hR="20206" wR="20206" stAng="8100000" swAng="-10800000"/>
                <a:lnTo>
                  <a:pt x="83261" y="63060"/>
                </a:lnTo>
                <a:arcTo hR="28575" wR="28575" stAng="18897861" swAng="-5395722"/>
                <a:lnTo>
                  <a:pt x="34493" y="71442"/>
                </a:lnTo>
                <a:arcTo hR="20206" wR="20206" stAng="2700000" swAng="10800000"/>
                <a:lnTo>
                  <a:pt x="32683" y="16102"/>
                </a:lnTo>
                <a:arcTo hR="55150" wR="55150" stAng="13504501" swAng="4547985"/>
                <a:lnTo>
                  <a:pt x="104407" y="10482"/>
                </a:lnTo>
                <a:arcTo hR="19050" wR="19050" stAng="7266804" swAng="-2535412"/>
                <a:lnTo>
                  <a:pt x="134506" y="9530"/>
                </a:lnTo>
              </a:path>
            </a:pathLst>
          </a:custGeom>
          <a:noFill/>
          <a:ln w="19050">
            <a:solidFill>
              <a:srgbClr val="051C2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591300" y="2505075"/>
            <a:ext cx="19050" cy="104775"/>
          </a:xfrm>
          <a:custGeom>
            <a:avLst/>
            <a:gdLst/>
            <a:ahLst/>
            <a:cxnLst/>
            <a:rect l="l" t="t" r="r" b="b"/>
            <a:pathLst>
              <a:path w="19050" h="104775">
                <a:moveTo>
                  <a:pt x="9525" y="0"/>
                </a:moveTo>
                <a:lnTo>
                  <a:pt x="19050" y="104775"/>
                </a:lnTo>
                <a:lnTo>
                  <a:pt x="0" y="104775"/>
                </a:lnTo>
              </a:path>
            </a:pathLst>
          </a:custGeom>
          <a:noFill/>
          <a:ln w="19050">
            <a:solidFill>
              <a:srgbClr val="051C2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419850" y="2505075"/>
            <a:ext cx="96406" cy="172606"/>
          </a:xfrm>
          <a:custGeom>
            <a:avLst/>
            <a:gdLst/>
            <a:ahLst/>
            <a:cxnLst/>
            <a:rect l="l" t="t" r="r" b="b"/>
            <a:pathLst>
              <a:path w="96406" h="172606">
                <a:moveTo>
                  <a:pt x="9525" y="0"/>
                </a:moveTo>
                <a:lnTo>
                  <a:pt x="0" y="104775"/>
                </a:lnTo>
                <a:lnTo>
                  <a:pt x="61912" y="166688"/>
                </a:lnTo>
                <a:arcTo hR="20206" wR="20206" stAng="8100000" swAng="-10800000"/>
              </a:path>
            </a:pathLst>
          </a:custGeom>
          <a:noFill/>
          <a:ln w="19050">
            <a:solidFill>
              <a:srgbClr val="051C2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429375" y="2514600"/>
            <a:ext cx="76200" cy="7144"/>
          </a:xfrm>
          <a:custGeom>
            <a:avLst/>
            <a:gdLst/>
            <a:ahLst/>
            <a:cxnLst/>
            <a:rect l="l" t="t" r="r" b="b"/>
            <a:pathLst>
              <a:path w="76200" h="7144">
                <a:moveTo>
                  <a:pt x="0" y="0"/>
                </a:moveTo>
                <a:lnTo>
                  <a:pt x="76200" y="0"/>
                </a:lnTo>
              </a:path>
            </a:pathLst>
          </a:custGeom>
          <a:noFill/>
          <a:ln w="19050">
            <a:solidFill>
              <a:srgbClr val="051C2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00800" y="2857500"/>
            <a:ext cx="6705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51C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政银协同获客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6400800" y="3183255"/>
            <a:ext cx="6705600" cy="125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25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政府园区招商联动，把政策资源变成获客</a:t>
            </a:r>
            <a:endParaRPr lang="en-US" sz="825" dirty="0"/>
          </a:p>
        </p:txBody>
      </p:sp>
      <p:sp>
        <p:nvSpPr>
          <p:cNvPr id="33" name="Text 31"/>
          <p:cNvSpPr/>
          <p:nvPr/>
        </p:nvSpPr>
        <p:spPr>
          <a:xfrm>
            <a:off x="6400800" y="3326130"/>
            <a:ext cx="6705600" cy="125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25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入口；南京约 2 万家企业已跑通</a:t>
            </a:r>
            <a:endParaRPr lang="en-US" sz="825" dirty="0"/>
          </a:p>
        </p:txBody>
      </p:sp>
      <p:sp>
        <p:nvSpPr>
          <p:cNvPr id="34" name="Shape 32"/>
          <p:cNvSpPr/>
          <p:nvPr/>
        </p:nvSpPr>
        <p:spPr>
          <a:xfrm>
            <a:off x="8801100" y="2286000"/>
            <a:ext cx="2476500" cy="140970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/>
        </p:spPr>
      </p:sp>
      <p:sp>
        <p:nvSpPr>
          <p:cNvPr id="35" name="Shape 33"/>
          <p:cNvSpPr/>
          <p:nvPr/>
        </p:nvSpPr>
        <p:spPr>
          <a:xfrm>
            <a:off x="9029700" y="2286000"/>
            <a:ext cx="304800" cy="28575"/>
          </a:xfrm>
          <a:prstGeom prst="roundRect">
            <a:avLst>
              <a:gd name="adj" fmla="val 50000"/>
            </a:avLst>
          </a:prstGeom>
          <a:solidFill>
            <a:srgbClr val="7A5A0E"/>
          </a:solidFill>
          <a:ln/>
        </p:spPr>
      </p:sp>
      <p:sp>
        <p:nvSpPr>
          <p:cNvPr id="36" name="Shape 34"/>
          <p:cNvSpPr/>
          <p:nvPr/>
        </p:nvSpPr>
        <p:spPr>
          <a:xfrm>
            <a:off x="9048750" y="2533650"/>
            <a:ext cx="190500" cy="114300"/>
          </a:xfrm>
          <a:prstGeom prst="roundRect">
            <a:avLst>
              <a:gd name="adj" fmla="val 16667"/>
            </a:avLst>
          </a:prstGeom>
          <a:noFill/>
          <a:ln w="19050">
            <a:solidFill>
              <a:srgbClr val="051C2C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9124950" y="2571750"/>
            <a:ext cx="38100" cy="38100"/>
          </a:xfrm>
          <a:prstGeom prst="ellipse">
            <a:avLst/>
          </a:prstGeom>
          <a:noFill/>
          <a:ln w="19050">
            <a:solidFill>
              <a:srgbClr val="051C2C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9086850" y="2590800"/>
            <a:ext cx="114395" cy="7144"/>
          </a:xfrm>
          <a:custGeom>
            <a:avLst/>
            <a:gdLst/>
            <a:ahLst/>
            <a:cxnLst/>
            <a:rect l="l" t="t" r="r" b="b"/>
            <a:pathLst>
              <a:path w="114395" h="7144">
                <a:moveTo>
                  <a:pt x="0" y="0"/>
                </a:moveTo>
                <a:lnTo>
                  <a:pt x="95" y="0"/>
                </a:lnTo>
                <a:moveTo>
                  <a:pt x="114300" y="0"/>
                </a:moveTo>
                <a:lnTo>
                  <a:pt x="114395" y="0"/>
                </a:lnTo>
              </a:path>
            </a:pathLst>
          </a:custGeom>
          <a:noFill/>
          <a:ln w="19050">
            <a:solidFill>
              <a:srgbClr val="051C2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029700" y="2857500"/>
            <a:ext cx="40767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51C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先服务后转化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9029700" y="3187065"/>
            <a:ext cx="4076700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免费服务换数据与信任，先撮合后交</a:t>
            </a:r>
            <a:endParaRPr lang="en-US" sz="975" dirty="0"/>
          </a:p>
        </p:txBody>
      </p:sp>
      <p:sp>
        <p:nvSpPr>
          <p:cNvPr id="41" name="Text 39"/>
          <p:cNvSpPr/>
          <p:nvPr/>
        </p:nvSpPr>
        <p:spPr>
          <a:xfrm>
            <a:off x="9029700" y="3358515"/>
            <a:ext cx="4076700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付；同一企业可同时使用双平台</a:t>
            </a:r>
            <a:endParaRPr lang="en-US" sz="975" dirty="0"/>
          </a:p>
        </p:txBody>
      </p:sp>
      <p:sp>
        <p:nvSpPr>
          <p:cNvPr id="42" name="Shape 40"/>
          <p:cNvSpPr/>
          <p:nvPr/>
        </p:nvSpPr>
        <p:spPr>
          <a:xfrm>
            <a:off x="1524000" y="3810000"/>
            <a:ext cx="9753600" cy="0"/>
          </a:xfrm>
          <a:prstGeom prst="line">
            <a:avLst/>
          </a:prstGeom>
          <a:noFill/>
          <a:ln w="9525">
            <a:solidFill>
              <a:srgbClr val="D5D5CB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914400" y="3790950"/>
            <a:ext cx="609600" cy="38100"/>
          </a:xfrm>
          <a:prstGeom prst="rect">
            <a:avLst/>
          </a:prstGeom>
          <a:solidFill>
            <a:srgbClr val="6B6B6B"/>
          </a:solidFill>
          <a:ln/>
        </p:spPr>
      </p:sp>
      <p:sp>
        <p:nvSpPr>
          <p:cNvPr id="44" name="Shape 42"/>
          <p:cNvSpPr/>
          <p:nvPr/>
        </p:nvSpPr>
        <p:spPr>
          <a:xfrm>
            <a:off x="949325" y="4065588"/>
            <a:ext cx="139700" cy="174623"/>
          </a:xfrm>
          <a:custGeom>
            <a:avLst/>
            <a:gdLst/>
            <a:ahLst/>
            <a:cxnLst/>
            <a:rect l="l" t="t" r="r" b="b"/>
            <a:pathLst>
              <a:path w="139700" h="174623">
                <a:moveTo>
                  <a:pt x="139700" y="69850"/>
                </a:moveTo>
                <a:cubicBezTo>
                  <a:pt x="139700" y="113445"/>
                  <a:pt x="91338" y="158848"/>
                  <a:pt x="75097" y="172870"/>
                </a:cubicBezTo>
                <a:arcTo hR="8731" wR="8731" stAng="3183507" swAng="4432986"/>
                <a:cubicBezTo>
                  <a:pt x="48362" y="158848"/>
                  <a:pt x="0" y="113445"/>
                  <a:pt x="0" y="69850"/>
                </a:cubicBezTo>
                <a:arcTo hR="69850" wR="69850" stAng="10800000" swAng="10800000"/>
              </a:path>
            </a:pathLst>
          </a:custGeom>
          <a:noFill/>
          <a:ln w="17463">
            <a:solidFill>
              <a:srgbClr val="6B6B6B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992981" y="4109244"/>
            <a:ext cx="52388" cy="52388"/>
          </a:xfrm>
          <a:prstGeom prst="ellipse">
            <a:avLst/>
          </a:prstGeom>
          <a:noFill/>
          <a:ln w="17463">
            <a:solidFill>
              <a:srgbClr val="6B6B6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276350" y="4034790"/>
            <a:ext cx="11830050" cy="3200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51C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按定稿口径，双平台按企业任务链分工（经营侧 /</a:t>
            </a:r>
            <a:endParaRPr lang="en-US" sz="2100" dirty="0"/>
          </a:p>
        </p:txBody>
      </p:sp>
      <p:sp>
        <p:nvSpPr>
          <p:cNvPr id="47" name="Text 45"/>
          <p:cNvSpPr/>
          <p:nvPr/>
        </p:nvSpPr>
        <p:spPr>
          <a:xfrm>
            <a:off x="1276350" y="4377690"/>
            <a:ext cx="11830050" cy="3200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51C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组织侧），严禁「高端/中低端客户分层」表述。</a:t>
            </a:r>
            <a:endParaRPr lang="en-US" sz="2100" dirty="0"/>
          </a:p>
        </p:txBody>
      </p:sp>
      <p:sp>
        <p:nvSpPr>
          <p:cNvPr id="48" name="Shape 46"/>
          <p:cNvSpPr/>
          <p:nvPr/>
        </p:nvSpPr>
        <p:spPr>
          <a:xfrm>
            <a:off x="914400" y="4914900"/>
            <a:ext cx="10363200" cy="1190625"/>
          </a:xfrm>
          <a:prstGeom prst="roundRect">
            <a:avLst>
              <a:gd name="adj" fmla="val 4800"/>
            </a:avLst>
          </a:prstGeom>
          <a:solidFill>
            <a:srgbClr val="051C2C"/>
          </a:solidFill>
          <a:ln/>
        </p:spPr>
      </p:sp>
      <p:sp>
        <p:nvSpPr>
          <p:cNvPr id="49" name="Shape 47"/>
          <p:cNvSpPr/>
          <p:nvPr/>
        </p:nvSpPr>
        <p:spPr>
          <a:xfrm>
            <a:off x="914400" y="4943475"/>
            <a:ext cx="10363200" cy="1162050"/>
          </a:xfrm>
          <a:prstGeom prst="roundRect">
            <a:avLst>
              <a:gd name="adj" fmla="val 4918"/>
            </a:avLst>
          </a:prstGeom>
          <a:solidFill>
            <a:srgbClr val="FFFFFF"/>
          </a:solidFill>
          <a:ln/>
        </p:spPr>
      </p:sp>
      <p:sp>
        <p:nvSpPr>
          <p:cNvPr id="50" name="Shape 48"/>
          <p:cNvSpPr/>
          <p:nvPr/>
        </p:nvSpPr>
        <p:spPr>
          <a:xfrm>
            <a:off x="1063538" y="5445163"/>
            <a:ext cx="158799" cy="158736"/>
          </a:xfrm>
          <a:custGeom>
            <a:avLst/>
            <a:gdLst/>
            <a:ahLst/>
            <a:cxnLst/>
            <a:rect l="l" t="t" r="r" b="b"/>
            <a:pathLst>
              <a:path w="158799" h="158736">
                <a:moveTo>
                  <a:pt x="14771" y="52508"/>
                </a:moveTo>
                <a:arcTo hR="31750" wR="31750" stAng="10049003" swAng="6909194"/>
                <a:arcTo hR="31750" wR="31750" stAng="12755696" swAng="6888608"/>
                <a:arcTo hR="31750" wR="31750" stAng="15439731" swAng="6920537"/>
                <a:arcTo hR="31750" wR="31750" stAng="18155696" swAng="6888608"/>
                <a:arcTo hR="31750" wR="31750" stAng="20841803" swAng="6909194"/>
                <a:arcTo hR="31750" wR="31750" stAng="1947705" swAng="6904591"/>
                <a:arcTo hR="31750" wR="31750" stAng="4641803" swAng="6909194"/>
                <a:arcTo hR="31750" wR="31750" stAng="7339684" swAng="6920632"/>
                <a:close/>
              </a:path>
            </a:pathLst>
          </a:custGeom>
          <a:noFill/>
          <a:ln w="15875">
            <a:solidFill>
              <a:srgbClr val="051C2C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143000" y="5524500"/>
            <a:ext cx="0" cy="31750"/>
          </a:xfrm>
          <a:prstGeom prst="line">
            <a:avLst/>
          </a:prstGeom>
          <a:noFill/>
          <a:ln w="15875">
            <a:solidFill>
              <a:srgbClr val="051C2C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143000" y="5492750"/>
            <a:ext cx="79" cy="0"/>
          </a:xfrm>
          <a:prstGeom prst="line">
            <a:avLst/>
          </a:prstGeom>
          <a:noFill/>
          <a:ln w="15875">
            <a:solidFill>
              <a:srgbClr val="051C2C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333500" y="5156835"/>
            <a:ext cx="11772900" cy="3657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051C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待核实：数字人力 2026</a:t>
            </a:r>
            <a:endParaRPr lang="en-US" sz="2400" dirty="0"/>
          </a:p>
        </p:txBody>
      </p:sp>
      <p:sp>
        <p:nvSpPr>
          <p:cNvPr id="54" name="Text 52"/>
          <p:cNvSpPr/>
          <p:nvPr/>
        </p:nvSpPr>
        <p:spPr>
          <a:xfrm>
            <a:off x="1333500" y="5585460"/>
            <a:ext cx="11772900" cy="3657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051C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年底上线的实际形态与服务细节未经访谈核实，仅作对标逻辑引用。</a:t>
            </a:r>
            <a:endParaRPr lang="en-US" sz="2400" dirty="0"/>
          </a:p>
        </p:txBody>
      </p:sp>
      <p:sp>
        <p:nvSpPr>
          <p:cNvPr id="55" name="Shape 53"/>
          <p:cNvSpPr/>
          <p:nvPr/>
        </p:nvSpPr>
        <p:spPr>
          <a:xfrm>
            <a:off x="533400" y="6324600"/>
            <a:ext cx="11125200" cy="0"/>
          </a:xfrm>
          <a:prstGeom prst="line">
            <a:avLst/>
          </a:prstGeom>
          <a:noFill/>
          <a:ln w="11430">
            <a:solidFill>
              <a:srgbClr val="D5D5CB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3340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Internal · 江苏银行</a:t>
            </a:r>
            <a:endParaRPr lang="en-US" sz="1500" dirty="0"/>
          </a:p>
        </p:txBody>
      </p:sp>
      <p:sp>
        <p:nvSpPr>
          <p:cNvPr id="57" name="Text 55"/>
          <p:cNvSpPr/>
          <p:nvPr/>
        </p:nvSpPr>
        <p:spPr>
          <a:xfrm>
            <a:off x="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正式稿 · 2026-08-27</a:t>
            </a:r>
            <a:endParaRPr lang="en-US" sz="1500" dirty="0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2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4210050"/>
            <a:ext cx="11658600" cy="2971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9500" b="1" dirty="0">
                <a:solidFill>
                  <a:srgbClr val="FFFFFF">
                    <a:alpha val="5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9500" dirty="0"/>
          </a:p>
        </p:txBody>
      </p:sp>
      <p:sp>
        <p:nvSpPr>
          <p:cNvPr id="4" name="Text 2"/>
          <p:cNvSpPr/>
          <p:nvPr/>
        </p:nvSpPr>
        <p:spPr>
          <a:xfrm>
            <a:off x="0" y="2827020"/>
            <a:ext cx="12192000" cy="960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6300" b="1" dirty="0">
                <a:solidFill>
                  <a:srgbClr val="0A0E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学什么与怎么学：一个入口</a:t>
            </a:r>
            <a:endParaRPr lang="en-US" sz="6300" dirty="0"/>
          </a:p>
        </p:txBody>
      </p:sp>
      <p:sp>
        <p:nvSpPr>
          <p:cNvPr id="5" name="Text 3"/>
          <p:cNvSpPr/>
          <p:nvPr/>
        </p:nvSpPr>
        <p:spPr>
          <a:xfrm>
            <a:off x="0" y="3693795"/>
            <a:ext cx="12192000" cy="960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6300" b="1" dirty="0">
                <a:solidFill>
                  <a:srgbClr val="0A0E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、两条转化链</a:t>
            </a:r>
            <a:endParaRPr lang="en-US" sz="6300" dirty="0"/>
          </a:p>
        </p:txBody>
      </p:sp>
      <p:sp>
        <p:nvSpPr>
          <p:cNvPr id="6" name="Shape 4"/>
          <p:cNvSpPr/>
          <p:nvPr/>
        </p:nvSpPr>
        <p:spPr>
          <a:xfrm>
            <a:off x="5334000" y="4791075"/>
            <a:ext cx="1524000" cy="0"/>
          </a:xfrm>
          <a:prstGeom prst="line">
            <a:avLst/>
          </a:prstGeom>
          <a:noFill/>
          <a:ln w="15240">
            <a:solidFill>
              <a:srgbClr val="7A5A0E">
                <a:alpha val="60000"/>
              </a:srgbClr>
            </a:solidFill>
            <a:prstDash val="solid"/>
          </a:ln>
        </p:spPr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2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784860"/>
            <a:ext cx="11277600" cy="1943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75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学什么与怎么学：一个入口、两条转化链</a:t>
            </a:r>
            <a:endParaRPr lang="en-US" sz="1275" dirty="0"/>
          </a:p>
        </p:txBody>
      </p:sp>
      <p:sp>
        <p:nvSpPr>
          <p:cNvPr id="4" name="Text 2"/>
          <p:cNvSpPr/>
          <p:nvPr/>
        </p:nvSpPr>
        <p:spPr>
          <a:xfrm>
            <a:off x="914400" y="1108710"/>
            <a:ext cx="11277600" cy="480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150" b="1" dirty="0">
                <a:solidFill>
                  <a:srgbClr val="051C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四条可迁移逻辑，形态坚决不学</a:t>
            </a:r>
            <a:endParaRPr lang="en-US" sz="3150" dirty="0"/>
          </a:p>
        </p:txBody>
      </p:sp>
      <p:sp>
        <p:nvSpPr>
          <p:cNvPr id="5" name="Shape 3"/>
          <p:cNvSpPr/>
          <p:nvPr/>
        </p:nvSpPr>
        <p:spPr>
          <a:xfrm>
            <a:off x="923925" y="1847850"/>
            <a:ext cx="0" cy="1285875"/>
          </a:xfrm>
          <a:prstGeom prst="line">
            <a:avLst/>
          </a:prstGeom>
          <a:noFill/>
          <a:ln w="19050">
            <a:solidFill>
              <a:srgbClr val="7A5A0E">
                <a:alpha val="6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23950" y="1874520"/>
            <a:ext cx="11982450" cy="3886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550" b="1" i="1" dirty="0">
                <a:solidFill>
                  <a:srgbClr val="7A5A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2550" dirty="0"/>
          </a:p>
        </p:txBody>
      </p:sp>
      <p:sp>
        <p:nvSpPr>
          <p:cNvPr id="7" name="Text 5"/>
          <p:cNvSpPr/>
          <p:nvPr/>
        </p:nvSpPr>
        <p:spPr>
          <a:xfrm>
            <a:off x="1123950" y="2301240"/>
            <a:ext cx="11982450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51C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任务链逻辑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1123950" y="2613660"/>
            <a:ext cx="11982450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从客户「要办成什么事」出发组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23950" y="2766060"/>
            <a:ext cx="11982450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织服务，而非从产品出发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23950" y="2971800"/>
            <a:ext cx="11982450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38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任务选择决定客户为什么打开</a:t>
            </a:r>
            <a:endParaRPr lang="en-US" sz="938" dirty="0"/>
          </a:p>
        </p:txBody>
      </p:sp>
      <p:sp>
        <p:nvSpPr>
          <p:cNvPr id="11" name="Shape 9"/>
          <p:cNvSpPr/>
          <p:nvPr/>
        </p:nvSpPr>
        <p:spPr>
          <a:xfrm>
            <a:off x="3086100" y="1847850"/>
            <a:ext cx="0" cy="1285875"/>
          </a:xfrm>
          <a:prstGeom prst="line">
            <a:avLst/>
          </a:prstGeom>
          <a:noFill/>
          <a:ln w="19050">
            <a:solidFill>
              <a:srgbClr val="7A5A0E">
                <a:alpha val="6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86125" y="1874520"/>
            <a:ext cx="9820275" cy="3886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550" b="1" i="1" dirty="0">
                <a:solidFill>
                  <a:srgbClr val="7A5A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2550" dirty="0"/>
          </a:p>
        </p:txBody>
      </p:sp>
      <p:sp>
        <p:nvSpPr>
          <p:cNvPr id="13" name="Text 11"/>
          <p:cNvSpPr/>
          <p:nvPr/>
        </p:nvSpPr>
        <p:spPr>
          <a:xfrm>
            <a:off x="3286125" y="2301240"/>
            <a:ext cx="9820275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51C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独立运营逻辑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3286125" y="2626995"/>
            <a:ext cx="9820275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专业团队配置，把平台当事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286125" y="2807970"/>
            <a:ext cx="9820275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业而非附属品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286125" y="3040380"/>
            <a:ext cx="9820275" cy="125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25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专业团队，平台是事业而非附属品</a:t>
            </a:r>
            <a:endParaRPr lang="en-US" sz="825" dirty="0"/>
          </a:p>
        </p:txBody>
      </p:sp>
      <p:sp>
        <p:nvSpPr>
          <p:cNvPr id="17" name="Shape 15"/>
          <p:cNvSpPr/>
          <p:nvPr/>
        </p:nvSpPr>
        <p:spPr>
          <a:xfrm>
            <a:off x="5248275" y="1847850"/>
            <a:ext cx="0" cy="1285875"/>
          </a:xfrm>
          <a:prstGeom prst="line">
            <a:avLst/>
          </a:prstGeom>
          <a:noFill/>
          <a:ln w="19050">
            <a:solidFill>
              <a:srgbClr val="7A5A0E">
                <a:alpha val="65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48300" y="1874520"/>
            <a:ext cx="7658100" cy="3886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550" b="1" i="1" dirty="0">
                <a:solidFill>
                  <a:srgbClr val="7A5A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2550" dirty="0"/>
          </a:p>
        </p:txBody>
      </p:sp>
      <p:sp>
        <p:nvSpPr>
          <p:cNvPr id="19" name="Text 17"/>
          <p:cNvSpPr/>
          <p:nvPr/>
        </p:nvSpPr>
        <p:spPr>
          <a:xfrm>
            <a:off x="5448300" y="2301240"/>
            <a:ext cx="7658100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51C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政银协同获客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5448300" y="2626995"/>
            <a:ext cx="765810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政府园区招商联动，把政策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448300" y="2807970"/>
            <a:ext cx="765810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资源变成获客入口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448300" y="3032760"/>
            <a:ext cx="7658100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波波知了获客高度依赖政企资源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7410450" y="1847850"/>
            <a:ext cx="0" cy="1285875"/>
          </a:xfrm>
          <a:prstGeom prst="line">
            <a:avLst/>
          </a:prstGeom>
          <a:noFill/>
          <a:ln w="19050">
            <a:solidFill>
              <a:srgbClr val="7A5A0E">
                <a:alpha val="65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610475" y="1874520"/>
            <a:ext cx="5495925" cy="3886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550" b="1" i="1" dirty="0">
                <a:solidFill>
                  <a:srgbClr val="7A5A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2550" dirty="0"/>
          </a:p>
        </p:txBody>
      </p:sp>
      <p:sp>
        <p:nvSpPr>
          <p:cNvPr id="25" name="Text 23"/>
          <p:cNvSpPr/>
          <p:nvPr/>
        </p:nvSpPr>
        <p:spPr>
          <a:xfrm>
            <a:off x="7610475" y="2301240"/>
            <a:ext cx="5495925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51C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先服务后转化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7610475" y="2626995"/>
            <a:ext cx="5495925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免费服务换数据与信任，先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7610475" y="2807970"/>
            <a:ext cx="5495925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撮合后交付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7610475" y="3048000"/>
            <a:ext cx="5495925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数字人力：只撮合不交付、不收服务费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914400" y="3362325"/>
            <a:ext cx="8382000" cy="2047875"/>
          </a:xfrm>
          <a:prstGeom prst="roundRect">
            <a:avLst>
              <a:gd name="adj" fmla="val 2791"/>
            </a:avLst>
          </a:prstGeom>
          <a:solidFill>
            <a:srgbClr val="DC2626"/>
          </a:solidFill>
          <a:ln/>
        </p:spPr>
      </p:sp>
      <p:sp>
        <p:nvSpPr>
          <p:cNvPr id="30" name="Shape 28"/>
          <p:cNvSpPr/>
          <p:nvPr/>
        </p:nvSpPr>
        <p:spPr>
          <a:xfrm>
            <a:off x="914400" y="3390900"/>
            <a:ext cx="8382000" cy="2019300"/>
          </a:xfrm>
          <a:prstGeom prst="roundRect">
            <a:avLst>
              <a:gd name="adj" fmla="val 2830"/>
            </a:avLst>
          </a:prstGeom>
          <a:solidFill>
            <a:srgbClr val="FFFFFF"/>
          </a:solidFill>
          <a:ln/>
        </p:spPr>
      </p:sp>
      <p:sp>
        <p:nvSpPr>
          <p:cNvPr id="31" name="Shape 29"/>
          <p:cNvSpPr/>
          <p:nvPr/>
        </p:nvSpPr>
        <p:spPr>
          <a:xfrm>
            <a:off x="1063625" y="4321175"/>
            <a:ext cx="158750" cy="158750"/>
          </a:xfrm>
          <a:prstGeom prst="ellipse">
            <a:avLst/>
          </a:prstGeom>
          <a:noFill/>
          <a:ln w="15875">
            <a:solidFill>
              <a:srgbClr val="DC262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086874" y="4344424"/>
            <a:ext cx="112244" cy="112252"/>
          </a:xfrm>
          <a:custGeom>
            <a:avLst/>
            <a:gdLst/>
            <a:ahLst/>
            <a:cxnLst/>
            <a:rect l="l" t="t" r="r" b="b"/>
            <a:pathLst>
              <a:path w="112244" h="112252">
                <a:moveTo>
                  <a:pt x="0" y="0"/>
                </a:moveTo>
                <a:lnTo>
                  <a:pt x="112244" y="112252"/>
                </a:lnTo>
              </a:path>
            </a:pathLst>
          </a:custGeom>
          <a:noFill/>
          <a:ln w="15875">
            <a:solidFill>
              <a:srgbClr val="DC262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333500" y="3604260"/>
            <a:ext cx="11772900" cy="3657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051C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形态上坚决不学：不新建</a:t>
            </a:r>
            <a:endParaRPr lang="en-US" sz="2400" dirty="0"/>
          </a:p>
        </p:txBody>
      </p:sp>
      <p:sp>
        <p:nvSpPr>
          <p:cNvPr id="34" name="Text 32"/>
          <p:cNvSpPr/>
          <p:nvPr/>
        </p:nvSpPr>
        <p:spPr>
          <a:xfrm>
            <a:off x="1333500" y="4032885"/>
            <a:ext cx="11772900" cy="3657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051C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App、不重复建设、不烧钱获客。再造两个 App</a:t>
            </a:r>
            <a:endParaRPr lang="en-US" sz="2400" dirty="0"/>
          </a:p>
        </p:txBody>
      </p:sp>
      <p:sp>
        <p:nvSpPr>
          <p:cNvPr id="35" name="Text 33"/>
          <p:cNvSpPr/>
          <p:nvPr/>
        </p:nvSpPr>
        <p:spPr>
          <a:xfrm>
            <a:off x="1333500" y="4461510"/>
            <a:ext cx="11772900" cy="3657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051C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重投入且与零售个人流量错配；平安信用卡仅作旁证，不</a:t>
            </a:r>
            <a:endParaRPr lang="en-US" sz="2400" dirty="0"/>
          </a:p>
        </p:txBody>
      </p:sp>
      <p:sp>
        <p:nvSpPr>
          <p:cNvPr id="36" name="Text 34"/>
          <p:cNvSpPr/>
          <p:nvPr/>
        </p:nvSpPr>
        <p:spPr>
          <a:xfrm>
            <a:off x="1333500" y="4890135"/>
            <a:ext cx="11772900" cy="3657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051C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入主框架。</a:t>
            </a:r>
            <a:endParaRPr lang="en-US" sz="2400" dirty="0"/>
          </a:p>
        </p:txBody>
      </p:sp>
      <p:sp>
        <p:nvSpPr>
          <p:cNvPr id="37" name="Shape 35"/>
          <p:cNvSpPr/>
          <p:nvPr/>
        </p:nvSpPr>
        <p:spPr>
          <a:xfrm>
            <a:off x="9601200" y="685800"/>
            <a:ext cx="1676400" cy="5410200"/>
          </a:xfrm>
          <a:prstGeom prst="roundRect">
            <a:avLst>
              <a:gd name="adj" fmla="val 6818"/>
            </a:avLst>
          </a:prstGeom>
          <a:solidFill>
            <a:srgbClr val="051C2C"/>
          </a:solidFill>
          <a:ln/>
        </p:spPr>
      </p:sp>
      <p:sp>
        <p:nvSpPr>
          <p:cNvPr id="38" name="Text 36"/>
          <p:cNvSpPr/>
          <p:nvPr/>
        </p:nvSpPr>
        <p:spPr>
          <a:xfrm>
            <a:off x="9829800" y="1005840"/>
            <a:ext cx="2362200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FFFFFF">
                    <a:alpha val="85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2.1</a:t>
            </a:r>
            <a:endParaRPr lang="en-US" sz="975" dirty="0"/>
          </a:p>
        </p:txBody>
      </p:sp>
      <p:sp>
        <p:nvSpPr>
          <p:cNvPr id="39" name="Text 37"/>
          <p:cNvSpPr/>
          <p:nvPr/>
        </p:nvSpPr>
        <p:spPr>
          <a:xfrm>
            <a:off x="8686800" y="2415540"/>
            <a:ext cx="3505200" cy="14630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FFFFFF">
                    <a:alpha val="18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9600" dirty="0"/>
          </a:p>
        </p:txBody>
      </p:sp>
      <p:sp>
        <p:nvSpPr>
          <p:cNvPr id="40" name="Shape 38"/>
          <p:cNvSpPr/>
          <p:nvPr/>
        </p:nvSpPr>
        <p:spPr>
          <a:xfrm>
            <a:off x="9829800" y="5372100"/>
            <a:ext cx="266700" cy="28575"/>
          </a:xfrm>
          <a:prstGeom prst="rect">
            <a:avLst/>
          </a:prstGeom>
          <a:solidFill>
            <a:srgbClr val="FFFFFF">
              <a:alpha val="40000"/>
            </a:srgbClr>
          </a:solidFill>
          <a:ln/>
        </p:spPr>
      </p:sp>
      <p:sp>
        <p:nvSpPr>
          <p:cNvPr id="41" name="Text 39"/>
          <p:cNvSpPr/>
          <p:nvPr/>
        </p:nvSpPr>
        <p:spPr>
          <a:xfrm>
            <a:off x="9829800" y="5608320"/>
            <a:ext cx="236220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>
                    <a:alpha val="85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江苏银行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533400" y="6324600"/>
            <a:ext cx="11125200" cy="0"/>
          </a:xfrm>
          <a:prstGeom prst="line">
            <a:avLst/>
          </a:prstGeom>
          <a:noFill/>
          <a:ln w="11430">
            <a:solidFill>
              <a:srgbClr val="D5D5C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3340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Internal · 江苏银行</a:t>
            </a:r>
            <a:endParaRPr lang="en-US" sz="1500" dirty="0"/>
          </a:p>
        </p:txBody>
      </p:sp>
      <p:sp>
        <p:nvSpPr>
          <p:cNvPr id="44" name="Text 42"/>
          <p:cNvSpPr/>
          <p:nvPr/>
        </p:nvSpPr>
        <p:spPr>
          <a:xfrm>
            <a:off x="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正式稿 · 2026-08-27</a:t>
            </a:r>
            <a:endParaRPr lang="en-US" sz="1500" dirty="0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2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899160"/>
            <a:ext cx="11277600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学什么与怎么学：一个入口、两条转化链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914400" y="1093470"/>
            <a:ext cx="11277600" cy="502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051C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存量改造落地架构：入口、转化链、公私联动</a:t>
            </a:r>
            <a:endParaRPr lang="en-US" sz="3300" dirty="0"/>
          </a:p>
        </p:txBody>
      </p:sp>
      <p:sp>
        <p:nvSpPr>
          <p:cNvPr id="5" name="Shape 3"/>
          <p:cNvSpPr/>
          <p:nvPr/>
        </p:nvSpPr>
        <p:spPr>
          <a:xfrm>
            <a:off x="914400" y="2799588"/>
            <a:ext cx="5922264" cy="1619250"/>
          </a:xfrm>
          <a:prstGeom prst="roundRect">
            <a:avLst>
              <a:gd name="adj" fmla="val 3529"/>
            </a:avLst>
          </a:prstGeom>
          <a:solidFill>
            <a:srgbClr val="051C2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2828163"/>
            <a:ext cx="5922264" cy="1590675"/>
          </a:xfrm>
          <a:prstGeom prst="roundRect">
            <a:avLst>
              <a:gd name="adj" fmla="val 3593"/>
            </a:avLst>
          </a:pr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1087437" y="3544126"/>
            <a:ext cx="111125" cy="158750"/>
          </a:xfrm>
          <a:prstGeom prst="roundRect">
            <a:avLst>
              <a:gd name="adj" fmla="val 14286"/>
            </a:avLst>
          </a:prstGeom>
          <a:noFill/>
          <a:ln w="15875">
            <a:solidFill>
              <a:srgbClr val="051C2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43000" y="3671126"/>
            <a:ext cx="5953" cy="5953"/>
          </a:xfrm>
          <a:custGeom>
            <a:avLst/>
            <a:gdLst/>
            <a:ahLst/>
            <a:cxnLst/>
            <a:rect l="l" t="t" r="r" b="b"/>
            <a:pathLst>
              <a:path w="5953" h="5953">
                <a:moveTo>
                  <a:pt x="0" y="0"/>
                </a:moveTo>
                <a:lnTo>
                  <a:pt x="79" y="0"/>
                </a:lnTo>
              </a:path>
            </a:pathLst>
          </a:custGeom>
          <a:noFill/>
          <a:ln w="15875">
            <a:solidFill>
              <a:srgbClr val="051C2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333500" y="3041523"/>
            <a:ext cx="11772900" cy="3657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051C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代发增值是「任务链＋金融转化」最短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333500" y="3470148"/>
            <a:ext cx="11772900" cy="3657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051C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路径；渠道「一重两轻」，复杂需求引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333500" y="3898773"/>
            <a:ext cx="11772900" cy="3657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051C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导网点/私行中心。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8667220" y="2664256"/>
            <a:ext cx="243081" cy="348712"/>
          </a:xfrm>
          <a:custGeom>
            <a:avLst/>
            <a:gdLst/>
            <a:ahLst/>
            <a:cxnLst/>
            <a:rect l="l" t="t" r="r" b="b"/>
            <a:pathLst>
              <a:path w="243081" h="348712">
                <a:moveTo>
                  <a:pt x="243081" y="0"/>
                </a:moveTo>
                <a:cubicBezTo>
                  <a:pt x="208355" y="29059"/>
                  <a:pt x="69452" y="116237"/>
                  <a:pt x="34726" y="174356"/>
                </a:cubicBezTo>
                <a:cubicBezTo>
                  <a:pt x="0" y="232475"/>
                  <a:pt x="34726" y="319653"/>
                  <a:pt x="34726" y="348712"/>
                </a:cubicBezTo>
              </a:path>
            </a:pathLst>
          </a:custGeom>
          <a:noFill/>
          <a:ln w="14288">
            <a:solidFill>
              <a:srgbClr val="6B6B6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680152" y="2969378"/>
            <a:ext cx="43589" cy="43589"/>
          </a:xfrm>
          <a:custGeom>
            <a:avLst/>
            <a:gdLst/>
            <a:ahLst/>
            <a:cxnLst/>
            <a:rect l="l" t="t" r="r" b="b"/>
            <a:pathLst>
              <a:path w="43589" h="43589">
                <a:moveTo>
                  <a:pt x="21794" y="43589"/>
                </a:moveTo>
                <a:lnTo>
                  <a:pt x="0" y="0"/>
                </a:lnTo>
                <a:lnTo>
                  <a:pt x="43589" y="0"/>
                </a:lnTo>
                <a:close/>
              </a:path>
            </a:pathLst>
          </a:custGeom>
          <a:solidFill>
            <a:srgbClr val="6B6B6B"/>
          </a:solidFill>
          <a:ln/>
        </p:spPr>
      </p:sp>
      <p:sp>
        <p:nvSpPr>
          <p:cNvPr id="14" name="Shape 12"/>
          <p:cNvSpPr/>
          <p:nvPr/>
        </p:nvSpPr>
        <p:spPr>
          <a:xfrm>
            <a:off x="8701946" y="3419798"/>
            <a:ext cx="7144" cy="348712"/>
          </a:xfrm>
          <a:custGeom>
            <a:avLst/>
            <a:gdLst/>
            <a:ahLst/>
            <a:cxnLst/>
            <a:rect l="l" t="t" r="r" b="b"/>
            <a:pathLst>
              <a:path w="7144" h="348712">
                <a:moveTo>
                  <a:pt x="0" y="0"/>
                </a:moveTo>
                <a:cubicBezTo>
                  <a:pt x="0" y="29059"/>
                  <a:pt x="0" y="116237"/>
                  <a:pt x="0" y="174356"/>
                </a:cubicBezTo>
                <a:cubicBezTo>
                  <a:pt x="0" y="232475"/>
                  <a:pt x="0" y="319653"/>
                  <a:pt x="0" y="348712"/>
                </a:cubicBezTo>
              </a:path>
            </a:pathLst>
          </a:custGeom>
          <a:noFill/>
          <a:ln w="14288">
            <a:solidFill>
              <a:srgbClr val="6B6B6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680152" y="3724921"/>
            <a:ext cx="43589" cy="43589"/>
          </a:xfrm>
          <a:custGeom>
            <a:avLst/>
            <a:gdLst/>
            <a:ahLst/>
            <a:cxnLst/>
            <a:rect l="l" t="t" r="r" b="b"/>
            <a:pathLst>
              <a:path w="43589" h="43589">
                <a:moveTo>
                  <a:pt x="21794" y="43589"/>
                </a:moveTo>
                <a:lnTo>
                  <a:pt x="0" y="0"/>
                </a:lnTo>
                <a:lnTo>
                  <a:pt x="43589" y="0"/>
                </a:lnTo>
                <a:close/>
              </a:path>
            </a:pathLst>
          </a:custGeom>
          <a:solidFill>
            <a:srgbClr val="6B6B6B"/>
          </a:solidFill>
          <a:ln/>
        </p:spPr>
      </p:sp>
      <p:sp>
        <p:nvSpPr>
          <p:cNvPr id="16" name="Shape 14"/>
          <p:cNvSpPr/>
          <p:nvPr/>
        </p:nvSpPr>
        <p:spPr>
          <a:xfrm>
            <a:off x="8701946" y="4175340"/>
            <a:ext cx="7144" cy="348712"/>
          </a:xfrm>
          <a:custGeom>
            <a:avLst/>
            <a:gdLst/>
            <a:ahLst/>
            <a:cxnLst/>
            <a:rect l="l" t="t" r="r" b="b"/>
            <a:pathLst>
              <a:path w="7144" h="348712">
                <a:moveTo>
                  <a:pt x="0" y="0"/>
                </a:moveTo>
                <a:cubicBezTo>
                  <a:pt x="0" y="29059"/>
                  <a:pt x="0" y="116237"/>
                  <a:pt x="0" y="174356"/>
                </a:cubicBezTo>
                <a:cubicBezTo>
                  <a:pt x="0" y="232475"/>
                  <a:pt x="0" y="319653"/>
                  <a:pt x="0" y="348712"/>
                </a:cubicBezTo>
              </a:path>
            </a:pathLst>
          </a:custGeom>
          <a:noFill/>
          <a:ln w="14288">
            <a:solidFill>
              <a:srgbClr val="6B6B6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680152" y="4480463"/>
            <a:ext cx="43589" cy="43589"/>
          </a:xfrm>
          <a:custGeom>
            <a:avLst/>
            <a:gdLst/>
            <a:ahLst/>
            <a:cxnLst/>
            <a:rect l="l" t="t" r="r" b="b"/>
            <a:pathLst>
              <a:path w="43589" h="43589">
                <a:moveTo>
                  <a:pt x="21794" y="43589"/>
                </a:moveTo>
                <a:lnTo>
                  <a:pt x="0" y="0"/>
                </a:lnTo>
                <a:lnTo>
                  <a:pt x="43589" y="0"/>
                </a:lnTo>
                <a:close/>
              </a:path>
            </a:pathLst>
          </a:custGeom>
          <a:solidFill>
            <a:srgbClr val="6B6B6B"/>
          </a:solidFill>
          <a:ln/>
        </p:spPr>
      </p:sp>
      <p:sp>
        <p:nvSpPr>
          <p:cNvPr id="18" name="Shape 16"/>
          <p:cNvSpPr/>
          <p:nvPr/>
        </p:nvSpPr>
        <p:spPr>
          <a:xfrm>
            <a:off x="9396464" y="2664256"/>
            <a:ext cx="243081" cy="348712"/>
          </a:xfrm>
          <a:custGeom>
            <a:avLst/>
            <a:gdLst/>
            <a:ahLst/>
            <a:cxnLst/>
            <a:rect l="l" t="t" r="r" b="b"/>
            <a:pathLst>
              <a:path w="243081" h="348712">
                <a:moveTo>
                  <a:pt x="0" y="0"/>
                </a:moveTo>
                <a:cubicBezTo>
                  <a:pt x="34726" y="29059"/>
                  <a:pt x="173629" y="116237"/>
                  <a:pt x="208355" y="174356"/>
                </a:cubicBezTo>
                <a:cubicBezTo>
                  <a:pt x="243081" y="232475"/>
                  <a:pt x="208355" y="319653"/>
                  <a:pt x="208355" y="348712"/>
                </a:cubicBezTo>
              </a:path>
            </a:pathLst>
          </a:custGeom>
          <a:noFill/>
          <a:ln w="14288">
            <a:solidFill>
              <a:srgbClr val="6B6B6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583025" y="2969378"/>
            <a:ext cx="43589" cy="43589"/>
          </a:xfrm>
          <a:custGeom>
            <a:avLst/>
            <a:gdLst/>
            <a:ahLst/>
            <a:cxnLst/>
            <a:rect l="l" t="t" r="r" b="b"/>
            <a:pathLst>
              <a:path w="43589" h="43589">
                <a:moveTo>
                  <a:pt x="21794" y="43589"/>
                </a:moveTo>
                <a:lnTo>
                  <a:pt x="0" y="0"/>
                </a:lnTo>
                <a:lnTo>
                  <a:pt x="43589" y="0"/>
                </a:lnTo>
                <a:close/>
              </a:path>
            </a:pathLst>
          </a:custGeom>
          <a:solidFill>
            <a:srgbClr val="6B6B6B"/>
          </a:solidFill>
          <a:ln/>
        </p:spPr>
      </p:sp>
      <p:sp>
        <p:nvSpPr>
          <p:cNvPr id="20" name="Shape 18"/>
          <p:cNvSpPr/>
          <p:nvPr/>
        </p:nvSpPr>
        <p:spPr>
          <a:xfrm>
            <a:off x="9604820" y="3419798"/>
            <a:ext cx="7144" cy="348712"/>
          </a:xfrm>
          <a:custGeom>
            <a:avLst/>
            <a:gdLst/>
            <a:ahLst/>
            <a:cxnLst/>
            <a:rect l="l" t="t" r="r" b="b"/>
            <a:pathLst>
              <a:path w="7144" h="348712">
                <a:moveTo>
                  <a:pt x="0" y="0"/>
                </a:moveTo>
                <a:cubicBezTo>
                  <a:pt x="0" y="29059"/>
                  <a:pt x="0" y="116237"/>
                  <a:pt x="0" y="174356"/>
                </a:cubicBezTo>
                <a:cubicBezTo>
                  <a:pt x="0" y="232475"/>
                  <a:pt x="0" y="319653"/>
                  <a:pt x="0" y="348712"/>
                </a:cubicBezTo>
              </a:path>
            </a:pathLst>
          </a:custGeom>
          <a:noFill/>
          <a:ln w="14288">
            <a:solidFill>
              <a:srgbClr val="6B6B6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583025" y="3724921"/>
            <a:ext cx="43589" cy="43589"/>
          </a:xfrm>
          <a:custGeom>
            <a:avLst/>
            <a:gdLst/>
            <a:ahLst/>
            <a:cxnLst/>
            <a:rect l="l" t="t" r="r" b="b"/>
            <a:pathLst>
              <a:path w="43589" h="43589">
                <a:moveTo>
                  <a:pt x="21794" y="43589"/>
                </a:moveTo>
                <a:lnTo>
                  <a:pt x="0" y="0"/>
                </a:lnTo>
                <a:lnTo>
                  <a:pt x="43589" y="0"/>
                </a:lnTo>
                <a:close/>
              </a:path>
            </a:pathLst>
          </a:custGeom>
          <a:solidFill>
            <a:srgbClr val="6B6B6B"/>
          </a:solidFill>
          <a:ln/>
        </p:spPr>
      </p:sp>
      <p:sp>
        <p:nvSpPr>
          <p:cNvPr id="22" name="Shape 20"/>
          <p:cNvSpPr/>
          <p:nvPr/>
        </p:nvSpPr>
        <p:spPr>
          <a:xfrm>
            <a:off x="9604820" y="4175340"/>
            <a:ext cx="7144" cy="348712"/>
          </a:xfrm>
          <a:custGeom>
            <a:avLst/>
            <a:gdLst/>
            <a:ahLst/>
            <a:cxnLst/>
            <a:rect l="l" t="t" r="r" b="b"/>
            <a:pathLst>
              <a:path w="7144" h="348712">
                <a:moveTo>
                  <a:pt x="0" y="0"/>
                </a:moveTo>
                <a:cubicBezTo>
                  <a:pt x="0" y="29059"/>
                  <a:pt x="0" y="116237"/>
                  <a:pt x="0" y="174356"/>
                </a:cubicBezTo>
                <a:cubicBezTo>
                  <a:pt x="0" y="232475"/>
                  <a:pt x="0" y="319653"/>
                  <a:pt x="0" y="348712"/>
                </a:cubicBezTo>
              </a:path>
            </a:pathLst>
          </a:custGeom>
          <a:noFill/>
          <a:ln w="14288">
            <a:solidFill>
              <a:srgbClr val="6B6B6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583025" y="4480463"/>
            <a:ext cx="43589" cy="43589"/>
          </a:xfrm>
          <a:custGeom>
            <a:avLst/>
            <a:gdLst/>
            <a:ahLst/>
            <a:cxnLst/>
            <a:rect l="l" t="t" r="r" b="b"/>
            <a:pathLst>
              <a:path w="43589" h="43589">
                <a:moveTo>
                  <a:pt x="21794" y="43589"/>
                </a:moveTo>
                <a:lnTo>
                  <a:pt x="0" y="0"/>
                </a:lnTo>
                <a:lnTo>
                  <a:pt x="43589" y="0"/>
                </a:lnTo>
                <a:close/>
              </a:path>
            </a:pathLst>
          </a:custGeom>
          <a:solidFill>
            <a:srgbClr val="6B6B6B"/>
          </a:solidFill>
          <a:ln/>
        </p:spPr>
      </p:sp>
      <p:sp>
        <p:nvSpPr>
          <p:cNvPr id="24" name="Shape 22"/>
          <p:cNvSpPr/>
          <p:nvPr/>
        </p:nvSpPr>
        <p:spPr>
          <a:xfrm>
            <a:off x="8667220" y="4930883"/>
            <a:ext cx="243081" cy="348712"/>
          </a:xfrm>
          <a:custGeom>
            <a:avLst/>
            <a:gdLst/>
            <a:ahLst/>
            <a:cxnLst/>
            <a:rect l="l" t="t" r="r" b="b"/>
            <a:pathLst>
              <a:path w="243081" h="348712">
                <a:moveTo>
                  <a:pt x="34726" y="0"/>
                </a:moveTo>
                <a:cubicBezTo>
                  <a:pt x="34726" y="29059"/>
                  <a:pt x="0" y="116237"/>
                  <a:pt x="34726" y="174356"/>
                </a:cubicBezTo>
                <a:cubicBezTo>
                  <a:pt x="69452" y="232475"/>
                  <a:pt x="208355" y="319653"/>
                  <a:pt x="243081" y="348712"/>
                </a:cubicBezTo>
              </a:path>
            </a:pathLst>
          </a:custGeom>
          <a:noFill/>
          <a:ln w="14288">
            <a:solidFill>
              <a:srgbClr val="6B6B6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862886" y="5234906"/>
            <a:ext cx="47415" cy="44688"/>
          </a:xfrm>
          <a:custGeom>
            <a:avLst/>
            <a:gdLst/>
            <a:ahLst/>
            <a:cxnLst/>
            <a:rect l="l" t="t" r="r" b="b"/>
            <a:pathLst>
              <a:path w="47415" h="44688">
                <a:moveTo>
                  <a:pt x="47415" y="44688"/>
                </a:moveTo>
                <a:lnTo>
                  <a:pt x="0" y="33429"/>
                </a:lnTo>
                <a:lnTo>
                  <a:pt x="27974" y="0"/>
                </a:lnTo>
                <a:close/>
              </a:path>
            </a:pathLst>
          </a:custGeom>
          <a:solidFill>
            <a:srgbClr val="6B6B6B"/>
          </a:solidFill>
          <a:ln/>
        </p:spPr>
      </p:sp>
      <p:sp>
        <p:nvSpPr>
          <p:cNvPr id="26" name="Shape 24"/>
          <p:cNvSpPr/>
          <p:nvPr/>
        </p:nvSpPr>
        <p:spPr>
          <a:xfrm>
            <a:off x="9396464" y="4930883"/>
            <a:ext cx="243081" cy="348712"/>
          </a:xfrm>
          <a:custGeom>
            <a:avLst/>
            <a:gdLst/>
            <a:ahLst/>
            <a:cxnLst/>
            <a:rect l="l" t="t" r="r" b="b"/>
            <a:pathLst>
              <a:path w="243081" h="348712">
                <a:moveTo>
                  <a:pt x="208355" y="0"/>
                </a:moveTo>
                <a:cubicBezTo>
                  <a:pt x="208355" y="29059"/>
                  <a:pt x="243081" y="116237"/>
                  <a:pt x="208355" y="174356"/>
                </a:cubicBezTo>
                <a:cubicBezTo>
                  <a:pt x="173629" y="232475"/>
                  <a:pt x="34726" y="319653"/>
                  <a:pt x="0" y="348712"/>
                </a:cubicBezTo>
              </a:path>
            </a:pathLst>
          </a:custGeom>
          <a:noFill/>
          <a:ln w="14288">
            <a:solidFill>
              <a:srgbClr val="6B6B6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396464" y="5234906"/>
            <a:ext cx="47415" cy="44688"/>
          </a:xfrm>
          <a:custGeom>
            <a:avLst/>
            <a:gdLst/>
            <a:ahLst/>
            <a:cxnLst/>
            <a:rect l="l" t="t" r="r" b="b"/>
            <a:pathLst>
              <a:path w="47415" h="44688">
                <a:moveTo>
                  <a:pt x="0" y="44688"/>
                </a:moveTo>
                <a:lnTo>
                  <a:pt x="19442" y="0"/>
                </a:lnTo>
                <a:lnTo>
                  <a:pt x="47415" y="33429"/>
                </a:lnTo>
                <a:close/>
              </a:path>
            </a:pathLst>
          </a:custGeom>
          <a:solidFill>
            <a:srgbClr val="6B6B6B"/>
          </a:solidFill>
          <a:ln/>
        </p:spPr>
      </p:sp>
      <p:sp>
        <p:nvSpPr>
          <p:cNvPr id="28" name="Shape 26"/>
          <p:cNvSpPr/>
          <p:nvPr/>
        </p:nvSpPr>
        <p:spPr>
          <a:xfrm>
            <a:off x="8624794" y="2257425"/>
            <a:ext cx="1057178" cy="406831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4288">
            <a:solidFill>
              <a:srgbClr val="051C2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327662" y="2392260"/>
            <a:ext cx="1651441" cy="1028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675" dirty="0">
                <a:solidFill>
                  <a:srgbClr val="051C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苏银生活·任务型入口</a:t>
            </a:r>
            <a:endParaRPr lang="en-US" sz="675" dirty="0"/>
          </a:p>
        </p:txBody>
      </p:sp>
      <p:sp>
        <p:nvSpPr>
          <p:cNvPr id="30" name="Shape 28"/>
          <p:cNvSpPr/>
          <p:nvPr/>
        </p:nvSpPr>
        <p:spPr>
          <a:xfrm>
            <a:off x="8411353" y="3012967"/>
            <a:ext cx="581186" cy="406831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4288">
            <a:solidFill>
              <a:srgbClr val="051C2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327662" y="3147803"/>
            <a:ext cx="748568" cy="1028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675" dirty="0">
                <a:solidFill>
                  <a:srgbClr val="051C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高频任务</a:t>
            </a:r>
            <a:endParaRPr lang="en-US" sz="675" dirty="0"/>
          </a:p>
        </p:txBody>
      </p:sp>
      <p:sp>
        <p:nvSpPr>
          <p:cNvPr id="32" name="Shape 30"/>
          <p:cNvSpPr/>
          <p:nvPr/>
        </p:nvSpPr>
        <p:spPr>
          <a:xfrm>
            <a:off x="8367764" y="3768510"/>
            <a:ext cx="668364" cy="406831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4288">
            <a:solidFill>
              <a:srgbClr val="051C2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327662" y="3903345"/>
            <a:ext cx="748568" cy="1028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675" dirty="0">
                <a:solidFill>
                  <a:srgbClr val="051C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个人任务链</a:t>
            </a:r>
            <a:endParaRPr lang="en-US" sz="675" dirty="0"/>
          </a:p>
        </p:txBody>
      </p:sp>
      <p:sp>
        <p:nvSpPr>
          <p:cNvPr id="34" name="Shape 32"/>
          <p:cNvSpPr/>
          <p:nvPr/>
        </p:nvSpPr>
        <p:spPr>
          <a:xfrm>
            <a:off x="8327662" y="4524052"/>
            <a:ext cx="748568" cy="406831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4288">
            <a:solidFill>
              <a:srgbClr val="051C2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327662" y="4658887"/>
            <a:ext cx="748568" cy="1028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675" dirty="0">
                <a:solidFill>
                  <a:srgbClr val="051C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账户/卡/财富</a:t>
            </a:r>
            <a:endParaRPr lang="en-US" sz="675" dirty="0"/>
          </a:p>
        </p:txBody>
      </p:sp>
      <p:sp>
        <p:nvSpPr>
          <p:cNvPr id="36" name="Shape 34"/>
          <p:cNvSpPr/>
          <p:nvPr/>
        </p:nvSpPr>
        <p:spPr>
          <a:xfrm>
            <a:off x="9314226" y="3012967"/>
            <a:ext cx="581186" cy="406831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4288">
            <a:solidFill>
              <a:srgbClr val="051C2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327662" y="3147803"/>
            <a:ext cx="2554314" cy="1028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675" dirty="0">
                <a:solidFill>
                  <a:srgbClr val="051C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代发增值</a:t>
            </a:r>
            <a:endParaRPr lang="en-US" sz="675" dirty="0"/>
          </a:p>
        </p:txBody>
      </p:sp>
      <p:sp>
        <p:nvSpPr>
          <p:cNvPr id="38" name="Shape 36"/>
          <p:cNvSpPr/>
          <p:nvPr/>
        </p:nvSpPr>
        <p:spPr>
          <a:xfrm>
            <a:off x="9270637" y="3768510"/>
            <a:ext cx="668364" cy="406831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4288">
            <a:solidFill>
              <a:srgbClr val="051C2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327662" y="3903345"/>
            <a:ext cx="2554314" cy="1028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675" dirty="0">
                <a:solidFill>
                  <a:srgbClr val="051C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企业任务链</a:t>
            </a:r>
            <a:endParaRPr lang="en-US" sz="675" dirty="0"/>
          </a:p>
        </p:txBody>
      </p:sp>
      <p:sp>
        <p:nvSpPr>
          <p:cNvPr id="40" name="Shape 38"/>
          <p:cNvSpPr/>
          <p:nvPr/>
        </p:nvSpPr>
        <p:spPr>
          <a:xfrm>
            <a:off x="9294175" y="4524052"/>
            <a:ext cx="621288" cy="406831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4288">
            <a:solidFill>
              <a:srgbClr val="051C2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327662" y="4658887"/>
            <a:ext cx="2554314" cy="1028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675" dirty="0">
                <a:solidFill>
                  <a:srgbClr val="051C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代发/授信</a:t>
            </a:r>
            <a:endParaRPr lang="en-US" sz="675" dirty="0"/>
          </a:p>
        </p:txBody>
      </p:sp>
      <p:sp>
        <p:nvSpPr>
          <p:cNvPr id="42" name="Shape 40"/>
          <p:cNvSpPr/>
          <p:nvPr/>
        </p:nvSpPr>
        <p:spPr>
          <a:xfrm>
            <a:off x="8470489" y="5279594"/>
            <a:ext cx="1365788" cy="406831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4288">
            <a:solidFill>
              <a:srgbClr val="051C2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327662" y="5414430"/>
            <a:ext cx="1651441" cy="1028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675" dirty="0">
                <a:solidFill>
                  <a:srgbClr val="051C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公私联动：零售线索反哺对公</a:t>
            </a:r>
            <a:endParaRPr lang="en-US" sz="675" dirty="0"/>
          </a:p>
        </p:txBody>
      </p:sp>
      <p:sp>
        <p:nvSpPr>
          <p:cNvPr id="44" name="Shape 42"/>
          <p:cNvSpPr/>
          <p:nvPr/>
        </p:nvSpPr>
        <p:spPr>
          <a:xfrm>
            <a:off x="533400" y="6324600"/>
            <a:ext cx="11125200" cy="0"/>
          </a:xfrm>
          <a:prstGeom prst="line">
            <a:avLst/>
          </a:prstGeom>
          <a:noFill/>
          <a:ln w="11430">
            <a:solidFill>
              <a:srgbClr val="D5D5C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3340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Internal · 江苏银行</a:t>
            </a:r>
            <a:endParaRPr lang="en-US" sz="1500" dirty="0"/>
          </a:p>
        </p:txBody>
      </p:sp>
      <p:sp>
        <p:nvSpPr>
          <p:cNvPr id="46" name="Text 44"/>
          <p:cNvSpPr/>
          <p:nvPr/>
        </p:nvSpPr>
        <p:spPr>
          <a:xfrm>
            <a:off x="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正式稿 · 2026-08-27</a:t>
            </a:r>
            <a:endParaRPr lang="en-US" sz="1500" dirty="0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2"/>
          </a:solidFill>
          <a:ln/>
        </p:spPr>
      </p:sp>
      <p:sp>
        <p:nvSpPr>
          <p:cNvPr id="3" name="Shape 1"/>
          <p:cNvSpPr/>
          <p:nvPr/>
        </p:nvSpPr>
        <p:spPr>
          <a:xfrm>
            <a:off x="914400" y="1905000"/>
            <a:ext cx="10363200" cy="0"/>
          </a:xfrm>
          <a:prstGeom prst="line">
            <a:avLst/>
          </a:prstGeom>
          <a:noFill/>
          <a:ln w="13335">
            <a:solidFill>
              <a:srgbClr val="D5D5C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4419600"/>
            <a:ext cx="11277600" cy="2514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6500" b="1" dirty="0">
                <a:solidFill>
                  <a:srgbClr val="7A5A0E">
                    <a:alpha val="12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6500" dirty="0"/>
          </a:p>
        </p:txBody>
      </p:sp>
      <p:sp>
        <p:nvSpPr>
          <p:cNvPr id="5" name="Text 3"/>
          <p:cNvSpPr/>
          <p:nvPr/>
        </p:nvSpPr>
        <p:spPr>
          <a:xfrm>
            <a:off x="914400" y="3131820"/>
            <a:ext cx="11277600" cy="731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051C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试点与验收：90天两场景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914400" y="3789045"/>
            <a:ext cx="11277600" cy="731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051C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，试点即止损闸门</a:t>
            </a:r>
            <a:endParaRPr lang="en-US" sz="4800" dirty="0"/>
          </a:p>
        </p:txBody>
      </p:sp>
      <p:sp>
        <p:nvSpPr>
          <p:cNvPr id="7" name="Shape 5"/>
          <p:cNvSpPr/>
          <p:nvPr/>
        </p:nvSpPr>
        <p:spPr>
          <a:xfrm>
            <a:off x="914400" y="4953000"/>
            <a:ext cx="10363200" cy="0"/>
          </a:xfrm>
          <a:prstGeom prst="line">
            <a:avLst/>
          </a:prstGeom>
          <a:noFill/>
          <a:ln w="13335">
            <a:solidFill>
              <a:srgbClr val="D5D5CB"/>
            </a:solidFill>
            <a:prstDash val="solid"/>
          </a:ln>
        </p:spPr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2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784860"/>
            <a:ext cx="11277600" cy="1943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75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试点与验收：90天两场景，试点即止损闸门</a:t>
            </a:r>
            <a:endParaRPr lang="en-US" sz="1275" dirty="0"/>
          </a:p>
        </p:txBody>
      </p:sp>
      <p:sp>
        <p:nvSpPr>
          <p:cNvPr id="4" name="Text 2"/>
          <p:cNvSpPr/>
          <p:nvPr/>
        </p:nvSpPr>
        <p:spPr>
          <a:xfrm>
            <a:off x="914400" y="1139190"/>
            <a:ext cx="11277600" cy="4343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051C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90天两场景试点安排</a:t>
            </a:r>
            <a:endParaRPr lang="en-US" sz="2850" dirty="0"/>
          </a:p>
        </p:txBody>
      </p:sp>
      <p:sp>
        <p:nvSpPr>
          <p:cNvPr id="5" name="Shape 3"/>
          <p:cNvSpPr/>
          <p:nvPr/>
        </p:nvSpPr>
        <p:spPr>
          <a:xfrm>
            <a:off x="1104900" y="2762250"/>
            <a:ext cx="7124700" cy="0"/>
          </a:xfrm>
          <a:prstGeom prst="line">
            <a:avLst/>
          </a:prstGeom>
          <a:noFill/>
          <a:ln w="19050">
            <a:solidFill>
              <a:srgbClr val="D5D5C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28700" y="2686050"/>
            <a:ext cx="152400" cy="152400"/>
          </a:xfrm>
          <a:prstGeom prst="ellipse">
            <a:avLst/>
          </a:prstGeom>
          <a:solidFill>
            <a:srgbClr val="051C2C"/>
          </a:solidFill>
          <a:ln/>
        </p:spPr>
      </p:sp>
      <p:sp>
        <p:nvSpPr>
          <p:cNvPr id="7" name="Text 5"/>
          <p:cNvSpPr/>
          <p:nvPr/>
        </p:nvSpPr>
        <p:spPr>
          <a:xfrm>
            <a:off x="1028700" y="2411730"/>
            <a:ext cx="120777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7A5A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DAY 0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28700" y="2907030"/>
            <a:ext cx="120777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51C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度量先行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28700" y="3139440"/>
            <a:ext cx="12077700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漏斗埋点 + 北极星指标</a:t>
            </a:r>
            <a:endParaRPr lang="en-US" sz="975" dirty="0"/>
          </a:p>
        </p:txBody>
      </p:sp>
      <p:sp>
        <p:nvSpPr>
          <p:cNvPr id="10" name="Shape 8"/>
          <p:cNvSpPr/>
          <p:nvPr/>
        </p:nvSpPr>
        <p:spPr>
          <a:xfrm>
            <a:off x="2809875" y="2686050"/>
            <a:ext cx="152400" cy="152400"/>
          </a:xfrm>
          <a:prstGeom prst="ellipse">
            <a:avLst/>
          </a:prstGeom>
          <a:solidFill>
            <a:srgbClr val="051C2C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2411730"/>
            <a:ext cx="394335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A5A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试点A · 90天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14400" y="2907030"/>
            <a:ext cx="394335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51C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社保/公积金高频任务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14400" y="3139440"/>
            <a:ext cx="3943350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975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核心测转化率：任务→账户/卡/</a:t>
            </a:r>
            <a:endParaRPr lang="en-US" sz="975" dirty="0"/>
          </a:p>
        </p:txBody>
      </p:sp>
      <p:sp>
        <p:nvSpPr>
          <p:cNvPr id="14" name="Text 12"/>
          <p:cNvSpPr/>
          <p:nvPr/>
        </p:nvSpPr>
        <p:spPr>
          <a:xfrm>
            <a:off x="914400" y="3301365"/>
            <a:ext cx="3943350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975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分期/财富漏斗</a:t>
            </a:r>
            <a:endParaRPr lang="en-US" sz="975" dirty="0"/>
          </a:p>
        </p:txBody>
      </p:sp>
      <p:sp>
        <p:nvSpPr>
          <p:cNvPr id="15" name="Shape 13"/>
          <p:cNvSpPr/>
          <p:nvPr/>
        </p:nvSpPr>
        <p:spPr>
          <a:xfrm>
            <a:off x="4591050" y="2686050"/>
            <a:ext cx="152400" cy="152400"/>
          </a:xfrm>
          <a:prstGeom prst="ellipse">
            <a:avLst/>
          </a:prstGeom>
          <a:solidFill>
            <a:srgbClr val="051C2C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2411730"/>
            <a:ext cx="75057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A5A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试点B · 90天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14400" y="2907030"/>
            <a:ext cx="75057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51C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代发客户轻模块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14400" y="3139440"/>
            <a:ext cx="7505700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975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工资单+五险一金+福利购，测</a:t>
            </a:r>
            <a:endParaRPr lang="en-US" sz="975" dirty="0"/>
          </a:p>
        </p:txBody>
      </p:sp>
      <p:sp>
        <p:nvSpPr>
          <p:cNvPr id="19" name="Text 17"/>
          <p:cNvSpPr/>
          <p:nvPr/>
        </p:nvSpPr>
        <p:spPr>
          <a:xfrm>
            <a:off x="914400" y="3301365"/>
            <a:ext cx="7505700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975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留存、沉淀、渗透</a:t>
            </a:r>
            <a:endParaRPr lang="en-US" sz="975" dirty="0"/>
          </a:p>
        </p:txBody>
      </p:sp>
      <p:sp>
        <p:nvSpPr>
          <p:cNvPr id="20" name="Shape 18"/>
          <p:cNvSpPr/>
          <p:nvPr/>
        </p:nvSpPr>
        <p:spPr>
          <a:xfrm>
            <a:off x="6372225" y="2686050"/>
            <a:ext cx="152400" cy="152400"/>
          </a:xfrm>
          <a:prstGeom prst="ellipse">
            <a:avLst/>
          </a:prstGeom>
          <a:solidFill>
            <a:srgbClr val="051C2C"/>
          </a:solidFill>
          <a:ln/>
        </p:spPr>
      </p:sp>
      <p:sp>
        <p:nvSpPr>
          <p:cNvPr id="21" name="Text 19"/>
          <p:cNvSpPr/>
          <p:nvPr/>
        </p:nvSpPr>
        <p:spPr>
          <a:xfrm>
            <a:off x="914400" y="2411730"/>
            <a:ext cx="1106805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A5A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执行机制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14400" y="2907030"/>
            <a:ext cx="1106805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51C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标准化工具包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14400" y="3139440"/>
            <a:ext cx="11068050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975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任务模板+话术+考核表，先跑</a:t>
            </a:r>
            <a:endParaRPr lang="en-US" sz="975" dirty="0"/>
          </a:p>
        </p:txBody>
      </p:sp>
      <p:sp>
        <p:nvSpPr>
          <p:cNvPr id="24" name="Text 22"/>
          <p:cNvSpPr/>
          <p:nvPr/>
        </p:nvSpPr>
        <p:spPr>
          <a:xfrm>
            <a:off x="914400" y="3301365"/>
            <a:ext cx="11068050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975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样板，月度通报、季度排名</a:t>
            </a:r>
            <a:endParaRPr lang="en-US" sz="975" dirty="0"/>
          </a:p>
        </p:txBody>
      </p:sp>
      <p:sp>
        <p:nvSpPr>
          <p:cNvPr id="25" name="Shape 23"/>
          <p:cNvSpPr/>
          <p:nvPr/>
        </p:nvSpPr>
        <p:spPr>
          <a:xfrm>
            <a:off x="8153400" y="2686050"/>
            <a:ext cx="152400" cy="152400"/>
          </a:xfrm>
          <a:prstGeom prst="ellipse">
            <a:avLst/>
          </a:prstGeom>
          <a:solidFill>
            <a:srgbClr val="051C2C"/>
          </a:solidFill>
          <a:ln/>
        </p:spPr>
      </p:sp>
      <p:sp>
        <p:nvSpPr>
          <p:cNvPr id="26" name="Text 24"/>
          <p:cNvSpPr/>
          <p:nvPr/>
        </p:nvSpPr>
        <p:spPr>
          <a:xfrm>
            <a:off x="914400" y="2411730"/>
            <a:ext cx="73914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7A5A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DAY 90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914400" y="2907030"/>
            <a:ext cx="73914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51C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闸门决策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914400" y="3139440"/>
            <a:ext cx="7391400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975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达标放量，不达标回调打法</a:t>
            </a:r>
            <a:endParaRPr lang="en-US" sz="975" dirty="0"/>
          </a:p>
        </p:txBody>
      </p:sp>
      <p:sp>
        <p:nvSpPr>
          <p:cNvPr id="29" name="Shape 27"/>
          <p:cNvSpPr/>
          <p:nvPr/>
        </p:nvSpPr>
        <p:spPr>
          <a:xfrm>
            <a:off x="914400" y="3924300"/>
            <a:ext cx="7505700" cy="2047875"/>
          </a:xfrm>
          <a:prstGeom prst="roundRect">
            <a:avLst>
              <a:gd name="adj" fmla="val 2791"/>
            </a:avLst>
          </a:prstGeom>
          <a:solidFill>
            <a:srgbClr val="DC2626"/>
          </a:solidFill>
          <a:ln/>
        </p:spPr>
      </p:sp>
      <p:sp>
        <p:nvSpPr>
          <p:cNvPr id="30" name="Shape 28"/>
          <p:cNvSpPr/>
          <p:nvPr/>
        </p:nvSpPr>
        <p:spPr>
          <a:xfrm>
            <a:off x="914400" y="3952875"/>
            <a:ext cx="7505700" cy="2019300"/>
          </a:xfrm>
          <a:prstGeom prst="roundRect">
            <a:avLst>
              <a:gd name="adj" fmla="val 2830"/>
            </a:avLst>
          </a:prstGeom>
          <a:solidFill>
            <a:srgbClr val="FFFFFF"/>
          </a:solidFill>
          <a:ln/>
        </p:spPr>
      </p:sp>
      <p:sp>
        <p:nvSpPr>
          <p:cNvPr id="31" name="Shape 29"/>
          <p:cNvSpPr/>
          <p:nvPr/>
        </p:nvSpPr>
        <p:spPr>
          <a:xfrm>
            <a:off x="1063482" y="4890977"/>
            <a:ext cx="158877" cy="142986"/>
          </a:xfrm>
          <a:custGeom>
            <a:avLst/>
            <a:gdLst/>
            <a:ahLst/>
            <a:cxnLst/>
            <a:rect l="l" t="t" r="r" b="b"/>
            <a:pathLst>
              <a:path w="158877" h="142986">
                <a:moveTo>
                  <a:pt x="156750" y="119173"/>
                </a:moveTo>
                <a:lnTo>
                  <a:pt x="93250" y="8048"/>
                </a:lnTo>
                <a:arcTo hR="15875" wR="15875" stAng="19827518" swAng="-7255037"/>
                <a:lnTo>
                  <a:pt x="2127" y="119173"/>
                </a:lnTo>
                <a:arcTo hR="15875" wR="15875" stAng="12600161" swAng="-7231094"/>
                <a:lnTo>
                  <a:pt x="143018" y="142985"/>
                </a:lnTo>
                <a:arcTo hR="15875" wR="15875" stAng="5396476" swAng="-7196478"/>
              </a:path>
            </a:pathLst>
          </a:custGeom>
          <a:noFill/>
          <a:ln w="15875">
            <a:solidFill>
              <a:srgbClr val="DC262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143000" y="4938713"/>
            <a:ext cx="5953" cy="31750"/>
          </a:xfrm>
          <a:custGeom>
            <a:avLst/>
            <a:gdLst/>
            <a:ahLst/>
            <a:cxnLst/>
            <a:rect l="l" t="t" r="r" b="b"/>
            <a:pathLst>
              <a:path w="5953" h="31750">
                <a:moveTo>
                  <a:pt x="0" y="0"/>
                </a:moveTo>
                <a:lnTo>
                  <a:pt x="0" y="31750"/>
                </a:lnTo>
              </a:path>
            </a:pathLst>
          </a:custGeom>
          <a:noFill/>
          <a:ln w="15875">
            <a:solidFill>
              <a:srgbClr val="DC262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143000" y="5002213"/>
            <a:ext cx="5953" cy="5953"/>
          </a:xfrm>
          <a:custGeom>
            <a:avLst/>
            <a:gdLst/>
            <a:ahLst/>
            <a:cxnLst/>
            <a:rect l="l" t="t" r="r" b="b"/>
            <a:pathLst>
              <a:path w="5953" h="5953">
                <a:moveTo>
                  <a:pt x="0" y="0"/>
                </a:moveTo>
                <a:lnTo>
                  <a:pt x="79" y="0"/>
                </a:lnTo>
              </a:path>
            </a:pathLst>
          </a:custGeom>
          <a:noFill/>
          <a:ln w="15875">
            <a:solidFill>
              <a:srgbClr val="DC262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333500" y="4166235"/>
            <a:ext cx="11772900" cy="3657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051C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90</a:t>
            </a:r>
            <a:endParaRPr lang="en-US" sz="2400" dirty="0"/>
          </a:p>
        </p:txBody>
      </p:sp>
      <p:sp>
        <p:nvSpPr>
          <p:cNvPr id="35" name="Text 33"/>
          <p:cNvSpPr/>
          <p:nvPr/>
        </p:nvSpPr>
        <p:spPr>
          <a:xfrm>
            <a:off x="1333500" y="4594860"/>
            <a:ext cx="11772900" cy="3657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051C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天试点只能验证转化率信号，不能验证全年中收增</a:t>
            </a:r>
            <a:endParaRPr lang="en-US" sz="2400" dirty="0"/>
          </a:p>
        </p:txBody>
      </p:sp>
      <p:sp>
        <p:nvSpPr>
          <p:cNvPr id="36" name="Text 34"/>
          <p:cNvSpPr/>
          <p:nvPr/>
        </p:nvSpPr>
        <p:spPr>
          <a:xfrm>
            <a:off x="1333500" y="5023485"/>
            <a:ext cx="11772900" cy="3657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051C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量：任务链转化到中收沉淀通常需 2-3</a:t>
            </a:r>
            <a:endParaRPr lang="en-US" sz="2400" dirty="0"/>
          </a:p>
        </p:txBody>
      </p:sp>
      <p:sp>
        <p:nvSpPr>
          <p:cNvPr id="37" name="Text 35"/>
          <p:cNvSpPr/>
          <p:nvPr/>
        </p:nvSpPr>
        <p:spPr>
          <a:xfrm>
            <a:off x="1333500" y="5452110"/>
            <a:ext cx="11772900" cy="3657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051C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个季度（研判推断）。</a:t>
            </a:r>
            <a:endParaRPr lang="en-US" sz="2400" dirty="0"/>
          </a:p>
        </p:txBody>
      </p:sp>
      <p:sp>
        <p:nvSpPr>
          <p:cNvPr id="38" name="Shape 36"/>
          <p:cNvSpPr/>
          <p:nvPr/>
        </p:nvSpPr>
        <p:spPr>
          <a:xfrm>
            <a:off x="8801100" y="685800"/>
            <a:ext cx="2476500" cy="541020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</p:spPr>
      </p:sp>
      <p:sp>
        <p:nvSpPr>
          <p:cNvPr id="39" name="Shape 37"/>
          <p:cNvSpPr/>
          <p:nvPr/>
        </p:nvSpPr>
        <p:spPr>
          <a:xfrm>
            <a:off x="8805863" y="690563"/>
            <a:ext cx="2466975" cy="5400675"/>
          </a:xfrm>
          <a:prstGeom prst="roundRect">
            <a:avLst>
              <a:gd name="adj" fmla="val 7722"/>
            </a:avLst>
          </a:prstGeom>
          <a:noFill/>
          <a:ln w="9525">
            <a:solidFill>
              <a:srgbClr val="D5D5CB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9494520" y="2846070"/>
            <a:ext cx="1089660" cy="1089660"/>
          </a:xfrm>
          <a:prstGeom prst="ellipse">
            <a:avLst/>
          </a:prstGeom>
          <a:solidFill>
            <a:srgbClr val="051C2C">
              <a:alpha val="10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9734550" y="4202430"/>
            <a:ext cx="609600" cy="38100"/>
          </a:xfrm>
          <a:prstGeom prst="roundRect">
            <a:avLst>
              <a:gd name="adj" fmla="val 50000"/>
            </a:avLst>
          </a:prstGeom>
          <a:solidFill>
            <a:srgbClr val="7A5A0E"/>
          </a:solidFill>
          <a:ln/>
        </p:spPr>
      </p:sp>
      <p:sp>
        <p:nvSpPr>
          <p:cNvPr id="42" name="Shape 40"/>
          <p:cNvSpPr/>
          <p:nvPr/>
        </p:nvSpPr>
        <p:spPr>
          <a:xfrm>
            <a:off x="533400" y="6324600"/>
            <a:ext cx="11125200" cy="0"/>
          </a:xfrm>
          <a:prstGeom prst="line">
            <a:avLst/>
          </a:prstGeom>
          <a:noFill/>
          <a:ln w="11430">
            <a:solidFill>
              <a:srgbClr val="D5D5C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3340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Internal · 江苏银行</a:t>
            </a:r>
            <a:endParaRPr lang="en-US" sz="1500" dirty="0"/>
          </a:p>
        </p:txBody>
      </p:sp>
      <p:sp>
        <p:nvSpPr>
          <p:cNvPr id="44" name="Text 42"/>
          <p:cNvSpPr/>
          <p:nvPr/>
        </p:nvSpPr>
        <p:spPr>
          <a:xfrm>
            <a:off x="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正式稿 · 2026-08-27</a:t>
            </a:r>
            <a:endParaRPr lang="en-US" sz="1500" dirty="0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2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784860"/>
            <a:ext cx="11277600" cy="1943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75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试点与验收：90天两场景，试点即止损闸门</a:t>
            </a:r>
            <a:endParaRPr lang="en-US" sz="1275" dirty="0"/>
          </a:p>
        </p:txBody>
      </p:sp>
      <p:sp>
        <p:nvSpPr>
          <p:cNvPr id="4" name="Text 2"/>
          <p:cNvSpPr/>
          <p:nvPr/>
        </p:nvSpPr>
        <p:spPr>
          <a:xfrm>
            <a:off x="914400" y="1108710"/>
            <a:ext cx="11277600" cy="480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150" b="1" dirty="0">
                <a:solidFill>
                  <a:srgbClr val="051C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验收标准：看业务沉淀，不看注册数</a:t>
            </a:r>
            <a:endParaRPr lang="en-US" sz="3150" dirty="0"/>
          </a:p>
        </p:txBody>
      </p:sp>
      <p:sp>
        <p:nvSpPr>
          <p:cNvPr id="5" name="Text 3"/>
          <p:cNvSpPr/>
          <p:nvPr/>
        </p:nvSpPr>
        <p:spPr>
          <a:xfrm>
            <a:off x="1790700" y="1939290"/>
            <a:ext cx="11315700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51C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验收看什么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630105" y="1939290"/>
            <a:ext cx="7476295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51C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不验收什么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914400" y="2228850"/>
            <a:ext cx="8382000" cy="0"/>
          </a:xfrm>
          <a:prstGeom prst="line">
            <a:avLst/>
          </a:prstGeom>
          <a:noFill/>
          <a:ln w="19050">
            <a:solidFill>
              <a:srgbClr val="051C2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2647950"/>
            <a:ext cx="8382000" cy="0"/>
          </a:xfrm>
          <a:prstGeom prst="line">
            <a:avLst/>
          </a:prstGeom>
          <a:noFill/>
          <a:ln w="9525">
            <a:solidFill>
              <a:srgbClr val="D5D5C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4400" y="3067050"/>
            <a:ext cx="8382000" cy="0"/>
          </a:xfrm>
          <a:prstGeom prst="line">
            <a:avLst/>
          </a:prstGeom>
          <a:noFill/>
          <a:ln w="9525">
            <a:solidFill>
              <a:srgbClr val="D5D5C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" y="3486150"/>
            <a:ext cx="8382000" cy="0"/>
          </a:xfrm>
          <a:prstGeom prst="line">
            <a:avLst/>
          </a:prstGeom>
          <a:noFill/>
          <a:ln w="9525">
            <a:solidFill>
              <a:srgbClr val="D5D5C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14400" y="3905250"/>
            <a:ext cx="8382000" cy="0"/>
          </a:xfrm>
          <a:prstGeom prst="line">
            <a:avLst/>
          </a:prstGeom>
          <a:noFill/>
          <a:ln w="9525">
            <a:solidFill>
              <a:srgbClr val="D5D5C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28700" y="2373630"/>
            <a:ext cx="120777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指标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790700" y="2373630"/>
            <a:ext cx="113157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51C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活期沉淀（对标宁波 35.57%）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630105" y="2373630"/>
            <a:ext cx="7476295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51C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注册数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28700" y="2792730"/>
            <a:ext cx="120777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留存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790700" y="2792730"/>
            <a:ext cx="113157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51C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代发留存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630105" y="2792730"/>
            <a:ext cx="7476295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51C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纯功能使用量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28700" y="3211830"/>
            <a:ext cx="120777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渗透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790700" y="3211830"/>
            <a:ext cx="113157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51C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卡渗透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630105" y="3211830"/>
            <a:ext cx="7476295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51C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表面客户升级（实际仍停留在资金中介）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028700" y="3630930"/>
            <a:ext cx="120777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中收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790700" y="3630930"/>
            <a:ext cx="113157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51C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中收贡献（对标代理类占中收 85% 结构）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630105" y="3630930"/>
            <a:ext cx="7476295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51C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1524000" y="4305300"/>
            <a:ext cx="7772400" cy="0"/>
          </a:xfrm>
          <a:prstGeom prst="line">
            <a:avLst/>
          </a:prstGeom>
          <a:noFill/>
          <a:ln w="9525">
            <a:solidFill>
              <a:srgbClr val="D5D5C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14400" y="4286250"/>
            <a:ext cx="609600" cy="38100"/>
          </a:xfrm>
          <a:prstGeom prst="rect">
            <a:avLst/>
          </a:prstGeom>
          <a:solidFill>
            <a:srgbClr val="2E9E6B"/>
          </a:solidFill>
          <a:ln/>
        </p:spPr>
      </p:sp>
      <p:sp>
        <p:nvSpPr>
          <p:cNvPr id="26" name="Shape 24"/>
          <p:cNvSpPr/>
          <p:nvPr/>
        </p:nvSpPr>
        <p:spPr>
          <a:xfrm>
            <a:off x="931883" y="4560858"/>
            <a:ext cx="174625" cy="174625"/>
          </a:xfrm>
          <a:custGeom>
            <a:avLst/>
            <a:gdLst/>
            <a:ahLst/>
            <a:cxnLst/>
            <a:rect l="l" t="t" r="r" b="b"/>
            <a:pathLst>
              <a:path w="174625" h="174625">
                <a:moveTo>
                  <a:pt x="172867" y="69880"/>
                </a:moveTo>
                <a:arcTo hR="87313" wR="87313" stAng="20908972" swAng="18690096"/>
              </a:path>
            </a:pathLst>
          </a:custGeom>
          <a:noFill/>
          <a:ln w="17463">
            <a:solidFill>
              <a:srgbClr val="2E9E6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92981" y="4578350"/>
            <a:ext cx="113506" cy="87313"/>
          </a:xfrm>
          <a:custGeom>
            <a:avLst/>
            <a:gdLst/>
            <a:ahLst/>
            <a:cxnLst/>
            <a:rect l="l" t="t" r="r" b="b"/>
            <a:pathLst>
              <a:path w="113506" h="87313">
                <a:moveTo>
                  <a:pt x="0" y="61119"/>
                </a:moveTo>
                <a:lnTo>
                  <a:pt x="26194" y="87313"/>
                </a:lnTo>
                <a:lnTo>
                  <a:pt x="113506" y="0"/>
                </a:lnTo>
              </a:path>
            </a:pathLst>
          </a:custGeom>
          <a:noFill/>
          <a:ln w="17463">
            <a:solidFill>
              <a:srgbClr val="2E9E6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276350" y="4530090"/>
            <a:ext cx="11830050" cy="3200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51C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考核导向体现经营与管理双提质：三年看体系、五年看格局，不争一</a:t>
            </a:r>
            <a:endParaRPr lang="en-US" sz="2100" dirty="0"/>
          </a:p>
        </p:txBody>
      </p:sp>
      <p:sp>
        <p:nvSpPr>
          <p:cNvPr id="29" name="Text 27"/>
          <p:cNvSpPr/>
          <p:nvPr/>
        </p:nvSpPr>
        <p:spPr>
          <a:xfrm>
            <a:off x="1276350" y="4872990"/>
            <a:ext cx="11830050" cy="3200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51C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时之短长。</a:t>
            </a:r>
            <a:endParaRPr lang="en-US" sz="2100" dirty="0"/>
          </a:p>
        </p:txBody>
      </p:sp>
      <p:sp>
        <p:nvSpPr>
          <p:cNvPr id="30" name="Shape 28"/>
          <p:cNvSpPr/>
          <p:nvPr/>
        </p:nvSpPr>
        <p:spPr>
          <a:xfrm>
            <a:off x="9601200" y="685800"/>
            <a:ext cx="1676400" cy="5410200"/>
          </a:xfrm>
          <a:prstGeom prst="roundRect">
            <a:avLst>
              <a:gd name="adj" fmla="val 6818"/>
            </a:avLst>
          </a:prstGeom>
          <a:solidFill>
            <a:srgbClr val="051C2C"/>
          </a:solidFill>
          <a:ln/>
        </p:spPr>
      </p:sp>
      <p:sp>
        <p:nvSpPr>
          <p:cNvPr id="31" name="Text 29"/>
          <p:cNvSpPr/>
          <p:nvPr/>
        </p:nvSpPr>
        <p:spPr>
          <a:xfrm>
            <a:off x="9829800" y="1005840"/>
            <a:ext cx="2362200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FFFFFF">
                    <a:alpha val="85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3.2</a:t>
            </a:r>
            <a:endParaRPr lang="en-US" sz="975" dirty="0"/>
          </a:p>
        </p:txBody>
      </p:sp>
      <p:sp>
        <p:nvSpPr>
          <p:cNvPr id="32" name="Text 30"/>
          <p:cNvSpPr/>
          <p:nvPr/>
        </p:nvSpPr>
        <p:spPr>
          <a:xfrm>
            <a:off x="8686800" y="2415540"/>
            <a:ext cx="3505200" cy="14630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FFFFFF">
                    <a:alpha val="18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9600" dirty="0"/>
          </a:p>
        </p:txBody>
      </p:sp>
      <p:sp>
        <p:nvSpPr>
          <p:cNvPr id="33" name="Shape 31"/>
          <p:cNvSpPr/>
          <p:nvPr/>
        </p:nvSpPr>
        <p:spPr>
          <a:xfrm>
            <a:off x="9829800" y="5372100"/>
            <a:ext cx="266700" cy="28575"/>
          </a:xfrm>
          <a:prstGeom prst="rect">
            <a:avLst/>
          </a:prstGeom>
          <a:solidFill>
            <a:srgbClr val="FFFFFF">
              <a:alpha val="4000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9829800" y="5608320"/>
            <a:ext cx="236220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>
                    <a:alpha val="85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江苏银行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533400" y="6324600"/>
            <a:ext cx="11125200" cy="0"/>
          </a:xfrm>
          <a:prstGeom prst="line">
            <a:avLst/>
          </a:prstGeom>
          <a:noFill/>
          <a:ln w="11430">
            <a:solidFill>
              <a:srgbClr val="D5D5C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3340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Internal · 江苏银行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正式稿 · 2026-08-27</a:t>
            </a:r>
            <a:endParaRPr lang="en-US" sz="1500" dirty="0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2"/>
          </a:solidFill>
          <a:ln/>
        </p:spPr>
      </p:sp>
      <p:sp>
        <p:nvSpPr>
          <p:cNvPr id="3" name="Shape 1"/>
          <p:cNvSpPr/>
          <p:nvPr/>
        </p:nvSpPr>
        <p:spPr>
          <a:xfrm>
            <a:off x="7124700" y="1333500"/>
            <a:ext cx="4800600" cy="4800600"/>
          </a:xfrm>
          <a:prstGeom prst="ellipse">
            <a:avLst/>
          </a:prstGeom>
          <a:noFill/>
          <a:ln w="7620">
            <a:solidFill>
              <a:srgbClr val="D5D5CB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91400" y="1600200"/>
            <a:ext cx="4267200" cy="4267200"/>
          </a:xfrm>
          <a:prstGeom prst="ellipse">
            <a:avLst/>
          </a:prstGeom>
          <a:noFill/>
          <a:ln w="7620">
            <a:solidFill>
              <a:srgbClr val="D5D5CB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562850" y="1771650"/>
            <a:ext cx="3924300" cy="3924300"/>
          </a:xfrm>
          <a:prstGeom prst="ellipse">
            <a:avLst/>
          </a:prstGeom>
          <a:noFill/>
          <a:ln w="5715">
            <a:solidFill>
              <a:srgbClr val="6B6B6B">
                <a:alpha val="2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981950" y="2190750"/>
            <a:ext cx="3086100" cy="3086100"/>
          </a:xfrm>
          <a:prstGeom prst="ellipse">
            <a:avLst/>
          </a:prstGeom>
          <a:noFill/>
          <a:ln w="7620">
            <a:solidFill>
              <a:srgbClr val="D5D5CB">
                <a:alpha val="3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149840" y="1554480"/>
            <a:ext cx="1531620" cy="1479233"/>
          </a:xfrm>
          <a:custGeom>
            <a:avLst/>
            <a:gdLst/>
            <a:ahLst/>
            <a:cxnLst/>
            <a:rect l="l" t="t" r="r" b="b"/>
            <a:pathLst>
              <a:path w="1531620" h="1479233">
                <a:moveTo>
                  <a:pt x="0" y="0"/>
                </a:moveTo>
                <a:arcTo hR="2266950" wR="2266950" stAng="17159521" swAng="3361339"/>
              </a:path>
            </a:pathLst>
          </a:custGeom>
          <a:noFill/>
          <a:ln w="23813">
            <a:solidFill>
              <a:srgbClr val="051C2C">
                <a:alpha val="9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365760"/>
            <a:ext cx="11658600" cy="251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65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江苏银行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533400" y="1173480"/>
            <a:ext cx="116586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200" b="1" dirty="0">
                <a:solidFill>
                  <a:srgbClr val="051C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IV</a:t>
            </a:r>
            <a:pPr algn="l" indent="0" marL="0">
              <a:buNone/>
            </a:pPr>
            <a:r>
              <a:rPr lang="en-US" sz="13200" b="1" dirty="0">
                <a:solidFill>
                  <a:srgbClr val="051C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.</a:t>
            </a:r>
            <a:endParaRPr lang="en-US" sz="13200" dirty="0"/>
          </a:p>
        </p:txBody>
      </p:sp>
      <p:sp>
        <p:nvSpPr>
          <p:cNvPr id="10" name="Text 8"/>
          <p:cNvSpPr/>
          <p:nvPr/>
        </p:nvSpPr>
        <p:spPr>
          <a:xfrm>
            <a:off x="533400" y="3238500"/>
            <a:ext cx="11658600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4500" b="1" dirty="0">
                <a:solidFill>
                  <a:srgbClr val="051C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不确定性与风险底线</a:t>
            </a:r>
            <a:endParaRPr lang="en-US" sz="4500" dirty="0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2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899160"/>
            <a:ext cx="11277600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不确定性与风险底线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914400" y="1093470"/>
            <a:ext cx="11277600" cy="502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051C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不确定性与风险底线（研判推断）</a:t>
            </a:r>
            <a:endParaRPr lang="en-US" sz="3300" dirty="0"/>
          </a:p>
        </p:txBody>
      </p:sp>
      <p:sp>
        <p:nvSpPr>
          <p:cNvPr id="5" name="Shape 3"/>
          <p:cNvSpPr/>
          <p:nvPr/>
        </p:nvSpPr>
        <p:spPr>
          <a:xfrm>
            <a:off x="914400" y="1771650"/>
            <a:ext cx="5922264" cy="4324350"/>
          </a:xfrm>
          <a:prstGeom prst="roundRect">
            <a:avLst>
              <a:gd name="adj" fmla="val 1322"/>
            </a:avLst>
          </a:prstGeom>
          <a:solidFill>
            <a:srgbClr val="FFFFFF"/>
          </a:solidFill>
          <a:ln w="9525">
            <a:solidFill>
              <a:srgbClr val="7A5A0E">
                <a:alpha val="3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04900" y="2503170"/>
            <a:ext cx="121920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051C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☐ </a:t>
            </a:r>
            <a:pPr algn="l" indent="0" marL="0">
              <a:buNone/>
            </a:pPr>
            <a:r>
              <a:rPr lang="en-US" sz="1800" dirty="0">
                <a:solidFill>
                  <a:srgbClr val="051C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个人信息与征信红线：社保/公积金数据用于授信评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04900" y="2827020"/>
            <a:ext cx="121920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051C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估须客户单独明确授权，符合个保法最小必要原则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04900" y="3227070"/>
            <a:ext cx="121920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051C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☐ </a:t>
            </a:r>
            <a:pPr algn="l" indent="0" marL="0">
              <a:buNone/>
            </a:pPr>
            <a:r>
              <a:rPr lang="en-US" sz="1800" dirty="0">
                <a:solidFill>
                  <a:srgbClr val="051C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数据来源合法：政务/第三方接口签数据合作协议；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104900" y="3550920"/>
            <a:ext cx="121920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051C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反洗钱监测套利刷单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104900" y="3950970"/>
            <a:ext cx="121920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051C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☐ </a:t>
            </a:r>
            <a:pPr algn="l" indent="0" marL="0">
              <a:buNone/>
            </a:pPr>
            <a:r>
              <a:rPr lang="en-US" sz="1800" dirty="0">
                <a:solidFill>
                  <a:srgbClr val="051C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适当性管理不因任务入口放松；不突破风险底线换取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104900" y="4274820"/>
            <a:ext cx="121920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051C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一时业绩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104900" y="4674870"/>
            <a:ext cx="121920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051C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☐ </a:t>
            </a:r>
            <a:pPr algn="l" indent="0" marL="0">
              <a:buNone/>
            </a:pPr>
            <a:r>
              <a:rPr lang="en-US" sz="1800" dirty="0">
                <a:solidFill>
                  <a:srgbClr val="051C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合作守底线：客户、数据、账户、核心规则必须在我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104900" y="4998720"/>
            <a:ext cx="121920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051C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行手里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6989064" y="1771650"/>
            <a:ext cx="4288536" cy="4324350"/>
          </a:xfrm>
          <a:prstGeom prst="roundRect">
            <a:avLst>
              <a:gd name="adj" fmla="val 1333"/>
            </a:avLst>
          </a:prstGeom>
          <a:solidFill>
            <a:srgbClr val="FFFFFF"/>
          </a:solidFill>
          <a:ln w="9525">
            <a:solidFill>
              <a:srgbClr val="7A5A0E">
                <a:alpha val="3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179564" y="2983230"/>
            <a:ext cx="121920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51C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</a:t>
            </a:r>
            <a:pPr algn="l" indent="0" marL="0">
              <a:buNone/>
            </a:pPr>
            <a:r>
              <a:rPr lang="en-US" sz="1200" dirty="0">
                <a:solidFill>
                  <a:srgbClr val="051C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数字人力 2026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179564" y="3192780"/>
            <a:ext cx="121920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51C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年底上线形态未核实，对标结论待修正（待核实）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179564" y="3478530"/>
            <a:ext cx="121920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51C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</a:t>
            </a:r>
            <a:pPr algn="l" indent="0" marL="0">
              <a:buNone/>
            </a:pPr>
            <a:r>
              <a:rPr lang="en-US" sz="1200" dirty="0">
                <a:solidFill>
                  <a:srgbClr val="051C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中收兑现存在时滞（2-3 个季度），90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179564" y="3688080"/>
            <a:ext cx="121920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51C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天试点只验证转化率信号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179564" y="3973830"/>
            <a:ext cx="121920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51C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</a:t>
            </a:r>
            <a:pPr algn="l" indent="0" marL="0">
              <a:buNone/>
            </a:pPr>
            <a:r>
              <a:rPr lang="en-US" sz="1200" dirty="0">
                <a:solidFill>
                  <a:srgbClr val="051C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政企资源不可复刻则转化率预期打折；月活目标节奏存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179564" y="4183380"/>
            <a:ext cx="121920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51C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不确定性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179564" y="4469130"/>
            <a:ext cx="121920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51C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</a:t>
            </a:r>
            <a:pPr algn="l" indent="0" marL="0">
              <a:buNone/>
            </a:pPr>
            <a:r>
              <a:rPr lang="en-US" sz="1200" dirty="0">
                <a:solidFill>
                  <a:srgbClr val="051C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同业亦在任务化，须立足江苏本省政务与本地生活资源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179564" y="4678680"/>
            <a:ext cx="121920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51C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差异化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33400" y="6324600"/>
            <a:ext cx="11125200" cy="0"/>
          </a:xfrm>
          <a:prstGeom prst="line">
            <a:avLst/>
          </a:prstGeom>
          <a:noFill/>
          <a:ln w="11430">
            <a:solidFill>
              <a:srgbClr val="D5D5C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3340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Internal · 江苏银行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正式稿 · 2026-08-27</a:t>
            </a:r>
            <a:endParaRPr lang="en-US" sz="1500" dirty="0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72000"/>
            <a:ext cx="2667000" cy="2286000"/>
          </a:xfrm>
          <a:prstGeom prst="rect">
            <a:avLst/>
          </a:prstGeom>
          <a:solidFill>
            <a:srgbClr val="051C2C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5715000"/>
            <a:ext cx="1333500" cy="1143000"/>
          </a:xfrm>
          <a:prstGeom prst="rect">
            <a:avLst/>
          </a:prstGeom>
          <a:solidFill>
            <a:srgbClr val="7A5A0E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1143000"/>
            <a:ext cx="228600" cy="228600"/>
          </a:xfrm>
          <a:prstGeom prst="ellipse">
            <a:avLst/>
          </a:prstGeom>
          <a:solidFill>
            <a:srgbClr val="7A5A0E"/>
          </a:solidFill>
          <a:ln/>
        </p:spPr>
      </p:sp>
      <p:sp>
        <p:nvSpPr>
          <p:cNvPr id="6" name="Text 4"/>
          <p:cNvSpPr/>
          <p:nvPr/>
        </p:nvSpPr>
        <p:spPr>
          <a:xfrm>
            <a:off x="1371600" y="1127760"/>
            <a:ext cx="11734800" cy="3657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051C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江苏银行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3810000" y="1638300"/>
            <a:ext cx="8382000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0" b="1" dirty="0">
                <a:solidFill>
                  <a:srgbClr val="051C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三年看体系，</a:t>
            </a:r>
            <a:endParaRPr lang="en-US" sz="9000" dirty="0"/>
          </a:p>
        </p:txBody>
      </p:sp>
      <p:sp>
        <p:nvSpPr>
          <p:cNvPr id="8" name="Text 6"/>
          <p:cNvSpPr/>
          <p:nvPr/>
        </p:nvSpPr>
        <p:spPr>
          <a:xfrm>
            <a:off x="3810000" y="2876550"/>
            <a:ext cx="8382000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0" b="1" dirty="0">
                <a:solidFill>
                  <a:srgbClr val="051C2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五年看格局</a:t>
            </a:r>
            <a:endParaRPr lang="en-US" sz="9000" dirty="0"/>
          </a:p>
        </p:txBody>
      </p:sp>
      <p:sp>
        <p:nvSpPr>
          <p:cNvPr id="9" name="Shape 7"/>
          <p:cNvSpPr/>
          <p:nvPr/>
        </p:nvSpPr>
        <p:spPr>
          <a:xfrm>
            <a:off x="3810000" y="4743450"/>
            <a:ext cx="7467600" cy="0"/>
          </a:xfrm>
          <a:prstGeom prst="line">
            <a:avLst/>
          </a:prstGeom>
          <a:noFill/>
          <a:ln w="13335">
            <a:solidFill>
              <a:srgbClr val="D5D5CB"/>
            </a:solidFill>
            <a:prstDash val="solid"/>
          </a:ln>
        </p:spPr>
      </p: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1980-01-01T00:00:00Z</dcterms:created>
  <dcterms:modified xsi:type="dcterms:W3CDTF">1980-01-01T00:00:00Z</dcterms:modified>
</cp:coreProperties>
</file>