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p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4876800" cy="6858000"/>
          </a:xfrm>
          <a:prstGeom prst="rect">
            <a:avLst/>
          </a:prstGeom>
          <a:solidFill>
            <a:srgbClr val="10605A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953000"/>
            <a:ext cx="1905000" cy="1905000"/>
          </a:xfrm>
          <a:custGeom>
            <a:avLst/>
            <a:gdLst/>
            <a:ahLst/>
            <a:cxnLst/>
            <a:rect l="l" t="t" r="r" b="b"/>
            <a:pathLst>
              <a:path w="1905000" h="1905000">
                <a:moveTo>
                  <a:pt x="0" y="1905000"/>
                </a:moveTo>
                <a:lnTo>
                  <a:pt x="0" y="0"/>
                </a:lnTo>
                <a:lnTo>
                  <a:pt x="1905000" y="1905000"/>
                </a:lnTo>
                <a:close/>
              </a:path>
            </a:pathLst>
          </a:custGeom>
          <a:solidFill>
            <a:srgbClr val="004C38"/>
          </a:solidFill>
          <a:ln/>
        </p:spPr>
      </p:sp>
      <p:sp>
        <p:nvSpPr>
          <p:cNvPr id="5" name="Text 3"/>
          <p:cNvSpPr/>
          <p:nvPr/>
        </p:nvSpPr>
        <p:spPr>
          <a:xfrm>
            <a:off x="609600" y="2474595"/>
            <a:ext cx="11582400" cy="731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结构迁移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609600" y="3131820"/>
            <a:ext cx="11582400" cy="731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，而非景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609600" y="3789045"/>
            <a:ext cx="11582400" cy="731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气反转</a:t>
            </a:r>
            <a:endParaRPr lang="en-US" sz="4800" dirty="0"/>
          </a:p>
        </p:txBody>
      </p:sp>
      <p:sp>
        <p:nvSpPr>
          <p:cNvPr id="8" name="Shape 6"/>
          <p:cNvSpPr/>
          <p:nvPr/>
        </p:nvSpPr>
        <p:spPr>
          <a:xfrm>
            <a:off x="5486400" y="1371600"/>
            <a:ext cx="228600" cy="228600"/>
          </a:xfrm>
          <a:prstGeom prst="ellipse">
            <a:avLst/>
          </a:prstGeom>
          <a:solidFill>
            <a:srgbClr val="9A6B22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0" y="1356360"/>
            <a:ext cx="11734800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1A24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智见点评 · 98wiki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10134600" y="990600"/>
            <a:ext cx="1143000" cy="457200"/>
          </a:xfrm>
          <a:prstGeom prst="roundRect">
            <a:avLst>
              <a:gd name="adj" fmla="val 12500"/>
            </a:avLst>
          </a:prstGeom>
          <a:noFill/>
          <a:ln w="19050">
            <a:solidFill>
              <a:srgbClr val="10605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220200" y="1087755"/>
            <a:ext cx="2971800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950" dirty="0">
                <a:solidFill>
                  <a:srgbClr val="1A24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内部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5486400" y="1981200"/>
            <a:ext cx="67056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250" i="1" dirty="0">
                <a:solidFill>
                  <a:srgbClr val="5D6B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贝壳生态与居住服务 ｜ 融合研判（正式稿）</a:t>
            </a:r>
            <a:endParaRPr lang="en-US" sz="2250" dirty="0"/>
          </a:p>
        </p:txBody>
      </p:sp>
      <p:sp>
        <p:nvSpPr>
          <p:cNvPr id="13" name="Shape 11"/>
          <p:cNvSpPr/>
          <p:nvPr/>
        </p:nvSpPr>
        <p:spPr>
          <a:xfrm>
            <a:off x="5486400" y="2781300"/>
            <a:ext cx="5791200" cy="0"/>
          </a:xfrm>
          <a:prstGeom prst="line">
            <a:avLst/>
          </a:prstGeom>
          <a:noFill/>
          <a:ln w="13335">
            <a:solidFill>
              <a:srgbClr val="D5D5C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0" y="3002280"/>
            <a:ext cx="6705600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950" dirty="0">
                <a:solidFill>
                  <a:srgbClr val="5D6B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2026-09-16</a:t>
            </a:r>
            <a:pPr algn="l" indent="0" marL="0">
              <a:buNone/>
            </a:pPr>
            <a:r>
              <a:rPr lang="en-US" sz="1950" dirty="0">
                <a:solidFill>
                  <a:srgbClr val="5D6B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·    正式稿 v1</a:t>
            </a:r>
            <a:endParaRPr lang="en-US" sz="195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6A4E"/>
          </a:solidFill>
          <a:ln/>
        </p:spPr>
      </p:sp>
      <p:sp>
        <p:nvSpPr>
          <p:cNvPr id="3" name="Shape 1"/>
          <p:cNvSpPr/>
          <p:nvPr/>
        </p:nvSpPr>
        <p:spPr>
          <a:xfrm>
            <a:off x="9715500" y="0"/>
            <a:ext cx="2476500" cy="2476500"/>
          </a:xfrm>
          <a:custGeom>
            <a:avLst/>
            <a:gdLst/>
            <a:ahLst/>
            <a:cxnLst/>
            <a:rect l="l" t="t" r="r" b="b"/>
            <a:pathLst>
              <a:path w="2476500" h="2476500">
                <a:moveTo>
                  <a:pt x="2476500" y="0"/>
                </a:moveTo>
                <a:lnTo>
                  <a:pt x="2476500" y="2476500"/>
                </a:lnTo>
                <a:arcTo hR="2476500" wR="2476500" stAng="0" swAng="-5400000"/>
                <a:close/>
              </a:path>
            </a:pathLst>
          </a:custGeom>
          <a:solidFill>
            <a:srgbClr val="FFFFFF">
              <a:alpha val="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0" y="4210050"/>
            <a:ext cx="11658600" cy="2971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9500" b="1" dirty="0">
                <a:solidFill>
                  <a:srgbClr val="FFFFFF">
                    <a:alpha val="6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9500" dirty="0"/>
          </a:p>
        </p:txBody>
      </p:sp>
      <p:sp>
        <p:nvSpPr>
          <p:cNvPr id="5" name="Text 3"/>
          <p:cNvSpPr/>
          <p:nvPr/>
        </p:nvSpPr>
        <p:spPr>
          <a:xfrm>
            <a:off x="0" y="3093720"/>
            <a:ext cx="12192000" cy="960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6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核心结论与口径纪律</a:t>
            </a:r>
            <a:endParaRPr lang="en-US" sz="6300" dirty="0"/>
          </a:p>
        </p:txBody>
      </p:sp>
      <p:sp>
        <p:nvSpPr>
          <p:cNvPr id="6" name="Shape 4"/>
          <p:cNvSpPr/>
          <p:nvPr/>
        </p:nvSpPr>
        <p:spPr>
          <a:xfrm>
            <a:off x="5524500" y="5715000"/>
            <a:ext cx="1143000" cy="0"/>
          </a:xfrm>
          <a:prstGeom prst="line">
            <a:avLst/>
          </a:prstGeom>
          <a:noFill/>
          <a:ln w="1524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57825" y="5648325"/>
            <a:ext cx="133350" cy="13335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5857875" y="5667375"/>
            <a:ext cx="95250" cy="95250"/>
          </a:xfrm>
          <a:prstGeom prst="ellipse">
            <a:avLst/>
          </a:prstGeom>
          <a:solidFill>
            <a:srgbClr val="FFFFFF">
              <a:alpha val="3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6238875" y="5667375"/>
            <a:ext cx="95250" cy="95250"/>
          </a:xfrm>
          <a:prstGeom prst="ellipse">
            <a:avLst/>
          </a:prstGeom>
          <a:solidFill>
            <a:srgbClr val="FFFFFF">
              <a:alpha val="3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6619875" y="5667375"/>
            <a:ext cx="95250" cy="95250"/>
          </a:xfrm>
          <a:prstGeom prst="ellipse">
            <a:avLst/>
          </a:prstGeom>
          <a:solidFill>
            <a:srgbClr val="FFFFFF">
              <a:alpha val="35000"/>
            </a:srgbClr>
          </a:solidFill>
          <a:ln/>
        </p:spPr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6"/>
          </a:solidFill>
          <a:ln/>
        </p:spPr>
      </p:sp>
      <p:sp>
        <p:nvSpPr>
          <p:cNvPr id="3" name="Shape 1"/>
          <p:cNvSpPr/>
          <p:nvPr/>
        </p:nvSpPr>
        <p:spPr>
          <a:xfrm>
            <a:off x="9715500" y="0"/>
            <a:ext cx="2476500" cy="2476500"/>
          </a:xfrm>
          <a:custGeom>
            <a:avLst/>
            <a:gdLst/>
            <a:ahLst/>
            <a:cxnLst/>
            <a:rect l="l" t="t" r="r" b="b"/>
            <a:pathLst>
              <a:path w="2476500" h="2476500">
                <a:moveTo>
                  <a:pt x="2476500" y="0"/>
                </a:moveTo>
                <a:lnTo>
                  <a:pt x="2476500" y="2476500"/>
                </a:lnTo>
                <a:arcTo hR="2476500" wR="2476500" stAng="0" swAng="-5400000"/>
                <a:close/>
              </a:path>
            </a:pathLst>
          </a:custGeom>
          <a:solidFill>
            <a:srgbClr val="10605A">
              <a:alpha val="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914400"/>
            <a:ext cx="38100" cy="5181600"/>
          </a:xfrm>
          <a:prstGeom prst="rect">
            <a:avLst/>
          </a:prstGeom>
          <a:solidFill>
            <a:srgbClr val="10605A"/>
          </a:solidFill>
          <a:ln/>
        </p:spPr>
      </p:sp>
      <p:sp>
        <p:nvSpPr>
          <p:cNvPr id="5" name="Shape 3"/>
          <p:cNvSpPr/>
          <p:nvPr/>
        </p:nvSpPr>
        <p:spPr>
          <a:xfrm>
            <a:off x="409575" y="847725"/>
            <a:ext cx="133350" cy="133350"/>
          </a:xfrm>
          <a:prstGeom prst="ellipse">
            <a:avLst/>
          </a:prstGeom>
          <a:solidFill>
            <a:srgbClr val="10605A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914400"/>
            <a:ext cx="609600" cy="304800"/>
          </a:xfrm>
          <a:prstGeom prst="roundRect">
            <a:avLst>
              <a:gd name="adj" fmla="val 18750"/>
            </a:avLst>
          </a:prstGeom>
          <a:solidFill>
            <a:srgbClr val="10605A"/>
          </a:solidFill>
          <a:ln/>
        </p:spPr>
      </p:sp>
      <p:sp>
        <p:nvSpPr>
          <p:cNvPr id="7" name="Text 5"/>
          <p:cNvSpPr/>
          <p:nvPr/>
        </p:nvSpPr>
        <p:spPr>
          <a:xfrm>
            <a:off x="0" y="998220"/>
            <a:ext cx="243840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1.1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714500" y="885825"/>
            <a:ext cx="104775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24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一句话立场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1714500" y="1413510"/>
            <a:ext cx="10477500" cy="25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1060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两条判断必须同句出现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914400" y="1962150"/>
            <a:ext cx="10363200" cy="609600"/>
          </a:xfrm>
          <a:prstGeom prst="roundRect">
            <a:avLst>
              <a:gd name="adj" fmla="val 15625"/>
            </a:avLst>
          </a:prstGeom>
          <a:solidFill>
            <a:srgbClr val="D9822B">
              <a:alpha val="8000"/>
            </a:srgbClr>
          </a:solidFill>
          <a:ln w="14288">
            <a:solidFill>
              <a:srgbClr val="D9822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58875" y="2187575"/>
            <a:ext cx="158750" cy="158750"/>
          </a:xfrm>
          <a:prstGeom prst="ellipse">
            <a:avLst/>
          </a:prstGeom>
          <a:noFill/>
          <a:ln w="15875">
            <a:solidFill>
              <a:srgbClr val="D9822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90625" y="2219325"/>
            <a:ext cx="95250" cy="95250"/>
          </a:xfrm>
          <a:prstGeom prst="ellipse">
            <a:avLst/>
          </a:prstGeom>
          <a:noFill/>
          <a:ln w="15875">
            <a:solidFill>
              <a:srgbClr val="D9822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222375" y="2251075"/>
            <a:ext cx="31750" cy="31750"/>
          </a:xfrm>
          <a:prstGeom prst="ellipse">
            <a:avLst/>
          </a:prstGeom>
          <a:noFill/>
          <a:ln w="15875">
            <a:solidFill>
              <a:srgbClr val="D9822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447800" y="2186940"/>
            <a:ext cx="1165860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A24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卖方上调定价的是结构迁移，不是景气反转。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933450" y="3100388"/>
            <a:ext cx="57150" cy="57150"/>
          </a:xfrm>
          <a:prstGeom prst="ellipse">
            <a:avLst/>
          </a:prstGeom>
          <a:solidFill>
            <a:srgbClr val="10605A"/>
          </a:solidFill>
          <a:ln/>
        </p:spPr>
      </p:sp>
      <p:sp>
        <p:nvSpPr>
          <p:cNvPr id="16" name="Text 14"/>
          <p:cNvSpPr/>
          <p:nvPr/>
        </p:nvSpPr>
        <p:spPr>
          <a:xfrm>
            <a:off x="1162050" y="3033713"/>
            <a:ext cx="1194435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1A24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已发生：相对受益的定价（Alpha 重定价），资本端先行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933450" y="3443288"/>
            <a:ext cx="57150" cy="57150"/>
          </a:xfrm>
          <a:prstGeom prst="ellipse">
            <a:avLst/>
          </a:prstGeom>
          <a:solidFill>
            <a:srgbClr val="10605A"/>
          </a:solidFill>
          <a:ln/>
        </p:spPr>
      </p:sp>
      <p:sp>
        <p:nvSpPr>
          <p:cNvPr id="18" name="Text 16"/>
          <p:cNvSpPr/>
          <p:nvPr/>
        </p:nvSpPr>
        <p:spPr>
          <a:xfrm>
            <a:off x="1162050" y="3376613"/>
            <a:ext cx="1194435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1A24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未发生：行业总盘的利润扩张（Beta 反转）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933450" y="3786188"/>
            <a:ext cx="57150" cy="57150"/>
          </a:xfrm>
          <a:prstGeom prst="ellipse">
            <a:avLst/>
          </a:prstGeom>
          <a:solidFill>
            <a:srgbClr val="10605A"/>
          </a:solidFill>
          <a:ln/>
        </p:spPr>
      </p:sp>
      <p:sp>
        <p:nvSpPr>
          <p:cNvPr id="20" name="Text 18"/>
          <p:cNvSpPr/>
          <p:nvPr/>
        </p:nvSpPr>
        <p:spPr>
          <a:xfrm>
            <a:off x="1162050" y="3719513"/>
            <a:ext cx="1194435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1A24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贝壳拿到相对同业的净受益权，不是绝对增长权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914400" y="4543425"/>
            <a:ext cx="10363200" cy="5715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</p:spPr>
      </p:sp>
      <p:sp>
        <p:nvSpPr>
          <p:cNvPr id="22" name="Shape 20"/>
          <p:cNvSpPr/>
          <p:nvPr/>
        </p:nvSpPr>
        <p:spPr>
          <a:xfrm>
            <a:off x="914400" y="4543425"/>
            <a:ext cx="38100" cy="571500"/>
          </a:xfrm>
          <a:prstGeom prst="rect">
            <a:avLst/>
          </a:prstGeom>
          <a:solidFill>
            <a:srgbClr val="10605A"/>
          </a:solidFill>
          <a:ln/>
        </p:spPr>
      </p:sp>
      <p:sp>
        <p:nvSpPr>
          <p:cNvPr id="23" name="Shape 21"/>
          <p:cNvSpPr/>
          <p:nvPr/>
        </p:nvSpPr>
        <p:spPr>
          <a:xfrm>
            <a:off x="1044575" y="4749800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158750" y="79375"/>
                </a:moveTo>
                <a:lnTo>
                  <a:pt x="139065" y="79375"/>
                </a:lnTo>
                <a:arcTo hR="15875" wR="15875" stAng="16207353" swAng="-4467506"/>
                <a:lnTo>
                  <a:pt x="105093" y="157321"/>
                </a:lnTo>
                <a:arcTo hR="1984" wR="1984" stAng="975612" swAng="8848775"/>
                <a:lnTo>
                  <a:pt x="57468" y="1429"/>
                </a:lnTo>
                <a:arcTo hR="1984" wR="1984" stAng="20624388" swAng="-8848775"/>
                <a:lnTo>
                  <a:pt x="35004" y="67786"/>
                </a:lnTo>
                <a:arcTo hR="15875" wR="15875" stAng="939841" swAng="4450322"/>
                <a:lnTo>
                  <a:pt x="0" y="79375"/>
                </a:lnTo>
              </a:path>
            </a:pathLst>
          </a:custGeom>
          <a:noFill/>
          <a:ln w="15875">
            <a:solidFill>
              <a:srgbClr val="10605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95400" y="4733925"/>
            <a:ext cx="11811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1A24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证伪线与兑现线是同一条：调整后净利能否在 GTV 下行中仍增长。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533400" y="6324600"/>
            <a:ext cx="11125200" cy="0"/>
          </a:xfrm>
          <a:prstGeom prst="line">
            <a:avLst/>
          </a:prstGeom>
          <a:noFill/>
          <a:ln w="11430">
            <a:solidFill>
              <a:srgbClr val="D5D5C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3340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5D6B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正式稿 v1 · 2026-09-16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5D6B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内部 · 智见点评 · 98wiki</a:t>
            </a:r>
            <a:endParaRPr lang="en-US" sz="15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6"/>
          </a:solidFill>
          <a:ln/>
        </p:spPr>
      </p:sp>
      <p:sp>
        <p:nvSpPr>
          <p:cNvPr id="3" name="Shape 1"/>
          <p:cNvSpPr/>
          <p:nvPr/>
        </p:nvSpPr>
        <p:spPr>
          <a:xfrm>
            <a:off x="9715500" y="0"/>
            <a:ext cx="2476500" cy="2476500"/>
          </a:xfrm>
          <a:custGeom>
            <a:avLst/>
            <a:gdLst/>
            <a:ahLst/>
            <a:cxnLst/>
            <a:rect l="l" t="t" r="r" b="b"/>
            <a:pathLst>
              <a:path w="2476500" h="2476500">
                <a:moveTo>
                  <a:pt x="2476500" y="0"/>
                </a:moveTo>
                <a:lnTo>
                  <a:pt x="2476500" y="2476500"/>
                </a:lnTo>
                <a:arcTo hR="2476500" wR="2476500" stAng="0" swAng="-5400000"/>
                <a:close/>
              </a:path>
            </a:pathLst>
          </a:custGeom>
          <a:solidFill>
            <a:srgbClr val="10605A">
              <a:alpha val="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790575"/>
            <a:ext cx="123825" cy="123825"/>
          </a:xfrm>
          <a:prstGeom prst="rect">
            <a:avLst/>
          </a:prstGeom>
          <a:solidFill>
            <a:srgbClr val="9A6B22"/>
          </a:solidFill>
          <a:ln/>
        </p:spPr>
      </p:sp>
      <p:sp>
        <p:nvSpPr>
          <p:cNvPr id="5" name="Text 3"/>
          <p:cNvSpPr/>
          <p:nvPr/>
        </p:nvSpPr>
        <p:spPr>
          <a:xfrm>
            <a:off x="1143000" y="784860"/>
            <a:ext cx="11049000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75" dirty="0">
                <a:solidFill>
                  <a:srgbClr val="5D6B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核心结论与口径纪律</a:t>
            </a:r>
            <a:endParaRPr lang="en-US" sz="1275" dirty="0"/>
          </a:p>
        </p:txBody>
      </p:sp>
      <p:sp>
        <p:nvSpPr>
          <p:cNvPr id="6" name="Text 4"/>
          <p:cNvSpPr/>
          <p:nvPr/>
        </p:nvSpPr>
        <p:spPr>
          <a:xfrm>
            <a:off x="914400" y="1078230"/>
            <a:ext cx="11277600" cy="525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450" b="1" dirty="0">
                <a:solidFill>
                  <a:srgbClr val="1A24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三条口径纪律</a:t>
            </a:r>
            <a:endParaRPr lang="en-US" sz="3450" dirty="0"/>
          </a:p>
        </p:txBody>
      </p:sp>
      <p:sp>
        <p:nvSpPr>
          <p:cNvPr id="7" name="Text 5"/>
          <p:cNvSpPr/>
          <p:nvPr/>
        </p:nvSpPr>
        <p:spPr>
          <a:xfrm>
            <a:off x="914400" y="1661160"/>
            <a:ext cx="11277600" cy="25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1060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未完成前不得升格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914400" y="2038350"/>
            <a:ext cx="685800" cy="38100"/>
          </a:xfrm>
          <a:prstGeom prst="rect">
            <a:avLst/>
          </a:prstGeom>
          <a:solidFill>
            <a:srgbClr val="9A6B22"/>
          </a:solidFill>
          <a:ln/>
        </p:spPr>
      </p:sp>
      <p:sp>
        <p:nvSpPr>
          <p:cNvPr id="9" name="Shape 7"/>
          <p:cNvSpPr/>
          <p:nvPr/>
        </p:nvSpPr>
        <p:spPr>
          <a:xfrm>
            <a:off x="914400" y="2247900"/>
            <a:ext cx="10363200" cy="0"/>
          </a:xfrm>
          <a:prstGeom prst="line">
            <a:avLst/>
          </a:prstGeom>
          <a:noFill/>
          <a:ln w="9525">
            <a:solidFill>
              <a:srgbClr val="D5D5C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2571750"/>
            <a:ext cx="5029200" cy="1952625"/>
          </a:xfrm>
          <a:prstGeom prst="roundRect">
            <a:avLst>
              <a:gd name="adj" fmla="val 976"/>
            </a:avLst>
          </a:pr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914400" y="2571750"/>
            <a:ext cx="5029200" cy="57150"/>
          </a:xfrm>
          <a:custGeom>
            <a:avLst/>
            <a:gdLst/>
            <a:ahLst/>
            <a:cxnLst/>
            <a:rect l="l" t="t" r="r" b="b"/>
            <a:pathLst>
              <a:path w="5029200" h="57150">
                <a:moveTo>
                  <a:pt x="0" y="19050"/>
                </a:moveTo>
                <a:arcTo hR="19050" wR="19050" stAng="10800000" swAng="5400000"/>
                <a:lnTo>
                  <a:pt x="5010150" y="0"/>
                </a:lnTo>
                <a:arcTo hR="19050" wR="19050" stAng="16200000" swAng="5400000"/>
                <a:lnTo>
                  <a:pt x="5029200" y="57150"/>
                </a:lnTo>
                <a:lnTo>
                  <a:pt x="0" y="57150"/>
                </a:lnTo>
                <a:close/>
              </a:path>
            </a:pathLst>
          </a:custGeom>
          <a:solidFill>
            <a:srgbClr val="9A6B22"/>
          </a:solidFill>
          <a:ln/>
        </p:spPr>
      </p:sp>
      <p:sp>
        <p:nvSpPr>
          <p:cNvPr id="12" name="Text 10"/>
          <p:cNvSpPr/>
          <p:nvPr/>
        </p:nvSpPr>
        <p:spPr>
          <a:xfrm>
            <a:off x="1123950" y="2794635"/>
            <a:ext cx="11068050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9A6B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口径纪律</a:t>
            </a:r>
            <a:endParaRPr lang="en-US" sz="1275" dirty="0"/>
          </a:p>
        </p:txBody>
      </p:sp>
      <p:sp>
        <p:nvSpPr>
          <p:cNvPr id="13" name="Text 11"/>
          <p:cNvSpPr/>
          <p:nvPr/>
        </p:nvSpPr>
        <p:spPr>
          <a:xfrm>
            <a:off x="1123950" y="3122295"/>
            <a:ext cx="1106805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A24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GTV 口径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032064" y="3121343"/>
            <a:ext cx="10159937" cy="154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13" dirty="0">
                <a:solidFill>
                  <a:srgbClr val="1A24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含撮合口径 ≠ 净收入，必须标明 take rate</a:t>
            </a:r>
            <a:endParaRPr lang="en-US" sz="1013" dirty="0"/>
          </a:p>
        </p:txBody>
      </p:sp>
      <p:sp>
        <p:nvSpPr>
          <p:cNvPr id="15" name="Text 13"/>
          <p:cNvSpPr/>
          <p:nvPr/>
        </p:nvSpPr>
        <p:spPr>
          <a:xfrm>
            <a:off x="1123950" y="3465195"/>
            <a:ext cx="1106805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A24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利润率口径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032064" y="3464243"/>
            <a:ext cx="10159937" cy="154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13" dirty="0">
                <a:solidFill>
                  <a:srgbClr val="1A24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14.6% / +8.5pct 属媒体转述口径，待复核</a:t>
            </a:r>
            <a:endParaRPr lang="en-US" sz="1013" dirty="0"/>
          </a:p>
        </p:txBody>
      </p:sp>
      <p:sp>
        <p:nvSpPr>
          <p:cNvPr id="17" name="Text 15"/>
          <p:cNvSpPr/>
          <p:nvPr/>
        </p:nvSpPr>
        <p:spPr>
          <a:xfrm>
            <a:off x="1123950" y="3808095"/>
            <a:ext cx="1106805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A24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受益性质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032064" y="3807142"/>
            <a:ext cx="10159937" cy="154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13" dirty="0">
                <a:solidFill>
                  <a:srgbClr val="1A24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净受益是相对概念，份额与利润可同时分化</a:t>
            </a:r>
            <a:endParaRPr lang="en-US" sz="1013" dirty="0"/>
          </a:p>
        </p:txBody>
      </p:sp>
      <p:sp>
        <p:nvSpPr>
          <p:cNvPr id="19" name="Text 17"/>
          <p:cNvSpPr/>
          <p:nvPr/>
        </p:nvSpPr>
        <p:spPr>
          <a:xfrm>
            <a:off x="1123950" y="4242435"/>
            <a:ext cx="11068050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D6B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数据缺口声明：当期全国成交数据不可得，本文仅给框架与方向。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248400" y="2571750"/>
            <a:ext cx="5029200" cy="609600"/>
          </a:xfrm>
          <a:prstGeom prst="roundRect">
            <a:avLst>
              <a:gd name="adj" fmla="val 15625"/>
            </a:avLst>
          </a:prstGeom>
          <a:solidFill>
            <a:srgbClr val="5D6B65">
              <a:alpha val="8000"/>
            </a:srgbClr>
          </a:solidFill>
          <a:ln w="14288">
            <a:solidFill>
              <a:srgbClr val="5D6B6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92875" y="2797175"/>
            <a:ext cx="158750" cy="158750"/>
          </a:xfrm>
          <a:prstGeom prst="ellipse">
            <a:avLst/>
          </a:prstGeom>
          <a:noFill/>
          <a:ln w="15875">
            <a:solidFill>
              <a:srgbClr val="5D6B6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572250" y="2844800"/>
            <a:ext cx="0" cy="31750"/>
          </a:xfrm>
          <a:prstGeom prst="line">
            <a:avLst/>
          </a:prstGeom>
          <a:noFill/>
          <a:ln w="15875">
            <a:solidFill>
              <a:srgbClr val="5D6B6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572250" y="2908300"/>
            <a:ext cx="79" cy="0"/>
          </a:xfrm>
          <a:prstGeom prst="line">
            <a:avLst/>
          </a:prstGeom>
          <a:noFill/>
          <a:ln w="15875">
            <a:solidFill>
              <a:srgbClr val="5D6B6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81800" y="2796540"/>
            <a:ext cx="1165860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A24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凡涉绝对利润数值的推论，本文一律不给出。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533400" y="6324600"/>
            <a:ext cx="11125200" cy="0"/>
          </a:xfrm>
          <a:prstGeom prst="line">
            <a:avLst/>
          </a:prstGeom>
          <a:noFill/>
          <a:ln w="11430">
            <a:solidFill>
              <a:srgbClr val="D5D5C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3340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5D6B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正式稿 v1 · 2026-09-16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5D6B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内部 · 智见点评 · 98wiki</a:t>
            </a:r>
            <a:endParaRPr lang="en-US" sz="15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6"/>
          </a:solidFill>
          <a:ln/>
        </p:spPr>
      </p:sp>
      <p:sp>
        <p:nvSpPr>
          <p:cNvPr id="3" name="Shape 1"/>
          <p:cNvSpPr/>
          <p:nvPr/>
        </p:nvSpPr>
        <p:spPr>
          <a:xfrm>
            <a:off x="9715500" y="0"/>
            <a:ext cx="2476500" cy="2476500"/>
          </a:xfrm>
          <a:custGeom>
            <a:avLst/>
            <a:gdLst/>
            <a:ahLst/>
            <a:cxnLst/>
            <a:rect l="l" t="t" r="r" b="b"/>
            <a:pathLst>
              <a:path w="2476500" h="2476500">
                <a:moveTo>
                  <a:pt x="2476500" y="0"/>
                </a:moveTo>
                <a:lnTo>
                  <a:pt x="2476500" y="2476500"/>
                </a:lnTo>
                <a:arcTo hR="2476500" wR="2476500" stAng="0" swAng="-5400000"/>
                <a:close/>
              </a:path>
            </a:pathLst>
          </a:custGeom>
          <a:solidFill>
            <a:srgbClr val="10605A">
              <a:alpha val="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914400"/>
            <a:ext cx="38100" cy="5181600"/>
          </a:xfrm>
          <a:prstGeom prst="rect">
            <a:avLst/>
          </a:prstGeom>
          <a:solidFill>
            <a:srgbClr val="10605A"/>
          </a:solidFill>
          <a:ln/>
        </p:spPr>
      </p:sp>
      <p:sp>
        <p:nvSpPr>
          <p:cNvPr id="5" name="Shape 3"/>
          <p:cNvSpPr/>
          <p:nvPr/>
        </p:nvSpPr>
        <p:spPr>
          <a:xfrm>
            <a:off x="409575" y="847725"/>
            <a:ext cx="133350" cy="133350"/>
          </a:xfrm>
          <a:prstGeom prst="ellipse">
            <a:avLst/>
          </a:prstGeom>
          <a:solidFill>
            <a:srgbClr val="10605A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914400"/>
            <a:ext cx="609600" cy="304800"/>
          </a:xfrm>
          <a:prstGeom prst="roundRect">
            <a:avLst>
              <a:gd name="adj" fmla="val 18750"/>
            </a:avLst>
          </a:prstGeom>
          <a:solidFill>
            <a:srgbClr val="10605A"/>
          </a:solidFill>
          <a:ln/>
        </p:spPr>
      </p:sp>
      <p:sp>
        <p:nvSpPr>
          <p:cNvPr id="7" name="Text 5"/>
          <p:cNvSpPr/>
          <p:nvPr/>
        </p:nvSpPr>
        <p:spPr>
          <a:xfrm>
            <a:off x="0" y="998220"/>
            <a:ext cx="243840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1.3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714500" y="885825"/>
            <a:ext cx="104775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24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三档判断与当前落位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1714500" y="1413510"/>
            <a:ext cx="10477500" cy="25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1060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偏第二档上半区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923925" y="2000250"/>
            <a:ext cx="0" cy="1285875"/>
          </a:xfrm>
          <a:prstGeom prst="line">
            <a:avLst/>
          </a:prstGeom>
          <a:noFill/>
          <a:ln w="19050">
            <a:solidFill>
              <a:srgbClr val="9A6B22">
                <a:alpha val="6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23950" y="2026920"/>
            <a:ext cx="11982450" cy="388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550" b="1" i="1" dirty="0">
                <a:solidFill>
                  <a:srgbClr val="9A6B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550" dirty="0"/>
          </a:p>
        </p:txBody>
      </p:sp>
      <p:sp>
        <p:nvSpPr>
          <p:cNvPr id="12" name="Text 10"/>
          <p:cNvSpPr/>
          <p:nvPr/>
        </p:nvSpPr>
        <p:spPr>
          <a:xfrm>
            <a:off x="1123950" y="2453640"/>
            <a:ext cx="1198245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A24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已兑现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1123950" y="2779395"/>
            <a:ext cx="1198245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D6B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存量与服务池扩张快于新房收缩，利润率守 14%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123950" y="2960370"/>
            <a:ext cx="1198245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D6B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上方两季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123950" y="3181350"/>
            <a:ext cx="1198245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38" dirty="0">
                <a:solidFill>
                  <a:srgbClr val="5D6B65">
                    <a:alpha val="7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未达</a:t>
            </a:r>
            <a:endParaRPr lang="en-US" sz="938" dirty="0"/>
          </a:p>
        </p:txBody>
      </p:sp>
      <p:sp>
        <p:nvSpPr>
          <p:cNvPr id="16" name="Shape 14"/>
          <p:cNvSpPr/>
          <p:nvPr/>
        </p:nvSpPr>
        <p:spPr>
          <a:xfrm>
            <a:off x="4467225" y="2000250"/>
            <a:ext cx="0" cy="1285875"/>
          </a:xfrm>
          <a:prstGeom prst="line">
            <a:avLst/>
          </a:prstGeom>
          <a:noFill/>
          <a:ln w="19050">
            <a:solidFill>
              <a:srgbClr val="9A6B22">
                <a:alpha val="65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67250" y="2026920"/>
            <a:ext cx="8439150" cy="388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550" b="1" i="1" dirty="0">
                <a:solidFill>
                  <a:srgbClr val="9A6B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550" dirty="0"/>
          </a:p>
        </p:txBody>
      </p:sp>
      <p:sp>
        <p:nvSpPr>
          <p:cNvPr id="18" name="Text 16"/>
          <p:cNvSpPr/>
          <p:nvPr/>
        </p:nvSpPr>
        <p:spPr>
          <a:xfrm>
            <a:off x="4667250" y="2453640"/>
            <a:ext cx="843915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A24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仅相对受益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667250" y="2779395"/>
            <a:ext cx="843915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D6B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改善主要来自摊薄与一次性压缩，行业绝对净利无增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667250" y="2960370"/>
            <a:ext cx="843915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D6B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量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667250" y="3181350"/>
            <a:ext cx="843915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38" dirty="0">
                <a:solidFill>
                  <a:srgbClr val="5D6B65">
                    <a:alpha val="7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当前落位</a:t>
            </a:r>
            <a:endParaRPr lang="en-US" sz="938" dirty="0"/>
          </a:p>
        </p:txBody>
      </p:sp>
      <p:sp>
        <p:nvSpPr>
          <p:cNvPr id="22" name="Shape 20"/>
          <p:cNvSpPr/>
          <p:nvPr/>
        </p:nvSpPr>
        <p:spPr>
          <a:xfrm>
            <a:off x="8010525" y="2000250"/>
            <a:ext cx="0" cy="1285875"/>
          </a:xfrm>
          <a:prstGeom prst="line">
            <a:avLst/>
          </a:prstGeom>
          <a:noFill/>
          <a:ln w="19050">
            <a:solidFill>
              <a:srgbClr val="9A6B22">
                <a:alpha val="65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10550" y="2026920"/>
            <a:ext cx="4895850" cy="388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550" b="1" i="1" dirty="0">
                <a:solidFill>
                  <a:srgbClr val="9A6B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550" dirty="0"/>
          </a:p>
        </p:txBody>
      </p:sp>
      <p:sp>
        <p:nvSpPr>
          <p:cNvPr id="24" name="Text 22"/>
          <p:cNvSpPr/>
          <p:nvPr/>
        </p:nvSpPr>
        <p:spPr>
          <a:xfrm>
            <a:off x="8210550" y="2453640"/>
            <a:ext cx="489585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A24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逻辑证伪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8210550" y="2779395"/>
            <a:ext cx="489585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D6B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新房 GTV 收缩快于存量池扩张，变现率续降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8210550" y="3000375"/>
            <a:ext cx="489585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38" dirty="0">
                <a:solidFill>
                  <a:srgbClr val="5D6B65">
                    <a:alpha val="7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未触发</a:t>
            </a:r>
            <a:endParaRPr lang="en-US" sz="938" dirty="0"/>
          </a:p>
        </p:txBody>
      </p:sp>
      <p:sp>
        <p:nvSpPr>
          <p:cNvPr id="27" name="Shape 25"/>
          <p:cNvSpPr/>
          <p:nvPr/>
        </p:nvSpPr>
        <p:spPr>
          <a:xfrm>
            <a:off x="914400" y="3767138"/>
            <a:ext cx="10363200" cy="5715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</p:spPr>
      </p:sp>
      <p:sp>
        <p:nvSpPr>
          <p:cNvPr id="28" name="Shape 26"/>
          <p:cNvSpPr/>
          <p:nvPr/>
        </p:nvSpPr>
        <p:spPr>
          <a:xfrm>
            <a:off x="914400" y="3767138"/>
            <a:ext cx="38100" cy="571500"/>
          </a:xfrm>
          <a:prstGeom prst="rect">
            <a:avLst/>
          </a:prstGeom>
          <a:solidFill>
            <a:srgbClr val="9A6B22"/>
          </a:solidFill>
          <a:ln/>
        </p:spPr>
      </p:sp>
      <p:sp>
        <p:nvSpPr>
          <p:cNvPr id="29" name="Shape 27"/>
          <p:cNvSpPr/>
          <p:nvPr/>
        </p:nvSpPr>
        <p:spPr>
          <a:xfrm>
            <a:off x="1076325" y="3973512"/>
            <a:ext cx="95250" cy="95250"/>
          </a:xfrm>
          <a:custGeom>
            <a:avLst/>
            <a:gdLst/>
            <a:ahLst/>
            <a:cxnLst/>
            <a:rect l="l" t="t" r="r" b="b"/>
            <a:pathLst>
              <a:path w="95250" h="95250">
                <a:moveTo>
                  <a:pt x="71438" y="95250"/>
                </a:moveTo>
                <a:cubicBezTo>
                  <a:pt x="73025" y="87313"/>
                  <a:pt x="76994" y="81756"/>
                  <a:pt x="83344" y="75406"/>
                </a:cubicBezTo>
                <a:cubicBezTo>
                  <a:pt x="91281" y="68263"/>
                  <a:pt x="95250" y="57944"/>
                  <a:pt x="95250" y="47625"/>
                </a:cubicBezTo>
                <a:arcTo hR="47625" wR="47625" stAng="0" swAng="-10800000"/>
                <a:cubicBezTo>
                  <a:pt x="0" y="55563"/>
                  <a:pt x="1588" y="65088"/>
                  <a:pt x="11906" y="75406"/>
                </a:cubicBezTo>
                <a:cubicBezTo>
                  <a:pt x="17462" y="80963"/>
                  <a:pt x="22225" y="87313"/>
                  <a:pt x="23813" y="95250"/>
                </a:cubicBezTo>
              </a:path>
            </a:pathLst>
          </a:custGeom>
          <a:noFill/>
          <a:ln w="15875">
            <a:solidFill>
              <a:srgbClr val="9A6B2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100138" y="4100513"/>
            <a:ext cx="47625" cy="0"/>
          </a:xfrm>
          <a:custGeom>
            <a:avLst/>
            <a:gdLst/>
            <a:ahLst/>
            <a:cxnLst/>
            <a:rect l="l" t="t" r="r" b="b"/>
            <a:pathLst>
              <a:path w="47625" h="0">
                <a:moveTo>
                  <a:pt x="0" y="0"/>
                </a:moveTo>
                <a:lnTo>
                  <a:pt x="47625" y="0"/>
                </a:lnTo>
              </a:path>
            </a:pathLst>
          </a:custGeom>
          <a:noFill/>
          <a:ln w="15875">
            <a:solidFill>
              <a:srgbClr val="9A6B2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108075" y="4132263"/>
            <a:ext cx="31750" cy="0"/>
          </a:xfrm>
          <a:custGeom>
            <a:avLst/>
            <a:gdLst/>
            <a:ahLst/>
            <a:cxnLst/>
            <a:rect l="l" t="t" r="r" b="b"/>
            <a:pathLst>
              <a:path w="31750" h="0">
                <a:moveTo>
                  <a:pt x="0" y="0"/>
                </a:moveTo>
                <a:lnTo>
                  <a:pt x="31750" y="0"/>
                </a:lnTo>
              </a:path>
            </a:pathLst>
          </a:custGeom>
          <a:noFill/>
          <a:ln w="15875">
            <a:solidFill>
              <a:srgbClr val="9A6B2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295400" y="3957638"/>
            <a:ext cx="11811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1A24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研判推断：档位切换判据不是单季数字，而是三条监测线同时同向。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533400" y="6324600"/>
            <a:ext cx="11125200" cy="0"/>
          </a:xfrm>
          <a:prstGeom prst="line">
            <a:avLst/>
          </a:prstGeom>
          <a:noFill/>
          <a:ln w="11430">
            <a:solidFill>
              <a:srgbClr val="D5D5C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3340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5D6B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正式稿 v1 · 2026-09-16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5D6B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内部 · 智见点评 · 98wiki</a:t>
            </a:r>
            <a:endParaRPr lang="en-US" sz="15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6A4E"/>
          </a:solidFill>
          <a:ln/>
        </p:spPr>
      </p:sp>
      <p:sp>
        <p:nvSpPr>
          <p:cNvPr id="3" name="Shape 1"/>
          <p:cNvSpPr/>
          <p:nvPr/>
        </p:nvSpPr>
        <p:spPr>
          <a:xfrm>
            <a:off x="9715500" y="0"/>
            <a:ext cx="2476500" cy="2476500"/>
          </a:xfrm>
          <a:custGeom>
            <a:avLst/>
            <a:gdLst/>
            <a:ahLst/>
            <a:cxnLst/>
            <a:rect l="l" t="t" r="r" b="b"/>
            <a:pathLst>
              <a:path w="2476500" h="2476500">
                <a:moveTo>
                  <a:pt x="2476500" y="0"/>
                </a:moveTo>
                <a:lnTo>
                  <a:pt x="2476500" y="2476500"/>
                </a:lnTo>
                <a:arcTo hR="2476500" wR="2476500" stAng="0" swAng="-5400000"/>
                <a:close/>
              </a:path>
            </a:pathLst>
          </a:custGeom>
          <a:solidFill>
            <a:srgbClr val="FFFFFF">
              <a:alpha val="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0" y="4210050"/>
            <a:ext cx="11658600" cy="2971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9500" b="1" dirty="0">
                <a:solidFill>
                  <a:srgbClr val="FFFFFF">
                    <a:alpha val="6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9500" dirty="0"/>
          </a:p>
        </p:txBody>
      </p:sp>
      <p:sp>
        <p:nvSpPr>
          <p:cNvPr id="5" name="Text 3"/>
          <p:cNvSpPr/>
          <p:nvPr/>
        </p:nvSpPr>
        <p:spPr>
          <a:xfrm>
            <a:off x="0" y="3093720"/>
            <a:ext cx="12192000" cy="960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6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关键事实及其变化</a:t>
            </a:r>
            <a:endParaRPr lang="en-US" sz="6300" dirty="0"/>
          </a:p>
        </p:txBody>
      </p:sp>
      <p:sp>
        <p:nvSpPr>
          <p:cNvPr id="6" name="Shape 4"/>
          <p:cNvSpPr/>
          <p:nvPr/>
        </p:nvSpPr>
        <p:spPr>
          <a:xfrm>
            <a:off x="5524500" y="5715000"/>
            <a:ext cx="1143000" cy="0"/>
          </a:xfrm>
          <a:prstGeom prst="line">
            <a:avLst/>
          </a:prstGeom>
          <a:noFill/>
          <a:ln w="1524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76875" y="5667375"/>
            <a:ext cx="95250" cy="95250"/>
          </a:xfrm>
          <a:prstGeom prst="ellipse">
            <a:avLst/>
          </a:prstGeom>
          <a:solidFill>
            <a:srgbClr val="FFFFFF">
              <a:alpha val="3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5838825" y="5648325"/>
            <a:ext cx="133350" cy="13335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6238875" y="5667375"/>
            <a:ext cx="95250" cy="95250"/>
          </a:xfrm>
          <a:prstGeom prst="ellipse">
            <a:avLst/>
          </a:prstGeom>
          <a:solidFill>
            <a:srgbClr val="FFFFFF">
              <a:alpha val="3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6619875" y="5667375"/>
            <a:ext cx="95250" cy="95250"/>
          </a:xfrm>
          <a:prstGeom prst="ellipse">
            <a:avLst/>
          </a:prstGeom>
          <a:solidFill>
            <a:srgbClr val="FFFFFF">
              <a:alpha val="35000"/>
            </a:srgbClr>
          </a:solidFill>
          <a:ln/>
        </p:spPr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6"/>
          </a:solidFill>
          <a:ln/>
        </p:spPr>
      </p:sp>
      <p:sp>
        <p:nvSpPr>
          <p:cNvPr id="3" name="Shape 1"/>
          <p:cNvSpPr/>
          <p:nvPr/>
        </p:nvSpPr>
        <p:spPr>
          <a:xfrm>
            <a:off x="9715500" y="0"/>
            <a:ext cx="2476500" cy="2476500"/>
          </a:xfrm>
          <a:custGeom>
            <a:avLst/>
            <a:gdLst/>
            <a:ahLst/>
            <a:cxnLst/>
            <a:rect l="l" t="t" r="r" b="b"/>
            <a:pathLst>
              <a:path w="2476500" h="2476500">
                <a:moveTo>
                  <a:pt x="2476500" y="0"/>
                </a:moveTo>
                <a:lnTo>
                  <a:pt x="2476500" y="2476500"/>
                </a:lnTo>
                <a:arcTo hR="2476500" wR="2476500" stAng="0" swAng="-5400000"/>
                <a:close/>
              </a:path>
            </a:pathLst>
          </a:custGeom>
          <a:solidFill>
            <a:srgbClr val="10605A">
              <a:alpha val="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790575"/>
            <a:ext cx="123825" cy="123825"/>
          </a:xfrm>
          <a:prstGeom prst="rect">
            <a:avLst/>
          </a:prstGeom>
          <a:solidFill>
            <a:srgbClr val="9A6B22"/>
          </a:solidFill>
          <a:ln/>
        </p:spPr>
      </p:sp>
      <p:sp>
        <p:nvSpPr>
          <p:cNvPr id="5" name="Text 3"/>
          <p:cNvSpPr/>
          <p:nvPr/>
        </p:nvSpPr>
        <p:spPr>
          <a:xfrm>
            <a:off x="1143000" y="784860"/>
            <a:ext cx="11049000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75" dirty="0">
                <a:solidFill>
                  <a:srgbClr val="5D6B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关键事实及其变化</a:t>
            </a:r>
            <a:endParaRPr lang="en-US" sz="1275" dirty="0"/>
          </a:p>
        </p:txBody>
      </p:sp>
      <p:sp>
        <p:nvSpPr>
          <p:cNvPr id="6" name="Text 4"/>
          <p:cNvSpPr/>
          <p:nvPr/>
        </p:nvSpPr>
        <p:spPr>
          <a:xfrm>
            <a:off x="914400" y="1078230"/>
            <a:ext cx="11277600" cy="525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450" b="1" dirty="0">
                <a:solidFill>
                  <a:srgbClr val="1A24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资本端先行，经营端印证</a:t>
            </a:r>
            <a:endParaRPr lang="en-US" sz="3450" dirty="0"/>
          </a:p>
        </p:txBody>
      </p:sp>
      <p:sp>
        <p:nvSpPr>
          <p:cNvPr id="7" name="Text 5"/>
          <p:cNvSpPr/>
          <p:nvPr/>
        </p:nvSpPr>
        <p:spPr>
          <a:xfrm>
            <a:off x="914400" y="1661160"/>
            <a:ext cx="11277600" cy="25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1060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四个已披露且口径明确的关键数值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914400" y="2038350"/>
            <a:ext cx="685800" cy="38100"/>
          </a:xfrm>
          <a:prstGeom prst="rect">
            <a:avLst/>
          </a:prstGeom>
          <a:solidFill>
            <a:srgbClr val="9A6B22"/>
          </a:solidFill>
          <a:ln/>
        </p:spPr>
      </p:sp>
      <p:sp>
        <p:nvSpPr>
          <p:cNvPr id="9" name="Shape 7"/>
          <p:cNvSpPr/>
          <p:nvPr/>
        </p:nvSpPr>
        <p:spPr>
          <a:xfrm>
            <a:off x="914400" y="2247900"/>
            <a:ext cx="10363200" cy="0"/>
          </a:xfrm>
          <a:prstGeom prst="line">
            <a:avLst/>
          </a:prstGeom>
          <a:noFill/>
          <a:ln w="9525">
            <a:solidFill>
              <a:srgbClr val="D5D5C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3172587"/>
            <a:ext cx="2476500" cy="1943100"/>
          </a:xfrm>
          <a:prstGeom prst="roundRect">
            <a:avLst>
              <a:gd name="adj" fmla="val 980"/>
            </a:avLst>
          </a:pr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1219200" y="3736943"/>
            <a:ext cx="42863" cy="42863"/>
          </a:xfrm>
          <a:custGeom>
            <a:avLst/>
            <a:gdLst/>
            <a:ahLst/>
            <a:cxnLst/>
            <a:rect l="l" t="t" r="r" b="b"/>
            <a:pathLst>
              <a:path w="42863" h="42863">
                <a:moveTo>
                  <a:pt x="0" y="0"/>
                </a:moveTo>
                <a:lnTo>
                  <a:pt x="42863" y="0"/>
                </a:lnTo>
                <a:lnTo>
                  <a:pt x="42863" y="42863"/>
                </a:lnTo>
              </a:path>
            </a:pathLst>
          </a:custGeom>
          <a:noFill/>
          <a:ln w="14288">
            <a:solidFill>
              <a:srgbClr val="10605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19188" y="3736943"/>
            <a:ext cx="142875" cy="71438"/>
          </a:xfrm>
          <a:custGeom>
            <a:avLst/>
            <a:gdLst/>
            <a:ahLst/>
            <a:cxnLst/>
            <a:rect l="l" t="t" r="r" b="b"/>
            <a:pathLst>
              <a:path w="142875" h="71438">
                <a:moveTo>
                  <a:pt x="142875" y="0"/>
                </a:moveTo>
                <a:lnTo>
                  <a:pt x="82153" y="60722"/>
                </a:lnTo>
                <a:lnTo>
                  <a:pt x="46434" y="25003"/>
                </a:lnTo>
                <a:lnTo>
                  <a:pt x="0" y="71438"/>
                </a:lnTo>
              </a:path>
            </a:pathLst>
          </a:custGeom>
          <a:noFill/>
          <a:ln w="14288">
            <a:solidFill>
              <a:srgbClr val="10605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04900" y="3877437"/>
            <a:ext cx="120015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24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63 → 66</a:t>
            </a:r>
            <a:pPr algn="l" indent="0" marL="0">
              <a:buNone/>
            </a:pPr>
            <a:r>
              <a:rPr lang="en-US" sz="1350" b="1" dirty="0">
                <a:solidFill>
                  <a:srgbClr val="5D6B6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港元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914400" y="3763137"/>
            <a:ext cx="2286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16A34A"/>
                </a:solidFill>
              </a:rPr>
              <a:t>↑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104900" y="4387977"/>
            <a:ext cx="12001500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5D6B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高盛贝壳 H 股目标价（2026-09-09）</a:t>
            </a:r>
            <a:endParaRPr lang="en-US" sz="975" dirty="0"/>
          </a:p>
        </p:txBody>
      </p:sp>
      <p:sp>
        <p:nvSpPr>
          <p:cNvPr id="16" name="Shape 14"/>
          <p:cNvSpPr/>
          <p:nvPr/>
        </p:nvSpPr>
        <p:spPr>
          <a:xfrm>
            <a:off x="3543300" y="3172587"/>
            <a:ext cx="2476500" cy="1943100"/>
          </a:xfrm>
          <a:prstGeom prst="roundRect">
            <a:avLst>
              <a:gd name="adj" fmla="val 980"/>
            </a:avLst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 flipV="1">
            <a:off x="3769519" y="3722656"/>
            <a:ext cx="100013" cy="100013"/>
          </a:xfrm>
          <a:prstGeom prst="line">
            <a:avLst/>
          </a:prstGeom>
          <a:noFill/>
          <a:ln w="14288">
            <a:solidFill>
              <a:srgbClr val="10605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762375" y="3715512"/>
            <a:ext cx="35719" cy="35719"/>
          </a:xfrm>
          <a:prstGeom prst="ellipse">
            <a:avLst/>
          </a:prstGeom>
          <a:noFill/>
          <a:ln w="14288">
            <a:solidFill>
              <a:srgbClr val="10605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840956" y="3794093"/>
            <a:ext cx="35719" cy="35719"/>
          </a:xfrm>
          <a:prstGeom prst="ellipse">
            <a:avLst/>
          </a:prstGeom>
          <a:noFill/>
          <a:ln w="14288">
            <a:solidFill>
              <a:srgbClr val="10605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733800" y="3877437"/>
            <a:ext cx="93726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24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14.6</a:t>
            </a:r>
            <a:pPr algn="l" indent="0" marL="0">
              <a:buNone/>
            </a:pPr>
            <a:r>
              <a:rPr lang="en-US" sz="1350" b="1" dirty="0">
                <a:solidFill>
                  <a:srgbClr val="5D6B6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%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914400" y="3763137"/>
            <a:ext cx="49149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16A34A"/>
                </a:solidFill>
              </a:rPr>
              <a:t>↑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3733800" y="4387977"/>
            <a:ext cx="9372600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5D6B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Q2 经调整经营利润率，同比 +8.5pct</a:t>
            </a:r>
            <a:endParaRPr lang="en-US" sz="975" dirty="0"/>
          </a:p>
        </p:txBody>
      </p:sp>
      <p:sp>
        <p:nvSpPr>
          <p:cNvPr id="23" name="Shape 21"/>
          <p:cNvSpPr/>
          <p:nvPr/>
        </p:nvSpPr>
        <p:spPr>
          <a:xfrm>
            <a:off x="6172200" y="3172587"/>
            <a:ext cx="2476500" cy="1943100"/>
          </a:xfrm>
          <a:prstGeom prst="roundRect">
            <a:avLst>
              <a:gd name="adj" fmla="val 980"/>
            </a:avLst>
          </a:prstGeom>
          <a:solidFill>
            <a:srgbClr val="FFFFFF"/>
          </a:solidFill>
          <a:ln/>
        </p:spPr>
      </p:sp>
      <p:sp>
        <p:nvSpPr>
          <p:cNvPr id="24" name="Shape 22"/>
          <p:cNvSpPr/>
          <p:nvPr/>
        </p:nvSpPr>
        <p:spPr>
          <a:xfrm>
            <a:off x="6448425" y="3701225"/>
            <a:ext cx="0" cy="142875"/>
          </a:xfrm>
          <a:prstGeom prst="line">
            <a:avLst/>
          </a:prstGeom>
          <a:noFill/>
          <a:ln w="14288">
            <a:solidFill>
              <a:srgbClr val="10605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05563" y="3722656"/>
            <a:ext cx="85725" cy="100013"/>
          </a:xfrm>
          <a:custGeom>
            <a:avLst/>
            <a:gdLst/>
            <a:ahLst/>
            <a:cxnLst/>
            <a:rect l="l" t="t" r="r" b="b"/>
            <a:pathLst>
              <a:path w="85725" h="100013">
                <a:moveTo>
                  <a:pt x="78581" y="0"/>
                </a:moveTo>
                <a:lnTo>
                  <a:pt x="25003" y="0"/>
                </a:lnTo>
                <a:arcTo hR="25003" wR="25003" stAng="16200000" swAng="-10800000"/>
                <a:lnTo>
                  <a:pt x="60722" y="50006"/>
                </a:lnTo>
                <a:arcTo hR="25003" wR="25003" stAng="16200000" swAng="10800000"/>
                <a:lnTo>
                  <a:pt x="0" y="100013"/>
                </a:lnTo>
              </a:path>
            </a:pathLst>
          </a:custGeom>
          <a:noFill/>
          <a:ln w="14288">
            <a:solidFill>
              <a:srgbClr val="10605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62700" y="3877437"/>
            <a:ext cx="67437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24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38.79</a:t>
            </a:r>
            <a:pPr algn="l" indent="0" marL="0">
              <a:buNone/>
            </a:pPr>
            <a:r>
              <a:rPr lang="en-US" sz="1350" b="1" dirty="0">
                <a:solidFill>
                  <a:srgbClr val="5D6B6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亿元</a:t>
            </a:r>
            <a:endParaRPr lang="en-US" sz="3000" dirty="0"/>
          </a:p>
        </p:txBody>
      </p:sp>
      <p:sp>
        <p:nvSpPr>
          <p:cNvPr id="27" name="Text 25"/>
          <p:cNvSpPr/>
          <p:nvPr/>
        </p:nvSpPr>
        <p:spPr>
          <a:xfrm>
            <a:off x="914400" y="3763137"/>
            <a:ext cx="75438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5D6B65"/>
                </a:solidFill>
              </a:rPr>
              <a:t>→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362700" y="4387977"/>
            <a:ext cx="6743700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5D6B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H1 净利润（人民网 / 东方财富口径）</a:t>
            </a:r>
            <a:endParaRPr lang="en-US" sz="975" dirty="0"/>
          </a:p>
        </p:txBody>
      </p:sp>
      <p:sp>
        <p:nvSpPr>
          <p:cNvPr id="29" name="Shape 27"/>
          <p:cNvSpPr/>
          <p:nvPr/>
        </p:nvSpPr>
        <p:spPr>
          <a:xfrm>
            <a:off x="8801100" y="3172587"/>
            <a:ext cx="2476500" cy="1943100"/>
          </a:xfrm>
          <a:prstGeom prst="roundRect">
            <a:avLst>
              <a:gd name="adj" fmla="val 980"/>
            </a:avLst>
          </a:prstGeom>
          <a:solidFill>
            <a:srgbClr val="FFFFFF"/>
          </a:solidFill>
          <a:ln/>
        </p:spPr>
      </p:sp>
      <p:sp>
        <p:nvSpPr>
          <p:cNvPr id="30" name="Shape 28"/>
          <p:cNvSpPr/>
          <p:nvPr/>
        </p:nvSpPr>
        <p:spPr>
          <a:xfrm>
            <a:off x="9005888" y="3701225"/>
            <a:ext cx="142875" cy="142875"/>
          </a:xfrm>
          <a:custGeom>
            <a:avLst/>
            <a:gdLst/>
            <a:ahLst/>
            <a:cxnLst/>
            <a:rect l="l" t="t" r="r" b="b"/>
            <a:pathLst>
              <a:path w="142875" h="142875">
                <a:moveTo>
                  <a:pt x="142875" y="71438"/>
                </a:moveTo>
                <a:lnTo>
                  <a:pt x="125159" y="71438"/>
                </a:lnTo>
                <a:arcTo hR="14288" wR="14288" stAng="16207353" swAng="-4467506"/>
                <a:lnTo>
                  <a:pt x="94583" y="141589"/>
                </a:lnTo>
                <a:arcTo hR="1786" wR="1786" stAng="975612" swAng="8848775"/>
                <a:lnTo>
                  <a:pt x="51721" y="1286"/>
                </a:lnTo>
                <a:arcTo hR="1786" wR="1786" stAng="20624388" swAng="-8848775"/>
                <a:lnTo>
                  <a:pt x="31504" y="61008"/>
                </a:lnTo>
                <a:arcTo hR="14288" wR="14288" stAng="939841" swAng="4450322"/>
                <a:lnTo>
                  <a:pt x="0" y="71438"/>
                </a:lnTo>
              </a:path>
            </a:pathLst>
          </a:custGeom>
          <a:noFill/>
          <a:ln w="14288">
            <a:solidFill>
              <a:srgbClr val="10605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991600" y="3877437"/>
            <a:ext cx="41148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24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66</a:t>
            </a:r>
            <a:pPr algn="l" indent="0" marL="0">
              <a:buNone/>
            </a:pPr>
            <a:r>
              <a:rPr lang="en-US" sz="1350" b="1" dirty="0">
                <a:solidFill>
                  <a:srgbClr val="5D6B6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亿元</a:t>
            </a:r>
            <a:endParaRPr lang="en-US" sz="3000" dirty="0"/>
          </a:p>
        </p:txBody>
      </p:sp>
      <p:sp>
        <p:nvSpPr>
          <p:cNvPr id="32" name="Text 30"/>
          <p:cNvSpPr/>
          <p:nvPr/>
        </p:nvSpPr>
        <p:spPr>
          <a:xfrm>
            <a:off x="914400" y="3763137"/>
            <a:ext cx="101727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16A34A"/>
                </a:solidFill>
              </a:rPr>
              <a:t>↑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8991600" y="4365117"/>
            <a:ext cx="41148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D6B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Q2 经营性现金净流入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33400" y="6324600"/>
            <a:ext cx="11125200" cy="0"/>
          </a:xfrm>
          <a:prstGeom prst="line">
            <a:avLst/>
          </a:prstGeom>
          <a:noFill/>
          <a:ln w="11430">
            <a:solidFill>
              <a:srgbClr val="D5D5C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3340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5D6B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正式稿 v1 · 2026-09-16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5D6B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内部 · 智见点评 · 98wiki</a:t>
            </a:r>
            <a:endParaRPr lang="en-US" sz="15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6"/>
          </a:solidFill>
          <a:ln/>
        </p:spPr>
      </p:sp>
      <p:sp>
        <p:nvSpPr>
          <p:cNvPr id="3" name="Shape 1"/>
          <p:cNvSpPr/>
          <p:nvPr/>
        </p:nvSpPr>
        <p:spPr>
          <a:xfrm>
            <a:off x="9715500" y="0"/>
            <a:ext cx="2476500" cy="2476500"/>
          </a:xfrm>
          <a:custGeom>
            <a:avLst/>
            <a:gdLst/>
            <a:ahLst/>
            <a:cxnLst/>
            <a:rect l="l" t="t" r="r" b="b"/>
            <a:pathLst>
              <a:path w="2476500" h="2476500">
                <a:moveTo>
                  <a:pt x="2476500" y="0"/>
                </a:moveTo>
                <a:lnTo>
                  <a:pt x="2476500" y="2476500"/>
                </a:lnTo>
                <a:arcTo hR="2476500" wR="2476500" stAng="0" swAng="-5400000"/>
                <a:close/>
              </a:path>
            </a:pathLst>
          </a:custGeom>
          <a:solidFill>
            <a:srgbClr val="10605A">
              <a:alpha val="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914400"/>
            <a:ext cx="38100" cy="5181600"/>
          </a:xfrm>
          <a:prstGeom prst="rect">
            <a:avLst/>
          </a:prstGeom>
          <a:solidFill>
            <a:srgbClr val="10605A"/>
          </a:solidFill>
          <a:ln/>
        </p:spPr>
      </p:sp>
      <p:sp>
        <p:nvSpPr>
          <p:cNvPr id="5" name="Shape 3"/>
          <p:cNvSpPr/>
          <p:nvPr/>
        </p:nvSpPr>
        <p:spPr>
          <a:xfrm>
            <a:off x="409575" y="2574925"/>
            <a:ext cx="133350" cy="133350"/>
          </a:xfrm>
          <a:prstGeom prst="ellipse">
            <a:avLst/>
          </a:prstGeom>
          <a:solidFill>
            <a:srgbClr val="10605A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914400"/>
            <a:ext cx="609600" cy="304800"/>
          </a:xfrm>
          <a:prstGeom prst="roundRect">
            <a:avLst>
              <a:gd name="adj" fmla="val 18750"/>
            </a:avLst>
          </a:prstGeom>
          <a:solidFill>
            <a:srgbClr val="10605A"/>
          </a:solidFill>
          <a:ln/>
        </p:spPr>
      </p:sp>
      <p:sp>
        <p:nvSpPr>
          <p:cNvPr id="7" name="Text 5"/>
          <p:cNvSpPr/>
          <p:nvPr/>
        </p:nvSpPr>
        <p:spPr>
          <a:xfrm>
            <a:off x="0" y="998220"/>
            <a:ext cx="243840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2.2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714500" y="885825"/>
            <a:ext cx="104775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24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关键事实的四条线索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914400" y="1533525"/>
            <a:ext cx="10363200" cy="1040606"/>
          </a:xfrm>
          <a:prstGeom prst="roundRect">
            <a:avLst>
              <a:gd name="adj" fmla="val 1831"/>
            </a:avLst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1171575" y="1872853"/>
            <a:ext cx="361950" cy="361950"/>
          </a:xfrm>
          <a:prstGeom prst="ellipse">
            <a:avLst/>
          </a:prstGeom>
          <a:noFill/>
          <a:ln w="14288">
            <a:solidFill>
              <a:srgbClr val="5D6B6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1989058"/>
            <a:ext cx="8763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4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879600" y="1895078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0" y="0"/>
                </a:moveTo>
                <a:lnTo>
                  <a:pt x="47625" y="0"/>
                </a:lnTo>
                <a:lnTo>
                  <a:pt x="47625" y="47625"/>
                </a:lnTo>
              </a:path>
            </a:pathLst>
          </a:custGeom>
          <a:noFill/>
          <a:ln w="15875">
            <a:solidFill>
              <a:srgbClr val="9A6B2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768475" y="1895078"/>
            <a:ext cx="158750" cy="79375"/>
          </a:xfrm>
          <a:custGeom>
            <a:avLst/>
            <a:gdLst/>
            <a:ahLst/>
            <a:cxnLst/>
            <a:rect l="l" t="t" r="r" b="b"/>
            <a:pathLst>
              <a:path w="158750" h="79375">
                <a:moveTo>
                  <a:pt x="158750" y="0"/>
                </a:moveTo>
                <a:lnTo>
                  <a:pt x="91281" y="67469"/>
                </a:lnTo>
                <a:lnTo>
                  <a:pt x="51594" y="27781"/>
                </a:lnTo>
                <a:lnTo>
                  <a:pt x="0" y="79375"/>
                </a:lnTo>
              </a:path>
            </a:pathLst>
          </a:custGeom>
          <a:noFill/>
          <a:ln w="15875">
            <a:solidFill>
              <a:srgbClr val="9A6B2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038350" y="1856661"/>
            <a:ext cx="11068050" cy="217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1A24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资本端先行</a:t>
            </a:r>
            <a:endParaRPr lang="en-US" sz="1425" dirty="0"/>
          </a:p>
        </p:txBody>
      </p:sp>
      <p:sp>
        <p:nvSpPr>
          <p:cNvPr id="15" name="Text 13"/>
          <p:cNvSpPr/>
          <p:nvPr/>
        </p:nvSpPr>
        <p:spPr>
          <a:xfrm>
            <a:off x="1752600" y="2115741"/>
            <a:ext cx="113538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1A2421">
                    <a:alpha val="8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高盛 09-09 目标价 63 → 66 港元；大摩 08-20 上调；里昂 09-02 列为行业首选。三家同向为结构受惠</a:t>
            </a:r>
            <a:endParaRPr lang="en-US" sz="1125" dirty="0"/>
          </a:p>
        </p:txBody>
      </p:sp>
      <p:sp>
        <p:nvSpPr>
          <p:cNvPr id="16" name="Shape 14"/>
          <p:cNvSpPr/>
          <p:nvPr/>
        </p:nvSpPr>
        <p:spPr>
          <a:xfrm>
            <a:off x="914400" y="2707481"/>
            <a:ext cx="10363200" cy="1040606"/>
          </a:xfrm>
          <a:prstGeom prst="roundRect">
            <a:avLst>
              <a:gd name="adj" fmla="val 1831"/>
            </a:avLst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1171575" y="3046809"/>
            <a:ext cx="361950" cy="361950"/>
          </a:xfrm>
          <a:prstGeom prst="ellipse">
            <a:avLst/>
          </a:prstGeom>
          <a:noFill/>
          <a:ln w="14288">
            <a:solidFill>
              <a:srgbClr val="5D6B6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3163014"/>
            <a:ext cx="8763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4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776413" y="3037284"/>
            <a:ext cx="142875" cy="142875"/>
          </a:xfrm>
          <a:custGeom>
            <a:avLst/>
            <a:gdLst/>
            <a:ahLst/>
            <a:cxnLst/>
            <a:rect l="l" t="t" r="r" b="b"/>
            <a:pathLst>
              <a:path w="142875" h="142875">
                <a:moveTo>
                  <a:pt x="0" y="0"/>
                </a:moveTo>
                <a:lnTo>
                  <a:pt x="0" y="127000"/>
                </a:lnTo>
                <a:arcTo hR="15875" wR="15875" stAng="10800000" swAng="-5400000"/>
                <a:lnTo>
                  <a:pt x="142875" y="142875"/>
                </a:lnTo>
              </a:path>
            </a:pathLst>
          </a:custGeom>
          <a:noFill/>
          <a:ln w="15875">
            <a:solidFill>
              <a:srgbClr val="9A6B2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808163" y="3084909"/>
            <a:ext cx="95250" cy="39688"/>
          </a:xfrm>
          <a:custGeom>
            <a:avLst/>
            <a:gdLst/>
            <a:ahLst/>
            <a:cxnLst/>
            <a:rect l="l" t="t" r="r" b="b"/>
            <a:pathLst>
              <a:path w="95250" h="39688">
                <a:moveTo>
                  <a:pt x="95250" y="0"/>
                </a:moveTo>
                <a:lnTo>
                  <a:pt x="55563" y="39688"/>
                </a:lnTo>
                <a:lnTo>
                  <a:pt x="23813" y="7938"/>
                </a:lnTo>
                <a:lnTo>
                  <a:pt x="0" y="31750"/>
                </a:lnTo>
              </a:path>
            </a:pathLst>
          </a:custGeom>
          <a:noFill/>
          <a:ln w="15875">
            <a:solidFill>
              <a:srgbClr val="9A6B2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038350" y="3030617"/>
            <a:ext cx="11068050" cy="217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1A24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经营端印证</a:t>
            </a:r>
            <a:endParaRPr lang="en-US" sz="1425" dirty="0"/>
          </a:p>
        </p:txBody>
      </p:sp>
      <p:sp>
        <p:nvSpPr>
          <p:cNvPr id="22" name="Text 20"/>
          <p:cNvSpPr/>
          <p:nvPr/>
        </p:nvSpPr>
        <p:spPr>
          <a:xfrm>
            <a:off x="1752600" y="3289697"/>
            <a:ext cx="113538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1A2421">
                    <a:alpha val="8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Q2 经营利润率 14.6%、同比 +8.5pct；二手单量同比 +25%；H1 净利 38.79 亿元；Q2 现金净流入 66 亿元</a:t>
            </a:r>
            <a:endParaRPr lang="en-US" sz="1125" dirty="0"/>
          </a:p>
        </p:txBody>
      </p:sp>
      <p:sp>
        <p:nvSpPr>
          <p:cNvPr id="23" name="Shape 21"/>
          <p:cNvSpPr/>
          <p:nvPr/>
        </p:nvSpPr>
        <p:spPr>
          <a:xfrm>
            <a:off x="914400" y="3881438"/>
            <a:ext cx="10363200" cy="1040606"/>
          </a:xfrm>
          <a:prstGeom prst="roundRect">
            <a:avLst>
              <a:gd name="adj" fmla="val 1831"/>
            </a:avLst>
          </a:prstGeom>
          <a:solidFill>
            <a:srgbClr val="FFFFFF"/>
          </a:solidFill>
          <a:ln/>
        </p:spPr>
      </p:sp>
      <p:sp>
        <p:nvSpPr>
          <p:cNvPr id="24" name="Shape 22"/>
          <p:cNvSpPr/>
          <p:nvPr/>
        </p:nvSpPr>
        <p:spPr>
          <a:xfrm>
            <a:off x="1171575" y="4220766"/>
            <a:ext cx="361950" cy="361950"/>
          </a:xfrm>
          <a:prstGeom prst="ellipse">
            <a:avLst/>
          </a:prstGeom>
          <a:noFill/>
          <a:ln w="14288">
            <a:solidFill>
              <a:srgbClr val="5D6B6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4336971"/>
            <a:ext cx="8763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4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1776385" y="4203282"/>
            <a:ext cx="142929" cy="158791"/>
          </a:xfrm>
          <a:custGeom>
            <a:avLst/>
            <a:gdLst/>
            <a:ahLst/>
            <a:cxnLst/>
            <a:rect l="l" t="t" r="r" b="b"/>
            <a:pathLst>
              <a:path w="142929" h="158791">
                <a:moveTo>
                  <a:pt x="7965" y="95271"/>
                </a:moveTo>
                <a:arcTo hR="7938" wR="7938" stAng="5388279" swAng="7754754"/>
                <a:lnTo>
                  <a:pt x="80355" y="1370"/>
                </a:lnTo>
                <a:arcTo hR="3969" wR="3969" stAng="13254236" swAng="9268521"/>
                <a:lnTo>
                  <a:pt x="71941" y="52805"/>
                </a:lnTo>
                <a:arcTo hR="7938" wR="7938" stAng="12029258" swAng="-6640439"/>
                <a:lnTo>
                  <a:pt x="134965" y="63521"/>
                </a:lnTo>
                <a:arcTo hR="7938" wR="7938" stAng="16188279" swAng="7754754"/>
                <a:lnTo>
                  <a:pt x="62575" y="157421"/>
                </a:lnTo>
                <a:arcTo hR="3969" wR="3969" stAng="2454236" swAng="9268521"/>
                <a:lnTo>
                  <a:pt x="70988" y="105986"/>
                </a:lnTo>
                <a:arcTo hR="7938" wR="7938" stAng="1229258" swAng="-6640439"/>
                <a:close/>
              </a:path>
            </a:pathLst>
          </a:custGeom>
          <a:noFill/>
          <a:ln w="15875">
            <a:solidFill>
              <a:srgbClr val="9A6B2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038350" y="4204573"/>
            <a:ext cx="11068050" cy="217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1A24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效率与资本配置</a:t>
            </a:r>
            <a:endParaRPr lang="en-US" sz="1425" dirty="0"/>
          </a:p>
        </p:txBody>
      </p:sp>
      <p:sp>
        <p:nvSpPr>
          <p:cNvPr id="28" name="Text 26"/>
          <p:cNvSpPr/>
          <p:nvPr/>
        </p:nvSpPr>
        <p:spPr>
          <a:xfrm>
            <a:off x="1752600" y="4463653"/>
            <a:ext cx="113538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1A2421">
                    <a:alpha val="8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08-17 服务助手成交效率提升 6 倍；09-11 与 09-14 回购合计 106.64 万股，反方解释并读</a:t>
            </a:r>
            <a:endParaRPr lang="en-US" sz="1125" dirty="0"/>
          </a:p>
        </p:txBody>
      </p:sp>
      <p:sp>
        <p:nvSpPr>
          <p:cNvPr id="29" name="Shape 27"/>
          <p:cNvSpPr/>
          <p:nvPr/>
        </p:nvSpPr>
        <p:spPr>
          <a:xfrm>
            <a:off x="914400" y="5055394"/>
            <a:ext cx="10363200" cy="1040606"/>
          </a:xfrm>
          <a:prstGeom prst="roundRect">
            <a:avLst>
              <a:gd name="adj" fmla="val 1831"/>
            </a:avLst>
          </a:prstGeom>
          <a:solidFill>
            <a:srgbClr val="FFFFFF"/>
          </a:solidFill>
          <a:ln/>
        </p:spPr>
      </p:sp>
      <p:sp>
        <p:nvSpPr>
          <p:cNvPr id="30" name="Shape 28"/>
          <p:cNvSpPr/>
          <p:nvPr/>
        </p:nvSpPr>
        <p:spPr>
          <a:xfrm>
            <a:off x="1171575" y="5394722"/>
            <a:ext cx="361950" cy="361950"/>
          </a:xfrm>
          <a:prstGeom prst="ellipse">
            <a:avLst/>
          </a:prstGeom>
          <a:noFill/>
          <a:ln w="14288">
            <a:solidFill>
              <a:srgbClr val="5D6B6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14400" y="5510927"/>
            <a:ext cx="8763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4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1784350" y="5377259"/>
            <a:ext cx="127000" cy="158750"/>
          </a:xfrm>
          <a:custGeom>
            <a:avLst/>
            <a:gdLst/>
            <a:ahLst/>
            <a:cxnLst/>
            <a:rect l="l" t="t" r="r" b="b"/>
            <a:pathLst>
              <a:path w="127000" h="158750">
                <a:moveTo>
                  <a:pt x="15875" y="158750"/>
                </a:moveTo>
                <a:arcTo hR="15875" wR="15875" stAng="5400000" swAng="5400000"/>
                <a:lnTo>
                  <a:pt x="0" y="15875"/>
                </a:lnTo>
                <a:arcTo hR="15875" wR="15875" stAng="10800000" swAng="5400000"/>
                <a:lnTo>
                  <a:pt x="79375" y="0"/>
                </a:lnTo>
                <a:arcTo hR="19050" wR="19050" stAng="16194428" swAng="2711764"/>
                <a:lnTo>
                  <a:pt x="121380" y="34084"/>
                </a:lnTo>
                <a:arcTo hR="19050" wR="19050" stAng="18889766" swAng="2715819"/>
                <a:lnTo>
                  <a:pt x="127000" y="142875"/>
                </a:lnTo>
                <a:arcTo hR="15875" wR="15875" stAng="0" swAng="5400000"/>
                <a:close/>
              </a:path>
            </a:pathLst>
          </a:custGeom>
          <a:noFill/>
          <a:ln w="15875">
            <a:solidFill>
              <a:srgbClr val="9A6B2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863725" y="5377259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0" y="0"/>
                </a:moveTo>
                <a:lnTo>
                  <a:pt x="0" y="39688"/>
                </a:lnTo>
                <a:arcTo hR="7938" wR="7938" stAng="10800000" swAng="-5400000"/>
                <a:lnTo>
                  <a:pt x="47625" y="47625"/>
                </a:lnTo>
              </a:path>
            </a:pathLst>
          </a:custGeom>
          <a:noFill/>
          <a:ln w="15875">
            <a:solidFill>
              <a:srgbClr val="9A6B2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816100" y="5432822"/>
            <a:ext cx="15875" cy="0"/>
          </a:xfrm>
          <a:custGeom>
            <a:avLst/>
            <a:gdLst/>
            <a:ahLst/>
            <a:cxnLst/>
            <a:rect l="l" t="t" r="r" b="b"/>
            <a:pathLst>
              <a:path w="15875" h="0">
                <a:moveTo>
                  <a:pt x="15875" y="0"/>
                </a:moveTo>
                <a:lnTo>
                  <a:pt x="0" y="0"/>
                </a:lnTo>
              </a:path>
            </a:pathLst>
          </a:custGeom>
          <a:noFill/>
          <a:ln w="15875">
            <a:solidFill>
              <a:srgbClr val="9A6B2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816100" y="5464572"/>
            <a:ext cx="63500" cy="0"/>
          </a:xfrm>
          <a:custGeom>
            <a:avLst/>
            <a:gdLst/>
            <a:ahLst/>
            <a:cxnLst/>
            <a:rect l="l" t="t" r="r" b="b"/>
            <a:pathLst>
              <a:path w="63500" h="0">
                <a:moveTo>
                  <a:pt x="63500" y="0"/>
                </a:moveTo>
                <a:lnTo>
                  <a:pt x="0" y="0"/>
                </a:lnTo>
              </a:path>
            </a:pathLst>
          </a:custGeom>
          <a:noFill/>
          <a:ln w="15875">
            <a:solidFill>
              <a:srgbClr val="9A6B2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816100" y="5496322"/>
            <a:ext cx="63500" cy="0"/>
          </a:xfrm>
          <a:custGeom>
            <a:avLst/>
            <a:gdLst/>
            <a:ahLst/>
            <a:cxnLst/>
            <a:rect l="l" t="t" r="r" b="b"/>
            <a:pathLst>
              <a:path w="63500" h="0">
                <a:moveTo>
                  <a:pt x="63500" y="0"/>
                </a:moveTo>
                <a:lnTo>
                  <a:pt x="0" y="0"/>
                </a:lnTo>
              </a:path>
            </a:pathLst>
          </a:custGeom>
          <a:noFill/>
          <a:ln w="15875">
            <a:solidFill>
              <a:srgbClr val="9A6B2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038350" y="5378529"/>
            <a:ext cx="11068050" cy="217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1A24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政策端</a:t>
            </a:r>
            <a:endParaRPr lang="en-US" sz="1425" dirty="0"/>
          </a:p>
        </p:txBody>
      </p:sp>
      <p:sp>
        <p:nvSpPr>
          <p:cNvPr id="38" name="Text 36"/>
          <p:cNvSpPr/>
          <p:nvPr/>
        </p:nvSpPr>
        <p:spPr>
          <a:xfrm>
            <a:off x="1752600" y="5637609"/>
            <a:ext cx="113538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1A2421">
                    <a:alpha val="8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现房改革推进中、无统一时间表，压渠道脉冲与回款节奏，非交易需求本身</a:t>
            </a:r>
            <a:endParaRPr lang="en-US" sz="1125" dirty="0"/>
          </a:p>
        </p:txBody>
      </p:sp>
      <p:sp>
        <p:nvSpPr>
          <p:cNvPr id="39" name="Shape 37"/>
          <p:cNvSpPr/>
          <p:nvPr/>
        </p:nvSpPr>
        <p:spPr>
          <a:xfrm>
            <a:off x="533400" y="6324600"/>
            <a:ext cx="11125200" cy="0"/>
          </a:xfrm>
          <a:prstGeom prst="line">
            <a:avLst/>
          </a:prstGeom>
          <a:noFill/>
          <a:ln w="11430">
            <a:solidFill>
              <a:srgbClr val="D5D5C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3340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5D6B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正式稿 v1 · 2026-09-16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5D6B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内部 · 智见点评 · 98wiki</a:t>
            </a:r>
            <a:endParaRPr lang="en-US" sz="15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6"/>
          </a:solidFill>
          <a:ln/>
        </p:spPr>
      </p:sp>
      <p:sp>
        <p:nvSpPr>
          <p:cNvPr id="3" name="Shape 1"/>
          <p:cNvSpPr/>
          <p:nvPr/>
        </p:nvSpPr>
        <p:spPr>
          <a:xfrm>
            <a:off x="9715500" y="0"/>
            <a:ext cx="2476500" cy="2476500"/>
          </a:xfrm>
          <a:custGeom>
            <a:avLst/>
            <a:gdLst/>
            <a:ahLst/>
            <a:cxnLst/>
            <a:rect l="l" t="t" r="r" b="b"/>
            <a:pathLst>
              <a:path w="2476500" h="2476500">
                <a:moveTo>
                  <a:pt x="2476500" y="0"/>
                </a:moveTo>
                <a:lnTo>
                  <a:pt x="2476500" y="2476500"/>
                </a:lnTo>
                <a:arcTo hR="2476500" wR="2476500" stAng="0" swAng="-5400000"/>
                <a:close/>
              </a:path>
            </a:pathLst>
          </a:custGeom>
          <a:solidFill>
            <a:srgbClr val="10605A">
              <a:alpha val="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790575"/>
            <a:ext cx="123825" cy="123825"/>
          </a:xfrm>
          <a:prstGeom prst="rect">
            <a:avLst/>
          </a:prstGeom>
          <a:solidFill>
            <a:srgbClr val="9A6B22"/>
          </a:solidFill>
          <a:ln/>
        </p:spPr>
      </p:sp>
      <p:sp>
        <p:nvSpPr>
          <p:cNvPr id="5" name="Text 3"/>
          <p:cNvSpPr/>
          <p:nvPr/>
        </p:nvSpPr>
        <p:spPr>
          <a:xfrm>
            <a:off x="1143000" y="784860"/>
            <a:ext cx="11049000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75" dirty="0">
                <a:solidFill>
                  <a:srgbClr val="5D6B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关键事实及其变化</a:t>
            </a:r>
            <a:endParaRPr lang="en-US" sz="1275" dirty="0"/>
          </a:p>
        </p:txBody>
      </p:sp>
      <p:sp>
        <p:nvSpPr>
          <p:cNvPr id="6" name="Text 4"/>
          <p:cNvSpPr/>
          <p:nvPr/>
        </p:nvSpPr>
        <p:spPr>
          <a:xfrm>
            <a:off x="914400" y="1078230"/>
            <a:ext cx="11277600" cy="525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450" b="1" dirty="0">
                <a:solidFill>
                  <a:srgbClr val="1A24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事件序列：估值层信号先被定价</a:t>
            </a:r>
            <a:endParaRPr lang="en-US" sz="3450" dirty="0"/>
          </a:p>
        </p:txBody>
      </p:sp>
      <p:sp>
        <p:nvSpPr>
          <p:cNvPr id="7" name="Text 5"/>
          <p:cNvSpPr/>
          <p:nvPr/>
        </p:nvSpPr>
        <p:spPr>
          <a:xfrm>
            <a:off x="914400" y="1661160"/>
            <a:ext cx="11277600" cy="25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1060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顺序本身就是信息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914400" y="2038350"/>
            <a:ext cx="685800" cy="38100"/>
          </a:xfrm>
          <a:prstGeom prst="rect">
            <a:avLst/>
          </a:prstGeom>
          <a:solidFill>
            <a:srgbClr val="9A6B22"/>
          </a:solidFill>
          <a:ln/>
        </p:spPr>
      </p:sp>
      <p:sp>
        <p:nvSpPr>
          <p:cNvPr id="9" name="Shape 7"/>
          <p:cNvSpPr/>
          <p:nvPr/>
        </p:nvSpPr>
        <p:spPr>
          <a:xfrm>
            <a:off x="914400" y="2247900"/>
            <a:ext cx="10363200" cy="0"/>
          </a:xfrm>
          <a:prstGeom prst="line">
            <a:avLst/>
          </a:prstGeom>
          <a:noFill/>
          <a:ln w="9525">
            <a:solidFill>
              <a:srgbClr val="D5D5C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86000" y="2724150"/>
            <a:ext cx="0" cy="3429000"/>
          </a:xfrm>
          <a:prstGeom prst="line">
            <a:avLst/>
          </a:prstGeom>
          <a:noFill/>
          <a:ln w="19050">
            <a:solidFill>
              <a:srgbClr val="D5D5C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2638425"/>
            <a:ext cx="112395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5D6B6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2026-08-17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2219325" y="2657475"/>
            <a:ext cx="133350" cy="133350"/>
          </a:xfrm>
          <a:prstGeom prst="ellipse">
            <a:avLst/>
          </a:prstGeom>
          <a:solidFill>
            <a:srgbClr val="10605A"/>
          </a:solidFill>
          <a:ln/>
        </p:spPr>
      </p:sp>
      <p:sp>
        <p:nvSpPr>
          <p:cNvPr id="13" name="Text 11"/>
          <p:cNvSpPr/>
          <p:nvPr/>
        </p:nvSpPr>
        <p:spPr>
          <a:xfrm>
            <a:off x="2571750" y="2653665"/>
            <a:ext cx="1053465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A24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服务助手成交效率提升 6 倍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2571750" y="2903220"/>
            <a:ext cx="1053465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D6B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费用侧硬变量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914400" y="3324225"/>
            <a:ext cx="112395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5D6B6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2026-08-20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2219325" y="3343275"/>
            <a:ext cx="133350" cy="133350"/>
          </a:xfrm>
          <a:prstGeom prst="ellipse">
            <a:avLst/>
          </a:prstGeom>
          <a:solidFill>
            <a:srgbClr val="10605A"/>
          </a:solidFill>
          <a:ln/>
        </p:spPr>
      </p:sp>
      <p:sp>
        <p:nvSpPr>
          <p:cNvPr id="17" name="Text 15"/>
          <p:cNvSpPr/>
          <p:nvPr/>
        </p:nvSpPr>
        <p:spPr>
          <a:xfrm>
            <a:off x="2571750" y="3339465"/>
            <a:ext cx="1053465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A24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大摩上调目标价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2571750" y="3589020"/>
            <a:ext cx="1053465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D6B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口径是份额而非总量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914400" y="4010025"/>
            <a:ext cx="112395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A6B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2026-08-24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2190750" y="4000500"/>
            <a:ext cx="190500" cy="190500"/>
          </a:xfrm>
          <a:prstGeom prst="ellipse">
            <a:avLst/>
          </a:prstGeom>
          <a:solidFill>
            <a:srgbClr val="9A6B22"/>
          </a:solidFill>
          <a:ln/>
        </p:spPr>
      </p:sp>
      <p:sp>
        <p:nvSpPr>
          <p:cNvPr id="21" name="Text 19"/>
          <p:cNvSpPr/>
          <p:nvPr/>
        </p:nvSpPr>
        <p:spPr>
          <a:xfrm>
            <a:off x="2571750" y="4025265"/>
            <a:ext cx="1053465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9A6B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Q2 经营利润率 14.6% 经媒体披露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2571750" y="4274820"/>
            <a:ext cx="1053465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D6B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待正式财报复核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914400" y="4695825"/>
            <a:ext cx="112395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5D6B6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2026-09-02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2219325" y="4714875"/>
            <a:ext cx="133350" cy="133350"/>
          </a:xfrm>
          <a:prstGeom prst="ellipse">
            <a:avLst/>
          </a:prstGeom>
          <a:solidFill>
            <a:srgbClr val="10605A"/>
          </a:solidFill>
          <a:ln/>
        </p:spPr>
      </p:sp>
      <p:sp>
        <p:nvSpPr>
          <p:cNvPr id="25" name="Text 23"/>
          <p:cNvSpPr/>
          <p:nvPr/>
        </p:nvSpPr>
        <p:spPr>
          <a:xfrm>
            <a:off x="2571750" y="4711065"/>
            <a:ext cx="1053465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A24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里昂列为现房改革首选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2571750" y="4960620"/>
            <a:ext cx="1053465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D6B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第三家同向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914400" y="5381625"/>
            <a:ext cx="112395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A6B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2026-09-09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2190750" y="5372100"/>
            <a:ext cx="190500" cy="190500"/>
          </a:xfrm>
          <a:prstGeom prst="ellipse">
            <a:avLst/>
          </a:prstGeom>
          <a:solidFill>
            <a:srgbClr val="9A6B22"/>
          </a:solidFill>
          <a:ln/>
        </p:spPr>
      </p:sp>
      <p:sp>
        <p:nvSpPr>
          <p:cNvPr id="29" name="Text 27"/>
          <p:cNvSpPr/>
          <p:nvPr/>
        </p:nvSpPr>
        <p:spPr>
          <a:xfrm>
            <a:off x="2571750" y="5396865"/>
            <a:ext cx="1053465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9A6B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高盛目标价 63 → 66 港元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2571750" y="5646420"/>
            <a:ext cx="1053465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D6B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估值层信号高点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914400" y="6105525"/>
            <a:ext cx="11239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125" b="1" dirty="0">
                <a:solidFill>
                  <a:srgbClr val="5D6B6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2026-09-11 / 14</a:t>
            </a:r>
            <a:endParaRPr lang="en-US" sz="1125" dirty="0"/>
          </a:p>
        </p:txBody>
      </p:sp>
      <p:sp>
        <p:nvSpPr>
          <p:cNvPr id="32" name="Shape 30"/>
          <p:cNvSpPr/>
          <p:nvPr/>
        </p:nvSpPr>
        <p:spPr>
          <a:xfrm>
            <a:off x="2219325" y="6086475"/>
            <a:ext cx="133350" cy="133350"/>
          </a:xfrm>
          <a:prstGeom prst="ellipse">
            <a:avLst/>
          </a:prstGeom>
          <a:solidFill>
            <a:srgbClr val="10605A"/>
          </a:solidFill>
          <a:ln/>
        </p:spPr>
      </p:sp>
      <p:sp>
        <p:nvSpPr>
          <p:cNvPr id="33" name="Text 31"/>
          <p:cNvSpPr/>
          <p:nvPr/>
        </p:nvSpPr>
        <p:spPr>
          <a:xfrm>
            <a:off x="2571750" y="6082665"/>
            <a:ext cx="1053465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A24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连续两日回购 106.64 万股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2571750" y="6332220"/>
            <a:ext cx="1053465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D6B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反方解释并读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33400" y="6324600"/>
            <a:ext cx="11125200" cy="0"/>
          </a:xfrm>
          <a:prstGeom prst="line">
            <a:avLst/>
          </a:prstGeom>
          <a:noFill/>
          <a:ln w="11430">
            <a:solidFill>
              <a:srgbClr val="D5D5C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3340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5D6B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正式稿 v1 · 2026-09-16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5D6B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内部 · 智见点评 · 98wiki</a:t>
            </a:r>
            <a:endParaRPr lang="en-US" sz="15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6A4E"/>
          </a:solidFill>
          <a:ln/>
        </p:spPr>
      </p:sp>
      <p:sp>
        <p:nvSpPr>
          <p:cNvPr id="3" name="Shape 1"/>
          <p:cNvSpPr/>
          <p:nvPr/>
        </p:nvSpPr>
        <p:spPr>
          <a:xfrm>
            <a:off x="9715500" y="0"/>
            <a:ext cx="2476500" cy="2476500"/>
          </a:xfrm>
          <a:custGeom>
            <a:avLst/>
            <a:gdLst/>
            <a:ahLst/>
            <a:cxnLst/>
            <a:rect l="l" t="t" r="r" b="b"/>
            <a:pathLst>
              <a:path w="2476500" h="2476500">
                <a:moveTo>
                  <a:pt x="2476500" y="0"/>
                </a:moveTo>
                <a:lnTo>
                  <a:pt x="2476500" y="2476500"/>
                </a:lnTo>
                <a:arcTo hR="2476500" wR="2476500" stAng="0" swAng="-5400000"/>
                <a:close/>
              </a:path>
            </a:pathLst>
          </a:custGeom>
          <a:solidFill>
            <a:srgbClr val="FFFFFF">
              <a:alpha val="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0" y="4210050"/>
            <a:ext cx="11658600" cy="2971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9500" b="1" dirty="0">
                <a:solidFill>
                  <a:srgbClr val="FFFFFF">
                    <a:alpha val="6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9500" dirty="0"/>
          </a:p>
        </p:txBody>
      </p:sp>
      <p:sp>
        <p:nvSpPr>
          <p:cNvPr id="5" name="Text 3"/>
          <p:cNvSpPr/>
          <p:nvPr/>
        </p:nvSpPr>
        <p:spPr>
          <a:xfrm>
            <a:off x="0" y="3093720"/>
            <a:ext cx="12192000" cy="960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6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归因分析 · 四层</a:t>
            </a:r>
            <a:endParaRPr lang="en-US" sz="6300" dirty="0"/>
          </a:p>
        </p:txBody>
      </p:sp>
      <p:sp>
        <p:nvSpPr>
          <p:cNvPr id="6" name="Shape 4"/>
          <p:cNvSpPr/>
          <p:nvPr/>
        </p:nvSpPr>
        <p:spPr>
          <a:xfrm>
            <a:off x="5524500" y="5715000"/>
            <a:ext cx="1143000" cy="0"/>
          </a:xfrm>
          <a:prstGeom prst="line">
            <a:avLst/>
          </a:prstGeom>
          <a:noFill/>
          <a:ln w="1524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76875" y="5667375"/>
            <a:ext cx="95250" cy="95250"/>
          </a:xfrm>
          <a:prstGeom prst="ellipse">
            <a:avLst/>
          </a:prstGeom>
          <a:solidFill>
            <a:srgbClr val="FFFFFF">
              <a:alpha val="3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5857875" y="5667375"/>
            <a:ext cx="95250" cy="95250"/>
          </a:xfrm>
          <a:prstGeom prst="ellipse">
            <a:avLst/>
          </a:prstGeom>
          <a:solidFill>
            <a:srgbClr val="FFFFFF">
              <a:alpha val="3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6219825" y="5648325"/>
            <a:ext cx="133350" cy="13335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6619875" y="5667375"/>
            <a:ext cx="95250" cy="95250"/>
          </a:xfrm>
          <a:prstGeom prst="ellipse">
            <a:avLst/>
          </a:prstGeom>
          <a:solidFill>
            <a:srgbClr val="FFFFFF">
              <a:alpha val="35000"/>
            </a:srgbClr>
          </a:solidFill>
          <a:ln/>
        </p:spPr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6"/>
          </a:solidFill>
          <a:ln/>
        </p:spPr>
      </p:sp>
      <p:sp>
        <p:nvSpPr>
          <p:cNvPr id="3" name="Shape 1"/>
          <p:cNvSpPr/>
          <p:nvPr/>
        </p:nvSpPr>
        <p:spPr>
          <a:xfrm>
            <a:off x="9715500" y="0"/>
            <a:ext cx="2476500" cy="2476500"/>
          </a:xfrm>
          <a:custGeom>
            <a:avLst/>
            <a:gdLst/>
            <a:ahLst/>
            <a:cxnLst/>
            <a:rect l="l" t="t" r="r" b="b"/>
            <a:pathLst>
              <a:path w="2476500" h="2476500">
                <a:moveTo>
                  <a:pt x="2476500" y="0"/>
                </a:moveTo>
                <a:lnTo>
                  <a:pt x="2476500" y="2476500"/>
                </a:lnTo>
                <a:arcTo hR="2476500" wR="2476500" stAng="0" swAng="-5400000"/>
                <a:close/>
              </a:path>
            </a:pathLst>
          </a:custGeom>
          <a:solidFill>
            <a:srgbClr val="10605A">
              <a:alpha val="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914400"/>
            <a:ext cx="38100" cy="5181600"/>
          </a:xfrm>
          <a:prstGeom prst="rect">
            <a:avLst/>
          </a:prstGeom>
          <a:solidFill>
            <a:srgbClr val="10605A"/>
          </a:solidFill>
          <a:ln/>
        </p:spPr>
      </p:sp>
      <p:sp>
        <p:nvSpPr>
          <p:cNvPr id="5" name="Shape 3"/>
          <p:cNvSpPr/>
          <p:nvPr/>
        </p:nvSpPr>
        <p:spPr>
          <a:xfrm>
            <a:off x="409575" y="4302125"/>
            <a:ext cx="133350" cy="133350"/>
          </a:xfrm>
          <a:prstGeom prst="ellipse">
            <a:avLst/>
          </a:prstGeom>
          <a:solidFill>
            <a:srgbClr val="10605A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914400"/>
            <a:ext cx="609600" cy="304800"/>
          </a:xfrm>
          <a:prstGeom prst="roundRect">
            <a:avLst>
              <a:gd name="adj" fmla="val 18750"/>
            </a:avLst>
          </a:prstGeom>
          <a:solidFill>
            <a:srgbClr val="10605A"/>
          </a:solidFill>
          <a:ln/>
        </p:spPr>
      </p:sp>
      <p:sp>
        <p:nvSpPr>
          <p:cNvPr id="7" name="Text 5"/>
          <p:cNvSpPr/>
          <p:nvPr/>
        </p:nvSpPr>
        <p:spPr>
          <a:xfrm>
            <a:off x="0" y="998220"/>
            <a:ext cx="243840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3.1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714500" y="885825"/>
            <a:ext cx="104775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24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第一层 · 利润池三池重画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1714500" y="1413510"/>
            <a:ext cx="10477500" cy="25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1060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三池串联而非替代，关键不是方向而是速度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914400" y="2282190"/>
            <a:ext cx="1047750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975" b="1" dirty="0">
                <a:solidFill>
                  <a:srgbClr val="1A2421"/>
                </a:solidFill>
              </a:rPr>
              <a:t>新房分销池</a:t>
            </a:r>
            <a:endParaRPr lang="en-US" sz="975" dirty="0"/>
          </a:p>
        </p:txBody>
      </p:sp>
      <p:sp>
        <p:nvSpPr>
          <p:cNvPr id="11" name="svg2pptx-gradient-kpg3og-0"/>
          <p:cNvSpPr/>
          <p:nvPr/>
        </p:nvSpPr>
        <p:spPr>
          <a:xfrm>
            <a:off x="2076450" y="2009775"/>
            <a:ext cx="-7302817" cy="666750"/>
          </a:xfrm>
          <a:prstGeom prst="rect">
            <a:avLst/>
          </a:prstGeom>
          <a:gradFill rotWithShape="1">
            <a:gsLst>
              <a:gs pos="0">
                <a:srgbClr val="6C4B18">
                  <a:alpha val="75000"/>
                </a:srgbClr>
              </a:gs>
              <a:gs pos="100000">
                <a:srgbClr val="9A6B22">
                  <a:alpha val="75000"/>
                </a:srgbClr>
              </a:gs>
            </a:gsLst>
            <a:lin ang="0" scaled="1"/>
          </a:gradFill>
          <a:ln/>
        </p:spPr>
      </p:sp>
      <p:sp>
        <p:nvSpPr>
          <p:cNvPr id="12" name="Text 10"/>
          <p:cNvSpPr/>
          <p:nvPr/>
        </p:nvSpPr>
        <p:spPr>
          <a:xfrm>
            <a:off x="-5150167" y="2286000"/>
            <a:ext cx="18256568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38" b="1" dirty="0">
                <a:solidFill>
                  <a:srgbClr val="5D6B65"/>
                </a:solidFill>
              </a:rPr>
              <a:t>-34</a:t>
            </a:r>
            <a:endParaRPr lang="en-US" sz="938" dirty="0"/>
          </a:p>
        </p:txBody>
      </p:sp>
      <p:sp>
        <p:nvSpPr>
          <p:cNvPr id="13" name="Text 11"/>
          <p:cNvSpPr/>
          <p:nvPr/>
        </p:nvSpPr>
        <p:spPr>
          <a:xfrm>
            <a:off x="914400" y="3044190"/>
            <a:ext cx="1047750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975" b="1" dirty="0">
                <a:solidFill>
                  <a:srgbClr val="1A2421"/>
                </a:solidFill>
              </a:rPr>
              <a:t>存量流通池</a:t>
            </a:r>
            <a:endParaRPr lang="en-US" sz="975" dirty="0"/>
          </a:p>
        </p:txBody>
      </p:sp>
      <p:sp>
        <p:nvSpPr>
          <p:cNvPr id="14" name="Shape 12"/>
          <p:cNvSpPr/>
          <p:nvPr/>
        </p:nvSpPr>
        <p:spPr>
          <a:xfrm>
            <a:off x="2076450" y="2771775"/>
            <a:ext cx="8591550" cy="666750"/>
          </a:xfrm>
          <a:prstGeom prst="rect">
            <a:avLst/>
          </a:prstGeom>
          <a:solidFill>
            <a:srgbClr val="9A6B22"/>
          </a:solidFill>
          <a:ln/>
        </p:spPr>
      </p:sp>
      <p:sp>
        <p:nvSpPr>
          <p:cNvPr id="15" name="Text 13"/>
          <p:cNvSpPr/>
          <p:nvPr/>
        </p:nvSpPr>
        <p:spPr>
          <a:xfrm>
            <a:off x="10744200" y="3048000"/>
            <a:ext cx="236220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38" b="1" dirty="0">
                <a:solidFill>
                  <a:srgbClr val="9A6B22"/>
                </a:solidFill>
              </a:rPr>
              <a:t>40</a:t>
            </a:r>
            <a:endParaRPr lang="en-US" sz="938" dirty="0"/>
          </a:p>
        </p:txBody>
      </p:sp>
      <p:sp>
        <p:nvSpPr>
          <p:cNvPr id="16" name="Text 14"/>
          <p:cNvSpPr/>
          <p:nvPr/>
        </p:nvSpPr>
        <p:spPr>
          <a:xfrm>
            <a:off x="914400" y="3806190"/>
            <a:ext cx="1047750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975" b="1" dirty="0">
                <a:solidFill>
                  <a:srgbClr val="1A2421"/>
                </a:solidFill>
              </a:rPr>
              <a:t>交易后服务池</a:t>
            </a:r>
            <a:endParaRPr lang="en-US" sz="975" dirty="0"/>
          </a:p>
        </p:txBody>
      </p:sp>
      <p:sp>
        <p:nvSpPr>
          <p:cNvPr id="17" name="svg2pptx-gradient-cmcw5v-1"/>
          <p:cNvSpPr/>
          <p:nvPr/>
        </p:nvSpPr>
        <p:spPr>
          <a:xfrm>
            <a:off x="2076450" y="3533775"/>
            <a:ext cx="5799296" cy="666750"/>
          </a:xfrm>
          <a:prstGeom prst="rect">
            <a:avLst/>
          </a:prstGeom>
          <a:gradFill rotWithShape="1">
            <a:gsLst>
              <a:gs pos="0">
                <a:srgbClr val="6C4B18">
                  <a:alpha val="75000"/>
                </a:srgbClr>
              </a:gs>
              <a:gs pos="100000">
                <a:srgbClr val="9A6B22">
                  <a:alpha val="75000"/>
                </a:srgbClr>
              </a:gs>
            </a:gsLst>
            <a:lin ang="0" scaled="1"/>
          </a:gradFill>
          <a:ln/>
        </p:spPr>
      </p:sp>
      <p:sp>
        <p:nvSpPr>
          <p:cNvPr id="18" name="Text 16"/>
          <p:cNvSpPr/>
          <p:nvPr/>
        </p:nvSpPr>
        <p:spPr>
          <a:xfrm>
            <a:off x="7951946" y="3810000"/>
            <a:ext cx="5154454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38" b="1" dirty="0">
                <a:solidFill>
                  <a:srgbClr val="5D6B65"/>
                </a:solidFill>
              </a:rPr>
              <a:t>27</a:t>
            </a:r>
            <a:endParaRPr lang="en-US" sz="938" dirty="0"/>
          </a:p>
        </p:txBody>
      </p:sp>
      <p:sp>
        <p:nvSpPr>
          <p:cNvPr id="19" name="Shape 17"/>
          <p:cNvSpPr/>
          <p:nvPr/>
        </p:nvSpPr>
        <p:spPr>
          <a:xfrm>
            <a:off x="933450" y="4429125"/>
            <a:ext cx="57150" cy="57150"/>
          </a:xfrm>
          <a:prstGeom prst="ellipse">
            <a:avLst/>
          </a:prstGeom>
          <a:solidFill>
            <a:srgbClr val="10605A"/>
          </a:solidFill>
          <a:ln/>
        </p:spPr>
      </p:sp>
      <p:sp>
        <p:nvSpPr>
          <p:cNvPr id="20" name="Text 18"/>
          <p:cNvSpPr/>
          <p:nvPr/>
        </p:nvSpPr>
        <p:spPr>
          <a:xfrm>
            <a:off x="1162050" y="4362450"/>
            <a:ext cx="1194435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1A24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新房分销池：费率被永久让渡，非周期回摆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933450" y="4772025"/>
            <a:ext cx="57150" cy="57150"/>
          </a:xfrm>
          <a:prstGeom prst="ellipse">
            <a:avLst/>
          </a:prstGeom>
          <a:solidFill>
            <a:srgbClr val="10605A"/>
          </a:solidFill>
          <a:ln/>
        </p:spPr>
      </p:sp>
      <p:sp>
        <p:nvSpPr>
          <p:cNvPr id="22" name="Text 20"/>
          <p:cNvSpPr/>
          <p:nvPr/>
        </p:nvSpPr>
        <p:spPr>
          <a:xfrm>
            <a:off x="1162050" y="4705350"/>
            <a:ext cx="1194435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1A24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存量流通池：靠二手单量与份额，是新房池的置换源头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933450" y="5114925"/>
            <a:ext cx="57150" cy="57150"/>
          </a:xfrm>
          <a:prstGeom prst="ellipse">
            <a:avLst/>
          </a:prstGeom>
          <a:solidFill>
            <a:srgbClr val="10605A"/>
          </a:solidFill>
          <a:ln/>
        </p:spPr>
      </p:sp>
      <p:sp>
        <p:nvSpPr>
          <p:cNvPr id="24" name="Text 22"/>
          <p:cNvSpPr/>
          <p:nvPr/>
        </p:nvSpPr>
        <p:spPr>
          <a:xfrm>
            <a:off x="1162050" y="5048250"/>
            <a:ext cx="1194435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1A24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交易后服务池：租赁是稳定器，家装是变现放大器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914400" y="5524500"/>
            <a:ext cx="10363200" cy="5715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</p:spPr>
      </p:sp>
      <p:sp>
        <p:nvSpPr>
          <p:cNvPr id="26" name="Shape 24"/>
          <p:cNvSpPr/>
          <p:nvPr/>
        </p:nvSpPr>
        <p:spPr>
          <a:xfrm>
            <a:off x="914400" y="5524500"/>
            <a:ext cx="38100" cy="571500"/>
          </a:xfrm>
          <a:prstGeom prst="rect">
            <a:avLst/>
          </a:prstGeom>
          <a:solidFill>
            <a:srgbClr val="10605A"/>
          </a:solidFill>
          <a:ln/>
        </p:spPr>
      </p:sp>
      <p:sp>
        <p:nvSpPr>
          <p:cNvPr id="27" name="Shape 25"/>
          <p:cNvSpPr/>
          <p:nvPr/>
        </p:nvSpPr>
        <p:spPr>
          <a:xfrm>
            <a:off x="1076325" y="5738813"/>
            <a:ext cx="71438" cy="95250"/>
          </a:xfrm>
          <a:custGeom>
            <a:avLst/>
            <a:gdLst/>
            <a:ahLst/>
            <a:cxnLst/>
            <a:rect l="l" t="t" r="r" b="b"/>
            <a:pathLst>
              <a:path w="71438" h="95250">
                <a:moveTo>
                  <a:pt x="71438" y="23813"/>
                </a:moveTo>
                <a:arcTo hR="71438" wR="71438" stAng="16200000" swAng="-5400000"/>
                <a:lnTo>
                  <a:pt x="0" y="0"/>
                </a:lnTo>
              </a:path>
            </a:pathLst>
          </a:custGeom>
          <a:noFill/>
          <a:ln w="15875">
            <a:solidFill>
              <a:srgbClr val="10605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147763" y="5738813"/>
            <a:ext cx="47625" cy="47625"/>
          </a:xfrm>
          <a:prstGeom prst="ellipse">
            <a:avLst/>
          </a:prstGeom>
          <a:noFill/>
          <a:ln w="15875">
            <a:solidFill>
              <a:srgbClr val="10605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52513" y="5834063"/>
            <a:ext cx="47625" cy="47625"/>
          </a:xfrm>
          <a:prstGeom prst="ellipse">
            <a:avLst/>
          </a:prstGeom>
          <a:noFill/>
          <a:ln w="15875">
            <a:solidFill>
              <a:srgbClr val="10605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295400" y="5715000"/>
            <a:ext cx="11811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1A24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渠道崛起没有倒退，只是换了通道：业主社会的自然结果。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533400" y="6324600"/>
            <a:ext cx="11125200" cy="0"/>
          </a:xfrm>
          <a:prstGeom prst="line">
            <a:avLst/>
          </a:prstGeom>
          <a:noFill/>
          <a:ln w="11430">
            <a:solidFill>
              <a:srgbClr val="D5D5C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3340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5D6B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正式稿 v1 · 2026-09-16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5D6B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内部 · 智见点评 · 98wiki</a:t>
            </a:r>
            <a:endParaRPr lang="en-US" sz="15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6"/>
          </a:solidFill>
          <a:ln/>
        </p:spPr>
      </p:sp>
      <p:sp>
        <p:nvSpPr>
          <p:cNvPr id="3" name="Shape 1"/>
          <p:cNvSpPr/>
          <p:nvPr/>
        </p:nvSpPr>
        <p:spPr>
          <a:xfrm>
            <a:off x="9715500" y="0"/>
            <a:ext cx="2476500" cy="2476500"/>
          </a:xfrm>
          <a:custGeom>
            <a:avLst/>
            <a:gdLst/>
            <a:ahLst/>
            <a:cxnLst/>
            <a:rect l="l" t="t" r="r" b="b"/>
            <a:pathLst>
              <a:path w="2476500" h="2476500">
                <a:moveTo>
                  <a:pt x="2476500" y="0"/>
                </a:moveTo>
                <a:lnTo>
                  <a:pt x="2476500" y="2476500"/>
                </a:lnTo>
                <a:arcTo hR="2476500" wR="2476500" stAng="0" swAng="-5400000"/>
                <a:close/>
              </a:path>
            </a:pathLst>
          </a:custGeom>
          <a:solidFill>
            <a:srgbClr val="10605A">
              <a:alpha val="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790575"/>
            <a:ext cx="123825" cy="123825"/>
          </a:xfrm>
          <a:prstGeom prst="rect">
            <a:avLst/>
          </a:prstGeom>
          <a:solidFill>
            <a:srgbClr val="9A6B22"/>
          </a:solidFill>
          <a:ln/>
        </p:spPr>
      </p:sp>
      <p:sp>
        <p:nvSpPr>
          <p:cNvPr id="5" name="Text 3"/>
          <p:cNvSpPr/>
          <p:nvPr/>
        </p:nvSpPr>
        <p:spPr>
          <a:xfrm>
            <a:off x="1143000" y="784860"/>
            <a:ext cx="11049000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75" dirty="0">
                <a:solidFill>
                  <a:srgbClr val="5D6B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归因分析 · 四层</a:t>
            </a:r>
            <a:endParaRPr lang="en-US" sz="1275" dirty="0"/>
          </a:p>
        </p:txBody>
      </p:sp>
      <p:sp>
        <p:nvSpPr>
          <p:cNvPr id="6" name="Text 4"/>
          <p:cNvSpPr/>
          <p:nvPr/>
        </p:nvSpPr>
        <p:spPr>
          <a:xfrm>
            <a:off x="914400" y="1078230"/>
            <a:ext cx="11277600" cy="525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450" b="1" dirty="0">
                <a:solidFill>
                  <a:srgbClr val="1A24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第二层 · 8.5pct 改善的三段拆解</a:t>
            </a:r>
            <a:endParaRPr lang="en-US" sz="3450" dirty="0"/>
          </a:p>
        </p:txBody>
      </p:sp>
      <p:sp>
        <p:nvSpPr>
          <p:cNvPr id="7" name="Text 5"/>
          <p:cNvSpPr/>
          <p:nvPr/>
        </p:nvSpPr>
        <p:spPr>
          <a:xfrm>
            <a:off x="914400" y="1661160"/>
            <a:ext cx="11277600" cy="25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1060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给检验规则，不给点位拆分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914400" y="2038350"/>
            <a:ext cx="685800" cy="38100"/>
          </a:xfrm>
          <a:prstGeom prst="rect">
            <a:avLst/>
          </a:prstGeom>
          <a:solidFill>
            <a:srgbClr val="9A6B22"/>
          </a:solidFill>
          <a:ln/>
        </p:spPr>
      </p:sp>
      <p:sp>
        <p:nvSpPr>
          <p:cNvPr id="9" name="Shape 7"/>
          <p:cNvSpPr/>
          <p:nvPr/>
        </p:nvSpPr>
        <p:spPr>
          <a:xfrm>
            <a:off x="914400" y="2247900"/>
            <a:ext cx="10363200" cy="0"/>
          </a:xfrm>
          <a:prstGeom prst="line">
            <a:avLst/>
          </a:prstGeom>
          <a:noFill/>
          <a:ln w="9525">
            <a:solidFill>
              <a:srgbClr val="D5D5C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276350" y="2690813"/>
            <a:ext cx="0" cy="809625"/>
          </a:xfrm>
          <a:prstGeom prst="line">
            <a:avLst/>
          </a:prstGeom>
          <a:noFill/>
          <a:ln w="14288">
            <a:solidFill>
              <a:srgbClr val="5D6B6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276350" y="3500438"/>
            <a:ext cx="0" cy="809625"/>
          </a:xfrm>
          <a:prstGeom prst="line">
            <a:avLst/>
          </a:prstGeom>
          <a:noFill/>
          <a:ln w="14288">
            <a:solidFill>
              <a:srgbClr val="5D6B6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43000" y="2557463"/>
            <a:ext cx="266700" cy="266700"/>
          </a:xfrm>
          <a:prstGeom prst="ellipse">
            <a:avLst/>
          </a:prstGeom>
          <a:solidFill>
            <a:srgbClr val="10605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2616518"/>
            <a:ext cx="7239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524000" y="2606040"/>
            <a:ext cx="1158240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A24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路径 A · 固定成本摊薄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1524000" y="3065145"/>
            <a:ext cx="1158240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D6B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周期性：GTV 下行时反向作用，不是护城河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1143000" y="3367088"/>
            <a:ext cx="266700" cy="266700"/>
          </a:xfrm>
          <a:prstGeom prst="ellipse">
            <a:avLst/>
          </a:prstGeom>
          <a:solidFill>
            <a:srgbClr val="10605A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3426143"/>
            <a:ext cx="7239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524000" y="3415665"/>
            <a:ext cx="1158240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A24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路径 B · 一次性费用压缩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1524000" y="3874770"/>
            <a:ext cx="1158240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D6B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不可延续：能做出单季数字，不构成台阶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1143000" y="4176712"/>
            <a:ext cx="266700" cy="266700"/>
          </a:xfrm>
          <a:prstGeom prst="ellipse">
            <a:avLst/>
          </a:prstGeom>
          <a:solidFill>
            <a:srgbClr val="10605A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" y="4235768"/>
            <a:ext cx="7239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524000" y="4225290"/>
            <a:ext cx="1158240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A24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路径 C · take rate / 结构改善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1524000" y="4684395"/>
            <a:ext cx="1158240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D6B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唯一可延续：须与人均店均产能互证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248400" y="2571750"/>
            <a:ext cx="5029200" cy="83820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/>
        </p:spPr>
      </p:sp>
      <p:sp>
        <p:nvSpPr>
          <p:cNvPr id="25" name="Shape 23"/>
          <p:cNvSpPr/>
          <p:nvPr/>
        </p:nvSpPr>
        <p:spPr>
          <a:xfrm>
            <a:off x="6248400" y="2571750"/>
            <a:ext cx="38100" cy="8382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6" name="Shape 24"/>
          <p:cNvSpPr/>
          <p:nvPr/>
        </p:nvSpPr>
        <p:spPr>
          <a:xfrm>
            <a:off x="6378432" y="2919302"/>
            <a:ext cx="158877" cy="142986"/>
          </a:xfrm>
          <a:custGeom>
            <a:avLst/>
            <a:gdLst/>
            <a:ahLst/>
            <a:cxnLst/>
            <a:rect l="l" t="t" r="r" b="b"/>
            <a:pathLst>
              <a:path w="158877" h="142986">
                <a:moveTo>
                  <a:pt x="156750" y="119173"/>
                </a:moveTo>
                <a:lnTo>
                  <a:pt x="93250" y="8048"/>
                </a:lnTo>
                <a:arcTo hR="15875" wR="15875" stAng="19827518" swAng="-7255037"/>
                <a:lnTo>
                  <a:pt x="2127" y="119173"/>
                </a:lnTo>
                <a:arcTo hR="15875" wR="15875" stAng="12600161" swAng="-7231094"/>
                <a:lnTo>
                  <a:pt x="143018" y="142985"/>
                </a:lnTo>
                <a:arcTo hR="15875" wR="15875" stAng="5396476" swAng="-7196478"/>
              </a:path>
            </a:pathLst>
          </a:custGeom>
          <a:noFill/>
          <a:ln w="15875">
            <a:solidFill>
              <a:srgbClr val="DC262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57950" y="2967038"/>
            <a:ext cx="0" cy="31750"/>
          </a:xfrm>
          <a:custGeom>
            <a:avLst/>
            <a:gdLst/>
            <a:ahLst/>
            <a:cxnLst/>
            <a:rect l="l" t="t" r="r" b="b"/>
            <a:pathLst>
              <a:path w="0" h="31750">
                <a:moveTo>
                  <a:pt x="0" y="0"/>
                </a:moveTo>
                <a:lnTo>
                  <a:pt x="0" y="31750"/>
                </a:lnTo>
              </a:path>
            </a:pathLst>
          </a:custGeom>
          <a:noFill/>
          <a:ln w="15875">
            <a:solidFill>
              <a:srgbClr val="DC262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457950" y="3030538"/>
            <a:ext cx="79" cy="0"/>
          </a:xfrm>
          <a:custGeom>
            <a:avLst/>
            <a:gdLst/>
            <a:ahLst/>
            <a:cxnLst/>
            <a:rect l="l" t="t" r="r" b="b"/>
            <a:pathLst>
              <a:path w="79" h="0">
                <a:moveTo>
                  <a:pt x="0" y="0"/>
                </a:moveTo>
                <a:lnTo>
                  <a:pt x="79" y="0"/>
                </a:lnTo>
              </a:path>
            </a:pathLst>
          </a:custGeom>
          <a:noFill/>
          <a:ln w="15875">
            <a:solidFill>
              <a:srgbClr val="DC262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629400" y="2762250"/>
            <a:ext cx="11811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1A24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14.6% / +8.5pct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6629400" y="3028950"/>
            <a:ext cx="11811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1A24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在拆解归因完成前不得当作利润率台阶使用。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533400" y="6324600"/>
            <a:ext cx="11125200" cy="0"/>
          </a:xfrm>
          <a:prstGeom prst="line">
            <a:avLst/>
          </a:prstGeom>
          <a:noFill/>
          <a:ln w="11430">
            <a:solidFill>
              <a:srgbClr val="D5D5C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3340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5D6B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正式稿 v1 · 2026-09-16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5D6B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内部 · 智见点评 · 98wiki</a:t>
            </a:r>
            <a:endParaRPr lang="en-US" sz="15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6"/>
          </a:solidFill>
          <a:ln/>
        </p:spPr>
      </p:sp>
      <p:sp>
        <p:nvSpPr>
          <p:cNvPr id="3" name="Shape 1"/>
          <p:cNvSpPr/>
          <p:nvPr/>
        </p:nvSpPr>
        <p:spPr>
          <a:xfrm>
            <a:off x="9715500" y="0"/>
            <a:ext cx="2476500" cy="2476500"/>
          </a:xfrm>
          <a:custGeom>
            <a:avLst/>
            <a:gdLst/>
            <a:ahLst/>
            <a:cxnLst/>
            <a:rect l="l" t="t" r="r" b="b"/>
            <a:pathLst>
              <a:path w="2476500" h="2476500">
                <a:moveTo>
                  <a:pt x="2476500" y="0"/>
                </a:moveTo>
                <a:lnTo>
                  <a:pt x="2476500" y="2476500"/>
                </a:lnTo>
                <a:arcTo hR="2476500" wR="2476500" stAng="0" swAng="-5400000"/>
                <a:close/>
              </a:path>
            </a:pathLst>
          </a:custGeom>
          <a:solidFill>
            <a:srgbClr val="10605A">
              <a:alpha val="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914400"/>
            <a:ext cx="38100" cy="5181600"/>
          </a:xfrm>
          <a:prstGeom prst="rect">
            <a:avLst/>
          </a:prstGeom>
          <a:solidFill>
            <a:srgbClr val="10605A"/>
          </a:solidFill>
          <a:ln/>
        </p:spPr>
      </p:sp>
      <p:sp>
        <p:nvSpPr>
          <p:cNvPr id="5" name="Shape 3"/>
          <p:cNvSpPr/>
          <p:nvPr/>
        </p:nvSpPr>
        <p:spPr>
          <a:xfrm>
            <a:off x="409575" y="4302125"/>
            <a:ext cx="133350" cy="133350"/>
          </a:xfrm>
          <a:prstGeom prst="ellipse">
            <a:avLst/>
          </a:prstGeom>
          <a:solidFill>
            <a:srgbClr val="10605A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914400"/>
            <a:ext cx="609600" cy="304800"/>
          </a:xfrm>
          <a:prstGeom prst="roundRect">
            <a:avLst>
              <a:gd name="adj" fmla="val 18750"/>
            </a:avLst>
          </a:prstGeom>
          <a:solidFill>
            <a:srgbClr val="10605A"/>
          </a:solidFill>
          <a:ln/>
        </p:spPr>
      </p:sp>
      <p:sp>
        <p:nvSpPr>
          <p:cNvPr id="7" name="Text 5"/>
          <p:cNvSpPr/>
          <p:nvPr/>
        </p:nvSpPr>
        <p:spPr>
          <a:xfrm>
            <a:off x="0" y="998220"/>
            <a:ext cx="243840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3.3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714500" y="885825"/>
            <a:ext cx="104775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24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估值桥的结构与口径层级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1714500" y="1413510"/>
            <a:ext cx="10477500" cy="25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1060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② 步的拆分质量决定全桥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914400" y="1962150"/>
            <a:ext cx="10363200" cy="68580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1066800" y="2225040"/>
            <a:ext cx="1203960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060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输入层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2628900" y="2259330"/>
            <a:ext cx="104775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A24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链路 GTV（含撮合口径） · 须与净收入口径分离标注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14400" y="2762250"/>
            <a:ext cx="10363200" cy="68580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1066800" y="3025140"/>
            <a:ext cx="1203960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060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承重层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2628900" y="3059430"/>
            <a:ext cx="104775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A24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净收入 · 分业务 take rate · 贡献利润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14400" y="3562350"/>
            <a:ext cx="10363200" cy="68580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1066800" y="3825240"/>
            <a:ext cx="1203960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060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结果层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2628900" y="3859530"/>
            <a:ext cx="104775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A24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经调整经营利润（14.6% 出自此层） · 经调整净利 · 每股口径 → 目标价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14400" y="4652963"/>
            <a:ext cx="10363200" cy="5715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</p:spPr>
      </p:sp>
      <p:sp>
        <p:nvSpPr>
          <p:cNvPr id="20" name="Shape 18"/>
          <p:cNvSpPr/>
          <p:nvPr/>
        </p:nvSpPr>
        <p:spPr>
          <a:xfrm>
            <a:off x="914400" y="4652963"/>
            <a:ext cx="38100" cy="571500"/>
          </a:xfrm>
          <a:prstGeom prst="rect">
            <a:avLst/>
          </a:prstGeom>
          <a:solidFill>
            <a:srgbClr val="9A6B22"/>
          </a:solidFill>
          <a:ln/>
        </p:spPr>
      </p:sp>
      <p:sp>
        <p:nvSpPr>
          <p:cNvPr id="21" name="Shape 19"/>
          <p:cNvSpPr/>
          <p:nvPr/>
        </p:nvSpPr>
        <p:spPr>
          <a:xfrm>
            <a:off x="1123950" y="4922838"/>
            <a:ext cx="31750" cy="31750"/>
          </a:xfrm>
          <a:custGeom>
            <a:avLst/>
            <a:gdLst/>
            <a:ahLst/>
            <a:cxnLst/>
            <a:rect l="l" t="t" r="r" b="b"/>
            <a:pathLst>
              <a:path w="31750" h="31750">
                <a:moveTo>
                  <a:pt x="0" y="31750"/>
                </a:moveTo>
                <a:lnTo>
                  <a:pt x="31750" y="0"/>
                </a:lnTo>
              </a:path>
            </a:pathLst>
          </a:custGeom>
          <a:noFill/>
          <a:ln w="15875">
            <a:solidFill>
              <a:srgbClr val="9A6B2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44575" y="4875209"/>
            <a:ext cx="158750" cy="119066"/>
          </a:xfrm>
          <a:custGeom>
            <a:avLst/>
            <a:gdLst/>
            <a:ahLst/>
            <a:cxnLst/>
            <a:rect l="l" t="t" r="r" b="b"/>
            <a:pathLst>
              <a:path w="158750" h="119066">
                <a:moveTo>
                  <a:pt x="10636" y="119066"/>
                </a:moveTo>
                <a:arcTo hR="79375" wR="79375" stAng="8999825" swAng="14400349"/>
              </a:path>
            </a:pathLst>
          </a:custGeom>
          <a:noFill/>
          <a:ln w="15875">
            <a:solidFill>
              <a:srgbClr val="9A6B2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295400" y="4843463"/>
            <a:ext cx="11811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1A24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研判推断：定价传导领先基本面一到两个季度；只给结构，不给绝对数值。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533400" y="6324600"/>
            <a:ext cx="11125200" cy="0"/>
          </a:xfrm>
          <a:prstGeom prst="line">
            <a:avLst/>
          </a:prstGeom>
          <a:noFill/>
          <a:ln w="11430">
            <a:solidFill>
              <a:srgbClr val="D5D5C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3340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5D6B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正式稿 v1 · 2026-09-16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5D6B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内部 · 智见点评 · 98wiki</a:t>
            </a:r>
            <a:endParaRPr lang="en-US" sz="15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6"/>
          </a:solidFill>
          <a:ln/>
        </p:spPr>
      </p:sp>
      <p:sp>
        <p:nvSpPr>
          <p:cNvPr id="3" name="Shape 1"/>
          <p:cNvSpPr/>
          <p:nvPr/>
        </p:nvSpPr>
        <p:spPr>
          <a:xfrm>
            <a:off x="9715500" y="0"/>
            <a:ext cx="2476500" cy="2476500"/>
          </a:xfrm>
          <a:custGeom>
            <a:avLst/>
            <a:gdLst/>
            <a:ahLst/>
            <a:cxnLst/>
            <a:rect l="l" t="t" r="r" b="b"/>
            <a:pathLst>
              <a:path w="2476500" h="2476500">
                <a:moveTo>
                  <a:pt x="2476500" y="0"/>
                </a:moveTo>
                <a:lnTo>
                  <a:pt x="2476500" y="2476500"/>
                </a:lnTo>
                <a:arcTo hR="2476500" wR="2476500" stAng="0" swAng="-5400000"/>
                <a:close/>
              </a:path>
            </a:pathLst>
          </a:custGeom>
          <a:solidFill>
            <a:srgbClr val="10605A">
              <a:alpha val="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790575"/>
            <a:ext cx="123825" cy="123825"/>
          </a:xfrm>
          <a:prstGeom prst="rect">
            <a:avLst/>
          </a:prstGeom>
          <a:solidFill>
            <a:srgbClr val="9A6B22"/>
          </a:solidFill>
          <a:ln/>
        </p:spPr>
      </p:sp>
      <p:sp>
        <p:nvSpPr>
          <p:cNvPr id="5" name="Text 3"/>
          <p:cNvSpPr/>
          <p:nvPr/>
        </p:nvSpPr>
        <p:spPr>
          <a:xfrm>
            <a:off x="1143000" y="784860"/>
            <a:ext cx="11049000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75" dirty="0">
                <a:solidFill>
                  <a:srgbClr val="5D6B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归因分析 · 四层</a:t>
            </a:r>
            <a:endParaRPr lang="en-US" sz="1275" dirty="0"/>
          </a:p>
        </p:txBody>
      </p:sp>
      <p:sp>
        <p:nvSpPr>
          <p:cNvPr id="6" name="Text 4"/>
          <p:cNvSpPr/>
          <p:nvPr/>
        </p:nvSpPr>
        <p:spPr>
          <a:xfrm>
            <a:off x="914400" y="1078230"/>
            <a:ext cx="11277600" cy="525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450" b="1" dirty="0">
                <a:solidFill>
                  <a:srgbClr val="1A24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第三层 · 五环传导链</a:t>
            </a:r>
            <a:endParaRPr lang="en-US" sz="3450" dirty="0"/>
          </a:p>
        </p:txBody>
      </p:sp>
      <p:sp>
        <p:nvSpPr>
          <p:cNvPr id="7" name="Text 5"/>
          <p:cNvSpPr/>
          <p:nvPr/>
        </p:nvSpPr>
        <p:spPr>
          <a:xfrm>
            <a:off x="914400" y="1661160"/>
            <a:ext cx="11277600" cy="25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1060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卖方定价的是第 ⑤ 环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914400" y="2038350"/>
            <a:ext cx="685800" cy="38100"/>
          </a:xfrm>
          <a:prstGeom prst="rect">
            <a:avLst/>
          </a:prstGeom>
          <a:solidFill>
            <a:srgbClr val="9A6B22"/>
          </a:solidFill>
          <a:ln/>
        </p:spPr>
      </p:sp>
      <p:sp>
        <p:nvSpPr>
          <p:cNvPr id="9" name="Shape 7"/>
          <p:cNvSpPr/>
          <p:nvPr/>
        </p:nvSpPr>
        <p:spPr>
          <a:xfrm>
            <a:off x="914400" y="2247900"/>
            <a:ext cx="10363200" cy="0"/>
          </a:xfrm>
          <a:prstGeom prst="line">
            <a:avLst/>
          </a:prstGeom>
          <a:noFill/>
          <a:ln w="9525">
            <a:solidFill>
              <a:srgbClr val="D5D5C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23925" y="2609850"/>
            <a:ext cx="0" cy="1104900"/>
          </a:xfrm>
          <a:prstGeom prst="line">
            <a:avLst/>
          </a:prstGeom>
          <a:noFill/>
          <a:ln w="19050">
            <a:solidFill>
              <a:srgbClr val="9A6B22">
                <a:alpha val="6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23950" y="2636520"/>
            <a:ext cx="11982450" cy="388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550" b="1" i="1" dirty="0">
                <a:solidFill>
                  <a:srgbClr val="9A6B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550" dirty="0"/>
          </a:p>
        </p:txBody>
      </p:sp>
      <p:sp>
        <p:nvSpPr>
          <p:cNvPr id="12" name="Text 10"/>
          <p:cNvSpPr/>
          <p:nvPr/>
        </p:nvSpPr>
        <p:spPr>
          <a:xfrm>
            <a:off x="1123950" y="3086100"/>
            <a:ext cx="11982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1A24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① 制度压缩预售杠杆</a:t>
            </a:r>
            <a:endParaRPr lang="en-US" sz="1125" dirty="0"/>
          </a:p>
        </p:txBody>
      </p:sp>
      <p:sp>
        <p:nvSpPr>
          <p:cNvPr id="13" name="Text 11"/>
          <p:cNvSpPr/>
          <p:nvPr/>
        </p:nvSpPr>
        <p:spPr>
          <a:xfrm>
            <a:off x="1123950" y="3388995"/>
            <a:ext cx="1198245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D6B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现房制度压掉新房渠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123950" y="3569970"/>
            <a:ext cx="1198245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D6B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道脉冲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689225" y="2609850"/>
            <a:ext cx="0" cy="1104900"/>
          </a:xfrm>
          <a:prstGeom prst="line">
            <a:avLst/>
          </a:prstGeom>
          <a:noFill/>
          <a:ln w="19050">
            <a:solidFill>
              <a:srgbClr val="9A6B22">
                <a:alpha val="6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889250" y="2636520"/>
            <a:ext cx="10217150" cy="388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550" b="1" i="1" dirty="0">
                <a:solidFill>
                  <a:srgbClr val="9A6B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550" dirty="0"/>
          </a:p>
        </p:txBody>
      </p:sp>
      <p:sp>
        <p:nvSpPr>
          <p:cNvPr id="17" name="Text 15"/>
          <p:cNvSpPr/>
          <p:nvPr/>
        </p:nvSpPr>
        <p:spPr>
          <a:xfrm>
            <a:off x="2889250" y="3070860"/>
            <a:ext cx="10217150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1A24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② 新房佣金池收缩</a:t>
            </a:r>
            <a:endParaRPr lang="en-US" sz="1275" dirty="0"/>
          </a:p>
        </p:txBody>
      </p:sp>
      <p:sp>
        <p:nvSpPr>
          <p:cNvPr id="18" name="Text 16"/>
          <p:cNvSpPr/>
          <p:nvPr/>
        </p:nvSpPr>
        <p:spPr>
          <a:xfrm>
            <a:off x="2889250" y="3388995"/>
            <a:ext cx="1021715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D6B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需求向可核验存量迁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2889250" y="3569970"/>
            <a:ext cx="1021715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D6B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移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454525" y="2609850"/>
            <a:ext cx="0" cy="1104900"/>
          </a:xfrm>
          <a:prstGeom prst="line">
            <a:avLst/>
          </a:prstGeom>
          <a:noFill/>
          <a:ln w="19050">
            <a:solidFill>
              <a:srgbClr val="9A6B22">
                <a:alpha val="65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54550" y="2636520"/>
            <a:ext cx="8451850" cy="388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550" b="1" i="1" dirty="0">
                <a:solidFill>
                  <a:srgbClr val="9A6B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550" dirty="0"/>
          </a:p>
        </p:txBody>
      </p:sp>
      <p:sp>
        <p:nvSpPr>
          <p:cNvPr id="22" name="Text 20"/>
          <p:cNvSpPr/>
          <p:nvPr/>
        </p:nvSpPr>
        <p:spPr>
          <a:xfrm>
            <a:off x="4654550" y="3063240"/>
            <a:ext cx="845185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A24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③ 收入结构切换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4654550" y="3388995"/>
            <a:ext cx="845185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D6B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二手存量佣金 + 租赁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654550" y="3569970"/>
            <a:ext cx="845185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D6B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 家装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923925" y="4171950"/>
            <a:ext cx="0" cy="1047750"/>
          </a:xfrm>
          <a:prstGeom prst="line">
            <a:avLst/>
          </a:prstGeom>
          <a:noFill/>
          <a:ln w="19050">
            <a:solidFill>
              <a:srgbClr val="9A6B22">
                <a:alpha val="65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123950" y="4198620"/>
            <a:ext cx="11982450" cy="388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550" b="1" i="1" dirty="0">
                <a:solidFill>
                  <a:srgbClr val="9A6B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550" dirty="0"/>
          </a:p>
        </p:txBody>
      </p:sp>
      <p:sp>
        <p:nvSpPr>
          <p:cNvPr id="27" name="Text 25"/>
          <p:cNvSpPr/>
          <p:nvPr/>
        </p:nvSpPr>
        <p:spPr>
          <a:xfrm>
            <a:off x="1123950" y="4625340"/>
            <a:ext cx="1198245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A24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④ 经营杠杆显现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1123950" y="4951095"/>
            <a:ext cx="1198245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D6B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低增量固定成本摊薄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2689225" y="4171950"/>
            <a:ext cx="0" cy="1047750"/>
          </a:xfrm>
          <a:prstGeom prst="line">
            <a:avLst/>
          </a:prstGeom>
          <a:noFill/>
          <a:ln w="19050">
            <a:solidFill>
              <a:srgbClr val="9A6B22">
                <a:alpha val="65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889250" y="4198620"/>
            <a:ext cx="10217150" cy="388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550" b="1" i="1" dirty="0">
                <a:solidFill>
                  <a:srgbClr val="9A6B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550" dirty="0"/>
          </a:p>
        </p:txBody>
      </p:sp>
      <p:sp>
        <p:nvSpPr>
          <p:cNvPr id="31" name="Text 29"/>
          <p:cNvSpPr/>
          <p:nvPr/>
        </p:nvSpPr>
        <p:spPr>
          <a:xfrm>
            <a:off x="2889250" y="4625340"/>
            <a:ext cx="1021715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A24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⑤ 被定价处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2889250" y="4937760"/>
            <a:ext cx="10217150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D6B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卖方定价的是制度兑现速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2889250" y="5090160"/>
            <a:ext cx="10217150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D6B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度，不是 ③④ 环证据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248400" y="2571750"/>
            <a:ext cx="5029200" cy="83820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/>
        </p:spPr>
      </p:sp>
      <p:sp>
        <p:nvSpPr>
          <p:cNvPr id="35" name="Shape 33"/>
          <p:cNvSpPr/>
          <p:nvPr/>
        </p:nvSpPr>
        <p:spPr>
          <a:xfrm>
            <a:off x="6248400" y="2571750"/>
            <a:ext cx="38100" cy="838200"/>
          </a:xfrm>
          <a:prstGeom prst="rect">
            <a:avLst/>
          </a:prstGeom>
          <a:solidFill>
            <a:srgbClr val="10605A"/>
          </a:solidFill>
          <a:ln/>
        </p:spPr>
      </p:sp>
      <p:sp>
        <p:nvSpPr>
          <p:cNvPr id="36" name="Shape 34"/>
          <p:cNvSpPr/>
          <p:nvPr/>
        </p:nvSpPr>
        <p:spPr>
          <a:xfrm>
            <a:off x="6378602" y="2911472"/>
            <a:ext cx="158854" cy="79381"/>
          </a:xfrm>
          <a:custGeom>
            <a:avLst/>
            <a:gdLst/>
            <a:ahLst/>
            <a:cxnLst/>
            <a:rect l="l" t="t" r="r" b="b"/>
            <a:pathLst>
              <a:path w="158854" h="79381">
                <a:moveTo>
                  <a:pt x="85936" y="1432"/>
                </a:moveTo>
                <a:arcTo hR="15875" wR="15875" stAng="17671159" swAng="-2942318"/>
                <a:lnTo>
                  <a:pt x="4735" y="32388"/>
                </a:lnTo>
                <a:arcTo hR="7938" wR="7938" stAng="14772344" swAng="-7944687"/>
                <a:lnTo>
                  <a:pt x="72839" y="77949"/>
                </a:lnTo>
                <a:arcTo hR="15875" wR="15875" stAng="6871159" swAng="-2942318"/>
                <a:lnTo>
                  <a:pt x="154119" y="46993"/>
                </a:lnTo>
                <a:arcTo hR="7938" wR="7938" stAng="3972344" swAng="-7944687"/>
                <a:close/>
              </a:path>
            </a:pathLst>
          </a:custGeom>
          <a:noFill/>
          <a:ln w="15875">
            <a:solidFill>
              <a:srgbClr val="10605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378575" y="2990850"/>
            <a:ext cx="158750" cy="39672"/>
          </a:xfrm>
          <a:custGeom>
            <a:avLst/>
            <a:gdLst/>
            <a:ahLst/>
            <a:cxnLst/>
            <a:rect l="l" t="t" r="r" b="b"/>
            <a:pathLst>
              <a:path w="158750" h="39672">
                <a:moveTo>
                  <a:pt x="0" y="0"/>
                </a:moveTo>
                <a:arcTo hR="7938" wR="7938" stAng="10808507" swAng="-3918443"/>
                <a:lnTo>
                  <a:pt x="72866" y="38259"/>
                </a:lnTo>
                <a:arcTo hR="15875" wR="15875" stAng="6861719" swAng="-2923437"/>
                <a:lnTo>
                  <a:pt x="154067" y="7302"/>
                </a:lnTo>
                <a:arcTo hR="7938" wR="7938" stAng="3947828" swAng="-3974988"/>
              </a:path>
            </a:pathLst>
          </a:custGeom>
          <a:noFill/>
          <a:ln w="15875">
            <a:solidFill>
              <a:srgbClr val="10605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378575" y="3030538"/>
            <a:ext cx="158750" cy="39672"/>
          </a:xfrm>
          <a:custGeom>
            <a:avLst/>
            <a:gdLst/>
            <a:ahLst/>
            <a:cxnLst/>
            <a:rect l="l" t="t" r="r" b="b"/>
            <a:pathLst>
              <a:path w="158750" h="39672">
                <a:moveTo>
                  <a:pt x="0" y="0"/>
                </a:moveTo>
                <a:arcTo hR="7938" wR="7938" stAng="10808507" swAng="-3918443"/>
                <a:lnTo>
                  <a:pt x="72866" y="38259"/>
                </a:lnTo>
                <a:arcTo hR="15875" wR="15875" stAng="6861719" swAng="-2923437"/>
                <a:lnTo>
                  <a:pt x="154067" y="7303"/>
                </a:lnTo>
                <a:arcTo hR="7938" wR="7938" stAng="3947828" swAng="-3974988"/>
              </a:path>
            </a:pathLst>
          </a:custGeom>
          <a:noFill/>
          <a:ln w="15875">
            <a:solidFill>
              <a:srgbClr val="10605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629400" y="2762250"/>
            <a:ext cx="11811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1A24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③④ 环是可被证据检验的经营事实，⑤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6629400" y="3028950"/>
            <a:ext cx="11811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1A24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环是对制度节奏的预期。</a:t>
            </a:r>
            <a:endParaRPr lang="en-US" sz="1500" dirty="0"/>
          </a:p>
        </p:txBody>
      </p:sp>
      <p:sp>
        <p:nvSpPr>
          <p:cNvPr id="41" name="Shape 39"/>
          <p:cNvSpPr/>
          <p:nvPr/>
        </p:nvSpPr>
        <p:spPr>
          <a:xfrm>
            <a:off x="533400" y="6324600"/>
            <a:ext cx="11125200" cy="0"/>
          </a:xfrm>
          <a:prstGeom prst="line">
            <a:avLst/>
          </a:prstGeom>
          <a:noFill/>
          <a:ln w="11430">
            <a:solidFill>
              <a:srgbClr val="D5D5C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3340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5D6B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正式稿 v1 · 2026-09-16</a:t>
            </a:r>
            <a:endParaRPr lang="en-US" sz="1500" dirty="0"/>
          </a:p>
        </p:txBody>
      </p:sp>
      <p:sp>
        <p:nvSpPr>
          <p:cNvPr id="43" name="Text 41"/>
          <p:cNvSpPr/>
          <p:nvPr/>
        </p:nvSpPr>
        <p:spPr>
          <a:xfrm>
            <a:off x="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5D6B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内部 · 智见点评 · 98wiki</a:t>
            </a:r>
            <a:endParaRPr lang="en-US" sz="15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6"/>
          </a:solidFill>
          <a:ln/>
        </p:spPr>
      </p:sp>
      <p:sp>
        <p:nvSpPr>
          <p:cNvPr id="3" name="Shape 1"/>
          <p:cNvSpPr/>
          <p:nvPr/>
        </p:nvSpPr>
        <p:spPr>
          <a:xfrm>
            <a:off x="9715500" y="0"/>
            <a:ext cx="2476500" cy="2476500"/>
          </a:xfrm>
          <a:custGeom>
            <a:avLst/>
            <a:gdLst/>
            <a:ahLst/>
            <a:cxnLst/>
            <a:rect l="l" t="t" r="r" b="b"/>
            <a:pathLst>
              <a:path w="2476500" h="2476500">
                <a:moveTo>
                  <a:pt x="2476500" y="0"/>
                </a:moveTo>
                <a:lnTo>
                  <a:pt x="2476500" y="2476500"/>
                </a:lnTo>
                <a:arcTo hR="2476500" wR="2476500" stAng="0" swAng="-5400000"/>
                <a:close/>
              </a:path>
            </a:pathLst>
          </a:custGeom>
          <a:solidFill>
            <a:srgbClr val="10605A">
              <a:alpha val="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914400"/>
            <a:ext cx="38100" cy="5181600"/>
          </a:xfrm>
          <a:prstGeom prst="rect">
            <a:avLst/>
          </a:prstGeom>
          <a:solidFill>
            <a:srgbClr val="10605A"/>
          </a:solidFill>
          <a:ln/>
        </p:spPr>
      </p:sp>
      <p:sp>
        <p:nvSpPr>
          <p:cNvPr id="5" name="Shape 3"/>
          <p:cNvSpPr/>
          <p:nvPr/>
        </p:nvSpPr>
        <p:spPr>
          <a:xfrm>
            <a:off x="409575" y="4302125"/>
            <a:ext cx="133350" cy="133350"/>
          </a:xfrm>
          <a:prstGeom prst="ellipse">
            <a:avLst/>
          </a:prstGeom>
          <a:solidFill>
            <a:srgbClr val="10605A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914400"/>
            <a:ext cx="609600" cy="304800"/>
          </a:xfrm>
          <a:prstGeom prst="roundRect">
            <a:avLst>
              <a:gd name="adj" fmla="val 18750"/>
            </a:avLst>
          </a:prstGeom>
          <a:solidFill>
            <a:srgbClr val="10605A"/>
          </a:solidFill>
          <a:ln/>
        </p:spPr>
      </p:sp>
      <p:sp>
        <p:nvSpPr>
          <p:cNvPr id="7" name="Text 5"/>
          <p:cNvSpPr/>
          <p:nvPr/>
        </p:nvSpPr>
        <p:spPr>
          <a:xfrm>
            <a:off x="0" y="998220"/>
            <a:ext cx="243840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3.5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714500" y="885825"/>
            <a:ext cx="104775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24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制度内核三件套与三条建议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1714500" y="1413510"/>
            <a:ext cx="10477500" cy="25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1060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缺此三件则锁在低水平均衡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3467100" y="2091690"/>
            <a:ext cx="963930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A24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制度要件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819900" y="2091690"/>
            <a:ext cx="628650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A24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缺失时的状态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10172700" y="2091690"/>
            <a:ext cx="293370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A24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落地建议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914400" y="2381250"/>
            <a:ext cx="10363200" cy="0"/>
          </a:xfrm>
          <a:prstGeom prst="line">
            <a:avLst/>
          </a:prstGeom>
          <a:noFill/>
          <a:ln w="19050">
            <a:solidFill>
              <a:srgbClr val="1A242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14400" y="2800350"/>
            <a:ext cx="10363200" cy="0"/>
          </a:xfrm>
          <a:prstGeom prst="line">
            <a:avLst/>
          </a:prstGeom>
          <a:noFill/>
          <a:ln w="9525">
            <a:solidFill>
              <a:srgbClr val="D5D5C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4400" y="3219450"/>
            <a:ext cx="10363200" cy="0"/>
          </a:xfrm>
          <a:prstGeom prst="line">
            <a:avLst/>
          </a:prstGeom>
          <a:noFill/>
          <a:ln w="9525">
            <a:solidFill>
              <a:srgbClr val="D5D5C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14400" y="3638550"/>
            <a:ext cx="10363200" cy="0"/>
          </a:xfrm>
          <a:prstGeom prst="line">
            <a:avLst/>
          </a:prstGeom>
          <a:noFill/>
          <a:ln w="9525">
            <a:solidFill>
              <a:srgbClr val="D5D5C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28700" y="2526030"/>
            <a:ext cx="120777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D6B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房源单一委托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467100" y="2526030"/>
            <a:ext cx="96393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A24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报价不可比，搜寻成本高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819900" y="2526030"/>
            <a:ext cx="62865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A24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设为接口标准，非倡导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28700" y="2945130"/>
            <a:ext cx="120777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D6B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全量注册与真房源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467100" y="2945130"/>
            <a:ext cx="96393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A24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虚假房源挤出真实供给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819900" y="2945130"/>
            <a:ext cx="62865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A24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平台做核验方，不做裁判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28700" y="3364230"/>
            <a:ext cx="120777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D6B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可核验数据联合体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467100" y="3364230"/>
            <a:ext cx="96393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A24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数据分散不可交叉验证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819900" y="3364230"/>
            <a:ext cx="62865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A24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做成半公共品，避开寻租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914400" y="3800475"/>
            <a:ext cx="10363200" cy="1295400"/>
          </a:xfrm>
          <a:prstGeom prst="roundRect">
            <a:avLst>
              <a:gd name="adj" fmla="val 1471"/>
            </a:avLst>
          </a:prstGeom>
          <a:solidFill>
            <a:srgbClr val="FFFFFF"/>
          </a:solidFill>
          <a:ln/>
        </p:spPr>
      </p:sp>
      <p:sp>
        <p:nvSpPr>
          <p:cNvPr id="27" name="Shape 25"/>
          <p:cNvSpPr/>
          <p:nvPr/>
        </p:nvSpPr>
        <p:spPr>
          <a:xfrm>
            <a:off x="914400" y="3800475"/>
            <a:ext cx="10363200" cy="57150"/>
          </a:xfrm>
          <a:custGeom>
            <a:avLst/>
            <a:gdLst/>
            <a:ahLst/>
            <a:cxnLst/>
            <a:rect l="l" t="t" r="r" b="b"/>
            <a:pathLst>
              <a:path w="10363200" h="57150">
                <a:moveTo>
                  <a:pt x="0" y="19050"/>
                </a:moveTo>
                <a:arcTo hR="19050" wR="19050" stAng="10800000" swAng="5400000"/>
                <a:lnTo>
                  <a:pt x="10344150" y="0"/>
                </a:lnTo>
                <a:arcTo hR="19050" wR="19050" stAng="16200000" swAng="5400000"/>
                <a:lnTo>
                  <a:pt x="10363200" y="57150"/>
                </a:lnTo>
                <a:lnTo>
                  <a:pt x="0" y="57150"/>
                </a:lnTo>
                <a:close/>
              </a:path>
            </a:pathLst>
          </a:custGeom>
          <a:solidFill>
            <a:srgbClr val="9A6B22"/>
          </a:solidFill>
          <a:ln/>
        </p:spPr>
      </p:sp>
      <p:sp>
        <p:nvSpPr>
          <p:cNvPr id="28" name="Text 26"/>
          <p:cNvSpPr/>
          <p:nvPr/>
        </p:nvSpPr>
        <p:spPr>
          <a:xfrm>
            <a:off x="1123950" y="4023360"/>
            <a:ext cx="11068050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9A6B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制度的作用边界</a:t>
            </a:r>
            <a:endParaRPr lang="en-US" sz="1275" dirty="0"/>
          </a:p>
        </p:txBody>
      </p:sp>
      <p:sp>
        <p:nvSpPr>
          <p:cNvPr id="29" name="Text 27"/>
          <p:cNvSpPr/>
          <p:nvPr/>
        </p:nvSpPr>
        <p:spPr>
          <a:xfrm>
            <a:off x="1123950" y="4351020"/>
            <a:ext cx="1106805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A24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能做的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1790700" y="4350068"/>
            <a:ext cx="10401300" cy="154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13" dirty="0">
                <a:solidFill>
                  <a:srgbClr val="1A24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降低搜寻成本、提高成交效率、让佣金可持续</a:t>
            </a:r>
            <a:endParaRPr lang="en-US" sz="1013" dirty="0"/>
          </a:p>
        </p:txBody>
      </p:sp>
      <p:sp>
        <p:nvSpPr>
          <p:cNvPr id="31" name="Text 29"/>
          <p:cNvSpPr/>
          <p:nvPr/>
        </p:nvSpPr>
        <p:spPr>
          <a:xfrm>
            <a:off x="1123950" y="4693920"/>
            <a:ext cx="1106805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A24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不能做的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1790700" y="4692968"/>
            <a:ext cx="10401300" cy="154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13" dirty="0">
                <a:solidFill>
                  <a:srgbClr val="1A24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消灭交易成本，因此估值第 ⑤ 环被制度上限封顶</a:t>
            </a:r>
            <a:endParaRPr lang="en-US" sz="1013" dirty="0"/>
          </a:p>
        </p:txBody>
      </p:sp>
      <p:sp>
        <p:nvSpPr>
          <p:cNvPr id="33" name="Shape 31"/>
          <p:cNvSpPr/>
          <p:nvPr/>
        </p:nvSpPr>
        <p:spPr>
          <a:xfrm>
            <a:off x="914400" y="5257800"/>
            <a:ext cx="10363200" cy="5715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</p:spPr>
      </p:sp>
      <p:sp>
        <p:nvSpPr>
          <p:cNvPr id="34" name="Shape 32"/>
          <p:cNvSpPr/>
          <p:nvPr/>
        </p:nvSpPr>
        <p:spPr>
          <a:xfrm>
            <a:off x="914400" y="5257800"/>
            <a:ext cx="38100" cy="5715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5" name="Shape 33"/>
          <p:cNvSpPr/>
          <p:nvPr/>
        </p:nvSpPr>
        <p:spPr>
          <a:xfrm>
            <a:off x="1060450" y="5464171"/>
            <a:ext cx="127000" cy="158777"/>
          </a:xfrm>
          <a:custGeom>
            <a:avLst/>
            <a:gdLst/>
            <a:ahLst/>
            <a:cxnLst/>
            <a:rect l="l" t="t" r="r" b="b"/>
            <a:pathLst>
              <a:path w="127000" h="158777">
                <a:moveTo>
                  <a:pt x="127000" y="87316"/>
                </a:moveTo>
                <a:cubicBezTo>
                  <a:pt x="127000" y="127004"/>
                  <a:pt x="99219" y="146847"/>
                  <a:pt x="66199" y="158357"/>
                </a:cubicBezTo>
                <a:arcTo hR="7938" wR="7938" stAng="4276817" swAng="2348977"/>
                <a:cubicBezTo>
                  <a:pt x="27781" y="146847"/>
                  <a:pt x="0" y="127004"/>
                  <a:pt x="0" y="87316"/>
                </a:cubicBezTo>
                <a:lnTo>
                  <a:pt x="0" y="31754"/>
                </a:lnTo>
                <a:arcTo hR="7938" wR="7938" stAng="10800000" swAng="5400000"/>
                <a:cubicBezTo>
                  <a:pt x="23813" y="23816"/>
                  <a:pt x="43656" y="14291"/>
                  <a:pt x="57468" y="2226"/>
                </a:cubicBezTo>
                <a:arcTo hR="9287" wR="9287" stAng="13769437" swAng="4861127"/>
                <a:cubicBezTo>
                  <a:pt x="83423" y="14370"/>
                  <a:pt x="103188" y="23816"/>
                  <a:pt x="119063" y="23816"/>
                </a:cubicBezTo>
                <a:arcTo hR="7938" wR="7938" stAng="16200000" swAng="5400000"/>
                <a:close/>
              </a:path>
            </a:pathLst>
          </a:custGeom>
          <a:noFill/>
          <a:ln w="15875">
            <a:solidFill>
              <a:srgbClr val="DC262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295400" y="5448300"/>
            <a:ext cx="11811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1A24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制度只能降低交易成本、不能消灭成本：第 ⑤ 环存在制度上限封顶。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533400" y="6324600"/>
            <a:ext cx="11125200" cy="0"/>
          </a:xfrm>
          <a:prstGeom prst="line">
            <a:avLst/>
          </a:prstGeom>
          <a:noFill/>
          <a:ln w="11430">
            <a:solidFill>
              <a:srgbClr val="D5D5C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3340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5D6B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正式稿 v1 · 2026-09-16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5D6B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内部 · 智见点评 · 98wiki</a:t>
            </a:r>
            <a:endParaRPr lang="en-US" sz="15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6"/>
          </a:solidFill>
          <a:ln/>
        </p:spPr>
      </p:sp>
      <p:sp>
        <p:nvSpPr>
          <p:cNvPr id="3" name="Shape 1"/>
          <p:cNvSpPr/>
          <p:nvPr/>
        </p:nvSpPr>
        <p:spPr>
          <a:xfrm>
            <a:off x="9715500" y="0"/>
            <a:ext cx="2476500" cy="2476500"/>
          </a:xfrm>
          <a:custGeom>
            <a:avLst/>
            <a:gdLst/>
            <a:ahLst/>
            <a:cxnLst/>
            <a:rect l="l" t="t" r="r" b="b"/>
            <a:pathLst>
              <a:path w="2476500" h="2476500">
                <a:moveTo>
                  <a:pt x="2476500" y="0"/>
                </a:moveTo>
                <a:lnTo>
                  <a:pt x="2476500" y="2476500"/>
                </a:lnTo>
                <a:arcTo hR="2476500" wR="2476500" stAng="0" swAng="-5400000"/>
                <a:close/>
              </a:path>
            </a:pathLst>
          </a:custGeom>
          <a:solidFill>
            <a:srgbClr val="10605A">
              <a:alpha val="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790575"/>
            <a:ext cx="123825" cy="123825"/>
          </a:xfrm>
          <a:prstGeom prst="rect">
            <a:avLst/>
          </a:prstGeom>
          <a:solidFill>
            <a:srgbClr val="9A6B22"/>
          </a:solidFill>
          <a:ln/>
        </p:spPr>
      </p:sp>
      <p:sp>
        <p:nvSpPr>
          <p:cNvPr id="5" name="Text 3"/>
          <p:cNvSpPr/>
          <p:nvPr/>
        </p:nvSpPr>
        <p:spPr>
          <a:xfrm>
            <a:off x="1143000" y="784860"/>
            <a:ext cx="11049000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75" dirty="0">
                <a:solidFill>
                  <a:srgbClr val="5D6B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归因分析 · 四层</a:t>
            </a:r>
            <a:endParaRPr lang="en-US" sz="1275" dirty="0"/>
          </a:p>
        </p:txBody>
      </p:sp>
      <p:sp>
        <p:nvSpPr>
          <p:cNvPr id="6" name="Text 4"/>
          <p:cNvSpPr/>
          <p:nvPr/>
        </p:nvSpPr>
        <p:spPr>
          <a:xfrm>
            <a:off x="914400" y="1078230"/>
            <a:ext cx="11277600" cy="525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450" b="1" dirty="0">
                <a:solidFill>
                  <a:srgbClr val="1A24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第四层 · 利润分配对象决定切换能否延续</a:t>
            </a:r>
            <a:endParaRPr lang="en-US" sz="3450" dirty="0"/>
          </a:p>
        </p:txBody>
      </p:sp>
      <p:sp>
        <p:nvSpPr>
          <p:cNvPr id="7" name="Text 5"/>
          <p:cNvSpPr/>
          <p:nvPr/>
        </p:nvSpPr>
        <p:spPr>
          <a:xfrm>
            <a:off x="914400" y="1661160"/>
            <a:ext cx="11277600" cy="25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1060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最深的护城河是规则，不是流量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914400" y="2038350"/>
            <a:ext cx="685800" cy="38100"/>
          </a:xfrm>
          <a:prstGeom prst="rect">
            <a:avLst/>
          </a:prstGeom>
          <a:solidFill>
            <a:srgbClr val="9A6B22"/>
          </a:solidFill>
          <a:ln/>
        </p:spPr>
      </p:sp>
      <p:sp>
        <p:nvSpPr>
          <p:cNvPr id="9" name="Shape 7"/>
          <p:cNvSpPr/>
          <p:nvPr/>
        </p:nvSpPr>
        <p:spPr>
          <a:xfrm>
            <a:off x="914400" y="2247900"/>
            <a:ext cx="10363200" cy="0"/>
          </a:xfrm>
          <a:prstGeom prst="line">
            <a:avLst/>
          </a:prstGeom>
          <a:noFill/>
          <a:ln w="9525">
            <a:solidFill>
              <a:srgbClr val="D5D5C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790700" y="2701290"/>
            <a:ext cx="1131570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A24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投向产业基础 · 可延续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066540" y="2701290"/>
            <a:ext cx="903986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A24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只体现为压缩 · 先松动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914400" y="2990850"/>
            <a:ext cx="5029200" cy="0"/>
          </a:xfrm>
          <a:prstGeom prst="line">
            <a:avLst/>
          </a:prstGeom>
          <a:noFill/>
          <a:ln w="19050">
            <a:solidFill>
              <a:srgbClr val="1A242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4400" y="3409950"/>
            <a:ext cx="5029200" cy="0"/>
          </a:xfrm>
          <a:prstGeom prst="line">
            <a:avLst/>
          </a:prstGeom>
          <a:noFill/>
          <a:ln w="9525">
            <a:solidFill>
              <a:srgbClr val="D5D5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14400" y="3829050"/>
            <a:ext cx="5029200" cy="0"/>
          </a:xfrm>
          <a:prstGeom prst="line">
            <a:avLst/>
          </a:prstGeom>
          <a:noFill/>
          <a:ln w="9525">
            <a:solidFill>
              <a:srgbClr val="D5D5C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28700" y="3148965"/>
            <a:ext cx="12077700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5D6B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投向</a:t>
            </a:r>
            <a:endParaRPr lang="en-US" sz="975" dirty="0"/>
          </a:p>
        </p:txBody>
      </p:sp>
      <p:sp>
        <p:nvSpPr>
          <p:cNvPr id="16" name="Text 14"/>
          <p:cNvSpPr/>
          <p:nvPr/>
        </p:nvSpPr>
        <p:spPr>
          <a:xfrm>
            <a:off x="1790700" y="3148965"/>
            <a:ext cx="11315700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1A24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服务者固定负担、保障、真房源覆盖</a:t>
            </a:r>
            <a:endParaRPr lang="en-US" sz="975" dirty="0"/>
          </a:p>
        </p:txBody>
      </p:sp>
      <p:sp>
        <p:nvSpPr>
          <p:cNvPr id="17" name="Text 15"/>
          <p:cNvSpPr/>
          <p:nvPr/>
        </p:nvSpPr>
        <p:spPr>
          <a:xfrm>
            <a:off x="4066540" y="3148965"/>
            <a:ext cx="9039860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1A24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压分佣、缩编制、减研发</a:t>
            </a:r>
            <a:endParaRPr lang="en-US" sz="975" dirty="0"/>
          </a:p>
        </p:txBody>
      </p:sp>
      <p:sp>
        <p:nvSpPr>
          <p:cNvPr id="18" name="Text 16"/>
          <p:cNvSpPr/>
          <p:nvPr/>
        </p:nvSpPr>
        <p:spPr>
          <a:xfrm>
            <a:off x="1028700" y="3568065"/>
            <a:ext cx="12077700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5D6B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</a:t>
            </a:r>
            <a:endParaRPr lang="en-US" sz="975" dirty="0"/>
          </a:p>
        </p:txBody>
      </p:sp>
      <p:sp>
        <p:nvSpPr>
          <p:cNvPr id="19" name="Text 17"/>
          <p:cNvSpPr/>
          <p:nvPr/>
        </p:nvSpPr>
        <p:spPr>
          <a:xfrm>
            <a:off x="1790700" y="3568065"/>
            <a:ext cx="11315700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1A24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加固规则护城河，优势可重复</a:t>
            </a:r>
            <a:endParaRPr lang="en-US" sz="975" dirty="0"/>
          </a:p>
        </p:txBody>
      </p:sp>
      <p:sp>
        <p:nvSpPr>
          <p:cNvPr id="20" name="Text 18"/>
          <p:cNvSpPr/>
          <p:nvPr/>
        </p:nvSpPr>
        <p:spPr>
          <a:xfrm>
            <a:off x="4066540" y="3568065"/>
            <a:ext cx="9039860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1A24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份额先于利润松动，信任无缓冲</a:t>
            </a:r>
            <a:endParaRPr lang="en-US" sz="975" dirty="0"/>
          </a:p>
        </p:txBody>
      </p:sp>
      <p:sp>
        <p:nvSpPr>
          <p:cNvPr id="21" name="Shape 19"/>
          <p:cNvSpPr/>
          <p:nvPr/>
        </p:nvSpPr>
        <p:spPr>
          <a:xfrm>
            <a:off x="6248400" y="2571750"/>
            <a:ext cx="5029200" cy="83820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/>
        </p:spPr>
      </p:sp>
      <p:sp>
        <p:nvSpPr>
          <p:cNvPr id="22" name="Shape 20"/>
          <p:cNvSpPr/>
          <p:nvPr/>
        </p:nvSpPr>
        <p:spPr>
          <a:xfrm>
            <a:off x="6248400" y="2571750"/>
            <a:ext cx="38100" cy="8382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3" name="Shape 21"/>
          <p:cNvSpPr/>
          <p:nvPr/>
        </p:nvSpPr>
        <p:spPr>
          <a:xfrm>
            <a:off x="6378432" y="2919302"/>
            <a:ext cx="158877" cy="142986"/>
          </a:xfrm>
          <a:custGeom>
            <a:avLst/>
            <a:gdLst/>
            <a:ahLst/>
            <a:cxnLst/>
            <a:rect l="l" t="t" r="r" b="b"/>
            <a:pathLst>
              <a:path w="158877" h="142986">
                <a:moveTo>
                  <a:pt x="156750" y="119173"/>
                </a:moveTo>
                <a:lnTo>
                  <a:pt x="93250" y="8048"/>
                </a:lnTo>
                <a:arcTo hR="15875" wR="15875" stAng="19827518" swAng="-7255037"/>
                <a:lnTo>
                  <a:pt x="2127" y="119173"/>
                </a:lnTo>
                <a:arcTo hR="15875" wR="15875" stAng="12600161" swAng="-7231094"/>
                <a:lnTo>
                  <a:pt x="143018" y="142985"/>
                </a:lnTo>
                <a:arcTo hR="15875" wR="15875" stAng="5396476" swAng="-7196478"/>
              </a:path>
            </a:pathLst>
          </a:custGeom>
          <a:noFill/>
          <a:ln w="15875">
            <a:solidFill>
              <a:srgbClr val="DC262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57950" y="2967038"/>
            <a:ext cx="0" cy="31750"/>
          </a:xfrm>
          <a:custGeom>
            <a:avLst/>
            <a:gdLst/>
            <a:ahLst/>
            <a:cxnLst/>
            <a:rect l="l" t="t" r="r" b="b"/>
            <a:pathLst>
              <a:path w="0" h="31750">
                <a:moveTo>
                  <a:pt x="0" y="0"/>
                </a:moveTo>
                <a:lnTo>
                  <a:pt x="0" y="31750"/>
                </a:lnTo>
              </a:path>
            </a:pathLst>
          </a:custGeom>
          <a:noFill/>
          <a:ln w="15875">
            <a:solidFill>
              <a:srgbClr val="DC262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57950" y="3030538"/>
            <a:ext cx="79" cy="0"/>
          </a:xfrm>
          <a:custGeom>
            <a:avLst/>
            <a:gdLst/>
            <a:ahLst/>
            <a:cxnLst/>
            <a:rect l="l" t="t" r="r" b="b"/>
            <a:pathLst>
              <a:path w="79" h="0">
                <a:moveTo>
                  <a:pt x="0" y="0"/>
                </a:moveTo>
                <a:lnTo>
                  <a:pt x="79" y="0"/>
                </a:lnTo>
              </a:path>
            </a:pathLst>
          </a:custGeom>
          <a:noFill/>
          <a:ln w="15875">
            <a:solidFill>
              <a:srgbClr val="DC262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629400" y="2762250"/>
            <a:ext cx="11811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1A24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考核过度集中于 GTV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629400" y="3028950"/>
            <a:ext cx="11811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1A24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会诱发虚假房源，反噬估值切换之根。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533400" y="6324600"/>
            <a:ext cx="11125200" cy="0"/>
          </a:xfrm>
          <a:prstGeom prst="line">
            <a:avLst/>
          </a:prstGeom>
          <a:noFill/>
          <a:ln w="11430">
            <a:solidFill>
              <a:srgbClr val="D5D5C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3340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5D6B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正式稿 v1 · 2026-09-16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5D6B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内部 · 智见点评 · 98wiki</a:t>
            </a:r>
            <a:endParaRPr lang="en-US" sz="15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6A4E"/>
          </a:solidFill>
          <a:ln/>
        </p:spPr>
      </p:sp>
      <p:sp>
        <p:nvSpPr>
          <p:cNvPr id="3" name="Shape 1"/>
          <p:cNvSpPr/>
          <p:nvPr/>
        </p:nvSpPr>
        <p:spPr>
          <a:xfrm>
            <a:off x="9715500" y="0"/>
            <a:ext cx="2476500" cy="2476500"/>
          </a:xfrm>
          <a:custGeom>
            <a:avLst/>
            <a:gdLst/>
            <a:ahLst/>
            <a:cxnLst/>
            <a:rect l="l" t="t" r="r" b="b"/>
            <a:pathLst>
              <a:path w="2476500" h="2476500">
                <a:moveTo>
                  <a:pt x="2476500" y="0"/>
                </a:moveTo>
                <a:lnTo>
                  <a:pt x="2476500" y="2476500"/>
                </a:lnTo>
                <a:arcTo hR="2476500" wR="2476500" stAng="0" swAng="-5400000"/>
                <a:close/>
              </a:path>
            </a:pathLst>
          </a:custGeom>
          <a:solidFill>
            <a:srgbClr val="FFFFFF">
              <a:alpha val="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0" y="4210050"/>
            <a:ext cx="11658600" cy="2971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9500" b="1" dirty="0">
                <a:solidFill>
                  <a:srgbClr val="FFFFFF">
                    <a:alpha val="6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9500" dirty="0"/>
          </a:p>
        </p:txBody>
      </p:sp>
      <p:sp>
        <p:nvSpPr>
          <p:cNvPr id="5" name="Text 3"/>
          <p:cNvSpPr/>
          <p:nvPr/>
        </p:nvSpPr>
        <p:spPr>
          <a:xfrm>
            <a:off x="0" y="3093720"/>
            <a:ext cx="12192000" cy="960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6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监测、情景与红队</a:t>
            </a:r>
            <a:endParaRPr lang="en-US" sz="6300" dirty="0"/>
          </a:p>
        </p:txBody>
      </p:sp>
      <p:sp>
        <p:nvSpPr>
          <p:cNvPr id="6" name="Shape 4"/>
          <p:cNvSpPr/>
          <p:nvPr/>
        </p:nvSpPr>
        <p:spPr>
          <a:xfrm>
            <a:off x="5524500" y="5715000"/>
            <a:ext cx="1143000" cy="0"/>
          </a:xfrm>
          <a:prstGeom prst="line">
            <a:avLst/>
          </a:prstGeom>
          <a:noFill/>
          <a:ln w="1524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76875" y="5667375"/>
            <a:ext cx="95250" cy="95250"/>
          </a:xfrm>
          <a:prstGeom prst="ellipse">
            <a:avLst/>
          </a:prstGeom>
          <a:solidFill>
            <a:srgbClr val="FFFFFF">
              <a:alpha val="3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5857875" y="5667375"/>
            <a:ext cx="95250" cy="95250"/>
          </a:xfrm>
          <a:prstGeom prst="ellipse">
            <a:avLst/>
          </a:prstGeom>
          <a:solidFill>
            <a:srgbClr val="FFFFFF">
              <a:alpha val="3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6238875" y="5667375"/>
            <a:ext cx="95250" cy="95250"/>
          </a:xfrm>
          <a:prstGeom prst="ellipse">
            <a:avLst/>
          </a:prstGeom>
          <a:solidFill>
            <a:srgbClr val="FFFFFF">
              <a:alpha val="3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6600825" y="5648325"/>
            <a:ext cx="133350" cy="133350"/>
          </a:xfrm>
          <a:prstGeom prst="ellipse">
            <a:avLst/>
          </a:prstGeom>
          <a:solidFill>
            <a:srgbClr val="FFFFFF"/>
          </a:solidFill>
          <a:ln/>
        </p:spPr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6"/>
          </a:solidFill>
          <a:ln/>
        </p:spPr>
      </p:sp>
      <p:sp>
        <p:nvSpPr>
          <p:cNvPr id="3" name="Shape 1"/>
          <p:cNvSpPr/>
          <p:nvPr/>
        </p:nvSpPr>
        <p:spPr>
          <a:xfrm>
            <a:off x="9715500" y="0"/>
            <a:ext cx="2476500" cy="2476500"/>
          </a:xfrm>
          <a:custGeom>
            <a:avLst/>
            <a:gdLst/>
            <a:ahLst/>
            <a:cxnLst/>
            <a:rect l="l" t="t" r="r" b="b"/>
            <a:pathLst>
              <a:path w="2476500" h="2476500">
                <a:moveTo>
                  <a:pt x="2476500" y="0"/>
                </a:moveTo>
                <a:lnTo>
                  <a:pt x="2476500" y="2476500"/>
                </a:lnTo>
                <a:arcTo hR="2476500" wR="2476500" stAng="0" swAng="-5400000"/>
                <a:close/>
              </a:path>
            </a:pathLst>
          </a:custGeom>
          <a:solidFill>
            <a:srgbClr val="10605A">
              <a:alpha val="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914400"/>
            <a:ext cx="38100" cy="5181600"/>
          </a:xfrm>
          <a:prstGeom prst="rect">
            <a:avLst/>
          </a:prstGeom>
          <a:solidFill>
            <a:srgbClr val="10605A"/>
          </a:solidFill>
          <a:ln/>
        </p:spPr>
      </p:sp>
      <p:sp>
        <p:nvSpPr>
          <p:cNvPr id="5" name="Shape 3"/>
          <p:cNvSpPr/>
          <p:nvPr/>
        </p:nvSpPr>
        <p:spPr>
          <a:xfrm>
            <a:off x="409575" y="6029325"/>
            <a:ext cx="133350" cy="133350"/>
          </a:xfrm>
          <a:prstGeom prst="ellipse">
            <a:avLst/>
          </a:prstGeom>
          <a:solidFill>
            <a:srgbClr val="10605A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914400"/>
            <a:ext cx="609600" cy="304800"/>
          </a:xfrm>
          <a:prstGeom prst="roundRect">
            <a:avLst>
              <a:gd name="adj" fmla="val 18750"/>
            </a:avLst>
          </a:prstGeom>
          <a:solidFill>
            <a:srgbClr val="10605A"/>
          </a:solidFill>
          <a:ln/>
        </p:spPr>
      </p:sp>
      <p:sp>
        <p:nvSpPr>
          <p:cNvPr id="7" name="Text 5"/>
          <p:cNvSpPr/>
          <p:nvPr/>
        </p:nvSpPr>
        <p:spPr>
          <a:xfrm>
            <a:off x="0" y="998220"/>
            <a:ext cx="243840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4.1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714500" y="885825"/>
            <a:ext cx="104775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24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四季度监测表 · M1–M3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1714500" y="1413510"/>
            <a:ext cx="10477500" cy="25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1060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触发式可证伪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1790700" y="3025521"/>
            <a:ext cx="1131570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A24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编号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193769" y="3025521"/>
            <a:ext cx="8912631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A24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监测项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5024322" y="3025521"/>
            <a:ext cx="8082078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A24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频率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10284495" y="3025521"/>
            <a:ext cx="2821905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A24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触发信号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914400" y="3315081"/>
            <a:ext cx="10363200" cy="0"/>
          </a:xfrm>
          <a:prstGeom prst="line">
            <a:avLst/>
          </a:prstGeom>
          <a:noFill/>
          <a:ln w="19050">
            <a:solidFill>
              <a:srgbClr val="1A242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4400" y="3734181"/>
            <a:ext cx="10363200" cy="0"/>
          </a:xfrm>
          <a:prstGeom prst="line">
            <a:avLst/>
          </a:prstGeom>
          <a:noFill/>
          <a:ln w="9525">
            <a:solidFill>
              <a:srgbClr val="D5D5C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14400" y="4153281"/>
            <a:ext cx="10363200" cy="0"/>
          </a:xfrm>
          <a:prstGeom prst="line">
            <a:avLst/>
          </a:prstGeom>
          <a:noFill/>
          <a:ln w="9525">
            <a:solidFill>
              <a:srgbClr val="D5D5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14400" y="4572381"/>
            <a:ext cx="10363200" cy="0"/>
          </a:xfrm>
          <a:prstGeom prst="line">
            <a:avLst/>
          </a:prstGeom>
          <a:noFill/>
          <a:ln w="9525">
            <a:solidFill>
              <a:srgbClr val="D5D5C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28700" y="3459861"/>
            <a:ext cx="120777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D6B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M1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790700" y="3459861"/>
            <a:ext cx="113157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A24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二手房单量及占比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193769" y="3459861"/>
            <a:ext cx="8912631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A24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月度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024322" y="3459861"/>
            <a:ext cx="8082078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A24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涨且议价收窄＝筑底；议价走阔＝降价换量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28700" y="3878961"/>
            <a:ext cx="120777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D6B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M2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790700" y="3878961"/>
            <a:ext cx="113157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A24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新房 GTV 与变现率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193769" y="3878961"/>
            <a:ext cx="8912631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A24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季度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024322" y="3878961"/>
            <a:ext cx="8082078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A24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是否止跌：变现率止跌属结构改善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028700" y="4298061"/>
            <a:ext cx="120777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D6B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M3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790700" y="4298061"/>
            <a:ext cx="113157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A24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经调整经营利润率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193769" y="4298061"/>
            <a:ext cx="8912631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A24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季度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024322" y="4298061"/>
            <a:ext cx="8082078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A24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连续两季同比为正且环比不退化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33400" y="6324600"/>
            <a:ext cx="11125200" cy="0"/>
          </a:xfrm>
          <a:prstGeom prst="line">
            <a:avLst/>
          </a:prstGeom>
          <a:noFill/>
          <a:ln w="11430">
            <a:solidFill>
              <a:srgbClr val="D5D5C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3340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5D6B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正式稿 v1 · 2026-09-16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5D6B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内部 · 智见点评 · 98wiki</a:t>
            </a:r>
            <a:endParaRPr lang="en-US" sz="15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6"/>
          </a:solidFill>
          <a:ln/>
        </p:spPr>
      </p:sp>
      <p:sp>
        <p:nvSpPr>
          <p:cNvPr id="3" name="Shape 1"/>
          <p:cNvSpPr/>
          <p:nvPr/>
        </p:nvSpPr>
        <p:spPr>
          <a:xfrm>
            <a:off x="9715500" y="0"/>
            <a:ext cx="2476500" cy="2476500"/>
          </a:xfrm>
          <a:custGeom>
            <a:avLst/>
            <a:gdLst/>
            <a:ahLst/>
            <a:cxnLst/>
            <a:rect l="l" t="t" r="r" b="b"/>
            <a:pathLst>
              <a:path w="2476500" h="2476500">
                <a:moveTo>
                  <a:pt x="2476500" y="0"/>
                </a:moveTo>
                <a:lnTo>
                  <a:pt x="2476500" y="2476500"/>
                </a:lnTo>
                <a:arcTo hR="2476500" wR="2476500" stAng="0" swAng="-5400000"/>
                <a:close/>
              </a:path>
            </a:pathLst>
          </a:custGeom>
          <a:solidFill>
            <a:srgbClr val="10605A">
              <a:alpha val="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790575"/>
            <a:ext cx="123825" cy="123825"/>
          </a:xfrm>
          <a:prstGeom prst="rect">
            <a:avLst/>
          </a:prstGeom>
          <a:solidFill>
            <a:srgbClr val="9A6B22"/>
          </a:solidFill>
          <a:ln/>
        </p:spPr>
      </p:sp>
      <p:sp>
        <p:nvSpPr>
          <p:cNvPr id="5" name="Text 3"/>
          <p:cNvSpPr/>
          <p:nvPr/>
        </p:nvSpPr>
        <p:spPr>
          <a:xfrm>
            <a:off x="1143000" y="784860"/>
            <a:ext cx="11049000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75" dirty="0">
                <a:solidFill>
                  <a:srgbClr val="5D6B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监测、情景与红队</a:t>
            </a:r>
            <a:endParaRPr lang="en-US" sz="1275" dirty="0"/>
          </a:p>
        </p:txBody>
      </p:sp>
      <p:sp>
        <p:nvSpPr>
          <p:cNvPr id="6" name="Text 4"/>
          <p:cNvSpPr/>
          <p:nvPr/>
        </p:nvSpPr>
        <p:spPr>
          <a:xfrm>
            <a:off x="914400" y="1078230"/>
            <a:ext cx="11277600" cy="525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450" b="1" dirty="0">
                <a:solidFill>
                  <a:srgbClr val="1A24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四季度监测表 · M4–M6 与证伪线</a:t>
            </a:r>
            <a:endParaRPr lang="en-US" sz="3450" dirty="0"/>
          </a:p>
        </p:txBody>
      </p:sp>
      <p:sp>
        <p:nvSpPr>
          <p:cNvPr id="7" name="Text 5"/>
          <p:cNvSpPr/>
          <p:nvPr/>
        </p:nvSpPr>
        <p:spPr>
          <a:xfrm>
            <a:off x="914400" y="1661160"/>
            <a:ext cx="11277600" cy="25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1060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三条证伪线任意一条持续成立即降档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914400" y="2038350"/>
            <a:ext cx="685800" cy="38100"/>
          </a:xfrm>
          <a:prstGeom prst="rect">
            <a:avLst/>
          </a:prstGeom>
          <a:solidFill>
            <a:srgbClr val="9A6B22"/>
          </a:solidFill>
          <a:ln/>
        </p:spPr>
      </p:sp>
      <p:sp>
        <p:nvSpPr>
          <p:cNvPr id="9" name="Shape 7"/>
          <p:cNvSpPr/>
          <p:nvPr/>
        </p:nvSpPr>
        <p:spPr>
          <a:xfrm>
            <a:off x="914400" y="2247900"/>
            <a:ext cx="10363200" cy="0"/>
          </a:xfrm>
          <a:prstGeom prst="line">
            <a:avLst/>
          </a:prstGeom>
          <a:noFill/>
          <a:ln w="9525">
            <a:solidFill>
              <a:srgbClr val="D5D5C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790700" y="2722245"/>
            <a:ext cx="1131570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A24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编号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789417" y="2722245"/>
            <a:ext cx="10316983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A24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监测项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551417" y="2722245"/>
            <a:ext cx="9554983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A24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频率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295900" y="2722245"/>
            <a:ext cx="781050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A24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触发信号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914400" y="2990850"/>
            <a:ext cx="5029200" cy="0"/>
          </a:xfrm>
          <a:prstGeom prst="line">
            <a:avLst/>
          </a:prstGeom>
          <a:noFill/>
          <a:ln w="19050">
            <a:solidFill>
              <a:srgbClr val="1A242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4400" y="3409950"/>
            <a:ext cx="5029200" cy="0"/>
          </a:xfrm>
          <a:prstGeom prst="line">
            <a:avLst/>
          </a:prstGeom>
          <a:noFill/>
          <a:ln w="9525">
            <a:solidFill>
              <a:srgbClr val="D5D5C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14400" y="3829050"/>
            <a:ext cx="5029200" cy="0"/>
          </a:xfrm>
          <a:prstGeom prst="line">
            <a:avLst/>
          </a:prstGeom>
          <a:noFill/>
          <a:ln w="9525">
            <a:solidFill>
              <a:srgbClr val="D5D5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14400" y="4248150"/>
            <a:ext cx="5029200" cy="0"/>
          </a:xfrm>
          <a:prstGeom prst="line">
            <a:avLst/>
          </a:prstGeom>
          <a:noFill/>
          <a:ln w="9525">
            <a:solidFill>
              <a:srgbClr val="D5D5C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28700" y="3147060"/>
            <a:ext cx="12077700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D6B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M4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790700" y="3147060"/>
            <a:ext cx="11315700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A24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单均收入 × 人…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789417" y="3147060"/>
            <a:ext cx="10316983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A24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季度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551417" y="3147060"/>
            <a:ext cx="9554983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A24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单均升而人均降＝编制收缩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28700" y="3566160"/>
            <a:ext cx="12077700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D6B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M5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790700" y="3566160"/>
            <a:ext cx="11315700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A24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租赁 + 家装贡…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789417" y="3566160"/>
            <a:ext cx="10316983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A24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季度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51417" y="3566160"/>
            <a:ext cx="9554983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A24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收入增但贡献率不升＝仍在…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28700" y="3985260"/>
            <a:ext cx="12077700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D6B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M6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790700" y="3985260"/>
            <a:ext cx="11315700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A24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现金流 ÷ 经调…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789417" y="3985260"/>
            <a:ext cx="10316983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A24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季度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551417" y="3985260"/>
            <a:ext cx="9554983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A24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缺口扩大＝应收虚增或结佣…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248400" y="2628900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1A24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☐ 证伪线 A：补偿比连续两季 &lt; 1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6248400" y="2971800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1A24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☐ 证伪线 B：存量 GTV 增速持续低于总量降幅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6248400" y="3314700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1A24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☐ 证伪线 C：现房制度节奏反向放松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533400" y="6324600"/>
            <a:ext cx="11125200" cy="0"/>
          </a:xfrm>
          <a:prstGeom prst="line">
            <a:avLst/>
          </a:prstGeom>
          <a:noFill/>
          <a:ln w="11430">
            <a:solidFill>
              <a:srgbClr val="D5D5C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3340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5D6B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正式稿 v1 · 2026-09-16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5D6B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内部 · 智见点评 · 98wiki</a:t>
            </a:r>
            <a:endParaRPr lang="en-US" sz="15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6"/>
          </a:solidFill>
          <a:ln/>
        </p:spPr>
      </p:sp>
      <p:sp>
        <p:nvSpPr>
          <p:cNvPr id="3" name="Shape 1"/>
          <p:cNvSpPr/>
          <p:nvPr/>
        </p:nvSpPr>
        <p:spPr>
          <a:xfrm>
            <a:off x="9715500" y="0"/>
            <a:ext cx="2476500" cy="2476500"/>
          </a:xfrm>
          <a:custGeom>
            <a:avLst/>
            <a:gdLst/>
            <a:ahLst/>
            <a:cxnLst/>
            <a:rect l="l" t="t" r="r" b="b"/>
            <a:pathLst>
              <a:path w="2476500" h="2476500">
                <a:moveTo>
                  <a:pt x="2476500" y="0"/>
                </a:moveTo>
                <a:lnTo>
                  <a:pt x="2476500" y="2476500"/>
                </a:lnTo>
                <a:arcTo hR="2476500" wR="2476500" stAng="0" swAng="-5400000"/>
                <a:close/>
              </a:path>
            </a:pathLst>
          </a:custGeom>
          <a:solidFill>
            <a:srgbClr val="10605A">
              <a:alpha val="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914400"/>
            <a:ext cx="38100" cy="5181600"/>
          </a:xfrm>
          <a:prstGeom prst="rect">
            <a:avLst/>
          </a:prstGeom>
          <a:solidFill>
            <a:srgbClr val="10605A"/>
          </a:solidFill>
          <a:ln/>
        </p:spPr>
      </p:sp>
      <p:sp>
        <p:nvSpPr>
          <p:cNvPr id="5" name="Shape 3"/>
          <p:cNvSpPr/>
          <p:nvPr/>
        </p:nvSpPr>
        <p:spPr>
          <a:xfrm>
            <a:off x="409575" y="6029325"/>
            <a:ext cx="133350" cy="133350"/>
          </a:xfrm>
          <a:prstGeom prst="ellipse">
            <a:avLst/>
          </a:prstGeom>
          <a:solidFill>
            <a:srgbClr val="10605A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914400"/>
            <a:ext cx="609600" cy="304800"/>
          </a:xfrm>
          <a:prstGeom prst="roundRect">
            <a:avLst>
              <a:gd name="adj" fmla="val 18750"/>
            </a:avLst>
          </a:prstGeom>
          <a:solidFill>
            <a:srgbClr val="10605A"/>
          </a:solidFill>
          <a:ln/>
        </p:spPr>
      </p:sp>
      <p:sp>
        <p:nvSpPr>
          <p:cNvPr id="7" name="Text 5"/>
          <p:cNvSpPr/>
          <p:nvPr/>
        </p:nvSpPr>
        <p:spPr>
          <a:xfrm>
            <a:off x="0" y="998220"/>
            <a:ext cx="243840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4.3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714500" y="885825"/>
            <a:ext cx="104775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24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Q4 至明年 Q1 是自证窗口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1714500" y="1413510"/>
            <a:ext cx="10477500" cy="25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1060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三条同向＝有基本面支撑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923925" y="2000250"/>
            <a:ext cx="0" cy="923925"/>
          </a:xfrm>
          <a:prstGeom prst="line">
            <a:avLst/>
          </a:prstGeom>
          <a:noFill/>
          <a:ln w="19050">
            <a:solidFill>
              <a:srgbClr val="9A6B22">
                <a:alpha val="6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23950" y="2026920"/>
            <a:ext cx="11982450" cy="388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550" b="1" i="1" dirty="0">
                <a:solidFill>
                  <a:srgbClr val="9A6B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550" dirty="0"/>
          </a:p>
        </p:txBody>
      </p:sp>
      <p:sp>
        <p:nvSpPr>
          <p:cNvPr id="12" name="Text 10"/>
          <p:cNvSpPr/>
          <p:nvPr/>
        </p:nvSpPr>
        <p:spPr>
          <a:xfrm>
            <a:off x="1123950" y="2453640"/>
            <a:ext cx="1198245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A24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单量与议价空间同步改善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1123950" y="2779395"/>
            <a:ext cx="1198245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D6B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非降价换量，是需求侧筑底的第一证据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467225" y="2000250"/>
            <a:ext cx="0" cy="923925"/>
          </a:xfrm>
          <a:prstGeom prst="line">
            <a:avLst/>
          </a:prstGeom>
          <a:noFill/>
          <a:ln w="19050">
            <a:solidFill>
              <a:srgbClr val="9A6B22">
                <a:alpha val="6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67250" y="2026920"/>
            <a:ext cx="8439150" cy="388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550" b="1" i="1" dirty="0">
                <a:solidFill>
                  <a:srgbClr val="9A6B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550" dirty="0"/>
          </a:p>
        </p:txBody>
      </p:sp>
      <p:sp>
        <p:nvSpPr>
          <p:cNvPr id="16" name="Text 14"/>
          <p:cNvSpPr/>
          <p:nvPr/>
        </p:nvSpPr>
        <p:spPr>
          <a:xfrm>
            <a:off x="4667250" y="2453640"/>
            <a:ext cx="843915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A24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利润率在 GTV 下行中不退化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4667250" y="2779395"/>
            <a:ext cx="843915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D6B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排除摊薄解释力的关口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010525" y="2000250"/>
            <a:ext cx="0" cy="923925"/>
          </a:xfrm>
          <a:prstGeom prst="line">
            <a:avLst/>
          </a:prstGeom>
          <a:noFill/>
          <a:ln w="19050">
            <a:solidFill>
              <a:srgbClr val="9A6B22">
                <a:alpha val="65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10550" y="2026920"/>
            <a:ext cx="4895850" cy="388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550" b="1" i="1" dirty="0">
                <a:solidFill>
                  <a:srgbClr val="9A6B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550" dirty="0"/>
          </a:p>
        </p:txBody>
      </p:sp>
      <p:sp>
        <p:nvSpPr>
          <p:cNvPr id="20" name="Text 18"/>
          <p:cNvSpPr/>
          <p:nvPr/>
        </p:nvSpPr>
        <p:spPr>
          <a:xfrm>
            <a:off x="8210550" y="2453640"/>
            <a:ext cx="489585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A24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现金流增速不落后于经调整净利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8210550" y="2779395"/>
            <a:ext cx="489585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D6B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缺口扩大即利润率可信度被削弱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914400" y="3405188"/>
            <a:ext cx="10363200" cy="5715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</p:spPr>
      </p:sp>
      <p:sp>
        <p:nvSpPr>
          <p:cNvPr id="23" name="Shape 21"/>
          <p:cNvSpPr/>
          <p:nvPr/>
        </p:nvSpPr>
        <p:spPr>
          <a:xfrm>
            <a:off x="914400" y="3405188"/>
            <a:ext cx="38100" cy="571500"/>
          </a:xfrm>
          <a:prstGeom prst="rect">
            <a:avLst/>
          </a:prstGeom>
          <a:solidFill>
            <a:srgbClr val="10605A"/>
          </a:solidFill>
          <a:ln/>
        </p:spPr>
      </p:sp>
      <p:sp>
        <p:nvSpPr>
          <p:cNvPr id="24" name="Shape 22"/>
          <p:cNvSpPr/>
          <p:nvPr/>
        </p:nvSpPr>
        <p:spPr>
          <a:xfrm>
            <a:off x="1044575" y="3611563"/>
            <a:ext cx="158750" cy="158750"/>
          </a:xfrm>
          <a:prstGeom prst="ellipse">
            <a:avLst/>
          </a:prstGeom>
          <a:noFill/>
          <a:ln w="15875">
            <a:solidFill>
              <a:srgbClr val="10605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23950" y="3643313"/>
            <a:ext cx="31750" cy="63500"/>
          </a:xfrm>
          <a:custGeom>
            <a:avLst/>
            <a:gdLst/>
            <a:ahLst/>
            <a:cxnLst/>
            <a:rect l="l" t="t" r="r" b="b"/>
            <a:pathLst>
              <a:path w="31750" h="63500">
                <a:moveTo>
                  <a:pt x="0" y="0"/>
                </a:moveTo>
                <a:lnTo>
                  <a:pt x="0" y="47625"/>
                </a:lnTo>
                <a:lnTo>
                  <a:pt x="31750" y="63500"/>
                </a:lnTo>
              </a:path>
            </a:pathLst>
          </a:custGeom>
          <a:noFill/>
          <a:ln w="15875">
            <a:solidFill>
              <a:srgbClr val="10605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295400" y="3595688"/>
            <a:ext cx="11811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1A24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研判推断：本轮定价的是渠道职能的再定义。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533400" y="6324600"/>
            <a:ext cx="11125200" cy="0"/>
          </a:xfrm>
          <a:prstGeom prst="line">
            <a:avLst/>
          </a:prstGeom>
          <a:noFill/>
          <a:ln w="11430">
            <a:solidFill>
              <a:srgbClr val="D5D5C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3340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5D6B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正式稿 v1 · 2026-09-16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5D6B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内部 · 智见点评 · 98wiki</a:t>
            </a:r>
            <a:endParaRPr lang="en-US" sz="15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6"/>
          </a:solidFill>
          <a:ln/>
        </p:spPr>
      </p:sp>
      <p:sp>
        <p:nvSpPr>
          <p:cNvPr id="3" name="Shape 1"/>
          <p:cNvSpPr/>
          <p:nvPr/>
        </p:nvSpPr>
        <p:spPr>
          <a:xfrm>
            <a:off x="9715500" y="0"/>
            <a:ext cx="2476500" cy="2476500"/>
          </a:xfrm>
          <a:custGeom>
            <a:avLst/>
            <a:gdLst/>
            <a:ahLst/>
            <a:cxnLst/>
            <a:rect l="l" t="t" r="r" b="b"/>
            <a:pathLst>
              <a:path w="2476500" h="2476500">
                <a:moveTo>
                  <a:pt x="2476500" y="0"/>
                </a:moveTo>
                <a:lnTo>
                  <a:pt x="2476500" y="2476500"/>
                </a:lnTo>
                <a:arcTo hR="2476500" wR="2476500" stAng="0" swAng="-5400000"/>
                <a:close/>
              </a:path>
            </a:pathLst>
          </a:custGeom>
          <a:solidFill>
            <a:srgbClr val="10605A">
              <a:alpha val="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790575"/>
            <a:ext cx="123825" cy="123825"/>
          </a:xfrm>
          <a:prstGeom prst="rect">
            <a:avLst/>
          </a:prstGeom>
          <a:solidFill>
            <a:srgbClr val="9A6B22"/>
          </a:solidFill>
          <a:ln/>
        </p:spPr>
      </p:sp>
      <p:sp>
        <p:nvSpPr>
          <p:cNvPr id="5" name="Text 3"/>
          <p:cNvSpPr/>
          <p:nvPr/>
        </p:nvSpPr>
        <p:spPr>
          <a:xfrm>
            <a:off x="1143000" y="784860"/>
            <a:ext cx="11049000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75" dirty="0">
                <a:solidFill>
                  <a:srgbClr val="5D6B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监测、情景与红队</a:t>
            </a:r>
            <a:endParaRPr lang="en-US" sz="1275" dirty="0"/>
          </a:p>
        </p:txBody>
      </p:sp>
      <p:sp>
        <p:nvSpPr>
          <p:cNvPr id="6" name="Text 4"/>
          <p:cNvSpPr/>
          <p:nvPr/>
        </p:nvSpPr>
        <p:spPr>
          <a:xfrm>
            <a:off x="914400" y="1078230"/>
            <a:ext cx="11277600" cy="525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450" b="1" dirty="0">
                <a:solidFill>
                  <a:srgbClr val="1A24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红队预判 · 独立一节</a:t>
            </a:r>
            <a:endParaRPr lang="en-US" sz="3450" dirty="0"/>
          </a:p>
        </p:txBody>
      </p:sp>
      <p:sp>
        <p:nvSpPr>
          <p:cNvPr id="7" name="Text 5"/>
          <p:cNvSpPr/>
          <p:nvPr/>
        </p:nvSpPr>
        <p:spPr>
          <a:xfrm>
            <a:off x="914400" y="1661160"/>
            <a:ext cx="11277600" cy="25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1060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三项条件与结论同表跟踪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914400" y="2038350"/>
            <a:ext cx="685800" cy="38100"/>
          </a:xfrm>
          <a:prstGeom prst="rect">
            <a:avLst/>
          </a:prstGeom>
          <a:solidFill>
            <a:srgbClr val="9A6B22"/>
          </a:solidFill>
          <a:ln/>
        </p:spPr>
      </p:sp>
      <p:sp>
        <p:nvSpPr>
          <p:cNvPr id="9" name="Shape 7"/>
          <p:cNvSpPr/>
          <p:nvPr/>
        </p:nvSpPr>
        <p:spPr>
          <a:xfrm>
            <a:off x="914400" y="2247900"/>
            <a:ext cx="10363200" cy="0"/>
          </a:xfrm>
          <a:prstGeom prst="line">
            <a:avLst/>
          </a:prstGeom>
          <a:noFill/>
          <a:ln w="9525">
            <a:solidFill>
              <a:srgbClr val="D5D5C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23925" y="2609850"/>
            <a:ext cx="0" cy="1104900"/>
          </a:xfrm>
          <a:prstGeom prst="line">
            <a:avLst/>
          </a:prstGeom>
          <a:noFill/>
          <a:ln w="19050">
            <a:solidFill>
              <a:srgbClr val="9A6B22">
                <a:alpha val="6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23950" y="2636520"/>
            <a:ext cx="11982450" cy="388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550" b="1" i="1" dirty="0">
                <a:solidFill>
                  <a:srgbClr val="9A6B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550" dirty="0"/>
          </a:p>
        </p:txBody>
      </p:sp>
      <p:sp>
        <p:nvSpPr>
          <p:cNvPr id="12" name="Text 10"/>
          <p:cNvSpPr/>
          <p:nvPr/>
        </p:nvSpPr>
        <p:spPr>
          <a:xfrm>
            <a:off x="1123950" y="3078480"/>
            <a:ext cx="1198245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24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目标价可同时下修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123950" y="3388995"/>
            <a:ext cx="1198245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D6B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同一结构受惠逻辑会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123950" y="3569970"/>
            <a:ext cx="1198245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D6B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反向触发集体下修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689225" y="2609850"/>
            <a:ext cx="0" cy="1104900"/>
          </a:xfrm>
          <a:prstGeom prst="line">
            <a:avLst/>
          </a:prstGeom>
          <a:noFill/>
          <a:ln w="19050">
            <a:solidFill>
              <a:srgbClr val="9A6B22">
                <a:alpha val="6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889250" y="2636520"/>
            <a:ext cx="10217150" cy="388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550" b="1" i="1" dirty="0">
                <a:solidFill>
                  <a:srgbClr val="9A6B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550" dirty="0"/>
          </a:p>
        </p:txBody>
      </p:sp>
      <p:sp>
        <p:nvSpPr>
          <p:cNvPr id="17" name="Text 15"/>
          <p:cNvSpPr/>
          <p:nvPr/>
        </p:nvSpPr>
        <p:spPr>
          <a:xfrm>
            <a:off x="2889250" y="3086100"/>
            <a:ext cx="102171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1A24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净受益仅是同业间 α</a:t>
            </a:r>
            <a:endParaRPr lang="en-US" sz="1125" dirty="0"/>
          </a:p>
        </p:txBody>
      </p:sp>
      <p:sp>
        <p:nvSpPr>
          <p:cNvPr id="18" name="Text 16"/>
          <p:cNvSpPr/>
          <p:nvPr/>
        </p:nvSpPr>
        <p:spPr>
          <a:xfrm>
            <a:off x="2889250" y="3388995"/>
            <a:ext cx="1021715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D6B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行业总盘收缩时绝对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2889250" y="3569970"/>
            <a:ext cx="1021715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D6B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利润仍可下降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454525" y="2609850"/>
            <a:ext cx="0" cy="1104900"/>
          </a:xfrm>
          <a:prstGeom prst="line">
            <a:avLst/>
          </a:prstGeom>
          <a:noFill/>
          <a:ln w="19050">
            <a:solidFill>
              <a:srgbClr val="9A6B22">
                <a:alpha val="65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54550" y="2636520"/>
            <a:ext cx="8451850" cy="388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550" b="1" i="1" dirty="0">
                <a:solidFill>
                  <a:srgbClr val="9A6B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550" dirty="0"/>
          </a:p>
        </p:txBody>
      </p:sp>
      <p:sp>
        <p:nvSpPr>
          <p:cNvPr id="22" name="Text 20"/>
          <p:cNvSpPr/>
          <p:nvPr/>
        </p:nvSpPr>
        <p:spPr>
          <a:xfrm>
            <a:off x="4654550" y="3078480"/>
            <a:ext cx="845185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24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回购存在反方解释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654550" y="3388995"/>
            <a:ext cx="845185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D6B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也可能反映缺乏更高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654550" y="3569970"/>
            <a:ext cx="845185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D6B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回报的资本开支机会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248400" y="2571750"/>
            <a:ext cx="5029200" cy="5715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</p:spPr>
      </p:sp>
      <p:sp>
        <p:nvSpPr>
          <p:cNvPr id="26" name="Shape 24"/>
          <p:cNvSpPr/>
          <p:nvPr/>
        </p:nvSpPr>
        <p:spPr>
          <a:xfrm>
            <a:off x="6248400" y="2571750"/>
            <a:ext cx="38100" cy="5715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7" name="Shape 25"/>
          <p:cNvSpPr/>
          <p:nvPr/>
        </p:nvSpPr>
        <p:spPr>
          <a:xfrm>
            <a:off x="6378432" y="2785952"/>
            <a:ext cx="158877" cy="142986"/>
          </a:xfrm>
          <a:custGeom>
            <a:avLst/>
            <a:gdLst/>
            <a:ahLst/>
            <a:cxnLst/>
            <a:rect l="l" t="t" r="r" b="b"/>
            <a:pathLst>
              <a:path w="158877" h="142986">
                <a:moveTo>
                  <a:pt x="156750" y="119173"/>
                </a:moveTo>
                <a:lnTo>
                  <a:pt x="93250" y="8048"/>
                </a:lnTo>
                <a:arcTo hR="15875" wR="15875" stAng="19827518" swAng="-7255037"/>
                <a:lnTo>
                  <a:pt x="2127" y="119173"/>
                </a:lnTo>
                <a:arcTo hR="15875" wR="15875" stAng="12600161" swAng="-7231094"/>
                <a:lnTo>
                  <a:pt x="143018" y="142985"/>
                </a:lnTo>
                <a:arcTo hR="15875" wR="15875" stAng="5396476" swAng="-7196478"/>
              </a:path>
            </a:pathLst>
          </a:custGeom>
          <a:noFill/>
          <a:ln w="15875">
            <a:solidFill>
              <a:srgbClr val="DC262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457950" y="2833688"/>
            <a:ext cx="0" cy="31750"/>
          </a:xfrm>
          <a:custGeom>
            <a:avLst/>
            <a:gdLst/>
            <a:ahLst/>
            <a:cxnLst/>
            <a:rect l="l" t="t" r="r" b="b"/>
            <a:pathLst>
              <a:path w="0" h="31750">
                <a:moveTo>
                  <a:pt x="0" y="0"/>
                </a:moveTo>
                <a:lnTo>
                  <a:pt x="0" y="31750"/>
                </a:lnTo>
              </a:path>
            </a:pathLst>
          </a:custGeom>
          <a:noFill/>
          <a:ln w="15875">
            <a:solidFill>
              <a:srgbClr val="DC262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457950" y="2897188"/>
            <a:ext cx="79" cy="0"/>
          </a:xfrm>
          <a:custGeom>
            <a:avLst/>
            <a:gdLst/>
            <a:ahLst/>
            <a:cxnLst/>
            <a:rect l="l" t="t" r="r" b="b"/>
            <a:pathLst>
              <a:path w="79" h="0">
                <a:moveTo>
                  <a:pt x="0" y="0"/>
                </a:moveTo>
                <a:lnTo>
                  <a:pt x="79" y="0"/>
                </a:lnTo>
              </a:path>
            </a:pathLst>
          </a:custGeom>
          <a:noFill/>
          <a:ln w="15875">
            <a:solidFill>
              <a:srgbClr val="DC262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629400" y="2762250"/>
            <a:ext cx="11811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1A24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红队条件不降级为脚注：它是本报告可信度的来源。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533400" y="6324600"/>
            <a:ext cx="11125200" cy="0"/>
          </a:xfrm>
          <a:prstGeom prst="line">
            <a:avLst/>
          </a:prstGeom>
          <a:noFill/>
          <a:ln w="11430">
            <a:solidFill>
              <a:srgbClr val="D5D5C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3340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5D6B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正式稿 v1 · 2026-09-16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5D6B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内部 · 智见点评 · 98wiki</a:t>
            </a:r>
            <a:endParaRPr lang="en-US" sz="15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6"/>
          </a:solidFill>
          <a:ln/>
        </p:spPr>
      </p:sp>
      <p:sp>
        <p:nvSpPr>
          <p:cNvPr id="3" name="Shape 1"/>
          <p:cNvSpPr/>
          <p:nvPr/>
        </p:nvSpPr>
        <p:spPr>
          <a:xfrm>
            <a:off x="9715500" y="0"/>
            <a:ext cx="2476500" cy="2476500"/>
          </a:xfrm>
          <a:custGeom>
            <a:avLst/>
            <a:gdLst/>
            <a:ahLst/>
            <a:cxnLst/>
            <a:rect l="l" t="t" r="r" b="b"/>
            <a:pathLst>
              <a:path w="2476500" h="2476500">
                <a:moveTo>
                  <a:pt x="2476500" y="0"/>
                </a:moveTo>
                <a:lnTo>
                  <a:pt x="2476500" y="2476500"/>
                </a:lnTo>
                <a:arcTo hR="2476500" wR="2476500" stAng="0" swAng="-5400000"/>
                <a:close/>
              </a:path>
            </a:pathLst>
          </a:custGeom>
          <a:solidFill>
            <a:srgbClr val="10605A">
              <a:alpha val="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914400"/>
            <a:ext cx="38100" cy="5181600"/>
          </a:xfrm>
          <a:prstGeom prst="rect">
            <a:avLst/>
          </a:prstGeom>
          <a:solidFill>
            <a:srgbClr val="10605A"/>
          </a:solidFill>
          <a:ln/>
        </p:spPr>
      </p:sp>
      <p:sp>
        <p:nvSpPr>
          <p:cNvPr id="5" name="Shape 3"/>
          <p:cNvSpPr/>
          <p:nvPr/>
        </p:nvSpPr>
        <p:spPr>
          <a:xfrm>
            <a:off x="409575" y="6029325"/>
            <a:ext cx="133350" cy="133350"/>
          </a:xfrm>
          <a:prstGeom prst="ellipse">
            <a:avLst/>
          </a:prstGeom>
          <a:solidFill>
            <a:srgbClr val="10605A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914400"/>
            <a:ext cx="609600" cy="304800"/>
          </a:xfrm>
          <a:prstGeom prst="roundRect">
            <a:avLst>
              <a:gd name="adj" fmla="val 18750"/>
            </a:avLst>
          </a:prstGeom>
          <a:solidFill>
            <a:srgbClr val="10605A"/>
          </a:solidFill>
          <a:ln/>
        </p:spPr>
      </p:sp>
      <p:sp>
        <p:nvSpPr>
          <p:cNvPr id="7" name="Text 5"/>
          <p:cNvSpPr/>
          <p:nvPr/>
        </p:nvSpPr>
        <p:spPr>
          <a:xfrm>
            <a:off x="0" y="998220"/>
            <a:ext cx="243840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4.5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714500" y="885825"/>
            <a:ext cx="104775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24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边界条件与来源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914400" y="1590675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1A24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改革无统一时间表，试点收窄则脉冲反抽、切换延后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14400" y="1933575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1A24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渠道费率两套口径混用会把利润池算反，故不落点位测算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14400" y="2276475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1A24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城市分层：一二线成立、三四线未必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14400" y="2619375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1A24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卖方一致预期是滞后指标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14400" y="3477578"/>
            <a:ext cx="1219200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A24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[1] 高盛、大摩、里昂卖方报告（2026-08 / 09）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914400" y="3744278"/>
            <a:ext cx="1219200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A24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[2] 人民网（2026-08-24）；东方财富、北京商报（2026-08-22）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914400" y="4010978"/>
            <a:ext cx="1219200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A24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[3] 未核项：自有率、存量资产规模、渠道分销费率、份额拆分口径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33400" y="6324600"/>
            <a:ext cx="11125200" cy="0"/>
          </a:xfrm>
          <a:prstGeom prst="line">
            <a:avLst/>
          </a:prstGeom>
          <a:noFill/>
          <a:ln w="11430">
            <a:solidFill>
              <a:srgbClr val="D5D5C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340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5D6B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正式稿 v1 · 2026-09-16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5D6B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内部 · 智见点评 · 98wiki</a:t>
            </a:r>
            <a:endParaRPr lang="en-US" sz="15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6"/>
          </a:solidFill>
          <a:ln/>
        </p:spPr>
      </p:sp>
      <p:sp>
        <p:nvSpPr>
          <p:cNvPr id="3" name="Shape 1"/>
          <p:cNvSpPr/>
          <p:nvPr/>
        </p:nvSpPr>
        <p:spPr>
          <a:xfrm>
            <a:off x="9715500" y="0"/>
            <a:ext cx="2476500" cy="2476500"/>
          </a:xfrm>
          <a:custGeom>
            <a:avLst/>
            <a:gdLst/>
            <a:ahLst/>
            <a:cxnLst/>
            <a:rect l="l" t="t" r="r" b="b"/>
            <a:pathLst>
              <a:path w="2476500" h="2476500">
                <a:moveTo>
                  <a:pt x="2476500" y="0"/>
                </a:moveTo>
                <a:lnTo>
                  <a:pt x="2476500" y="2476500"/>
                </a:lnTo>
                <a:arcTo hR="2476500" wR="2476500" stAng="0" swAng="-5400000"/>
                <a:close/>
              </a:path>
            </a:pathLst>
          </a:custGeom>
          <a:solidFill>
            <a:srgbClr val="10605A">
              <a:alpha val="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572000"/>
            <a:ext cx="2667000" cy="2286000"/>
          </a:xfrm>
          <a:prstGeom prst="rect">
            <a:avLst/>
          </a:prstGeom>
          <a:solidFill>
            <a:srgbClr val="10605A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5715000"/>
            <a:ext cx="1333500" cy="1143000"/>
          </a:xfrm>
          <a:prstGeom prst="rect">
            <a:avLst/>
          </a:prstGeom>
          <a:solidFill>
            <a:srgbClr val="9A6B22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1143000"/>
            <a:ext cx="228600" cy="228600"/>
          </a:xfrm>
          <a:prstGeom prst="ellipse">
            <a:avLst/>
          </a:prstGeom>
          <a:solidFill>
            <a:srgbClr val="9A6B22"/>
          </a:solidFill>
          <a:ln/>
        </p:spPr>
      </p:sp>
      <p:sp>
        <p:nvSpPr>
          <p:cNvPr id="7" name="Text 5"/>
          <p:cNvSpPr/>
          <p:nvPr/>
        </p:nvSpPr>
        <p:spPr>
          <a:xfrm>
            <a:off x="1371600" y="1127760"/>
            <a:ext cx="11734800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1060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智见点评 · 98wiki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3810000" y="1638300"/>
            <a:ext cx="838200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0" b="1" dirty="0">
                <a:solidFill>
                  <a:srgbClr val="1A24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结构迁移，而</a:t>
            </a:r>
            <a:endParaRPr lang="en-US" sz="9000" dirty="0"/>
          </a:p>
        </p:txBody>
      </p:sp>
      <p:sp>
        <p:nvSpPr>
          <p:cNvPr id="9" name="Text 7"/>
          <p:cNvSpPr/>
          <p:nvPr/>
        </p:nvSpPr>
        <p:spPr>
          <a:xfrm>
            <a:off x="3810000" y="2876550"/>
            <a:ext cx="838200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0" b="1" dirty="0">
                <a:solidFill>
                  <a:srgbClr val="1A24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非景气反转</a:t>
            </a:r>
            <a:endParaRPr lang="en-US" sz="9000" dirty="0"/>
          </a:p>
        </p:txBody>
      </p:sp>
      <p:sp>
        <p:nvSpPr>
          <p:cNvPr id="10" name="Text 8"/>
          <p:cNvSpPr/>
          <p:nvPr/>
        </p:nvSpPr>
        <p:spPr>
          <a:xfrm>
            <a:off x="3810000" y="4240530"/>
            <a:ext cx="8382000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950" i="1" dirty="0">
                <a:solidFill>
                  <a:srgbClr val="5D6B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98wiki ｜ 智见 / 行业研究报告 · 仅供研究参考，不构成投资建议</a:t>
            </a:r>
            <a:endParaRPr lang="en-US" sz="1950" dirty="0"/>
          </a:p>
        </p:txBody>
      </p:sp>
      <p:sp>
        <p:nvSpPr>
          <p:cNvPr id="11" name="Shape 9"/>
          <p:cNvSpPr/>
          <p:nvPr/>
        </p:nvSpPr>
        <p:spPr>
          <a:xfrm>
            <a:off x="3810000" y="4743450"/>
            <a:ext cx="7467600" cy="0"/>
          </a:xfrm>
          <a:prstGeom prst="line">
            <a:avLst/>
          </a:prstGeom>
          <a:noFill/>
          <a:ln w="13335">
            <a:solidFill>
              <a:srgbClr val="D5D5C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10000" y="6595110"/>
            <a:ext cx="8382000" cy="25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8A96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98wiki ｜ 智见 / 行业研究报告</a:t>
            </a:r>
            <a:endParaRPr lang="en-US" sz="165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2026-09-16T02:41:36Z</dcterms:created>
  <dcterms:modified xsi:type="dcterms:W3CDTF">2026-09-16T02:41:36Z</dcterms:modified>
</cp:coreProperties>
</file>