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开场定调：成都 8 月二手房量价齐跌，成交 4,507 套为近两年次低，市场仍处寻底筑底期。数据来源政研通 zyt（贝壳研究院/贝壳平台），internal 绝对量口径，成交价=贝壳研究院成交价非挂牌价。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正式稿核心结论（完整版）：成都二手房市场仍处寻底筑底期：2026 年 8 月量价齐跌、成交规模创近两年次低，企稳信号尚未出现；年内预计维持低位磨底，市场全面恢复仍需时间。量能收缩快于价格、价格阴跌但结构稳定、供给压力仍在累积。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量能讲三点：成交绝对值近两年次低；带看与转化率背离说明观望盘踞；新增挂牌收缩属冻结供给。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价格重点：阴跌但结构稳定，面积 20 个月锁定、总价跌幅与单价一致，是纯价格收缩而非结构切换。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供给端：挂牌流量大降而库存反升，流量比逼近上沿，远郊流动性断层。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城区结构：价格梯度 4 倍，成交向主城与高新天府集中，远郊挂牌两倍于成交份额，流动性断层。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跨城对照：成都成交绝对量居首（市场纵深未塌），但价格跌幅更深，寻底滞后于一线。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租赁市场相对健康：量升价稳，回报率低位。是买卖市场的对冲面。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趋势页：给可证伪的基准路径和三项可观测确认信号，下月按清单核对。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给决策者两个剧本：下修触发条件与上修观察信号，避免单边叙事。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收尾页：给出下月核对清单与完整口径，保证判断可复现、可证伪。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感谢聆听。智见·行业研究团队 · 成都二手房市场月度研判（正式稿）· 数据：政研通 zyt。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2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56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2400" y="952500"/>
            <a:ext cx="0" cy="495300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5D5CB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426970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成都二手房市场月度研判（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914400" y="3293745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正式稿）</a:t>
            </a:r>
            <a:endParaRPr lang="en-US" sz="6300" dirty="0"/>
          </a:p>
        </p:txBody>
      </p:sp>
      <p:sp>
        <p:nvSpPr>
          <p:cNvPr id="14" name="Shape 12"/>
          <p:cNvSpPr/>
          <p:nvPr/>
        </p:nvSpPr>
        <p:spPr>
          <a:xfrm>
            <a:off x="914400" y="4314825"/>
            <a:ext cx="914400" cy="762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419725"/>
            <a:ext cx="68961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678805"/>
            <a:ext cx="11277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 · 城市月度市场研判</a:t>
            </a:r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    ·    2026-08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核心结论：量价双收缩，筑底未完成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2190750"/>
            <a:ext cx="9753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71700"/>
            <a:ext cx="609600" cy="381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9" name="Shape 7"/>
          <p:cNvSpPr/>
          <p:nvPr/>
        </p:nvSpPr>
        <p:spPr>
          <a:xfrm>
            <a:off x="1054100" y="2505869"/>
            <a:ext cx="52388" cy="52388"/>
          </a:xfrm>
          <a:custGeom>
            <a:avLst/>
            <a:gdLst/>
            <a:ahLst/>
            <a:cxnLst/>
            <a:rect l="l" t="t" r="r" b="b"/>
            <a:pathLst>
              <a:path w="52388" h="52388">
                <a:moveTo>
                  <a:pt x="0" y="52388"/>
                </a:moveTo>
                <a:lnTo>
                  <a:pt x="52388" y="52388"/>
                </a:lnTo>
                <a:lnTo>
                  <a:pt x="52388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1863" y="2470944"/>
            <a:ext cx="174625" cy="87313"/>
          </a:xfrm>
          <a:custGeom>
            <a:avLst/>
            <a:gdLst/>
            <a:ahLst/>
            <a:cxnLst/>
            <a:rect l="l" t="t" r="r" b="b"/>
            <a:pathLst>
              <a:path w="174625" h="87313">
                <a:moveTo>
                  <a:pt x="174625" y="87313"/>
                </a:moveTo>
                <a:lnTo>
                  <a:pt x="100409" y="13097"/>
                </a:lnTo>
                <a:lnTo>
                  <a:pt x="56753" y="56753"/>
                </a:lnTo>
                <a:lnTo>
                  <a:pt x="0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6350" y="2407920"/>
            <a:ext cx="11830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成都二手房仍处寻底筑底期：8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6350" y="2712720"/>
            <a:ext cx="1183005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月量价齐跌、成交创近两年次低，企稳信号尚未出现；年内低位磨底，全面恢复仍需时间。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74332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33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量能：成交 4,507 套（yoy -41.5%、mom -42.0%），近两年次低仅高于春节月；量能收缩快于价格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37197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624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价格：均价 11,756 元/㎡（yoy -9.4%），较 2024 年 9 月高点累计 -17.3%；贝壳指数 81.1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000625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91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供给：库存 30.2 万套（yoy +14.1%）压力累积；流量比 4.20 逼近区间上沿 4.89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219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结构：纯价格收缩而非结构切换；远郊挂牌份额为成交两倍，流动性断层明显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量能：成交 4,507 套，创两年次低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5334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88194" y="2314575"/>
            <a:ext cx="42863" cy="64294"/>
          </a:xfrm>
          <a:custGeom>
            <a:avLst/>
            <a:gdLst/>
            <a:ahLst/>
            <a:cxnLst/>
            <a:rect l="l" t="t" r="r" b="b"/>
            <a:pathLst>
              <a:path w="42863" h="64294">
                <a:moveTo>
                  <a:pt x="42863" y="64294"/>
                </a:moveTo>
                <a:lnTo>
                  <a:pt x="42863" y="7144"/>
                </a:lnTo>
                <a:arcTo hR="7144" wR="7144" stAng="0" swAng="-5400000"/>
                <a:lnTo>
                  <a:pt x="7144" y="0"/>
                </a:lnTo>
                <a:arcTo hR="7144" wR="7144" stAng="16200000" swAng="-5400000"/>
                <a:lnTo>
                  <a:pt x="0" y="64294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331" y="2243134"/>
            <a:ext cx="128588" cy="135735"/>
          </a:xfrm>
          <a:custGeom>
            <a:avLst/>
            <a:gdLst/>
            <a:ahLst/>
            <a:cxnLst/>
            <a:rect l="l" t="t" r="r" b="b"/>
            <a:pathLst>
              <a:path w="128588" h="135735">
                <a:moveTo>
                  <a:pt x="0" y="57153"/>
                </a:moveTo>
                <a:arcTo hR="14288" wR="14288" stAng="10799176" swAng="2988634"/>
                <a:lnTo>
                  <a:pt x="55071" y="3375"/>
                </a:lnTo>
                <a:arcTo hR="14288" wR="14288" stAng="13787810" swAng="4824381"/>
                <a:lnTo>
                  <a:pt x="123523" y="46238"/>
                </a:lnTo>
                <a:arcTo hR="14288" wR="14288" stAng="18612190" swAng="2988634"/>
                <a:lnTo>
                  <a:pt x="128588" y="121447"/>
                </a:lnTo>
                <a:arcTo hR="14288" wR="14288" stAng="0" swAng="5400000"/>
                <a:lnTo>
                  <a:pt x="14288" y="135735"/>
                </a:lnTo>
                <a:arcTo hR="14288" wR="14288" stAng="5400000" swAng="5400000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" y="24193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4,507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400" y="2305050"/>
            <a:ext cx="247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9070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二手成交（2026-08）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28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7588" y="2243138"/>
            <a:ext cx="142875" cy="1428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0450" y="2286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0"/>
                </a:moveTo>
                <a:lnTo>
                  <a:pt x="14288" y="0"/>
                </a:lnTo>
                <a:arcTo hR="14288" wR="14288" stAng="16200000" swAng="-10800000"/>
                <a:lnTo>
                  <a:pt x="42863" y="28575"/>
                </a:lnTo>
                <a:arcTo hR="14288" wR="14288" stAng="16200000" swAng="10800000"/>
                <a:lnTo>
                  <a:pt x="0" y="5715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9025" y="2271713"/>
            <a:ext cx="5358" cy="85725"/>
          </a:xfrm>
          <a:custGeom>
            <a:avLst/>
            <a:gdLst/>
            <a:ahLst/>
            <a:cxnLst/>
            <a:rect l="l" t="t" r="r" b="b"/>
            <a:pathLst>
              <a:path w="5358" h="85725">
                <a:moveTo>
                  <a:pt x="0" y="85725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3300" y="24193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49.8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亿元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3400" y="2305050"/>
            <a:ext cx="529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43300" y="2907030"/>
            <a:ext cx="9182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成交金额（yoy -46.9%）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6988" y="2336006"/>
            <a:ext cx="100013" cy="42863"/>
          </a:xfrm>
          <a:custGeom>
            <a:avLst/>
            <a:gdLst/>
            <a:ahLst/>
            <a:cxnLst/>
            <a:rect l="l" t="t" r="r" b="b"/>
            <a:pathLst>
              <a:path w="100013" h="42863">
                <a:moveTo>
                  <a:pt x="100013" y="42863"/>
                </a:moveTo>
                <a:lnTo>
                  <a:pt x="100013" y="28575"/>
                </a:lnTo>
                <a:arcTo hR="28575" wR="28575" stAng="0" swAng="-5400000"/>
                <a:lnTo>
                  <a:pt x="28575" y="0"/>
                </a:lnTo>
                <a:arcTo hR="28575" wR="28575" stAng="16200000" swAng="-5400000"/>
                <a:lnTo>
                  <a:pt x="0" y="42863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0" y="2251196"/>
            <a:ext cx="21404" cy="55321"/>
          </a:xfrm>
          <a:custGeom>
            <a:avLst/>
            <a:gdLst/>
            <a:ahLst/>
            <a:cxnLst/>
            <a:rect l="l" t="t" r="r" b="b"/>
            <a:pathLst>
              <a:path w="21404" h="55321">
                <a:moveTo>
                  <a:pt x="0" y="0"/>
                </a:moveTo>
                <a:arcTo hR="28575" wR="28575" stAng="17072025" swAng="9055950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8431" y="2336935"/>
            <a:ext cx="21431" cy="41934"/>
          </a:xfrm>
          <a:custGeom>
            <a:avLst/>
            <a:gdLst/>
            <a:ahLst/>
            <a:cxnLst/>
            <a:rect l="l" t="t" r="r" b="b"/>
            <a:pathLst>
              <a:path w="21431" h="41934">
                <a:moveTo>
                  <a:pt x="21431" y="41934"/>
                </a:moveTo>
                <a:lnTo>
                  <a:pt x="21431" y="27646"/>
                </a:lnTo>
                <a:arcTo hR="28575" wR="28575" stAng="21597436" swAng="-4528786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8419" y="2250281"/>
            <a:ext cx="57150" cy="57150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2700" y="24193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172,143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组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3400" y="23050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62700" y="2914650"/>
            <a:ext cx="6362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带看客户（2026-07，yoy -27.0%）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89916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196390" y="2250281"/>
            <a:ext cx="142856" cy="135735"/>
          </a:xfrm>
          <a:custGeom>
            <a:avLst/>
            <a:gdLst/>
            <a:ahLst/>
            <a:cxnLst/>
            <a:rect l="l" t="t" r="r" b="b"/>
            <a:pathLst>
              <a:path w="142856" h="135735">
                <a:moveTo>
                  <a:pt x="57147" y="121444"/>
                </a:moveTo>
                <a:arcTo hR="7144" wR="7144" stAng="10801602" swAng="-3808520"/>
                <a:lnTo>
                  <a:pt x="75385" y="134981"/>
                </a:lnTo>
                <a:arcTo hR="7144" wR="7144" stAng="6993083" swAng="-6994685"/>
                <a:lnTo>
                  <a:pt x="85722" y="78581"/>
                </a:lnTo>
                <a:arcTo hR="14288" wR="14288" stAng="10801557" swAng="2526882"/>
                <a:lnTo>
                  <a:pt x="141015" y="11930"/>
                </a:lnTo>
                <a:arcTo hR="7144" wR="7144" stAng="2524037" swAng="-7915929"/>
                <a:lnTo>
                  <a:pt x="7141" y="0"/>
                </a:lnTo>
                <a:arcTo hR="7144" wR="7144" stAng="16198759" swAng="-7922783"/>
                <a:lnTo>
                  <a:pt x="53454" y="69001"/>
                </a:lnTo>
                <a:arcTo hR="14288" wR="14288" stAng="19071560" swAng="252688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2100" y="24193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≈4.5%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3400" y="23050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2100" y="290703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带看转化率（自算，稳定）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2450" y="39338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3" name="Text 31"/>
          <p:cNvSpPr/>
          <p:nvPr/>
        </p:nvSpPr>
        <p:spPr>
          <a:xfrm>
            <a:off x="781050" y="38671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两年次低：仅高于春节月；环比 -42.0%，量能收缩快于价格，景气指数 9 落低迷档（&lt;20）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52450" y="42767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781050" y="42100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转化率 4.5% 稳定：需求未消失而是观望盘踞，不是没人看房，是没人出手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2450" y="46196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781050" y="45529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新增挂牌 18,945 套（yoy -46.7%）与成交同向收缩：业主冻结供给，非抛售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yoy=同比（对 2025-08），mom=环比（对 2026-07）；带看/去化周期为 2026-07 数据；转化率为自算口径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价格：11,756 元/㎡，较高点累计 -17.3%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19109" y="2338422"/>
            <a:ext cx="142919" cy="142863"/>
          </a:xfrm>
          <a:custGeom>
            <a:avLst/>
            <a:gdLst/>
            <a:ahLst/>
            <a:cxnLst/>
            <a:rect l="l" t="t" r="r" b="b"/>
            <a:pathLst>
              <a:path w="142919" h="142863">
                <a:moveTo>
                  <a:pt x="13294" y="47257"/>
                </a:moveTo>
                <a:arcTo hR="28575" wR="28575" stAng="10049003" swAng="6909194"/>
                <a:arcTo hR="28575" wR="28575" stAng="12755696" swAng="6888608"/>
                <a:arcTo hR="28575" wR="28575" stAng="15439731" swAng="6920537"/>
                <a:arcTo hR="28575" wR="28575" stAng="18155696" swAng="6888608"/>
                <a:arcTo hR="28575" wR="28575" stAng="20841803" swAng="6909194"/>
                <a:arcTo hR="28575" wR="28575" stAng="1947705" swAng="6904591"/>
                <a:arcTo hR="28575" wR="28575" stAng="4641803" swAng="6909194"/>
                <a:arcTo hR="28575" wR="28575" stAng="7339684" swAng="692063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2590800"/>
            <a:ext cx="1200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11,756</a:t>
            </a:r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元/㎡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400300"/>
            <a:ext cx="1790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4900" y="3009900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成交均价（yoy -9.4%）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30480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352800" y="2402681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42863"/>
                </a:moveTo>
                <a:lnTo>
                  <a:pt x="42863" y="42863"/>
                </a:lnTo>
                <a:lnTo>
                  <a:pt x="42863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2788" y="2374106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71438"/>
                </a:moveTo>
                <a:lnTo>
                  <a:pt x="82153" y="10716"/>
                </a:lnTo>
                <a:lnTo>
                  <a:pt x="46434" y="46434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8500" y="2583180"/>
            <a:ext cx="98679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-17.3%</a:t>
            </a:r>
            <a:pPr algn="l" indent="0" marL="0">
              <a:buNone/>
            </a:pPr>
            <a:r>
              <a:rPr lang="en-US" sz="10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累计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14400" y="2400300"/>
            <a:ext cx="3924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38500" y="3032760"/>
            <a:ext cx="98679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较 2024-09 高点 14,211 元/㎡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816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57825" y="239553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28575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6388" y="2352672"/>
            <a:ext cx="142875" cy="107159"/>
          </a:xfrm>
          <a:custGeom>
            <a:avLst/>
            <a:gdLst/>
            <a:ahLst/>
            <a:cxnLst/>
            <a:rect l="l" t="t" r="r" b="b"/>
            <a:pathLst>
              <a:path w="142875" h="107159">
                <a:moveTo>
                  <a:pt x="9573" y="107159"/>
                </a:moveTo>
                <a:arcTo hR="71438" wR="71438" stAng="8999825" swAng="1440034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2100" y="2514600"/>
            <a:ext cx="7734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81.1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2400300"/>
            <a:ext cx="6057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2100" y="3032760"/>
            <a:ext cx="77343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贝壳房价指数（2018-11=100）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809750"/>
            <a:ext cx="19812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527131" y="2345531"/>
            <a:ext cx="135731" cy="92869"/>
          </a:xfrm>
          <a:custGeom>
            <a:avLst/>
            <a:gdLst/>
            <a:ahLst/>
            <a:cxnLst/>
            <a:rect l="l" t="t" r="r" b="b"/>
            <a:pathLst>
              <a:path w="135731" h="92869">
                <a:moveTo>
                  <a:pt x="114300" y="28575"/>
                </a:moveTo>
                <a:lnTo>
                  <a:pt x="114300" y="7144"/>
                </a:lnTo>
                <a:arcTo hR="7144" wR="7144" stAng="0" swAng="-5400000"/>
                <a:lnTo>
                  <a:pt x="14288" y="0"/>
                </a:lnTo>
                <a:arcTo hR="14288" wR="14288" stAng="16200000" swAng="-10800000"/>
                <a:lnTo>
                  <a:pt x="121444" y="28575"/>
                </a:lnTo>
                <a:arcTo hR="7144" wR="7144" stAng="16200000" swAng="5400000"/>
                <a:lnTo>
                  <a:pt x="128588" y="64294"/>
                </a:lnTo>
                <a:lnTo>
                  <a:pt x="107156" y="64294"/>
                </a:lnTo>
                <a:arcTo hR="14288" wR="14288" stAng="16200000" swAng="-10800000"/>
                <a:lnTo>
                  <a:pt x="128588" y="92869"/>
                </a:lnTo>
                <a:arcTo hR="7144" wR="7144" stAng="5400000" swAng="-5400000"/>
                <a:lnTo>
                  <a:pt x="135731" y="71438"/>
                </a:lnTo>
                <a:arcTo hR="7144" wR="7144" stAng="0" swAng="-5400000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7131" y="2359819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0" y="0"/>
                </a:moveTo>
                <a:lnTo>
                  <a:pt x="0" y="100013"/>
                </a:lnTo>
                <a:arcTo hR="14288" wR="14288" stAng="10800000" swAng="-5400000"/>
                <a:lnTo>
                  <a:pt x="121444" y="114300"/>
                </a:lnTo>
                <a:arcTo hR="7144" wR="7144" stAng="5400000" swAng="-5400000"/>
                <a:lnTo>
                  <a:pt x="128588" y="78581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5700" y="2545080"/>
            <a:ext cx="5600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110.5</a:t>
            </a:r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万元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14400" y="2400300"/>
            <a:ext cx="819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05700" y="3002280"/>
            <a:ext cx="560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套均总价（-9.3%）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3450" y="40290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29" name="Text 27"/>
          <p:cNvSpPr/>
          <p:nvPr/>
        </p:nvSpPr>
        <p:spPr>
          <a:xfrm>
            <a:off x="1162050" y="39624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纯价格收缩非结构切换：套均面积 20 个月锁定 93-96 ㎡（94.6→94.0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62050" y="42291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无迁移），总价跌幅与单价一致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33450" y="46386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2" name="Text 30"/>
          <p:cNvSpPr/>
          <p:nvPr/>
        </p:nvSpPr>
        <p:spPr>
          <a:xfrm>
            <a:off x="1162050" y="45720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回归主力总价段 100-120 万（1.1-1.2 万/㎡ × 94㎡ 闭合）——底部信号最扎实的一条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3450" y="49815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4" name="Text 32"/>
          <p:cNvSpPr/>
          <p:nvPr/>
        </p:nvSpPr>
        <p:spPr>
          <a:xfrm>
            <a:off x="1162050" y="49149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未见沪二手连涨、深 6 月转涨式核心城市企稳信号；库存挂牌均价 16,587 元/㎡（yoy -3.2%）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面积段为派生维度（Q-DATA-08 暂缓、客户户籍未交付）；套均总价 121.8 万（2025-09）→ 110.5 万（2026-08）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1.3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9" name="Shape 37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供给：库存 30.2 万套被动累积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19212" y="2814635"/>
            <a:ext cx="142969" cy="71443"/>
          </a:xfrm>
          <a:custGeom>
            <a:avLst/>
            <a:gdLst/>
            <a:ahLst/>
            <a:cxnLst/>
            <a:rect l="l" t="t" r="r" b="b"/>
            <a:pathLst>
              <a:path w="142969" h="71443">
                <a:moveTo>
                  <a:pt x="77342" y="1288"/>
                </a:moveTo>
                <a:arcTo hR="14288" wR="14288" stAng="17671159" swAng="-2942318"/>
                <a:lnTo>
                  <a:pt x="4262" y="29149"/>
                </a:lnTo>
                <a:arcTo hR="7144" wR="7144" stAng="14772344" swAng="-7944687"/>
                <a:lnTo>
                  <a:pt x="65555" y="70154"/>
                </a:lnTo>
                <a:arcTo hR="14288" wR="14288" stAng="6871159" swAng="-2942318"/>
                <a:lnTo>
                  <a:pt x="138707" y="42294"/>
                </a:lnTo>
                <a:arcTo hR="7144" wR="7144" stAng="3972344" swAng="-7944687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187" y="2886075"/>
            <a:ext cx="142875" cy="35705"/>
          </a:xfrm>
          <a:custGeom>
            <a:avLst/>
            <a:gdLst/>
            <a:ahLst/>
            <a:cxnLst/>
            <a:rect l="l" t="t" r="r" b="b"/>
            <a:pathLst>
              <a:path w="142875" h="35705">
                <a:moveTo>
                  <a:pt x="0" y="0"/>
                </a:moveTo>
                <a:arcTo hR="7144" wR="7144" stAng="10808507" swAng="-3918443"/>
                <a:lnTo>
                  <a:pt x="65580" y="34433"/>
                </a:lnTo>
                <a:arcTo hR="14288" wR="14288" stAng="6861719" swAng="-2923437"/>
                <a:lnTo>
                  <a:pt x="138660" y="6572"/>
                </a:lnTo>
                <a:arcTo hR="7144" wR="7144" stAng="3947828" swAng="-3974988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9187" y="2921794"/>
            <a:ext cx="142875" cy="35705"/>
          </a:xfrm>
          <a:custGeom>
            <a:avLst/>
            <a:gdLst/>
            <a:ahLst/>
            <a:cxnLst/>
            <a:rect l="l" t="t" r="r" b="b"/>
            <a:pathLst>
              <a:path w="142875" h="35705">
                <a:moveTo>
                  <a:pt x="0" y="0"/>
                </a:moveTo>
                <a:arcTo hR="7144" wR="7144" stAng="10808507" swAng="-3918443"/>
                <a:lnTo>
                  <a:pt x="65580" y="34433"/>
                </a:lnTo>
                <a:arcTo hR="14288" wR="14288" stAng="6861719" swAng="-2923437"/>
                <a:lnTo>
                  <a:pt x="138660" y="6572"/>
                </a:lnTo>
                <a:arcTo hR="7144" wR="7144" stAng="3947828" swAng="-3974988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9908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301,672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287655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4900" y="34785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库存（yoy +14.1%）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433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8009" y="2814672"/>
            <a:ext cx="142919" cy="142863"/>
          </a:xfrm>
          <a:custGeom>
            <a:avLst/>
            <a:gdLst/>
            <a:ahLst/>
            <a:cxnLst/>
            <a:rect l="l" t="t" r="r" b="b"/>
            <a:pathLst>
              <a:path w="142919" h="142863">
                <a:moveTo>
                  <a:pt x="13294" y="47257"/>
                </a:moveTo>
                <a:arcTo hR="28575" wR="28575" stAng="10049003" swAng="6909194"/>
                <a:arcTo hR="28575" wR="28575" stAng="12755696" swAng="6888608"/>
                <a:arcTo hR="28575" wR="28575" stAng="15439731" swAng="6920537"/>
                <a:arcTo hR="28575" wR="28575" stAng="18155696" swAng="6888608"/>
                <a:arcTo hR="28575" wR="28575" stAng="20841803" swAng="6909194"/>
                <a:arcTo hR="28575" wR="28575" stAng="1947705" swAng="6904591"/>
                <a:arcTo hR="28575" wR="28575" stAng="4641803" swAng="6909194"/>
                <a:arcTo hR="28575" wR="28575" stAng="7339684" swAng="692063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9525" y="2857500"/>
            <a:ext cx="0" cy="5715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0950" y="2886075"/>
            <a:ext cx="57150" cy="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3800" y="2990850"/>
            <a:ext cx="9372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18,945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2876550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33800" y="3478530"/>
            <a:ext cx="9372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新增挂牌（yoy -46.7%）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8425" y="2821781"/>
            <a:ext cx="5358" cy="128588"/>
          </a:xfrm>
          <a:custGeom>
            <a:avLst/>
            <a:gdLst/>
            <a:ahLst/>
            <a:cxnLst/>
            <a:rect l="l" t="t" r="r" b="b"/>
            <a:pathLst>
              <a:path w="5358" h="128588">
                <a:moveTo>
                  <a:pt x="0" y="0"/>
                </a:moveTo>
                <a:lnTo>
                  <a:pt x="0" y="1285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0" y="28503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4131" y="2836069"/>
            <a:ext cx="128588" cy="14288"/>
          </a:xfrm>
          <a:custGeom>
            <a:avLst/>
            <a:gdLst/>
            <a:ahLst/>
            <a:cxnLst/>
            <a:rect l="l" t="t" r="r" b="b"/>
            <a:pathLst>
              <a:path w="128588" h="14288">
                <a:moveTo>
                  <a:pt x="0" y="14288"/>
                </a:moveTo>
                <a:lnTo>
                  <a:pt x="7144" y="14288"/>
                </a:lnTo>
                <a:arcTo hR="121444" wR="121444" stAng="5400000" swAng="-1684349"/>
                <a:arcTo hR="121444" wR="121444" stAng="7084349" swAng="-1684349"/>
                <a:lnTo>
                  <a:pt x="128588" y="142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6988" y="28503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2706" y="2950369"/>
            <a:ext cx="71438" cy="5358"/>
          </a:xfrm>
          <a:custGeom>
            <a:avLst/>
            <a:gdLst/>
            <a:ahLst/>
            <a:cxnLst/>
            <a:rect l="l" t="t" r="r" b="b"/>
            <a:pathLst>
              <a:path w="71438" h="5358">
                <a:moveTo>
                  <a:pt x="0" y="0"/>
                </a:moveTo>
                <a:lnTo>
                  <a:pt x="71438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2700" y="2990850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4.20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4400" y="2876550"/>
            <a:ext cx="7543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62700" y="3486150"/>
            <a:ext cx="6743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供需流量比（区间 2.05-4.89）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8801100" y="2286000"/>
            <a:ext cx="24765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005888" y="2814638"/>
            <a:ext cx="142875" cy="1428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7325" y="2843213"/>
            <a:ext cx="28575" cy="42863"/>
          </a:xfrm>
          <a:custGeom>
            <a:avLst/>
            <a:gdLst/>
            <a:ahLst/>
            <a:cxnLst/>
            <a:rect l="l" t="t" r="r" b="b"/>
            <a:pathLst>
              <a:path w="28575" h="42863">
                <a:moveTo>
                  <a:pt x="0" y="0"/>
                </a:moveTo>
                <a:lnTo>
                  <a:pt x="0" y="42863"/>
                </a:lnTo>
                <a:lnTo>
                  <a:pt x="28575" y="42863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91600" y="2990850"/>
            <a:ext cx="4114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6.8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月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4400" y="2876550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91600" y="3501390"/>
            <a:ext cx="4114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去化周期（温档 6-12，yoy +9.7%）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933450" y="45053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1162050" y="44386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挂牌流量大降而库存反升：库存被动累积，库存÷月成交约 67 个月（自算参考），“有房卖不掉”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3450" y="48482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1162050" y="47815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供需流量比 4.20 逼近两年区间上沿：供给收缩幅度小于成交收缩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33450" y="51911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9" name="Text 37"/>
          <p:cNvSpPr/>
          <p:nvPr/>
        </p:nvSpPr>
        <p:spPr>
          <a:xfrm>
            <a:off x="1162050" y="51244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远郊流动性断层：远郊挂牌份额 7.1% = 成交份额 3.5% 的两倍；成交向主城与高新天府集中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库存÷月成交、流量比为自算参考口径（非官方）；2025-08 库存 264,463 套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城区：价格梯度 4.0 倍，成交向主城集中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438650" y="1828800"/>
            <a:ext cx="0" cy="228600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15100" y="1828800"/>
            <a:ext cx="0" cy="228600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1550" y="1828800"/>
            <a:ext cx="0" cy="228600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107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高新区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362200" y="1876425"/>
            <a:ext cx="8305800" cy="1905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/>
          <p:nvPr/>
        </p:nvSpPr>
        <p:spPr>
          <a:xfrm>
            <a:off x="10744200" y="1914525"/>
            <a:ext cx="2362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A0E14"/>
                </a:solidFill>
              </a:rPr>
              <a:t>19928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914400" y="21964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锦江区</a:t>
            </a:r>
            <a:endParaRPr lang="en-US" sz="975" dirty="0"/>
          </a:p>
        </p:txBody>
      </p:sp>
      <p:sp>
        <p:nvSpPr>
          <p:cNvPr id="12" name="svg2pptx-gradient-s0005-0000"/>
          <p:cNvSpPr/>
          <p:nvPr/>
        </p:nvSpPr>
        <p:spPr>
          <a:xfrm>
            <a:off x="2362200" y="2162175"/>
            <a:ext cx="7371356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9809756" y="2200275"/>
            <a:ext cx="32966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17686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914400" y="24822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青羊区</a:t>
            </a:r>
            <a:endParaRPr lang="en-US" sz="975" dirty="0"/>
          </a:p>
        </p:txBody>
      </p:sp>
      <p:sp>
        <p:nvSpPr>
          <p:cNvPr id="15" name="svg2pptx-gradient-s0005-0001"/>
          <p:cNvSpPr/>
          <p:nvPr/>
        </p:nvSpPr>
        <p:spPr>
          <a:xfrm>
            <a:off x="2362200" y="2447925"/>
            <a:ext cx="6803687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9242087" y="2486025"/>
            <a:ext cx="38643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16324</a:t>
            </a:r>
            <a:endParaRPr lang="en-US" sz="938" dirty="0"/>
          </a:p>
        </p:txBody>
      </p:sp>
      <p:sp>
        <p:nvSpPr>
          <p:cNvPr id="17" name="Text 15"/>
          <p:cNvSpPr/>
          <p:nvPr/>
        </p:nvSpPr>
        <p:spPr>
          <a:xfrm>
            <a:off x="914400" y="27679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武侯区</a:t>
            </a:r>
            <a:endParaRPr lang="en-US" sz="975" dirty="0"/>
          </a:p>
        </p:txBody>
      </p:sp>
      <p:sp>
        <p:nvSpPr>
          <p:cNvPr id="18" name="svg2pptx-gradient-s0005-0002"/>
          <p:cNvSpPr/>
          <p:nvPr/>
        </p:nvSpPr>
        <p:spPr>
          <a:xfrm>
            <a:off x="2362200" y="2733675"/>
            <a:ext cx="6264360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8702760" y="2771775"/>
            <a:ext cx="44036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15030</a:t>
            </a:r>
            <a:endParaRPr lang="en-US" sz="938" dirty="0"/>
          </a:p>
        </p:txBody>
      </p:sp>
      <p:sp>
        <p:nvSpPr>
          <p:cNvPr id="20" name="Text 18"/>
          <p:cNvSpPr/>
          <p:nvPr/>
        </p:nvSpPr>
        <p:spPr>
          <a:xfrm>
            <a:off x="914400" y="30537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成华区</a:t>
            </a:r>
            <a:endParaRPr lang="en-US" sz="975" dirty="0"/>
          </a:p>
        </p:txBody>
      </p:sp>
      <p:sp>
        <p:nvSpPr>
          <p:cNvPr id="21" name="svg2pptx-gradient-s0005-0003"/>
          <p:cNvSpPr/>
          <p:nvPr/>
        </p:nvSpPr>
        <p:spPr>
          <a:xfrm>
            <a:off x="2362200" y="3019425"/>
            <a:ext cx="5777966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8216366" y="3057525"/>
            <a:ext cx="48900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13863</a:t>
            </a:r>
            <a:endParaRPr lang="en-US" sz="938" dirty="0"/>
          </a:p>
        </p:txBody>
      </p:sp>
      <p:sp>
        <p:nvSpPr>
          <p:cNvPr id="23" name="Text 21"/>
          <p:cNvSpPr/>
          <p:nvPr/>
        </p:nvSpPr>
        <p:spPr>
          <a:xfrm>
            <a:off x="914400" y="33394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天府新区</a:t>
            </a:r>
            <a:endParaRPr lang="en-US" sz="975" dirty="0"/>
          </a:p>
        </p:txBody>
      </p:sp>
      <p:sp>
        <p:nvSpPr>
          <p:cNvPr id="24" name="svg2pptx-gradient-s0005-0004"/>
          <p:cNvSpPr/>
          <p:nvPr/>
        </p:nvSpPr>
        <p:spPr>
          <a:xfrm>
            <a:off x="2362200" y="3305175"/>
            <a:ext cx="5494548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7932948" y="3343275"/>
            <a:ext cx="51734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13183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914400" y="362521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金牛区</a:t>
            </a:r>
            <a:endParaRPr lang="en-US" sz="975" dirty="0"/>
          </a:p>
        </p:txBody>
      </p:sp>
      <p:sp>
        <p:nvSpPr>
          <p:cNvPr id="27" name="svg2pptx-gradient-s0005-0005"/>
          <p:cNvSpPr/>
          <p:nvPr/>
        </p:nvSpPr>
        <p:spPr>
          <a:xfrm>
            <a:off x="2362200" y="3590925"/>
            <a:ext cx="5445784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7884184" y="3629025"/>
            <a:ext cx="52222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13066</a:t>
            </a:r>
            <a:endParaRPr lang="en-US" sz="938" dirty="0"/>
          </a:p>
        </p:txBody>
      </p:sp>
      <p:sp>
        <p:nvSpPr>
          <p:cNvPr id="29" name="Text 27"/>
          <p:cNvSpPr/>
          <p:nvPr/>
        </p:nvSpPr>
        <p:spPr>
          <a:xfrm>
            <a:off x="914400" y="3910965"/>
            <a:ext cx="1333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51C2C"/>
                </a:solidFill>
              </a:rPr>
              <a:t>双流区</a:t>
            </a:r>
            <a:endParaRPr lang="en-US" sz="975" dirty="0"/>
          </a:p>
        </p:txBody>
      </p:sp>
      <p:sp>
        <p:nvSpPr>
          <p:cNvPr id="30" name="svg2pptx-gradient-s0005-0006"/>
          <p:cNvSpPr/>
          <p:nvPr/>
        </p:nvSpPr>
        <p:spPr>
          <a:xfrm>
            <a:off x="2362200" y="3876675"/>
            <a:ext cx="4818931" cy="190500"/>
          </a:xfrm>
          <a:prstGeom prst="rect">
            <a:avLst/>
          </a:prstGeom>
          <a:gradFill rotWithShape="1">
            <a:gsLst>
              <a:gs pos="0">
                <a:srgbClr val="B38B1F">
                  <a:alpha val="75000"/>
                </a:srgbClr>
              </a:gs>
              <a:gs pos="100000">
                <a:srgbClr val="FFC72C">
                  <a:alpha val="75000"/>
                </a:srgbClr>
              </a:gs>
            </a:gsLst>
            <a:lin ang="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7257331" y="3914775"/>
            <a:ext cx="58490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B6B6B"/>
                </a:solidFill>
              </a:rPr>
              <a:t>11562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914400" y="4183380"/>
            <a:ext cx="106489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元/㎡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914400" y="282606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区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914400" y="29498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县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933450" y="46005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6" name="Text 34"/>
          <p:cNvSpPr/>
          <p:nvPr/>
        </p:nvSpPr>
        <p:spPr>
          <a:xfrm>
            <a:off x="1162050" y="45339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价格梯度 4.0 倍（高新 19,928 vs 金堂 4,970 元/㎡）；CV 41.8%，P75/P25 = 2.21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33450" y="49434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8" name="Text 36"/>
          <p:cNvSpPr/>
          <p:nvPr/>
        </p:nvSpPr>
        <p:spPr>
          <a:xfrm>
            <a:off x="1162050" y="48768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成交集中：CR4 = 37.1%（青羊 532 套居首）、CR8 = 67.9%；蒲江/大邑零成交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33450" y="528637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40" name="Text 38"/>
          <p:cNvSpPr/>
          <p:nvPr/>
        </p:nvSpPr>
        <p:spPr>
          <a:xfrm>
            <a:off x="1162050" y="521970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圈层份额（成交/挂牌）：主城五区 43%/40%、高新+天府 16%/16%、近郊 37%/37%、远郊 3.5%/7.1%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区级均价为市级按权重拆分示意口径（2026-07 截面）；成交份额=各区成交÷全市成交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跨城对照：量能高于京沪，跌幅更深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90800"/>
            <a:ext cx="5029200" cy="419100"/>
          </a:xfrm>
          <a:prstGeom prst="rect">
            <a:avLst/>
          </a:prstGeom>
          <a:solidFill>
            <a:srgbClr val="FFF6DD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230124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指标（2026-07）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301240"/>
            <a:ext cx="311718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301240"/>
            <a:ext cx="401604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北京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301240"/>
            <a:ext cx="49149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上海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2590800"/>
            <a:ext cx="50292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0099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4290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481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267200"/>
            <a:ext cx="50292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27355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二手成交（套）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7355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7,764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355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4,932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7355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2,521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1546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成交均价（元/㎡）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11,756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546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44,915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546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47,111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573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套均总价（万元）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5737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110.5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5737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390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5737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371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9928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贝壳房价指数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992880"/>
            <a:ext cx="31171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81.1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992880"/>
            <a:ext cx="40160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73.5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992880"/>
            <a:ext cx="4914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80.3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36626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政研通 zyt · 2026-07 截面 · 贝壳指数 2018-11=100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7450" y="22955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6496050" y="22288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成都成交绝对量居首（7,764 vs 4,932 / 2,521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96050" y="24955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套），市场纵深未塌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67450" y="29051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8" name="Text 36"/>
          <p:cNvSpPr/>
          <p:nvPr/>
        </p:nvSpPr>
        <p:spPr>
          <a:xfrm>
            <a:off x="6496050" y="28384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价格水平约为京沪 1/4，总价门槛约为 1/3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67450" y="32480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40" name="Text 38"/>
          <p:cNvSpPr/>
          <p:nvPr/>
        </p:nvSpPr>
        <p:spPr>
          <a:xfrm>
            <a:off x="6496050" y="31813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京深已有连涨/转涨信号，成都未现——强二线滞后于一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96050" y="34480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线寻底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租赁：量升价微降，回报率低位徘徊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334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8188" y="2242864"/>
            <a:ext cx="143148" cy="143148"/>
          </a:xfrm>
          <a:custGeom>
            <a:avLst/>
            <a:gdLst/>
            <a:ahLst/>
            <a:cxnLst/>
            <a:rect l="l" t="t" r="r" b="b"/>
            <a:pathLst>
              <a:path w="143148" h="143148">
                <a:moveTo>
                  <a:pt x="4186" y="110387"/>
                </a:moveTo>
                <a:arcTo hR="14288" wR="14288" stAng="13500519" swAng="-2699785"/>
                <a:lnTo>
                  <a:pt x="0" y="136004"/>
                </a:lnTo>
                <a:arcTo hR="7144" wR="7144" stAng="10800000" swAng="-5400000"/>
                <a:lnTo>
                  <a:pt x="28575" y="143148"/>
                </a:lnTo>
                <a:arcTo hR="7144" wR="7144" stAng="5400000" swAng="-5400000"/>
                <a:lnTo>
                  <a:pt x="35719" y="128861"/>
                </a:lnTo>
                <a:arcTo hR="7144" wR="7144" stAng="10800000" swAng="5400000"/>
                <a:lnTo>
                  <a:pt x="50006" y="121717"/>
                </a:lnTo>
                <a:arcTo hR="7144" wR="7144" stAng="5400000" swAng="-5400000"/>
                <a:lnTo>
                  <a:pt x="57150" y="107429"/>
                </a:lnTo>
                <a:arcTo hR="7144" wR="7144" stAng="10800000" swAng="5400000"/>
                <a:lnTo>
                  <a:pt x="65522" y="100286"/>
                </a:lnTo>
                <a:arcTo hR="14288" wR="14288" stAng="5399266" swAng="-2699785"/>
                <a:lnTo>
                  <a:pt x="81439" y="90284"/>
                </a:lnTo>
                <a:arcTo hR="46434" wR="46434" stAng="6552338" swAng="-18504676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200" y="2278856"/>
            <a:ext cx="7144" cy="7144"/>
          </a:xfrm>
          <a:prstGeom prst="ellipse">
            <a:avLst/>
          </a:prstGeom>
          <a:solidFill>
            <a:srgbClr val="051C2C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900" y="24193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12,587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3400" y="2305050"/>
            <a:ext cx="247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3900" y="29070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租赁成交（yoy +6.8%）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28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7588" y="2271713"/>
            <a:ext cx="142875" cy="85725"/>
          </a:xfrm>
          <a:prstGeom prst="roundRect">
            <a:avLst>
              <a:gd name="adj" fmla="val 16667"/>
            </a:avLst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4738" y="2300288"/>
            <a:ext cx="28575" cy="28575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6163" y="2314575"/>
            <a:ext cx="85796" cy="5358"/>
          </a:xfrm>
          <a:custGeom>
            <a:avLst/>
            <a:gdLst/>
            <a:ahLst/>
            <a:cxnLst/>
            <a:rect l="l" t="t" r="r" b="b"/>
            <a:pathLst>
              <a:path w="85796" h="5358">
                <a:moveTo>
                  <a:pt x="0" y="0"/>
                </a:moveTo>
                <a:lnTo>
                  <a:pt x="71" y="0"/>
                </a:lnTo>
                <a:moveTo>
                  <a:pt x="85725" y="0"/>
                </a:moveTo>
                <a:lnTo>
                  <a:pt x="85796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3300" y="24193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2,468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元/月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3400" y="2305050"/>
            <a:ext cx="529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3300" y="2907030"/>
            <a:ext cx="9182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套均租金（yoy -1.4%）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76909" y="2243172"/>
            <a:ext cx="142919" cy="142863"/>
          </a:xfrm>
          <a:custGeom>
            <a:avLst/>
            <a:gdLst/>
            <a:ahLst/>
            <a:cxnLst/>
            <a:rect l="l" t="t" r="r" b="b"/>
            <a:pathLst>
              <a:path w="142919" h="142863">
                <a:moveTo>
                  <a:pt x="13294" y="47257"/>
                </a:moveTo>
                <a:arcTo hR="28575" wR="28575" stAng="10049003" swAng="6909194"/>
                <a:arcTo hR="28575" wR="28575" stAng="12755696" swAng="6888608"/>
                <a:arcTo hR="28575" wR="28575" stAng="15439731" swAng="6920537"/>
                <a:arcTo hR="28575" wR="28575" stAng="18155696" swAng="6888608"/>
                <a:arcTo hR="28575" wR="28575" stAng="20841803" swAng="6909194"/>
                <a:arcTo hR="28575" wR="28575" stAng="1947705" swAng="6904591"/>
                <a:arcTo hR="28575" wR="28575" stAng="4641803" swAng="6909194"/>
                <a:arcTo hR="28575" wR="28575" stAng="7339684" swAng="692063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8425" y="2286000"/>
            <a:ext cx="0" cy="5715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850" y="2314575"/>
            <a:ext cx="57150" cy="0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2700" y="24193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25,567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33400" y="23050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2700" y="2907030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租赁新增挂牌（+1.3%）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16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 flipV="1">
            <a:off x="9217819" y="2264569"/>
            <a:ext cx="100013" cy="100013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10675" y="2257425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9256" y="2336006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2100" y="24193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2.4-2.6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3400" y="23050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2100" y="290703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租金回报率（年租÷套均总价）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2450" y="39338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3" name="Text 31"/>
          <p:cNvSpPr/>
          <p:nvPr/>
        </p:nvSpPr>
        <p:spPr>
          <a:xfrm>
            <a:off x="781050" y="38671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买卖与租赁背离：二手买卖收缩，租赁成交 +6.8% 逆势上行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52450" y="42767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5" name="Text 33"/>
          <p:cNvSpPr/>
          <p:nvPr/>
        </p:nvSpPr>
        <p:spPr>
          <a:xfrm>
            <a:off x="781050" y="42100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租金稳中微降（-1.4%），出租效率未见恶化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2450" y="4619625"/>
            <a:ext cx="57150" cy="571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781050" y="4552950"/>
            <a:ext cx="11944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回报率 2.4%-2.6% 低位徘徊：观察是否随价格回落而上行（关注指标）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租赁数据至 2026-07，政研通 zyt 口径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趋势预测：年内磨底，三信号确认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8382000" cy="1133475"/>
          </a:xfrm>
          <a:prstGeom prst="roundRect">
            <a:avLst>
              <a:gd name="adj" fmla="val 1681"/>
            </a:avLst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38325"/>
            <a:ext cx="8382000" cy="11049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63606" y="2311381"/>
            <a:ext cx="158788" cy="158788"/>
          </a:xfrm>
          <a:custGeom>
            <a:avLst/>
            <a:gdLst/>
            <a:ahLst/>
            <a:cxnLst/>
            <a:rect l="l" t="t" r="r" b="b"/>
            <a:pathLst>
              <a:path w="158788" h="158788">
                <a:moveTo>
                  <a:pt x="71591" y="6480"/>
                </a:moveTo>
                <a:arcTo hR="7938" wR="7938" stAng="11434791" swAng="9530419"/>
                <a:lnTo>
                  <a:pt x="95539" y="50597"/>
                </a:lnTo>
                <a:arcTo hR="15875" wR="15875" stAng="10158158" swAng="-4116317"/>
                <a:lnTo>
                  <a:pt x="152308" y="71591"/>
                </a:lnTo>
                <a:arcTo hR="7938" wR="7938" stAng="16834791" swAng="9530419"/>
                <a:lnTo>
                  <a:pt x="108191" y="95539"/>
                </a:lnTo>
                <a:arcTo hR="15875" wR="15875" stAng="15558158" swAng="-4116317"/>
                <a:lnTo>
                  <a:pt x="87197" y="152308"/>
                </a:lnTo>
                <a:arcTo hR="7938" wR="7938" stAng="634791" swAng="9530419"/>
                <a:lnTo>
                  <a:pt x="63249" y="108191"/>
                </a:lnTo>
                <a:arcTo hR="15875" wR="15875" stAng="20958158" swAng="-4116317"/>
                <a:lnTo>
                  <a:pt x="6480" y="87197"/>
                </a:lnTo>
                <a:arcTo hR="7938" wR="7938" stAng="6034791" swAng="9530419"/>
                <a:lnTo>
                  <a:pt x="50597" y="63249"/>
                </a:lnTo>
                <a:arcTo hR="15875" wR="15875" stAng="4758158" swAng="-4116317"/>
                <a:close/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6500" y="231140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" y="2327275"/>
            <a:ext cx="31750" cy="5953"/>
          </a:xfrm>
          <a:custGeom>
            <a:avLst/>
            <a:gdLst/>
            <a:ahLst/>
            <a:cxnLst/>
            <a:rect l="l" t="t" r="r" b="b"/>
            <a:pathLst>
              <a:path w="31750" h="5953">
                <a:moveTo>
                  <a:pt x="3175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3625" y="2438400"/>
            <a:ext cx="31750" cy="31750"/>
          </a:xfrm>
          <a:prstGeom prst="ellipse">
            <a:avLst/>
          </a:prstGeom>
          <a:noFill/>
          <a:ln w="15875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20288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【研判推断】年内基准路径：月成交预计 4,500-6,000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0" y="22955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套低位平台震荡、均价阴跌斜率逐步放缓；筑底完成需三项信号确认，乐观情形 2027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25622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年一季度前后企稳。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3813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信号一：库存增速转负（当前 yoy +14.1%，仍在累积）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7242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信号二：供需流量比回落至 3 以下（当前 4.20，区间上沿 4.89）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0671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信号三：二手价格环比止跌（贝壳指数跌幅收窄或转正）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预测标注：研判推断（非事实承诺）；横向对照：成都月成交绝对值高于京沪（2026-07：7,764 vs 4,932/2,521 套），市场纵深未塌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1.8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21" name="Shape 19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51C2C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不确定性：政策未兑现，警惕下修触发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1809750"/>
            <a:ext cx="7505700" cy="1400175"/>
          </a:xfrm>
          <a:prstGeom prst="roundRect">
            <a:avLst>
              <a:gd name="adj" fmla="val 1361"/>
            </a:avLst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38325"/>
            <a:ext cx="7505700" cy="13716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63482" y="24525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5003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5638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0288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人才购房资格扩围（2026 年 3 月 20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3500" y="22955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日落地，全日制本科以上在蓉就业可申请）已 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3500" y="25622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个月，带看与成交均未兑现；政策库在册仅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33500" y="282892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条，若无增量政策跟进，阴跌将延续。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480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下修触发：库存割肉挂牌、流量比突破 4.89、远郊断层向近郊蔓延 → 筑底进程延长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909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上修观察：成交环比企稳、转化率守住 4.5% 防线、租金回报率 2.4%-2.6% 能否上行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338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口径提示：区级均价为示意拆分；库存÷月成交约 67 月、转化率 4.5%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6005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为自算参考，非官方口径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不确定性来自政策兑现与供给行为两端；本页为风险揭示，非基准判断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FC72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0"/>
                </a:moveTo>
                <a:lnTo>
                  <a:pt x="2476500" y="2476500"/>
                </a:lnTo>
                <a:arcTo hR="2476500" wR="2476500" stAng="0" swAng="-5400000"/>
                <a:close/>
              </a:path>
            </a:pathLst>
          </a:custGeom>
          <a:solidFill>
            <a:srgbClr val="051C2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5D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关注指标与口径说明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5334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09625" y="230028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28575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188" y="2257422"/>
            <a:ext cx="142875" cy="107159"/>
          </a:xfrm>
          <a:custGeom>
            <a:avLst/>
            <a:gdLst/>
            <a:ahLst/>
            <a:cxnLst/>
            <a:rect l="l" t="t" r="r" b="b"/>
            <a:pathLst>
              <a:path w="142875" h="107159">
                <a:moveTo>
                  <a:pt x="9573" y="107159"/>
                </a:moveTo>
                <a:arcTo hR="71438" wR="71438" stAng="8999825" swAng="1440034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" y="24193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81.1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指数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400" y="2305050"/>
            <a:ext cx="247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914650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贝壳房价指数环比：跌幅收窄或转正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33528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29025" y="2250281"/>
            <a:ext cx="5358" cy="128588"/>
          </a:xfrm>
          <a:custGeom>
            <a:avLst/>
            <a:gdLst/>
            <a:ahLst/>
            <a:cxnLst/>
            <a:rect l="l" t="t" r="r" b="b"/>
            <a:pathLst>
              <a:path w="5358" h="128588">
                <a:moveTo>
                  <a:pt x="0" y="0"/>
                </a:moveTo>
                <a:lnTo>
                  <a:pt x="0" y="1285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22788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4731" y="2264569"/>
            <a:ext cx="128588" cy="14288"/>
          </a:xfrm>
          <a:custGeom>
            <a:avLst/>
            <a:gdLst/>
            <a:ahLst/>
            <a:cxnLst/>
            <a:rect l="l" t="t" r="r" b="b"/>
            <a:pathLst>
              <a:path w="128588" h="14288">
                <a:moveTo>
                  <a:pt x="0" y="14288"/>
                </a:moveTo>
                <a:lnTo>
                  <a:pt x="7144" y="14288"/>
                </a:lnTo>
                <a:arcTo hR="121444" wR="121444" stAng="5400000" swAng="-1684349"/>
                <a:arcTo hR="121444" wR="121444" stAng="7084349" swAng="-1684349"/>
                <a:lnTo>
                  <a:pt x="128588" y="142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7588" y="2278856"/>
            <a:ext cx="42863" cy="71438"/>
          </a:xfrm>
          <a:custGeom>
            <a:avLst/>
            <a:gdLst/>
            <a:ahLst/>
            <a:cxnLst/>
            <a:rect l="l" t="t" r="r" b="b"/>
            <a:pathLst>
              <a:path w="42863" h="71438">
                <a:moveTo>
                  <a:pt x="21431" y="7144"/>
                </a:moveTo>
                <a:lnTo>
                  <a:pt x="42863" y="64294"/>
                </a:lnTo>
                <a:arcTo hR="35719" wR="35719" stAng="3187806" swAng="4424388"/>
                <a:close/>
                <a:lnTo>
                  <a:pt x="2143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306" y="2378869"/>
            <a:ext cx="71438" cy="5358"/>
          </a:xfrm>
          <a:custGeom>
            <a:avLst/>
            <a:gdLst/>
            <a:ahLst/>
            <a:cxnLst/>
            <a:rect l="l" t="t" r="r" b="b"/>
            <a:pathLst>
              <a:path w="71438" h="5358">
                <a:moveTo>
                  <a:pt x="0" y="0"/>
                </a:moveTo>
                <a:lnTo>
                  <a:pt x="71438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3300" y="2419350"/>
            <a:ext cx="9182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3.0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以下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33400" y="2305050"/>
            <a:ext cx="5295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43300" y="2907030"/>
            <a:ext cx="9182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供需流量比目标值（当前 4.20）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76990" y="2250281"/>
            <a:ext cx="142856" cy="135735"/>
          </a:xfrm>
          <a:custGeom>
            <a:avLst/>
            <a:gdLst/>
            <a:ahLst/>
            <a:cxnLst/>
            <a:rect l="l" t="t" r="r" b="b"/>
            <a:pathLst>
              <a:path w="142856" h="135735">
                <a:moveTo>
                  <a:pt x="57147" y="121444"/>
                </a:moveTo>
                <a:arcTo hR="7144" wR="7144" stAng="10801602" swAng="-3808520"/>
                <a:lnTo>
                  <a:pt x="75385" y="134981"/>
                </a:lnTo>
                <a:arcTo hR="7144" wR="7144" stAng="6993083" swAng="-6994685"/>
                <a:lnTo>
                  <a:pt x="85722" y="78581"/>
                </a:lnTo>
                <a:arcTo hR="14288" wR="14288" stAng="10801557" swAng="2526882"/>
                <a:lnTo>
                  <a:pt x="141015" y="11930"/>
                </a:lnTo>
                <a:arcTo hR="7144" wR="7144" stAng="2524037" swAng="-7915929"/>
                <a:lnTo>
                  <a:pt x="7141" y="0"/>
                </a:lnTo>
                <a:arcTo hR="7144" wR="7144" stAng="16198759" swAng="-7922783"/>
                <a:lnTo>
                  <a:pt x="53454" y="69001"/>
                </a:lnTo>
                <a:arcTo hR="14288" wR="14288" stAng="19071560" swAng="2526882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2700" y="2419350"/>
            <a:ext cx="6362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4.5%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防线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3400" y="230505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2700" y="2907030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带看转化率不破位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91600" y="1714500"/>
            <a:ext cx="2667000" cy="19431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9217819" y="2264569"/>
            <a:ext cx="100013" cy="100013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0675" y="2257425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9256" y="2336006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2100" y="2419350"/>
            <a:ext cx="3543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2.6%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上行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33400" y="23050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82100" y="2907030"/>
            <a:ext cx="354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租金回报率修复信号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400" y="3867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关注指标：贝壳指数环比 · 库存拐点 · 流量比 · 转化率 · 租金回报率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3400" y="4210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输出框架：五维递进（定性 → 指标 → 趋势 → 不确定性 → 关注指标）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3400" y="45529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心智模型：百城晴雨表 · 恢复三阶段 · 供需流量比 · 租售比锚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3400" y="4895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数据来源：政研通 zyt analytics-v1.1；成交价=贝壳研究院成交价非挂牌价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正式稿：智见·行业研究团队出品，去除专家匿名标注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59380"/>
            <a:ext cx="1219200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051C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谢谢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0" y="599694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智见·行业研究团队    ·    2026-08</a:t>
            </a:r>
            <a:endParaRPr lang="en-US" sz="9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