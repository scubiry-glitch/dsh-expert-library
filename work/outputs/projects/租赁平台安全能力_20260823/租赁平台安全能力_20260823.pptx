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开篇定调：安全是服务溢价的入口，但只对确定性定价。谁承诺零事故，谁就在第一次事故时崩塌。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三权分立划界：平台管过程、业主管本体、保险管赔付。这是服务溢价与责任敞口的边界所在。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四组证据：管控有效、结构偏科、入口成熟、监管法定。事故下降与责任模糊并存。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燃气路径已跑通：可单套闭环、可量化、可交付。这是安全溢价模型成立的第一块证据。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偏科不是态度问题，是结构问题。平台若承诺「电气安全交付」，即打开无底洞。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三重驱动叠加：存量欠账、买方市场、监管法定——安全成为租赁平台主战场的原因。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投入强度公式解释燃气电气一进一退；义务与能力错配解释责任边界矛盾。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证据链四件套：谁在证据链上失守谁担责。停租阈值是责任分洪闸而非风控工具。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6个月验证窗口（2026-08 起）：成都样本是全国试验田。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电气破局三条腿 + 制度机会。平台做规则与连接，专业的事交给专业的人。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四大不确定性：口径、出口、赔付性质、司法尾部风险。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口径附录：每个数字的口径与核验状态逐条列明。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" y="952500"/>
            <a:ext cx="0" cy="495300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952500"/>
            <a:ext cx="0" cy="495300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952500"/>
            <a:ext cx="0" cy="495300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34400" y="952500"/>
            <a:ext cx="0" cy="495300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952500"/>
            <a:ext cx="0" cy="495300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8DFE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666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｜ 智见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3400" y="1104900"/>
            <a:ext cx="11125200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2335530"/>
            <a:ext cx="11658600" cy="121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9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租赁平台安全能力：确定</a:t>
            </a:r>
            <a:endParaRPr lang="en-US" sz="7950" dirty="0"/>
          </a:p>
        </p:txBody>
      </p:sp>
      <p:sp>
        <p:nvSpPr>
          <p:cNvPr id="14" name="Text 12"/>
          <p:cNvSpPr/>
          <p:nvPr/>
        </p:nvSpPr>
        <p:spPr>
          <a:xfrm>
            <a:off x="533400" y="3421380"/>
            <a:ext cx="11658600" cy="121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9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性溢价与责任敞口的边界</a:t>
            </a:r>
            <a:endParaRPr lang="en-US" sz="7950" dirty="0"/>
          </a:p>
        </p:txBody>
      </p:sp>
      <p:sp>
        <p:nvSpPr>
          <p:cNvPr id="15" name="Shape 13"/>
          <p:cNvSpPr/>
          <p:nvPr/>
        </p:nvSpPr>
        <p:spPr>
          <a:xfrm>
            <a:off x="533400" y="4724400"/>
            <a:ext cx="11125200" cy="190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217920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25" dirty="0">
                <a:solidFill>
                  <a:srgbClr val="A3B0BE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｜ 智见    ·    Public    ·    2026-08-23    ·    1.0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1A3A5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核心结论：能溢价的是确定性，不是保证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524000" y="1828800"/>
            <a:ext cx="77724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0975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7" name="Shape 5"/>
          <p:cNvSpPr/>
          <p:nvPr/>
        </p:nvSpPr>
        <p:spPr>
          <a:xfrm>
            <a:off x="949325" y="2084384"/>
            <a:ext cx="139700" cy="174654"/>
          </a:xfrm>
          <a:custGeom>
            <a:avLst/>
            <a:gdLst/>
            <a:ahLst/>
            <a:cxnLst/>
            <a:rect l="l" t="t" r="r" b="b"/>
            <a:pathLst>
              <a:path w="139700" h="174654">
                <a:moveTo>
                  <a:pt x="139700" y="96048"/>
                </a:moveTo>
                <a:cubicBezTo>
                  <a:pt x="139700" y="139704"/>
                  <a:pt x="109141" y="161532"/>
                  <a:pt x="72819" y="174192"/>
                </a:cubicBezTo>
                <a:arcTo hR="8731" wR="8731" stAng="4276817" swAng="2348977"/>
                <a:cubicBezTo>
                  <a:pt x="30559" y="161532"/>
                  <a:pt x="0" y="139704"/>
                  <a:pt x="0" y="96048"/>
                </a:cubicBezTo>
                <a:lnTo>
                  <a:pt x="0" y="34929"/>
                </a:lnTo>
                <a:arcTo hR="8731" wR="8731" stAng="10800000" swAng="5400000"/>
                <a:cubicBezTo>
                  <a:pt x="26194" y="26198"/>
                  <a:pt x="48022" y="15720"/>
                  <a:pt x="63214" y="2449"/>
                </a:cubicBezTo>
                <a:arcTo hR="10216" wR="10216" stAng="13769437" swAng="4861127"/>
                <a:cubicBezTo>
                  <a:pt x="91765" y="15807"/>
                  <a:pt x="113506" y="26198"/>
                  <a:pt x="130969" y="26198"/>
                </a:cubicBezTo>
                <a:arcTo hR="8731" wR="8731" stAng="16200000" swAng="5400000"/>
                <a:close/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981" y="2154238"/>
            <a:ext cx="52388" cy="34925"/>
          </a:xfrm>
          <a:custGeom>
            <a:avLst/>
            <a:gdLst/>
            <a:ahLst/>
            <a:cxnLst/>
            <a:rect l="l" t="t" r="r" b="b"/>
            <a:pathLst>
              <a:path w="52388" h="34925">
                <a:moveTo>
                  <a:pt x="0" y="17463"/>
                </a:moveTo>
                <a:lnTo>
                  <a:pt x="17463" y="34925"/>
                </a:ln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20535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能溢价的是确定性，不是保证：租客愿意为「我知道风险、我看到整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6350" y="23964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改、我有人赔付」付费，没有人能买到「绝对安全」。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3089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平台六项过程责任：发现、分级、披露、督促、下架、保险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138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产权人承担法定维修义务，赔付按过错归因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43186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四件套量化入合同：分级、停租阈值、SLA、赔付边界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17" name="Shape 15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｜ 智见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责任边界：过程责任六项，止步于结果承诺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348670" y="2609850"/>
            <a:ext cx="1075773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平台（过程权）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90223" y="2609850"/>
            <a:ext cx="87161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产权人（财产权）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0192" y="2609850"/>
            <a:ext cx="739620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保险（风险池）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878455"/>
            <a:ext cx="5922264" cy="0"/>
          </a:xfrm>
          <a:prstGeom prst="line">
            <a:avLst/>
          </a:prstGeom>
          <a:noFill/>
          <a:ln w="19050">
            <a:solidFill>
              <a:srgbClr val="1F27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297555"/>
            <a:ext cx="5922264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16655"/>
            <a:ext cx="5922264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135755"/>
            <a:ext cx="5922264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54855"/>
            <a:ext cx="5922264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973955"/>
            <a:ext cx="5922264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3034665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安全巡检与风险分级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48670" y="3034665"/>
            <a:ext cx="10757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90223" y="3034665"/>
            <a:ext cx="87161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0192" y="3034665"/>
            <a:ext cx="73962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8700" y="3453765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风险告知与披露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48670" y="3453765"/>
            <a:ext cx="10757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90223" y="3453765"/>
            <a:ext cx="87161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0192" y="3453765"/>
            <a:ext cx="73962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8700" y="3872865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整改督促与停租下架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48670" y="3872865"/>
            <a:ext cx="10757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承担（停租阈值=责任分洪闸）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90223" y="3872865"/>
            <a:ext cx="87161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拒不整改者责任移转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0192" y="3872865"/>
            <a:ext cx="73962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8700" y="4291965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房屋本体维修改造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48670" y="4291965"/>
            <a:ext cx="10757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不承担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90223" y="4291965"/>
            <a:ext cx="87161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法定无限义务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0192" y="4291965"/>
            <a:ext cx="73962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8700" y="4711065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事故赔付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48670" y="4711065"/>
            <a:ext cx="10757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过错归因：漏检/未告知/未下架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90223" y="4711065"/>
            <a:ext cx="87161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拒不整改后出租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0192" y="4711065"/>
            <a:ext cx="73962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不可抗力/使用不当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89064" y="2473833"/>
            <a:ext cx="4288536" cy="2476500"/>
          </a:xfrm>
          <a:prstGeom prst="roundRect">
            <a:avLst>
              <a:gd name="adj" fmla="val 769"/>
            </a:avLst>
          </a:prstGeom>
          <a:solidFill>
            <a:srgbClr val="DC2626"/>
          </a:solidFill>
          <a:ln/>
        </p:spPr>
      </p:sp>
      <p:sp>
        <p:nvSpPr>
          <p:cNvPr id="34" name="Shape 32"/>
          <p:cNvSpPr/>
          <p:nvPr/>
        </p:nvSpPr>
        <p:spPr>
          <a:xfrm>
            <a:off x="6989064" y="2502408"/>
            <a:ext cx="4288536" cy="2447925"/>
          </a:xfrm>
          <a:prstGeom prst="roundRect">
            <a:avLst>
              <a:gd name="adj" fmla="val 77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8146" y="3654823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17664" y="370255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17664" y="376605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8164" y="2715768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平台不做责任的终点：责任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8164" y="314439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以证据链为界、不以金额为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408164" y="3573018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界——巡检记录、风险告知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408164" y="400164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单、整改SLA、下架凭证，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408164" y="4430268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谁在证据链上失守谁担责。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证据：四组关键事实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1762125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19188" y="193833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71438"/>
                </a:moveTo>
                <a:lnTo>
                  <a:pt x="125159" y="71438"/>
                </a:lnTo>
                <a:arcTo hR="14288" wR="14288" stAng="16207353" swAng="-4467506"/>
                <a:lnTo>
                  <a:pt x="94583" y="141589"/>
                </a:lnTo>
                <a:arcTo hR="1786" wR="1786" stAng="975612" swAng="8848775"/>
                <a:lnTo>
                  <a:pt x="51721" y="1286"/>
                </a:lnTo>
                <a:arcTo hR="1786" wR="1786" stAng="20624388" swAng="-8848775"/>
                <a:lnTo>
                  <a:pt x="31504" y="61008"/>
                </a:lnTo>
                <a:arcTo hR="14288" wR="14288" stAng="939841" swAng="4450322"/>
                <a:lnTo>
                  <a:pt x="0" y="71438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2167890"/>
            <a:ext cx="12001500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12.7</a:t>
            </a:r>
            <a:pPr algn="l" indent="0" marL="0">
              <a:buNone/>
            </a:pPr>
            <a:r>
              <a:rPr lang="en-US" sz="1125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/万套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914400" y="2000250"/>
            <a:ext cx="1571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4900" y="260985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每万套风险 · 2026Q1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2828925" y="1809750"/>
            <a:ext cx="1762125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133725" y="2002631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42863"/>
                </a:moveTo>
                <a:lnTo>
                  <a:pt x="42863" y="42863"/>
                </a:lnTo>
                <a:lnTo>
                  <a:pt x="42863" y="0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3713" y="1974056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71438"/>
                </a:moveTo>
                <a:lnTo>
                  <a:pt x="82153" y="10716"/>
                </a:lnTo>
                <a:lnTo>
                  <a:pt x="46434" y="46434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9425" y="2114550"/>
            <a:ext cx="100869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-42%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2000250"/>
            <a:ext cx="3486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9425" y="2609850"/>
            <a:ext cx="10086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漏气同比 · 闭环见效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4743450" y="1809750"/>
            <a:ext cx="1762125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2525" y="1938334"/>
            <a:ext cx="114300" cy="142899"/>
          </a:xfrm>
          <a:custGeom>
            <a:avLst/>
            <a:gdLst/>
            <a:ahLst/>
            <a:cxnLst/>
            <a:rect l="l" t="t" r="r" b="b"/>
            <a:pathLst>
              <a:path w="114300" h="142899">
                <a:moveTo>
                  <a:pt x="114300" y="78584"/>
                </a:moveTo>
                <a:cubicBezTo>
                  <a:pt x="114300" y="114303"/>
                  <a:pt x="89297" y="132163"/>
                  <a:pt x="59579" y="142521"/>
                </a:cubicBezTo>
                <a:arcTo hR="7144" wR="7144" stAng="4276817" swAng="2348977"/>
                <a:cubicBezTo>
                  <a:pt x="25003" y="132163"/>
                  <a:pt x="0" y="114303"/>
                  <a:pt x="0" y="78584"/>
                </a:cubicBezTo>
                <a:lnTo>
                  <a:pt x="0" y="28578"/>
                </a:lnTo>
                <a:arcTo hR="7144" wR="7144" stAng="10800000" swAng="5400000"/>
                <a:cubicBezTo>
                  <a:pt x="21431" y="21434"/>
                  <a:pt x="39291" y="12862"/>
                  <a:pt x="51721" y="2003"/>
                </a:cubicBezTo>
                <a:arcTo hR="8358" wR="8358" stAng="13769437" swAng="4861127"/>
                <a:cubicBezTo>
                  <a:pt x="75081" y="12933"/>
                  <a:pt x="92869" y="21434"/>
                  <a:pt x="107156" y="21434"/>
                </a:cubicBezTo>
                <a:arcTo hR="7144" wR="7144" stAng="16200000" swAng="5400000"/>
                <a:close/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816" y="1991916"/>
            <a:ext cx="35719" cy="35719"/>
          </a:xfrm>
          <a:custGeom>
            <a:avLst/>
            <a:gdLst/>
            <a:ahLst/>
            <a:cxnLst/>
            <a:rect l="l" t="t" r="r" b="b"/>
            <a:pathLst>
              <a:path w="35719" h="35719">
                <a:moveTo>
                  <a:pt x="35719" y="0"/>
                </a:moveTo>
                <a:lnTo>
                  <a:pt x="0" y="35719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1816" y="1991916"/>
            <a:ext cx="35719" cy="35719"/>
          </a:xfrm>
          <a:custGeom>
            <a:avLst/>
            <a:gdLst/>
            <a:ahLst/>
            <a:cxnLst/>
            <a:rect l="l" t="t" r="r" b="b"/>
            <a:pathLst>
              <a:path w="35719" h="35719">
                <a:moveTo>
                  <a:pt x="0" y="0"/>
                </a:moveTo>
                <a:lnTo>
                  <a:pt x="35719" y="35719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3950" y="2114550"/>
            <a:ext cx="81724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2.5</a:t>
            </a:r>
            <a:pPr algn="l" indent="0" marL="0">
              <a:buNone/>
            </a:pPr>
            <a:r>
              <a:rPr lang="en-US" sz="135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万套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2000250"/>
            <a:ext cx="5400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3950" y="2609850"/>
            <a:ext cx="8172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18个月拦截风险房源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657975" y="1809750"/>
            <a:ext cx="1762125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9913" y="2009775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19913" y="1981200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9913" y="2038350"/>
            <a:ext cx="28575" cy="35719"/>
          </a:xfrm>
          <a:custGeom>
            <a:avLst/>
            <a:gdLst/>
            <a:ahLst/>
            <a:cxnLst/>
            <a:rect l="l" t="t" r="r" b="b"/>
            <a:pathLst>
              <a:path w="28575" h="35719">
                <a:moveTo>
                  <a:pt x="28575" y="35719"/>
                </a:moveTo>
                <a:lnTo>
                  <a:pt x="28575" y="14288"/>
                </a:lnTo>
                <a:arcTo hR="14288" wR="14288" stAng="0" swAng="-10800000"/>
                <a:lnTo>
                  <a:pt x="0" y="35719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2763" y="1974056"/>
            <a:ext cx="142875" cy="100013"/>
          </a:xfrm>
          <a:custGeom>
            <a:avLst/>
            <a:gdLst/>
            <a:ahLst/>
            <a:cxnLst/>
            <a:rect l="l" t="t" r="r" b="b"/>
            <a:pathLst>
              <a:path w="142875" h="100013">
                <a:moveTo>
                  <a:pt x="28575" y="21431"/>
                </a:moveTo>
                <a:lnTo>
                  <a:pt x="14288" y="21431"/>
                </a:lnTo>
                <a:arcTo hR="14288" wR="14288" stAng="16200000" swAng="-5400000"/>
                <a:lnTo>
                  <a:pt x="0" y="85725"/>
                </a:lnTo>
                <a:arcTo hR="14288" wR="14288" stAng="10800000" swAng="-5400000"/>
                <a:lnTo>
                  <a:pt x="128588" y="100013"/>
                </a:lnTo>
                <a:arcTo hR="14288" wR="14288" stAng="5400000" swAng="-5400000"/>
                <a:lnTo>
                  <a:pt x="142875" y="14288"/>
                </a:lnTo>
                <a:arcTo hR="14288" wR="14288" stAng="0" swAng="-5400000"/>
                <a:lnTo>
                  <a:pt x="114300" y="0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91338" y="1945481"/>
            <a:ext cx="85725" cy="128588"/>
          </a:xfrm>
          <a:custGeom>
            <a:avLst/>
            <a:gdLst/>
            <a:ahLst/>
            <a:cxnLst/>
            <a:rect l="l" t="t" r="r" b="b"/>
            <a:pathLst>
              <a:path w="85725" h="128588">
                <a:moveTo>
                  <a:pt x="0" y="128588"/>
                </a:moveTo>
                <a:lnTo>
                  <a:pt x="0" y="14288"/>
                </a:lnTo>
                <a:arcTo hR="14288" wR="14288" stAng="10800000" swAng="5400000"/>
                <a:lnTo>
                  <a:pt x="71438" y="0"/>
                </a:lnTo>
                <a:arcTo hR="14288" wR="14288" stAng="16200000" swAng="5400000"/>
                <a:lnTo>
                  <a:pt x="85725" y="128588"/>
                </a:lnTo>
              </a:path>
            </a:pathLst>
          </a:custGeom>
          <a:noFill/>
          <a:ln w="14288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475" y="2137410"/>
            <a:ext cx="6257925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10</a:t>
            </a:r>
            <a:pPr algn="l" indent="0" marL="0">
              <a:buNone/>
            </a:pPr>
            <a:r>
              <a:rPr lang="en-US" sz="1275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万套+</a:t>
            </a:r>
            <a:endParaRPr lang="en-US" sz="2775" dirty="0"/>
          </a:p>
        </p:txBody>
      </p:sp>
      <p:sp>
        <p:nvSpPr>
          <p:cNvPr id="29" name="Text 27"/>
          <p:cNvSpPr/>
          <p:nvPr/>
        </p:nvSpPr>
        <p:spPr>
          <a:xfrm>
            <a:off x="914400" y="2000250"/>
            <a:ext cx="731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48475" y="2602230"/>
            <a:ext cx="62579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成都燃气联合管控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1946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4400" y="36233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无地线冰箱漏电投诉（媒体口径）：电气在原地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4400" y="41281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累计赔付金超 2 亿元（媒体口径，性质待拆分）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4400" y="46329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无锡/深圳/杭州九个月三地立法，安全义务显性化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1A3A5C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1A3A5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管控有效：漏气降42%的闭环逻辑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799588"/>
            <a:ext cx="5922264" cy="1619250"/>
          </a:xfrm>
          <a:prstGeom prst="roundRect">
            <a:avLst>
              <a:gd name="adj" fmla="val 1176"/>
            </a:avLst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28163"/>
            <a:ext cx="5922264" cy="1590675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625" y="3544126"/>
            <a:ext cx="158750" cy="158750"/>
          </a:xfrm>
          <a:prstGeom prst="ellipse">
            <a:avLst/>
          </a:pr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623501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591751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304152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口径警示：42%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33500" y="3470148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是改善还是口径红利，需台账/出险/投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33500" y="389877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诉三方交叉验证。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9A96E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9564" y="3041333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2026Q1 每万套风险 12.7、漏气同比降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179564" y="3298508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42%（企业披露口径）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179564" y="3631883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42% 的降幅只能来自干预闭环：发现→处置→复验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7179564" y="3965257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12.7 是发现率不是事故率；降幅须与检出量分离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7179564" y="4298633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成都燃气合作（超十万套）：平台不自建安检队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179564" y="4555808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，联合管控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1A3A5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电气盲区：燃气与电气的一进一退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515868" y="1958340"/>
            <a:ext cx="959053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燃气（已跑通）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17564" y="1958340"/>
            <a:ext cx="66888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电气（未闭合）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19050">
            <a:solidFill>
              <a:srgbClr val="1F2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67000"/>
            <a:ext cx="10363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86100"/>
            <a:ext cx="10363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05200"/>
            <a:ext cx="10363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924300"/>
            <a:ext cx="10363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392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风险性质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5868" y="2392680"/>
            <a:ext cx="95905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可单套闭环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7564" y="2392680"/>
            <a:ext cx="668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整栋楼接地系统缺陷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2811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单套成本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15868" y="2811780"/>
            <a:ext cx="95905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百元至千元级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7564" y="2811780"/>
            <a:ext cx="668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数千至数万元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230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监管压力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5868" y="3230880"/>
            <a:ext cx="95905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爆燃关注度高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7564" y="3230880"/>
            <a:ext cx="668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常被民事化为「房屋瑕疵」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649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溢价可生成性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5868" y="3649980"/>
            <a:ext cx="95905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可检测可交付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7564" y="3649980"/>
            <a:ext cx="668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无法证明交付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076700"/>
            <a:ext cx="10363200" cy="1619250"/>
          </a:xfrm>
          <a:prstGeom prst="roundRect">
            <a:avLst>
              <a:gd name="adj" fmla="val 1176"/>
            </a:avLst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105275"/>
            <a:ext cx="10363200" cy="1590675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3482" y="4829065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487680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494030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33500" y="43186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333500" y="47472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无地线冰箱漏电受伤投诉（媒体披露口径）：责任按「缺陷归属」切割—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333500" y="51758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—冰箱属租客、无地线属房屋。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归因一：三重驱动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248150"/>
          </a:xfrm>
          <a:prstGeom prst="line">
            <a:avLst/>
          </a:prstGeom>
          <a:noFill/>
          <a:ln w="9525">
            <a:solidFill>
              <a:srgbClr val="D8DFE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2009775"/>
          </a:xfrm>
          <a:prstGeom prst="roundRect">
            <a:avLst>
              <a:gd name="adj" fmla="val 2844"/>
            </a:avLst>
          </a:prstGeom>
          <a:noFill/>
          <a:ln w="9525">
            <a:solidFill>
              <a:srgbClr val="D8DFE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4010025"/>
            <a:ext cx="4038600" cy="2009775"/>
          </a:xfrm>
          <a:prstGeom prst="roundRect">
            <a:avLst>
              <a:gd name="adj" fmla="val 2844"/>
            </a:avLst>
          </a:prstGeom>
          <a:noFill/>
          <a:ln w="9525">
            <a:solidFill>
              <a:srgbClr val="D8DFE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895725"/>
            <a:ext cx="4038600" cy="0"/>
          </a:xfrm>
          <a:prstGeom prst="line">
            <a:avLst/>
          </a:prstGeom>
          <a:noFill/>
          <a:ln w="9525">
            <a:solidFill>
              <a:srgbClr val="D8DFE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71650"/>
            <a:ext cx="6019800" cy="1343025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2262188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83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52600" y="218408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存量欠账暴露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752600" y="2427923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成都租赁房源大量为 2000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52600" y="2589848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年前后老房，无地线、燃气超期是历史欠账；产权人无动力也无能力整改，平台站在第一暴露面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248025"/>
            <a:ext cx="6019800" cy="141922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3776663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9286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52600" y="366045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买方市场转服务力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752600" y="391953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租客用脚投票，安全是服务力权重最高的单项；谁先建立可量化安全能力，谁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752600" y="411956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获得选择率溢价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60198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5229225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454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521303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监管显性化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547211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无锡、深圳、杭州九个月内立法，平台安全义务从自愿投入变成法定成本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8D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归因二：投入强度公式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5B6570"/>
          </a:solidFill>
          <a:ln/>
        </p:spPr>
      </p:sp>
      <p:sp>
        <p:nvSpPr>
          <p:cNvPr id="7" name="Shape 5"/>
          <p:cNvSpPr/>
          <p:nvPr/>
        </p:nvSpPr>
        <p:spPr>
          <a:xfrm>
            <a:off x="585788" y="2006600"/>
            <a:ext cx="104775" cy="139700"/>
          </a:xfrm>
          <a:custGeom>
            <a:avLst/>
            <a:gdLst/>
            <a:ahLst/>
            <a:cxnLst/>
            <a:rect l="l" t="t" r="r" b="b"/>
            <a:pathLst>
              <a:path w="104775" h="139700">
                <a:moveTo>
                  <a:pt x="104775" y="26194"/>
                </a:moveTo>
                <a:lnTo>
                  <a:pt x="104775" y="8731"/>
                </a:lnTo>
                <a:arcTo hR="8731" wR="8731" stAng="0" swAng="-5400000"/>
                <a:lnTo>
                  <a:pt x="4366" y="0"/>
                </a:lnTo>
                <a:arcTo hR="4366" wR="4366" stAng="16200000" swAng="-7612194"/>
                <a:lnTo>
                  <a:pt x="40164" y="59373"/>
                </a:lnTo>
                <a:arcTo hR="17463" wR="17463" stAng="19387806" swAng="4424388"/>
                <a:lnTo>
                  <a:pt x="873" y="132715"/>
                </a:lnTo>
                <a:arcTo hR="4366" wR="4366" stAng="13012194" swAng="-7612194"/>
                <a:lnTo>
                  <a:pt x="96044" y="139700"/>
                </a:lnTo>
                <a:arcTo hR="8731" wR="8731" stAng="5400000" swAng="-5400000"/>
                <a:lnTo>
                  <a:pt x="104775" y="113506"/>
                </a:lnTo>
              </a:path>
            </a:pathLst>
          </a:custGeom>
          <a:noFill/>
          <a:ln w="17463">
            <a:solidFill>
              <a:srgbClr val="5B6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350" y="19583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平台投入强度 = 整改可闭环度 × 监管压力 × 溢价可生成性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3400" y="26422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燃气三项全高：可单套闭环、爆燃监管倒逼、可交付「安心租」溢价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3400" y="31470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电气三项全低：单套无解、监管压力小、无法证明交付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3400" y="36518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偏科不是态度问题，是结构问题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3400" y="4476750"/>
            <a:ext cx="11125200" cy="1190625"/>
          </a:xfrm>
          <a:prstGeom prst="roundRect">
            <a:avLst>
              <a:gd name="adj" fmla="val 1600"/>
            </a:avLst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505325"/>
            <a:ext cx="1112520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2625" y="5006975"/>
            <a:ext cx="158750" cy="158750"/>
          </a:xfrm>
          <a:prstGeom prst="ellipse">
            <a:avLst/>
          </a:pr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508635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505460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47186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责任边界成为核心矛盾的根源：义务与能力错配——维修义务法定在产权人，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2500" y="51473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产权人不居住不巡检；平台有触达能力却无法定义务。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破解：证据链划界与停租分洪闸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276350" y="2240090"/>
            <a:ext cx="0" cy="809625"/>
          </a:xfrm>
          <a:prstGeom prst="lin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6350" y="3049715"/>
            <a:ext cx="0" cy="809625"/>
          </a:xfrm>
          <a:prstGeom prst="lin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6350" y="3859340"/>
            <a:ext cx="0" cy="809625"/>
          </a:xfrm>
          <a:prstGeom prst="lin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06740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6579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4000" y="2155317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巡检记录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24000" y="2614422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发现即留痕，分级全流程可审计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" y="2916365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7542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4000" y="2964942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风险告知单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24000" y="3424047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披露标准化，责任归属显性告知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3000" y="3725990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8504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24000" y="3774567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整改SLA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24000" y="4233672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7日闭环：燃气≥90%，电气单列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4535615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9467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24000" y="4584192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停租下架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524000" y="5043297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达标即下架：责任分洪闸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责任以证据链为界、不以金额为界；停租阈值后仍出租，责任自动移转业主。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1A3A5C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验证协议：6个月盯五指标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267200"/>
            <a:ext cx="5029200" cy="419100"/>
          </a:xfrm>
          <a:prstGeom prst="rect">
            <a:avLst/>
          </a:prstGeom>
          <a:solidFill>
            <a:srgbClr val="F6F1E8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23012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观察指标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39929" y="2301240"/>
            <a:ext cx="1046647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阈值 / 基线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48300" y="2301240"/>
            <a:ext cx="765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指向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1F27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686300"/>
            <a:ext cx="50292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2735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巡检覆盖率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9929" y="2735580"/>
            <a:ext cx="104664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十万套月度巡检占比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8300" y="2735580"/>
            <a:ext cx="765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160395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发现率（每万套风险）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39929" y="3154680"/>
            <a:ext cx="104664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12.7 基线（企业披露口径）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8300" y="3154680"/>
            <a:ext cx="765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7日整改闭环率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39929" y="3573780"/>
            <a:ext cx="104664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燃气 ≥90%，电气单列（建议值）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8300" y="3573780"/>
            <a:ext cx="765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≥90%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重复风险率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39929" y="3992880"/>
            <a:ext cx="104664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同一房源复发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8300" y="3992880"/>
            <a:ext cx="765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≤5%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4411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赔付率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39929" y="4410075"/>
            <a:ext cx="104664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赔付/安全服务收入 ≤30-40%（建议值）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5448300" y="4411980"/>
            <a:ext cx="765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7853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建议阈值为研判框架值；统计口径需第三方核验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48400" y="2171700"/>
            <a:ext cx="5029200" cy="3333750"/>
          </a:xfrm>
          <a:prstGeom prst="roundRect">
            <a:avLst>
              <a:gd name="adj" fmla="val 571"/>
            </a:avLst>
          </a:prstGeom>
          <a:solidFill>
            <a:srgbClr val="1A3A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8400" y="2200275"/>
            <a:ext cx="5029200" cy="3305175"/>
          </a:xfrm>
          <a:prstGeom prst="roundRect">
            <a:avLst>
              <a:gd name="adj" fmla="val 576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397625" y="3773487"/>
            <a:ext cx="158750" cy="158750"/>
          </a:xfrm>
          <a:prstGeom prst="ellipse">
            <a:avLst/>
          </a:pr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7000" y="385286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7000" y="38211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7500" y="24136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五数同向改善 →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667500" y="28422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溢价模型成立、可复制；闭环率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667500" y="32708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&lt;70% 或重复率抬头 →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667500" y="36995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出口堵塞，先修出口再扩规模；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667500" y="41281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赔付率超健康线 →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667500" y="45567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分级失效，收缩承诺而非加投入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667500" y="49853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。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8D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展望：电气破局三条腿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3454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43100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" y="200215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2358390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披露前置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26650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签约前强制披露电气检测结果，告知标准化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8800" y="1714500"/>
            <a:ext cx="3454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97400" y="1943100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" y="2002155"/>
            <a:ext cx="8394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7400" y="2358390"/>
            <a:ext cx="8128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保险嵌入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7400" y="2665095"/>
            <a:ext cx="8128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电气事故险嵌入租金、精算定价，赔付走保险不走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7400" y="2855595"/>
            <a:ext cx="8128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平台自有资金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04200" y="1714500"/>
            <a:ext cx="3454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2800" y="1943100"/>
            <a:ext cx="266700" cy="2667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406900" y="2002155"/>
            <a:ext cx="8318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2800" y="2358390"/>
            <a:ext cx="4292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数据对接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32800" y="2665095"/>
            <a:ext cx="4292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无地线问题数据化，对接城市更新与老旧小区改造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32800" y="2855595"/>
            <a:ext cx="4292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专项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4000" y="2462213"/>
            <a:ext cx="152400" cy="0"/>
          </a:xfrm>
          <a:prstGeom prst="lin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6400" y="24241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99400" y="2462213"/>
            <a:ext cx="152400" cy="0"/>
          </a:xfrm>
          <a:prstGeom prst="lin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51800" y="24241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B6570"/>
          </a:solidFill>
          <a:ln/>
        </p:spPr>
      </p:sp>
      <p:sp>
        <p:nvSpPr>
          <p:cNvPr id="26" name="Text 24"/>
          <p:cNvSpPr/>
          <p:nvPr/>
        </p:nvSpPr>
        <p:spPr>
          <a:xfrm>
            <a:off x="533400" y="36804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平台角色：风险揭示者 + 保险组织者，不做整改兜底者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3400" y="41852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制度机会：验证后写入地方标准——先行者制定规则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3400" y="46901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海外参照：日本赁贷住宅管理业法、美国出租人维修义务法定化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四大不确定性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336673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71575" y="2541461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766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52600" y="252526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① 口径风险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752600" y="278434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12.7 与 -42% 的分母、基期未独立核实，需三方交叉验证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914400" y="3241548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71575" y="3446335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6254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2600" y="343014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② 出口盲区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752600" y="368922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2.5 万套拦截房源去向未披露，或只是账面安全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14400" y="4146423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4351210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6741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433501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③ 赔付性质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459409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 亿元+（媒体披露口径）是保障金还是事故赔付未拆分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5051298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5256086"/>
            <a:ext cx="361950" cy="361950"/>
          </a:xfrm>
          <a:prstGeom prst="ellipse">
            <a:avLst/>
          </a:prstGeom>
          <a:noFill/>
          <a:ln w="14288">
            <a:solidFill>
              <a:srgbClr val="5B6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7229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523989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④ 司法尾部风险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549897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致死事故下「承诺安全」可能被认定管理义务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6个月观察期不覆盖完整冬季（燃气事故高发季），同比口径受季节性干扰——需一个完整年度再下结论。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1A3A5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口径附录：数字、口径与核验状态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248150"/>
          </a:xfrm>
          <a:prstGeom prst="line">
            <a:avLst/>
          </a:prstGeom>
          <a:noFill/>
          <a:ln w="9525">
            <a:solidFill>
              <a:srgbClr val="D8DFE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42481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8DFE8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306574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86645" y="2306574"/>
            <a:ext cx="1021975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15674" y="2306574"/>
            <a:ext cx="769072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核验状态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596134"/>
            <a:ext cx="6019800" cy="0"/>
          </a:xfrm>
          <a:prstGeom prst="line">
            <a:avLst/>
          </a:prstGeom>
          <a:noFill/>
          <a:ln w="19050">
            <a:solidFill>
              <a:srgbClr val="1F27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152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4343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534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725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6916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110734"/>
            <a:ext cx="6019800" cy="0"/>
          </a:xfrm>
          <a:prstGeom prst="line">
            <a:avLst/>
          </a:prstGeom>
          <a:noFill/>
          <a:ln w="9525">
            <a:solidFill>
              <a:srgbClr val="D8D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754249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每万套风险 12.7 / 漏气 -42%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86645" y="2754249"/>
            <a:ext cx="1021975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贝壳成出口径（新浪财经 2026-05-19）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415674" y="2746629"/>
            <a:ext cx="769072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统计口径需第三方核验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8700" y="316001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成都燃气合作 10 万套+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6645" y="3158109"/>
            <a:ext cx="102197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企业披露（乐居财经 2026-08-08）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15674" y="3171444"/>
            <a:ext cx="769072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中国建设报/央广网可核验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8700" y="357911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 个月拦截 2.5 万套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6645" y="3579114"/>
            <a:ext cx="102197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企业披露（网易 2026-07-13）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15674" y="3584829"/>
            <a:ext cx="769072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凤凰网/北京商报可核验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8700" y="399821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赔付金 2 亿元+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6645" y="3998214"/>
            <a:ext cx="102197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媒体披露（格隆汇）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5674" y="3998214"/>
            <a:ext cx="769072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性质待拆分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441731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无地线漏电投诉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86645" y="4415409"/>
            <a:ext cx="102197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媒体披露（新浪科技 2026-08-13）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415674" y="4417314"/>
            <a:ext cx="769072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可核验存在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" y="483641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无锡/深圳/杭州政策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86645" y="4836414"/>
            <a:ext cx="102197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政府公报/区政府网/住保房管局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5674" y="4836414"/>
            <a:ext cx="769072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可核验存在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209794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政策时段：2025-09 至 2026-08；行业经验估值与建议阈值为研判框架值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39000" y="2607754"/>
            <a:ext cx="4038600" cy="2047875"/>
          </a:xfrm>
          <a:prstGeom prst="roundRect">
            <a:avLst>
              <a:gd name="adj" fmla="val 930"/>
            </a:avLst>
          </a:prstGeom>
          <a:solidFill>
            <a:srgbClr val="1A3A5C"/>
          </a:solidFill>
          <a:ln/>
        </p:spPr>
      </p:sp>
      <p:sp>
        <p:nvSpPr>
          <p:cNvPr id="37" name="Shape 35"/>
          <p:cNvSpPr/>
          <p:nvPr/>
        </p:nvSpPr>
        <p:spPr>
          <a:xfrm>
            <a:off x="7239000" y="2636329"/>
            <a:ext cx="4038600" cy="20193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388225" y="3566605"/>
            <a:ext cx="158750" cy="158750"/>
          </a:xfrm>
          <a:prstGeom prst="ellipse">
            <a:avLst/>
          </a:pr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7600" y="3645979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67600" y="361423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58100" y="284969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预测类表述均为研判推断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658100" y="327831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。一句话收束：平台做的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658100" y="370694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是「确定性生意」，不是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658100" y="413556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「安全保证生意」。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DF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98wiki ｜ 智见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1A3A5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667000" cy="2286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715000"/>
            <a:ext cx="1333500" cy="11430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277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｜ 智见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2030730"/>
            <a:ext cx="838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平台做的是确定性生意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3810000" y="2811780"/>
            <a:ext cx="838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F273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，不是安全保证生意</a:t>
            </a:r>
            <a:endParaRPr lang="en-US" sz="5700" dirty="0"/>
          </a:p>
        </p:txBody>
      </p:sp>
      <p:sp>
        <p:nvSpPr>
          <p:cNvPr id="10" name="Shape 8"/>
          <p:cNvSpPr/>
          <p:nvPr/>
        </p:nvSpPr>
        <p:spPr>
          <a:xfrm>
            <a:off x="3810000" y="4343400"/>
            <a:ext cx="7467600" cy="0"/>
          </a:xfrm>
          <a:prstGeom prst="line">
            <a:avLst/>
          </a:prstGeom>
          <a:noFill/>
          <a:ln w="13335">
            <a:solidFill>
              <a:srgbClr val="D8DFE8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