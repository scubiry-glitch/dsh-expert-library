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是唯一结论先于论证的页，语气笃定、节奏放慢。把“非强刺激”三条证据链念出来：①期限和盘子约束；②工具集中在公积金与交易环节；③城市接力而非全国统一行动。明确预告P8预判均为研判推断，不是消息。收一句可复述的话：这轮政策修的是循环，不是总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强调“量正价负”是触底段特征（以价换量→量稳价筑的过渡），不是回暖完成态。点出上海＝参照系：循环最完整→唯一新房正增长，为P5/P6埋伏笔。主动交代口径差异：深圳网签为6月、广州网签缺失、价格为70城指数口径。提醒：环比连涨≠同比转正（见P10基数效应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本页只摆事实不解读，节奏轻快防信息过载。给节奏感：2024全国统一救急→2025地方零星调整→2026城市接力成体系。强调2026年节点全部官方原文核验，可信度先行。预告：这套时间轴合看就是P5的闭环。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全篇证据最密集的一页，放慢节奏逐条归位。强调北京拆摩擦、上海补成本与退出，两市拼成一个“换”字闭环。把补贴盘子讲成政策语言：2亿元用完即止，不是无限弹药——这是“非强刺激”的最硬证据。呼应P2证据链：工具全部在公积金与交易环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清为什么2024的工具现在不灵了：存量时代二手体量数倍于新房，循环断裂时放资格只增挂牌不增接盘。点出供求根源：上海一二手成交比约2:1以上。这是“非强刺激”判断的深层逻辑，建议在此页停留提问时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矩阵是“预判的底稿”：告诉听众“深圳留白”不是漏项，而是下一轮的弹药。读出层次：公积金＝共同底座；补贴/房票/收储＝循环关键件，沪穗先行；北京独有摩擦拆解件；广州工具箱最全。好房子维度点一句：广州已有上浮30%+现房试点，深圳好房子工具空白——循环放量后供给兑现速度是深圳短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语速放慢，先念免责声明再讲内容。给推理链而非结论：高概率三条分别对应参照系（穗沪已出+深圳留白）、到期日历（穗补贴12-31）、技术窗口（9·20条例）。强调预判框架：政策有效性看是否打通“卖旧→买新”闭环，而非放松力度。提醒听众：这是判断，不是消息；以P9窗口信号验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把三个窗口写进例会日历。提醒：环比连涨≠同比转正——四城二手同比全面转正大概率要到2027年（基数效应）。判断标尺：是否打通“卖旧→买新”闭环，而非放松力度。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是“诚实的背面”：主动讲风险提升可信度，管理层最吃这一页。强调不确定性成立是“基调下修”而非“方向反转”。提醒风险再配置的机制性含义：工具未消灭风险，只转移了风险承担主体（银行流程与政府国企资产负债表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收束到开场三个问题：这轮政策在修什么循环？与2024年有何不同？盯哪三个信号？给一句可带走的结论：“四城拼成一个闭环，深圳留白是下一轮的弹药。”预告Q&amp;A，指向P12口径页。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Q&amp;A前亮本页，一句话：“所有数字都能在这页找到口径，所有预判都不是消息。”如有追问具体政策细节，以官方原文为准（附录提供核验渠道）。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714500"/>
            <a:ext cx="57150" cy="3429000"/>
          </a:xfrm>
          <a:prstGeom prst="rect">
            <a:avLst/>
          </a:prstGeom>
          <a:solidFill>
            <a:srgbClr val="002FA7"/>
          </a:solidFill>
          <a:ln/>
        </p:spPr>
      </p:sp>
      <p:sp>
        <p:nvSpPr>
          <p:cNvPr id="4" name="Shape 2"/>
          <p:cNvSpPr/>
          <p:nvPr/>
        </p:nvSpPr>
        <p:spPr>
          <a:xfrm>
            <a:off x="11430000" y="5943600"/>
            <a:ext cx="228600" cy="228600"/>
          </a:xfrm>
          <a:prstGeom prst="rect">
            <a:avLst/>
          </a:prstGeom>
          <a:solidFill>
            <a:srgbClr val="002FA7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4876800" cy="6858000"/>
          </a:xfrm>
          <a:prstGeom prst="rect">
            <a:avLst/>
          </a:prstGeom>
          <a:solidFill>
            <a:srgbClr val="002FA7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4953000"/>
            <a:ext cx="1905000" cy="1905000"/>
          </a:xfrm>
          <a:custGeom>
            <a:avLst/>
            <a:gdLst/>
            <a:ahLst/>
            <a:cxnLst/>
            <a:rect l="l" t="t" r="r" b="b"/>
            <a:pathLst>
              <a:path w="1905000" h="1905000">
                <a:moveTo>
                  <a:pt x="0" y="1905000"/>
                </a:moveTo>
                <a:lnTo>
                  <a:pt x="0" y="0"/>
                </a:lnTo>
                <a:lnTo>
                  <a:pt x="1905000" y="1905000"/>
                </a:lnTo>
                <a:close/>
              </a:path>
            </a:pathLst>
          </a:custGeom>
          <a:solidFill>
            <a:srgbClr val="004C38"/>
          </a:solidFill>
          <a:ln/>
        </p:spPr>
      </p:sp>
      <p:sp>
        <p:nvSpPr>
          <p:cNvPr id="7" name="Text 5"/>
          <p:cNvSpPr/>
          <p:nvPr/>
        </p:nvSpPr>
        <p:spPr>
          <a:xfrm>
            <a:off x="609600" y="2474595"/>
            <a:ext cx="11582400" cy="731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京沪深广房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609600" y="3131820"/>
            <a:ext cx="11582400" cy="731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地产政策联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609600" y="3789045"/>
            <a:ext cx="11582400" cy="731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合分析</a:t>
            </a:r>
            <a:endParaRPr lang="en-US" sz="4800" dirty="0"/>
          </a:p>
        </p:txBody>
      </p:sp>
      <p:sp>
        <p:nvSpPr>
          <p:cNvPr id="10" name="Shape 8"/>
          <p:cNvSpPr/>
          <p:nvPr/>
        </p:nvSpPr>
        <p:spPr>
          <a:xfrm>
            <a:off x="5486400" y="1371600"/>
            <a:ext cx="228600" cy="228600"/>
          </a:xfrm>
          <a:prstGeom prst="ellipse">
            <a:avLst/>
          </a:prstGeom>
          <a:solidFill>
            <a:srgbClr val="002FA7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0" y="1356360"/>
            <a:ext cx="1173480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1416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专家库 · 智见点评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5486400" y="2133600"/>
            <a:ext cx="5791200" cy="0"/>
          </a:xfrm>
          <a:prstGeom prst="line">
            <a:avLst/>
          </a:prstGeom>
          <a:noFill/>
          <a:ln w="13335">
            <a:solidFill>
              <a:srgbClr val="E8E8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0" y="2354580"/>
            <a:ext cx="670560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1416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李宇嘉 · 存量循环派</a:t>
            </a:r>
            <a:endParaRPr lang="en-US" sz="195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1582400" y="419100"/>
            <a:ext cx="95250" cy="95250"/>
          </a:xfrm>
          <a:prstGeom prst="rect">
            <a:avLst/>
          </a:prstGeom>
          <a:solidFill>
            <a:srgbClr val="002FA7">
              <a:alpha val="8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078230"/>
            <a:ext cx="11277600" cy="525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1416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核心结论：存量循环修复，非强刺激</a:t>
            </a:r>
            <a:endParaRPr lang="en-US" sz="3450" dirty="0"/>
          </a:p>
        </p:txBody>
      </p:sp>
      <p:sp>
        <p:nvSpPr>
          <p:cNvPr id="5" name="Shape 3"/>
          <p:cNvSpPr/>
          <p:nvPr/>
        </p:nvSpPr>
        <p:spPr>
          <a:xfrm>
            <a:off x="914400" y="1638300"/>
            <a:ext cx="685800" cy="38100"/>
          </a:xfrm>
          <a:prstGeom prst="rect">
            <a:avLst/>
          </a:prstGeom>
          <a:solidFill>
            <a:srgbClr val="002FA7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1847850"/>
            <a:ext cx="10363200" cy="0"/>
          </a:xfrm>
          <a:prstGeom prst="line">
            <a:avLst/>
          </a:prstGeom>
          <a:noFill/>
          <a:ln w="9525">
            <a:solidFill>
              <a:srgbClr val="E8E8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236470"/>
            <a:ext cx="12192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416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性质判断：存量循环修复，非强刺激——沪穗补贴各2亿元、用完即…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2636520"/>
            <a:ext cx="12192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416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止（期限+盘子约束）【政策事实】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3036570"/>
            <a:ext cx="12192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416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范式切换：从2024年「能不能买」转向「卖不卖得掉、换不换得起…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3436620"/>
            <a:ext cx="12192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416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、退不退得出」，未触碰利率税费等全局性工具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14400" y="3836670"/>
            <a:ext cx="12192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416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市场阶段：量先行、价筑底——四城二手网签同比全正、价格同比全…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4236720"/>
            <a:ext cx="12192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416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负（沪-2.0%＜深-3.6%＜京-4.5%＜穗-4.7%）【市场事实】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4636770"/>
            <a:ext cx="12192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416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节奏特征：城市自主接力（广深4月底先行→京沪8月跟进），而非…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14400" y="5036820"/>
            <a:ext cx="12192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416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全国统一行动【政策事实】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14400" y="5436870"/>
            <a:ext cx="12192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416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前瞻：广深下一轮高概率＝深圳以旧换新补贴、广州补贴续期或加…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14400" y="5836920"/>
            <a:ext cx="12192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416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码、深圳公积金带押过户扩围【研判推断·详见P8】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E8E8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5F62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专家库 · 智见点评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1409700"/>
            <a:ext cx="1219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416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市场坐标：量先行、价筑底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867400" y="1905000"/>
            <a:ext cx="457200" cy="28575"/>
          </a:xfrm>
          <a:prstGeom prst="roundRect">
            <a:avLst>
              <a:gd name="adj" fmla="val 50000"/>
            </a:avLst>
          </a:prstGeom>
          <a:solidFill>
            <a:srgbClr val="002FA7"/>
          </a:solidFill>
          <a:ln/>
        </p:spPr>
      </p:sp>
      <p:sp>
        <p:nvSpPr>
          <p:cNvPr id="5" name="Shape 3"/>
          <p:cNvSpPr/>
          <p:nvPr/>
        </p:nvSpPr>
        <p:spPr>
          <a:xfrm>
            <a:off x="3048000" y="2669019"/>
            <a:ext cx="1409700" cy="2234565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9525">
            <a:solidFill>
              <a:srgbClr val="E4E4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38500" y="3498647"/>
            <a:ext cx="120015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16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23,078套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048000" y="3319577"/>
            <a:ext cx="12192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0A0E14"/>
                </a:solidFill>
              </a:rPr>
              <a:t>↑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238500" y="3921557"/>
            <a:ext cx="120015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F62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上海·二手7月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38500" y="4131107"/>
            <a:ext cx="12001500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5F62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同比+19.3%（1-7月+14%）</a:t>
            </a:r>
            <a:endParaRPr lang="en-US" sz="825" dirty="0"/>
          </a:p>
        </p:txBody>
      </p:sp>
      <p:sp>
        <p:nvSpPr>
          <p:cNvPr id="10" name="Shape 8"/>
          <p:cNvSpPr/>
          <p:nvPr/>
        </p:nvSpPr>
        <p:spPr>
          <a:xfrm>
            <a:off x="4610100" y="2669019"/>
            <a:ext cx="1409700" cy="2234565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9525">
            <a:solidFill>
              <a:srgbClr val="E4E4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3498647"/>
            <a:ext cx="104394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16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14,037套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048000" y="3319577"/>
            <a:ext cx="27813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0A0E14"/>
                </a:solidFill>
              </a:rPr>
              <a:t>↑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800600" y="3921557"/>
            <a:ext cx="104394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F62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北京·二手7月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00600" y="4131107"/>
            <a:ext cx="10439400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5F62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同比+9.8%（1-7月+6.2%）</a:t>
            </a:r>
            <a:endParaRPr lang="en-US" sz="825" dirty="0"/>
          </a:p>
        </p:txBody>
      </p:sp>
      <p:sp>
        <p:nvSpPr>
          <p:cNvPr id="15" name="Shape 13"/>
          <p:cNvSpPr/>
          <p:nvPr/>
        </p:nvSpPr>
        <p:spPr>
          <a:xfrm>
            <a:off x="6172200" y="2669019"/>
            <a:ext cx="1409700" cy="2234565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9525">
            <a:solidFill>
              <a:srgbClr val="E4E4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62700" y="3468167"/>
            <a:ext cx="887730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416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5,093套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3048000" y="3319577"/>
            <a:ext cx="4343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0A0E14"/>
                </a:solidFill>
              </a:rPr>
              <a:t>↑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362700" y="3921557"/>
            <a:ext cx="8877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F62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深圳·二手6月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62700" y="4131107"/>
            <a:ext cx="8877300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5F62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同比+13.1%（连涨5月）</a:t>
            </a:r>
            <a:endParaRPr lang="en-US" sz="825" dirty="0"/>
          </a:p>
        </p:txBody>
      </p:sp>
      <p:sp>
        <p:nvSpPr>
          <p:cNvPr id="20" name="Shape 18"/>
          <p:cNvSpPr/>
          <p:nvPr/>
        </p:nvSpPr>
        <p:spPr>
          <a:xfrm>
            <a:off x="7734300" y="2669019"/>
            <a:ext cx="1409700" cy="2234565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9525">
            <a:solidFill>
              <a:srgbClr val="E4E4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24800" y="3430067"/>
            <a:ext cx="7315200" cy="3771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475" b="1" dirty="0">
                <a:solidFill>
                  <a:srgbClr val="1416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+3.0%</a:t>
            </a:r>
            <a:endParaRPr lang="en-US" sz="2475" dirty="0"/>
          </a:p>
        </p:txBody>
      </p:sp>
      <p:sp>
        <p:nvSpPr>
          <p:cNvPr id="22" name="Text 20"/>
          <p:cNvSpPr/>
          <p:nvPr/>
        </p:nvSpPr>
        <p:spPr>
          <a:xfrm>
            <a:off x="3048000" y="3319577"/>
            <a:ext cx="5905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0A0E14"/>
                </a:solidFill>
              </a:rPr>
              <a:t>↑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924800" y="3921557"/>
            <a:ext cx="73152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F62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上海·新房同比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924800" y="4131107"/>
            <a:ext cx="7315200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5F62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四城唯一正增长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0" y="6073140"/>
            <a:ext cx="1219200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975" i="1" dirty="0">
                <a:solidFill>
                  <a:srgbClr val="5F62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读数：①量正价负＝触底段特征；②流动性厚度＝四城分化第一解释变量（沪≈京1.6倍）；③一二手比约2:1，新房去化依赖卖旧买新【市场事实+研判推断】</a:t>
            </a:r>
            <a:endParaRPr lang="en-US" sz="975" dirty="0"/>
          </a:p>
        </p:txBody>
      </p:sp>
      <p:sp>
        <p:nvSpPr>
          <p:cNvPr id="26" name="Shape 24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E8E8E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5F62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专家库 · 智见点评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1582400" y="419100"/>
            <a:ext cx="95250" cy="95250"/>
          </a:xfrm>
          <a:prstGeom prst="rect">
            <a:avLst/>
          </a:prstGeom>
          <a:solidFill>
            <a:srgbClr val="002FA7">
              <a:alpha val="8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108710"/>
            <a:ext cx="11277600" cy="480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1416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政策演进：从全国统一给药到城市自主调理</a:t>
            </a:r>
            <a:endParaRPr lang="en-US" sz="3150" dirty="0"/>
          </a:p>
        </p:txBody>
      </p:sp>
      <p:sp>
        <p:nvSpPr>
          <p:cNvPr id="5" name="Shape 3"/>
          <p:cNvSpPr/>
          <p:nvPr/>
        </p:nvSpPr>
        <p:spPr>
          <a:xfrm>
            <a:off x="7086600" y="1771650"/>
            <a:ext cx="0" cy="4095750"/>
          </a:xfrm>
          <a:prstGeom prst="line">
            <a:avLst/>
          </a:prstGeom>
          <a:noFill/>
          <a:ln w="9525">
            <a:solidFill>
              <a:srgbClr val="E8E8EC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39000" y="1771650"/>
            <a:ext cx="4038600" cy="4095750"/>
          </a:xfrm>
          <a:prstGeom prst="roundRect">
            <a:avLst>
              <a:gd name="adj" fmla="val 1415"/>
            </a:avLst>
          </a:prstGeom>
          <a:noFill/>
          <a:ln w="9525">
            <a:solidFill>
              <a:srgbClr val="E8E8EC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04900" y="3462528"/>
            <a:ext cx="5638800" cy="0"/>
          </a:xfrm>
          <a:prstGeom prst="line">
            <a:avLst/>
          </a:prstGeom>
          <a:noFill/>
          <a:ln w="19050">
            <a:solidFill>
              <a:srgbClr val="E8E8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8700" y="3386328"/>
            <a:ext cx="152400" cy="152400"/>
          </a:xfrm>
          <a:prstGeom prst="ellipse">
            <a:avLst/>
          </a:prstGeom>
          <a:solidFill>
            <a:srgbClr val="002FA7"/>
          </a:solidFill>
          <a:ln/>
        </p:spPr>
      </p:sp>
      <p:sp>
        <p:nvSpPr>
          <p:cNvPr id="9" name="Text 7"/>
          <p:cNvSpPr/>
          <p:nvPr/>
        </p:nvSpPr>
        <p:spPr>
          <a:xfrm>
            <a:off x="1028700" y="3112008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2F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2024-05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28700" y="3607308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416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全国「5·17新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28700" y="3797808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416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政」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28700" y="4030218"/>
            <a:ext cx="1207770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5F62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降首付、取消利率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1028700" y="4192143"/>
            <a:ext cx="1207770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5F62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下限（深广跟进）</a:t>
            </a:r>
            <a:endParaRPr lang="en-US" sz="975" dirty="0"/>
          </a:p>
        </p:txBody>
      </p:sp>
      <p:sp>
        <p:nvSpPr>
          <p:cNvPr id="14" name="Shape 12"/>
          <p:cNvSpPr/>
          <p:nvPr/>
        </p:nvSpPr>
        <p:spPr>
          <a:xfrm>
            <a:off x="2156460" y="3386328"/>
            <a:ext cx="152400" cy="152400"/>
          </a:xfrm>
          <a:prstGeom prst="ellipse">
            <a:avLst/>
          </a:prstGeom>
          <a:solidFill>
            <a:srgbClr val="002FA7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112008"/>
            <a:ext cx="263652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2F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2024-09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3607308"/>
            <a:ext cx="263652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6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深圳/广州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14400" y="3854958"/>
            <a:ext cx="2636520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5F62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深取消限售、外围放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914400" y="3988308"/>
            <a:ext cx="2636520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5F62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开限购；穗全面取消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914400" y="4121658"/>
            <a:ext cx="2636520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5F62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限购（一线首个）</a:t>
            </a:r>
            <a:endParaRPr lang="en-US" sz="825" dirty="0"/>
          </a:p>
        </p:txBody>
      </p:sp>
      <p:sp>
        <p:nvSpPr>
          <p:cNvPr id="20" name="Shape 18"/>
          <p:cNvSpPr/>
          <p:nvPr/>
        </p:nvSpPr>
        <p:spPr>
          <a:xfrm>
            <a:off x="3284220" y="3386328"/>
            <a:ext cx="152400" cy="152400"/>
          </a:xfrm>
          <a:prstGeom prst="ellipse">
            <a:avLst/>
          </a:prstGeom>
          <a:solidFill>
            <a:srgbClr val="002FA7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3112008"/>
            <a:ext cx="489204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2F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4400" y="3607308"/>
            <a:ext cx="489204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6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地方零星调整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14400" y="3839718"/>
            <a:ext cx="489204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975" dirty="0">
                <a:solidFill>
                  <a:srgbClr val="5F62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深公积金家庭最高</a:t>
            </a:r>
            <a:endParaRPr lang="en-US" sz="975" dirty="0"/>
          </a:p>
        </p:txBody>
      </p:sp>
      <p:sp>
        <p:nvSpPr>
          <p:cNvPr id="24" name="Text 22"/>
          <p:cNvSpPr/>
          <p:nvPr/>
        </p:nvSpPr>
        <p:spPr>
          <a:xfrm>
            <a:off x="914400" y="4001643"/>
            <a:ext cx="489204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975" dirty="0">
                <a:solidFill>
                  <a:srgbClr val="5F62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231万；穗区级房</a:t>
            </a:r>
            <a:endParaRPr lang="en-US" sz="975" dirty="0"/>
          </a:p>
        </p:txBody>
      </p:sp>
      <p:sp>
        <p:nvSpPr>
          <p:cNvPr id="25" name="Text 23"/>
          <p:cNvSpPr/>
          <p:nvPr/>
        </p:nvSpPr>
        <p:spPr>
          <a:xfrm>
            <a:off x="914400" y="4163568"/>
            <a:ext cx="489204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975" dirty="0">
                <a:solidFill>
                  <a:srgbClr val="5F62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票安置</a:t>
            </a:r>
            <a:endParaRPr lang="en-US" sz="975" dirty="0"/>
          </a:p>
        </p:txBody>
      </p:sp>
      <p:sp>
        <p:nvSpPr>
          <p:cNvPr id="26" name="Shape 24"/>
          <p:cNvSpPr/>
          <p:nvPr/>
        </p:nvSpPr>
        <p:spPr>
          <a:xfrm>
            <a:off x="4411980" y="3386328"/>
            <a:ext cx="152400" cy="152400"/>
          </a:xfrm>
          <a:prstGeom prst="ellipse">
            <a:avLst/>
          </a:prstGeom>
          <a:solidFill>
            <a:srgbClr val="002FA7"/>
          </a:solidFill>
          <a:ln/>
        </p:spPr>
      </p:sp>
      <p:sp>
        <p:nvSpPr>
          <p:cNvPr id="27" name="Text 25"/>
          <p:cNvSpPr/>
          <p:nvPr/>
        </p:nvSpPr>
        <p:spPr>
          <a:xfrm>
            <a:off x="914400" y="3112008"/>
            <a:ext cx="714756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2F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2026-02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14400" y="3607308"/>
            <a:ext cx="714756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6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上海「沪七条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14400" y="3797808"/>
            <a:ext cx="714756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6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」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14400" y="4030218"/>
            <a:ext cx="714756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975" dirty="0">
                <a:solidFill>
                  <a:srgbClr val="5F62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</a:t>
            </a:r>
            <a:endParaRPr lang="en-US" sz="975" dirty="0"/>
          </a:p>
        </p:txBody>
      </p:sp>
      <p:sp>
        <p:nvSpPr>
          <p:cNvPr id="31" name="Shape 29"/>
          <p:cNvSpPr/>
          <p:nvPr/>
        </p:nvSpPr>
        <p:spPr>
          <a:xfrm>
            <a:off x="5539740" y="3386328"/>
            <a:ext cx="152400" cy="152400"/>
          </a:xfrm>
          <a:prstGeom prst="ellipse">
            <a:avLst/>
          </a:prstGeom>
          <a:solidFill>
            <a:srgbClr val="002FA7"/>
          </a:solidFill>
          <a:ln/>
        </p:spPr>
      </p:sp>
      <p:sp>
        <p:nvSpPr>
          <p:cNvPr id="32" name="Text 30"/>
          <p:cNvSpPr/>
          <p:nvPr/>
        </p:nvSpPr>
        <p:spPr>
          <a:xfrm>
            <a:off x="914400" y="3112008"/>
            <a:ext cx="940308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2F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2026-04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14400" y="3607308"/>
            <a:ext cx="940308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6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广深先行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914400" y="3900678"/>
            <a:ext cx="9403080" cy="57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375" dirty="0">
                <a:solidFill>
                  <a:srgbClr val="5F62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深86号文（社保1年/核心区增购/公积金</a:t>
            </a:r>
            <a:endParaRPr lang="en-US" sz="375" dirty="0"/>
          </a:p>
        </p:txBody>
      </p:sp>
      <p:sp>
        <p:nvSpPr>
          <p:cNvPr id="35" name="Text 33"/>
          <p:cNvSpPr/>
          <p:nvPr/>
        </p:nvSpPr>
        <p:spPr>
          <a:xfrm>
            <a:off x="914400" y="3967353"/>
            <a:ext cx="9403080" cy="57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375" dirty="0">
                <a:solidFill>
                  <a:srgbClr val="5F62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最高351万）；穗19号文（公积金360万/</a:t>
            </a:r>
            <a:endParaRPr lang="en-US" sz="375" dirty="0"/>
          </a:p>
        </p:txBody>
      </p:sp>
      <p:sp>
        <p:nvSpPr>
          <p:cNvPr id="36" name="Text 34"/>
          <p:cNvSpPr/>
          <p:nvPr/>
        </p:nvSpPr>
        <p:spPr>
          <a:xfrm>
            <a:off x="914400" y="4034028"/>
            <a:ext cx="9403080" cy="57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375" dirty="0">
                <a:solidFill>
                  <a:srgbClr val="5F62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补贴总盘2亿/房票/收储）</a:t>
            </a:r>
            <a:endParaRPr lang="en-US" sz="375" dirty="0"/>
          </a:p>
        </p:txBody>
      </p:sp>
      <p:sp>
        <p:nvSpPr>
          <p:cNvPr id="37" name="Shape 35"/>
          <p:cNvSpPr/>
          <p:nvPr/>
        </p:nvSpPr>
        <p:spPr>
          <a:xfrm>
            <a:off x="6667500" y="3386328"/>
            <a:ext cx="152400" cy="152400"/>
          </a:xfrm>
          <a:prstGeom prst="ellipse">
            <a:avLst/>
          </a:prstGeom>
          <a:solidFill>
            <a:srgbClr val="002FA7"/>
          </a:solidFill>
          <a:ln/>
        </p:spPr>
      </p:sp>
      <p:sp>
        <p:nvSpPr>
          <p:cNvPr id="38" name="Text 36"/>
          <p:cNvSpPr/>
          <p:nvPr/>
        </p:nvSpPr>
        <p:spPr>
          <a:xfrm>
            <a:off x="914400" y="3112008"/>
            <a:ext cx="59055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002FA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2026-08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914400" y="3607308"/>
            <a:ext cx="59055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416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京沪跟进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914400" y="3900678"/>
            <a:ext cx="5905500" cy="57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375" dirty="0">
                <a:solidFill>
                  <a:srgbClr val="5F62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京8·7五动作（社保1年/五环外不限套数/赠与</a:t>
            </a:r>
            <a:endParaRPr lang="en-US" sz="375" dirty="0"/>
          </a:p>
        </p:txBody>
      </p:sp>
      <p:sp>
        <p:nvSpPr>
          <p:cNvPr id="41" name="Text 39"/>
          <p:cNvSpPr/>
          <p:nvPr/>
        </p:nvSpPr>
        <p:spPr>
          <a:xfrm>
            <a:off x="914400" y="3967353"/>
            <a:ext cx="5905500" cy="57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375" dirty="0">
                <a:solidFill>
                  <a:srgbClr val="5F62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豁免/带押过户公积金化）；沪8·20沪八条（</a:t>
            </a:r>
            <a:endParaRPr lang="en-US" sz="375" dirty="0"/>
          </a:p>
        </p:txBody>
      </p:sp>
      <p:sp>
        <p:nvSpPr>
          <p:cNvPr id="42" name="Text 40"/>
          <p:cNvSpPr/>
          <p:nvPr/>
        </p:nvSpPr>
        <p:spPr>
          <a:xfrm>
            <a:off x="914400" y="4034028"/>
            <a:ext cx="5905500" cy="57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375" dirty="0">
                <a:solidFill>
                  <a:srgbClr val="5F62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二套首付15%/补贴最高8万/房票/收储）</a:t>
            </a:r>
            <a:endParaRPr lang="en-US" sz="375" dirty="0"/>
          </a:p>
        </p:txBody>
      </p:sp>
      <p:sp>
        <p:nvSpPr>
          <p:cNvPr id="43" name="Text 41"/>
          <p:cNvSpPr/>
          <p:nvPr/>
        </p:nvSpPr>
        <p:spPr>
          <a:xfrm>
            <a:off x="7239000" y="2777490"/>
            <a:ext cx="12192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416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2026年节点全部官方原文核验（86号文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7239000" y="3101340"/>
            <a:ext cx="12192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416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/19号文/住建委/沪八条）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7239000" y="3501390"/>
            <a:ext cx="12192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416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均衡不是平均，是各治各的失衡【研判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7239000" y="3825240"/>
            <a:ext cx="12192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416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推断】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914400" y="6065520"/>
            <a:ext cx="112776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F62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2026-08-23 · 数据截至：政策2026-08-20 / 市场70城2026年7月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E8E8E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5F62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专家库 · 智见点评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1582400" y="419100"/>
            <a:ext cx="95250" cy="95250"/>
          </a:xfrm>
          <a:prstGeom prst="rect">
            <a:avLst/>
          </a:prstGeom>
          <a:solidFill>
            <a:srgbClr val="002FA7">
              <a:alpha val="8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078230"/>
            <a:ext cx="11277600" cy="525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1416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京沪8月：北京管“换得了”</a:t>
            </a:r>
            <a:endParaRPr lang="en-US" sz="3450" dirty="0"/>
          </a:p>
        </p:txBody>
      </p:sp>
      <p:sp>
        <p:nvSpPr>
          <p:cNvPr id="5" name="Text 3"/>
          <p:cNvSpPr/>
          <p:nvPr/>
        </p:nvSpPr>
        <p:spPr>
          <a:xfrm>
            <a:off x="914400" y="1554480"/>
            <a:ext cx="11277600" cy="525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1416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，上海管“换得起、退得出”</a:t>
            </a:r>
            <a:endParaRPr lang="en-US" sz="3450" dirty="0"/>
          </a:p>
        </p:txBody>
      </p:sp>
      <p:sp>
        <p:nvSpPr>
          <p:cNvPr id="6" name="Shape 4"/>
          <p:cNvSpPr/>
          <p:nvPr/>
        </p:nvSpPr>
        <p:spPr>
          <a:xfrm>
            <a:off x="914400" y="2114550"/>
            <a:ext cx="685800" cy="38100"/>
          </a:xfrm>
          <a:prstGeom prst="rect">
            <a:avLst/>
          </a:prstGeom>
          <a:solidFill>
            <a:srgbClr val="002FA7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2324100"/>
            <a:ext cx="10363200" cy="0"/>
          </a:xfrm>
          <a:prstGeom prst="line">
            <a:avLst/>
          </a:prstGeom>
          <a:noFill/>
          <a:ln w="9525">
            <a:solidFill>
              <a:srgbClr val="E8E8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3389948"/>
            <a:ext cx="3200400" cy="1495425"/>
          </a:xfrm>
          <a:prstGeom prst="roundRect">
            <a:avLst>
              <a:gd name="adj" fmla="val 5096"/>
            </a:avLst>
          </a:prstGeom>
          <a:solidFill>
            <a:srgbClr val="FFFFFF"/>
          </a:solidFill>
          <a:ln w="9525">
            <a:solidFill>
              <a:srgbClr val="E4E4E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43000" y="3618548"/>
            <a:ext cx="266700" cy="266700"/>
          </a:xfrm>
          <a:prstGeom prst="ellipse">
            <a:avLst/>
          </a:prstGeom>
          <a:solidFill>
            <a:srgbClr val="002FA7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677602"/>
            <a:ext cx="7239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43000" y="4033837"/>
            <a:ext cx="119634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416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卖旧 · 换得了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143000" y="4340542"/>
            <a:ext cx="119634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F62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带押过户公积金化·赠与豁免·收购二手（北京8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143000" y="4531043"/>
            <a:ext cx="119634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F62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·7，拆资格与流转摩擦）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495800" y="3389948"/>
            <a:ext cx="3200400" cy="1495425"/>
          </a:xfrm>
          <a:prstGeom prst="roundRect">
            <a:avLst>
              <a:gd name="adj" fmla="val 5096"/>
            </a:avLst>
          </a:prstGeom>
          <a:solidFill>
            <a:srgbClr val="FFFFFF"/>
          </a:solidFill>
          <a:ln w="9525">
            <a:solidFill>
              <a:srgbClr val="E4E4E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24400" y="3618548"/>
            <a:ext cx="266700" cy="266700"/>
          </a:xfrm>
          <a:prstGeom prst="ellipse">
            <a:avLst/>
          </a:prstGeom>
          <a:solidFill>
            <a:srgbClr val="002FA7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677602"/>
            <a:ext cx="7886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24400" y="4033837"/>
            <a:ext cx="83820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416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买新 · 换得起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724400" y="4340542"/>
            <a:ext cx="83820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F62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社保1年/五环外不限套数·二套首付15%·公积金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724400" y="4531043"/>
            <a:ext cx="83820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F62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提额（沪8·20，降门槛与成本）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077200" y="3389948"/>
            <a:ext cx="3200400" cy="1495425"/>
          </a:xfrm>
          <a:prstGeom prst="roundRect">
            <a:avLst>
              <a:gd name="adj" fmla="val 5096"/>
            </a:avLst>
          </a:prstGeom>
          <a:solidFill>
            <a:srgbClr val="FFFFFF"/>
          </a:solidFill>
          <a:ln w="9525">
            <a:solidFill>
              <a:srgbClr val="E4E4E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305800" y="3618548"/>
            <a:ext cx="266700" cy="266700"/>
          </a:xfrm>
          <a:prstGeom prst="ellipse">
            <a:avLst/>
          </a:prstGeom>
          <a:solidFill>
            <a:srgbClr val="002FA7"/>
          </a:solidFill>
          <a:ln/>
        </p:spPr>
      </p:sp>
      <p:sp>
        <p:nvSpPr>
          <p:cNvPr id="22" name="Text 20"/>
          <p:cNvSpPr/>
          <p:nvPr/>
        </p:nvSpPr>
        <p:spPr>
          <a:xfrm>
            <a:off x="3771900" y="3677602"/>
            <a:ext cx="93345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305800" y="4033837"/>
            <a:ext cx="48006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416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退出 · 退得出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8305800" y="4340542"/>
            <a:ext cx="48006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F62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房票安置（城中村/旧改）·国企收购二手作保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305800" y="4531043"/>
            <a:ext cx="48006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F62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租房（沪8·20，开退出通道）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191000" y="4137660"/>
            <a:ext cx="152400" cy="0"/>
          </a:xfrm>
          <a:prstGeom prst="line">
            <a:avLst/>
          </a:prstGeom>
          <a:noFill/>
          <a:ln w="14288">
            <a:solidFill>
              <a:srgbClr val="5F626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343400" y="409956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76200" y="38100"/>
                </a:moveTo>
                <a:lnTo>
                  <a:pt x="0" y="0"/>
                </a:lnTo>
                <a:lnTo>
                  <a:pt x="0" y="76200"/>
                </a:lnTo>
                <a:close/>
              </a:path>
            </a:pathLst>
          </a:custGeom>
          <a:solidFill>
            <a:srgbClr val="5F626C"/>
          </a:solidFill>
          <a:ln/>
        </p:spPr>
      </p:sp>
      <p:sp>
        <p:nvSpPr>
          <p:cNvPr id="28" name="Shape 26"/>
          <p:cNvSpPr/>
          <p:nvPr/>
        </p:nvSpPr>
        <p:spPr>
          <a:xfrm>
            <a:off x="7772400" y="4137660"/>
            <a:ext cx="152400" cy="0"/>
          </a:xfrm>
          <a:prstGeom prst="line">
            <a:avLst/>
          </a:prstGeom>
          <a:noFill/>
          <a:ln w="14288">
            <a:solidFill>
              <a:srgbClr val="5F626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924800" y="409956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76200" y="38100"/>
                </a:moveTo>
                <a:lnTo>
                  <a:pt x="0" y="0"/>
                </a:lnTo>
                <a:lnTo>
                  <a:pt x="0" y="76200"/>
                </a:lnTo>
                <a:close/>
              </a:path>
            </a:pathLst>
          </a:custGeom>
          <a:solidFill>
            <a:srgbClr val="5F626C"/>
          </a:solidFill>
          <a:ln/>
        </p:spPr>
      </p:sp>
      <p:sp>
        <p:nvSpPr>
          <p:cNvPr id="30" name="Shape 28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E8E8E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5F62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专家库 · 智见点评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715500" y="4381500"/>
            <a:ext cx="2476500" cy="2476500"/>
          </a:xfrm>
          <a:custGeom>
            <a:avLst/>
            <a:gdLst/>
            <a:ahLst/>
            <a:cxnLst/>
            <a:rect l="l" t="t" r="r" b="b"/>
            <a:pathLst>
              <a:path w="2476500" h="2476500">
                <a:moveTo>
                  <a:pt x="2476500" y="2476500"/>
                </a:moveTo>
                <a:lnTo>
                  <a:pt x="2476500" y="0"/>
                </a:lnTo>
                <a:arcTo hR="2476500" wR="2476500" stAng="16200000" swAng="-5400000"/>
                <a:close/>
              </a:path>
            </a:pathLst>
          </a:custGeom>
          <a:solidFill>
            <a:srgbClr val="002FA7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078230"/>
            <a:ext cx="11277600" cy="525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1416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范式切换：从被动止血到主动疏通</a:t>
            </a:r>
            <a:endParaRPr lang="en-US" sz="3450" dirty="0"/>
          </a:p>
        </p:txBody>
      </p:sp>
      <p:sp>
        <p:nvSpPr>
          <p:cNvPr id="5" name="Shape 3"/>
          <p:cNvSpPr/>
          <p:nvPr/>
        </p:nvSpPr>
        <p:spPr>
          <a:xfrm>
            <a:off x="914400" y="1638300"/>
            <a:ext cx="685800" cy="38100"/>
          </a:xfrm>
          <a:prstGeom prst="rect">
            <a:avLst/>
          </a:prstGeom>
          <a:solidFill>
            <a:srgbClr val="002FA7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1847850"/>
            <a:ext cx="10363200" cy="0"/>
          </a:xfrm>
          <a:prstGeom prst="line">
            <a:avLst/>
          </a:prstGeom>
          <a:noFill/>
          <a:ln w="9525">
            <a:solidFill>
              <a:srgbClr val="E8E8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974038" y="2301240"/>
            <a:ext cx="11132362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416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 被动止血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864715" y="2301240"/>
            <a:ext cx="924168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416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主动疏通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914400" y="2590800"/>
            <a:ext cx="5029200" cy="0"/>
          </a:xfrm>
          <a:prstGeom prst="line">
            <a:avLst/>
          </a:prstGeom>
          <a:noFill/>
          <a:ln w="19050">
            <a:solidFill>
              <a:srgbClr val="14161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3009900"/>
            <a:ext cx="5029200" cy="0"/>
          </a:xfrm>
          <a:prstGeom prst="line">
            <a:avLst/>
          </a:prstGeom>
          <a:noFill/>
          <a:ln w="9525">
            <a:solidFill>
              <a:srgbClr val="E8E8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3429000"/>
            <a:ext cx="5029200" cy="0"/>
          </a:xfrm>
          <a:prstGeom prst="line">
            <a:avLst/>
          </a:prstGeom>
          <a:noFill/>
          <a:ln w="9525">
            <a:solidFill>
              <a:srgbClr val="E8E8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3848100"/>
            <a:ext cx="5029200" cy="0"/>
          </a:xfrm>
          <a:prstGeom prst="line">
            <a:avLst/>
          </a:prstGeom>
          <a:noFill/>
          <a:ln w="9525">
            <a:solidFill>
              <a:srgbClr val="E8E8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4267200"/>
            <a:ext cx="5029200" cy="0"/>
          </a:xfrm>
          <a:prstGeom prst="line">
            <a:avLst/>
          </a:prstGeom>
          <a:noFill/>
          <a:ln w="9525">
            <a:solidFill>
              <a:srgbClr val="E8E8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4686300"/>
            <a:ext cx="5029200" cy="0"/>
          </a:xfrm>
          <a:prstGeom prst="line">
            <a:avLst/>
          </a:prstGeom>
          <a:noFill/>
          <a:ln w="9525">
            <a:solidFill>
              <a:srgbClr val="E8E8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28700" y="2747010"/>
            <a:ext cx="1207770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F62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触发条件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974038" y="2747010"/>
            <a:ext cx="1113236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416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价格失速，被动应对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864715" y="2747010"/>
            <a:ext cx="9241685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416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量能正增后主动施策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28700" y="3166110"/>
            <a:ext cx="1207770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F62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要解决的问题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974038" y="3166110"/>
            <a:ext cx="1113236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416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能不能买（资格/杠杆）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864715" y="3166110"/>
            <a:ext cx="9241685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416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卖不掉/换不起/退不出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28700" y="3585210"/>
            <a:ext cx="1207770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F62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工具性质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974038" y="3585210"/>
            <a:ext cx="1113236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416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全局性杠杆工具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864715" y="3585210"/>
            <a:ext cx="9241685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416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交易成本+退出通道·带期限盘子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28700" y="4004310"/>
            <a:ext cx="1207770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F62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政策节奏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974038" y="4004310"/>
            <a:ext cx="1113236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416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全国统一（5·17/9·26）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864715" y="4004310"/>
            <a:ext cx="9241685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416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城市接力（广深4月→京沪8月）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28700" y="4423410"/>
            <a:ext cx="1207770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F62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失效教训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974038" y="4423410"/>
            <a:ext cx="1113236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416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放资格只增挂牌、不增接盘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864715" y="4423410"/>
            <a:ext cx="9241685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416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疏通四环节：卖/买/换/退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248400" y="2236470"/>
            <a:ext cx="12192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416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同一供求约束，不同政策范式：存量时代一二手比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248400" y="2560320"/>
            <a:ext cx="12192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416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约2:1以上（上海…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248400" y="2960370"/>
            <a:ext cx="12192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416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官方口径推算），新房去化依赖卖旧买新循环【研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6248400" y="3284220"/>
            <a:ext cx="12192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416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判推断】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E8E8E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5F62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专家库 · 智见点评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715500" y="4381500"/>
            <a:ext cx="2476500" cy="2476500"/>
          </a:xfrm>
          <a:custGeom>
            <a:avLst/>
            <a:gdLst/>
            <a:ahLst/>
            <a:cxnLst/>
            <a:rect l="l" t="t" r="r" b="b"/>
            <a:pathLst>
              <a:path w="2476500" h="2476500">
                <a:moveTo>
                  <a:pt x="2476500" y="2476500"/>
                </a:moveTo>
                <a:lnTo>
                  <a:pt x="2476500" y="0"/>
                </a:lnTo>
                <a:arcTo hR="2476500" wR="2476500" stAng="16200000" swAng="-5400000"/>
                <a:close/>
              </a:path>
            </a:pathLst>
          </a:custGeom>
          <a:solidFill>
            <a:srgbClr val="002FA7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093470"/>
            <a:ext cx="1127760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416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工具箱对照：四城全出与“深圳留白”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1028700" y="2111121"/>
            <a:ext cx="120777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416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工具类别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2869056" y="2111121"/>
            <a:ext cx="10237344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416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上海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605198" y="2111121"/>
            <a:ext cx="9501202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416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北京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492249" y="2111121"/>
            <a:ext cx="8614151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416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深圳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670077" y="2111121"/>
            <a:ext cx="7436323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416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广州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914400" y="2400681"/>
            <a:ext cx="5922264" cy="0"/>
          </a:xfrm>
          <a:prstGeom prst="line">
            <a:avLst/>
          </a:prstGeom>
          <a:noFill/>
          <a:ln w="19050">
            <a:solidFill>
              <a:srgbClr val="14161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2819781"/>
            <a:ext cx="5922264" cy="0"/>
          </a:xfrm>
          <a:prstGeom prst="line">
            <a:avLst/>
          </a:prstGeom>
          <a:noFill/>
          <a:ln w="9525">
            <a:solidFill>
              <a:srgbClr val="E8E8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3238881"/>
            <a:ext cx="5922264" cy="0"/>
          </a:xfrm>
          <a:prstGeom prst="line">
            <a:avLst/>
          </a:prstGeom>
          <a:noFill/>
          <a:ln w="9525">
            <a:solidFill>
              <a:srgbClr val="E8E8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3657981"/>
            <a:ext cx="5922264" cy="0"/>
          </a:xfrm>
          <a:prstGeom prst="line">
            <a:avLst/>
          </a:prstGeom>
          <a:noFill/>
          <a:ln w="9525">
            <a:solidFill>
              <a:srgbClr val="E8E8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4077081"/>
            <a:ext cx="5922264" cy="0"/>
          </a:xfrm>
          <a:prstGeom prst="line">
            <a:avLst/>
          </a:prstGeom>
          <a:noFill/>
          <a:ln w="9525">
            <a:solidFill>
              <a:srgbClr val="E8E8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4496181"/>
            <a:ext cx="5922264" cy="0"/>
          </a:xfrm>
          <a:prstGeom prst="line">
            <a:avLst/>
          </a:prstGeom>
          <a:noFill/>
          <a:ln w="9525">
            <a:solidFill>
              <a:srgbClr val="E8E8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4915281"/>
            <a:ext cx="5922264" cy="0"/>
          </a:xfrm>
          <a:prstGeom prst="line">
            <a:avLst/>
          </a:prstGeom>
          <a:noFill/>
          <a:ln w="9525">
            <a:solidFill>
              <a:srgbClr val="E8E8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5334381"/>
            <a:ext cx="5922264" cy="0"/>
          </a:xfrm>
          <a:prstGeom prst="line">
            <a:avLst/>
          </a:prstGeom>
          <a:noFill/>
          <a:ln w="9525">
            <a:solidFill>
              <a:srgbClr val="E8E8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" y="5753481"/>
            <a:ext cx="5922264" cy="0"/>
          </a:xfrm>
          <a:prstGeom prst="line">
            <a:avLst/>
          </a:prstGeom>
          <a:noFill/>
          <a:ln w="9525">
            <a:solidFill>
              <a:srgbClr val="E8E8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28700" y="2545461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416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公积金提额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869056" y="2558796"/>
            <a:ext cx="10237344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1416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三项扩围</a:t>
            </a:r>
            <a:endParaRPr lang="en-US" sz="975" dirty="0"/>
          </a:p>
        </p:txBody>
      </p:sp>
      <p:sp>
        <p:nvSpPr>
          <p:cNvPr id="21" name="Text 19"/>
          <p:cNvSpPr/>
          <p:nvPr/>
        </p:nvSpPr>
        <p:spPr>
          <a:xfrm>
            <a:off x="3605198" y="2551176"/>
            <a:ext cx="9501202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416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240/340万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492249" y="2543556"/>
            <a:ext cx="861415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1416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70/130·351万</a:t>
            </a:r>
            <a:endParaRPr lang="en-US" sz="1125" dirty="0"/>
          </a:p>
        </p:txBody>
      </p:sp>
      <p:sp>
        <p:nvSpPr>
          <p:cNvPr id="23" name="Text 21"/>
          <p:cNvSpPr/>
          <p:nvPr/>
        </p:nvSpPr>
        <p:spPr>
          <a:xfrm>
            <a:off x="5670077" y="2543556"/>
            <a:ext cx="743632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1416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100/200·360万</a:t>
            </a:r>
            <a:endParaRPr lang="en-US" sz="1125" dirty="0"/>
          </a:p>
        </p:txBody>
      </p:sp>
      <p:sp>
        <p:nvSpPr>
          <p:cNvPr id="24" name="Text 22"/>
          <p:cNvSpPr/>
          <p:nvPr/>
        </p:nvSpPr>
        <p:spPr>
          <a:xfrm>
            <a:off x="1028700" y="2964561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416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以旧换新补贴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869056" y="2970276"/>
            <a:ext cx="10237344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416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最高8万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605198" y="2964561"/>
            <a:ext cx="9501202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416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未出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492249" y="2964561"/>
            <a:ext cx="8614151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416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未出·高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670077" y="2964561"/>
            <a:ext cx="7436323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416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最高3万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28700" y="3383661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416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房票安置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869056" y="3383661"/>
            <a:ext cx="10237344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416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城中村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605198" y="3383661"/>
            <a:ext cx="9501202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416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492249" y="3383661"/>
            <a:ext cx="8614151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416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未出·中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670077" y="3383661"/>
            <a:ext cx="7436323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416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通兑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028700" y="3802761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416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收购二手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2869056" y="3802761"/>
            <a:ext cx="10237344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416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保租房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605198" y="3802761"/>
            <a:ext cx="9501202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416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492249" y="3802761"/>
            <a:ext cx="8614151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416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未出·中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670077" y="3802761"/>
            <a:ext cx="7436323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416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国企收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028700" y="4221861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416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带押过户（公积金化）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2869056" y="4221861"/>
            <a:ext cx="10237344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416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3605198" y="4221861"/>
            <a:ext cx="9501202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416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独有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492249" y="4221861"/>
            <a:ext cx="8614151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416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未出·高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670077" y="4221861"/>
            <a:ext cx="7436323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416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1028700" y="4640961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416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赠与豁免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2869056" y="4640961"/>
            <a:ext cx="10237344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416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3605198" y="4640961"/>
            <a:ext cx="9501202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416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独有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4492249" y="4640961"/>
            <a:ext cx="8614151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416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5670077" y="4640961"/>
            <a:ext cx="7436323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416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1028700" y="5060061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416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好房子/现房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2869056" y="5060061"/>
            <a:ext cx="10237344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416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3605198" y="5060061"/>
            <a:ext cx="9501202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416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绿建叠加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4492249" y="5060061"/>
            <a:ext cx="8614151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416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空白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5670077" y="5060061"/>
            <a:ext cx="7436323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416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上浮30%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1028700" y="5479161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416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商转公/以需定供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2869056" y="5479161"/>
            <a:ext cx="10237344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416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3605198" y="5479161"/>
            <a:ext cx="9501202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416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4492249" y="5479161"/>
            <a:ext cx="8614151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416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5670077" y="5479161"/>
            <a:ext cx="7436323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416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放宽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6989064" y="2795969"/>
            <a:ext cx="4288536" cy="1628775"/>
          </a:xfrm>
          <a:prstGeom prst="roundRect">
            <a:avLst>
              <a:gd name="adj" fmla="val 4678"/>
            </a:avLst>
          </a:prstGeom>
          <a:solidFill>
            <a:srgbClr val="002FA7"/>
          </a:solidFill>
          <a:ln/>
        </p:spPr>
      </p:sp>
      <p:sp>
        <p:nvSpPr>
          <p:cNvPr id="60" name="Shape 58"/>
          <p:cNvSpPr/>
          <p:nvPr/>
        </p:nvSpPr>
        <p:spPr>
          <a:xfrm>
            <a:off x="6989064" y="2824544"/>
            <a:ext cx="4288536" cy="160020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E4E4E9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138289" y="3545269"/>
            <a:ext cx="158750" cy="158750"/>
          </a:xfrm>
          <a:prstGeom prst="ellipse">
            <a:avLst/>
          </a:prstGeom>
          <a:noFill/>
          <a:ln w="15875">
            <a:solidFill>
              <a:srgbClr val="002FA7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217664" y="3624644"/>
            <a:ext cx="5953" cy="31750"/>
          </a:xfrm>
          <a:custGeom>
            <a:avLst/>
            <a:gdLst/>
            <a:ahLst/>
            <a:cxnLst/>
            <a:rect l="l" t="t" r="r" b="b"/>
            <a:pathLst>
              <a:path w="5953" h="31750">
                <a:moveTo>
                  <a:pt x="0" y="31750"/>
                </a:moveTo>
                <a:lnTo>
                  <a:pt x="0" y="0"/>
                </a:lnTo>
              </a:path>
            </a:pathLst>
          </a:custGeom>
          <a:noFill/>
          <a:ln w="15875">
            <a:solidFill>
              <a:srgbClr val="002FA7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217664" y="3592894"/>
            <a:ext cx="5953" cy="5953"/>
          </a:xfrm>
          <a:custGeom>
            <a:avLst/>
            <a:gdLst/>
            <a:ahLst/>
            <a:cxnLst/>
            <a:rect l="l" t="t" r="r" b="b"/>
            <a:pathLst>
              <a:path w="5953" h="5953">
                <a:moveTo>
                  <a:pt x="0" y="0"/>
                </a:moveTo>
                <a:lnTo>
                  <a:pt x="79" y="0"/>
                </a:lnTo>
              </a:path>
            </a:pathLst>
          </a:custGeom>
          <a:noFill/>
          <a:ln w="15875">
            <a:solidFill>
              <a:srgbClr val="002FA7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408164" y="3022664"/>
            <a:ext cx="117729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416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深圳＝四城中唯一既无补贴又无收储</a:t>
            </a:r>
            <a:endParaRPr lang="en-US" sz="1800" dirty="0"/>
          </a:p>
        </p:txBody>
      </p:sp>
      <p:sp>
        <p:nvSpPr>
          <p:cNvPr id="65" name="Text 63"/>
          <p:cNvSpPr/>
          <p:nvPr/>
        </p:nvSpPr>
        <p:spPr>
          <a:xfrm>
            <a:off x="7408164" y="3346514"/>
            <a:ext cx="117729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416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的一线——下一轮政策增量空间最大</a:t>
            </a:r>
            <a:endParaRPr lang="en-US" sz="1800" dirty="0"/>
          </a:p>
        </p:txBody>
      </p:sp>
      <p:sp>
        <p:nvSpPr>
          <p:cNvPr id="66" name="Text 64"/>
          <p:cNvSpPr/>
          <p:nvPr/>
        </p:nvSpPr>
        <p:spPr>
          <a:xfrm>
            <a:off x="7408164" y="3670364"/>
            <a:ext cx="117729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416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；好房子工具亦空白【研判推断·详</a:t>
            </a:r>
            <a:endParaRPr lang="en-US" sz="1800" dirty="0"/>
          </a:p>
        </p:txBody>
      </p:sp>
      <p:sp>
        <p:nvSpPr>
          <p:cNvPr id="67" name="Text 65"/>
          <p:cNvSpPr/>
          <p:nvPr/>
        </p:nvSpPr>
        <p:spPr>
          <a:xfrm>
            <a:off x="7408164" y="3994214"/>
            <a:ext cx="117729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416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见P8】</a:t>
            </a:r>
            <a:endParaRPr lang="en-US" sz="1800" dirty="0"/>
          </a:p>
        </p:txBody>
      </p:sp>
      <p:sp>
        <p:nvSpPr>
          <p:cNvPr id="68" name="Text 66"/>
          <p:cNvSpPr/>
          <p:nvPr/>
        </p:nvSpPr>
        <p:spPr>
          <a:xfrm>
            <a:off x="914400" y="605790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5F62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2026-08-23 · 数据截至：政策2026-08-20 / 市场70城2026年7月</a:t>
            </a:r>
            <a:endParaRPr lang="en-US" sz="1500" dirty="0"/>
          </a:p>
        </p:txBody>
      </p:sp>
      <p:sp>
        <p:nvSpPr>
          <p:cNvPr id="69" name="Shape 67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E8E8EC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5F62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专家库 · 智见点评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078230"/>
            <a:ext cx="11277600" cy="525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1416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广深下一轮：概率分层清单</a:t>
            </a:r>
            <a:endParaRPr lang="en-US" sz="3450" dirty="0"/>
          </a:p>
        </p:txBody>
      </p:sp>
      <p:sp>
        <p:nvSpPr>
          <p:cNvPr id="4" name="Shape 2"/>
          <p:cNvSpPr/>
          <p:nvPr/>
        </p:nvSpPr>
        <p:spPr>
          <a:xfrm>
            <a:off x="914400" y="1638300"/>
            <a:ext cx="685800" cy="38100"/>
          </a:xfrm>
          <a:prstGeom prst="rect">
            <a:avLst/>
          </a:prstGeom>
          <a:solidFill>
            <a:srgbClr val="002FA7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847850"/>
            <a:ext cx="10363200" cy="0"/>
          </a:xfrm>
          <a:prstGeom prst="line">
            <a:avLst/>
          </a:prstGeom>
          <a:noFill/>
          <a:ln w="9525">
            <a:solidFill>
              <a:srgbClr val="E8E8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171700"/>
            <a:ext cx="5029200" cy="981075"/>
          </a:xfrm>
          <a:prstGeom prst="roundRect">
            <a:avLst>
              <a:gd name="adj" fmla="val 7767"/>
            </a:avLst>
          </a:prstGeom>
          <a:solidFill>
            <a:srgbClr val="DC2626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2200275"/>
            <a:ext cx="5029200" cy="95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E4E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3482" y="2604977"/>
            <a:ext cx="158877" cy="142986"/>
          </a:xfrm>
          <a:custGeom>
            <a:avLst/>
            <a:gdLst/>
            <a:ahLst/>
            <a:cxnLst/>
            <a:rect l="l" t="t" r="r" b="b"/>
            <a:pathLst>
              <a:path w="158877" h="142986">
                <a:moveTo>
                  <a:pt x="156750" y="119173"/>
                </a:moveTo>
                <a:lnTo>
                  <a:pt x="93250" y="8048"/>
                </a:lnTo>
                <a:arcTo hR="15875" wR="15875" stAng="19827518" swAng="-7255037"/>
                <a:lnTo>
                  <a:pt x="2127" y="119173"/>
                </a:lnTo>
                <a:arcTo hR="15875" wR="15875" stAng="12600161" swAng="-7231094"/>
                <a:lnTo>
                  <a:pt x="143018" y="142985"/>
                </a:lnTo>
                <a:arcTo hR="15875" wR="15875" stAng="5396476" swAng="-7196478"/>
              </a:path>
            </a:pathLst>
          </a:custGeom>
          <a:noFill/>
          <a:ln w="15875">
            <a:solidFill>
              <a:srgbClr val="DC262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43000" y="2652713"/>
            <a:ext cx="5953" cy="31750"/>
          </a:xfrm>
          <a:custGeom>
            <a:avLst/>
            <a:gdLst/>
            <a:ahLst/>
            <a:cxnLst/>
            <a:rect l="l" t="t" r="r" b="b"/>
            <a:pathLst>
              <a:path w="5953" h="31750">
                <a:moveTo>
                  <a:pt x="0" y="0"/>
                </a:moveTo>
                <a:lnTo>
                  <a:pt x="0" y="31750"/>
                </a:lnTo>
              </a:path>
            </a:pathLst>
          </a:custGeom>
          <a:noFill/>
          <a:ln w="15875">
            <a:solidFill>
              <a:srgbClr val="DC262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43000" y="2716213"/>
            <a:ext cx="5953" cy="5953"/>
          </a:xfrm>
          <a:custGeom>
            <a:avLst/>
            <a:gdLst/>
            <a:ahLst/>
            <a:cxnLst/>
            <a:rect l="l" t="t" r="r" b="b"/>
            <a:pathLst>
              <a:path w="5953" h="5953">
                <a:moveTo>
                  <a:pt x="0" y="0"/>
                </a:moveTo>
                <a:lnTo>
                  <a:pt x="79" y="0"/>
                </a:lnTo>
              </a:path>
            </a:pathLst>
          </a:custGeom>
          <a:noFill/>
          <a:ln w="15875">
            <a:solidFill>
              <a:srgbClr val="DC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33500" y="2398395"/>
            <a:ext cx="117729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416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本节全部内容为研判推断，非已出台政策；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33500" y="2722245"/>
            <a:ext cx="117729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416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预测不构成对任何政策出台的承诺或保证。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248400" y="2225040"/>
            <a:ext cx="121920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416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高概率：①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248400" y="2463165"/>
            <a:ext cx="121920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416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深圳以旧换新补贴（参照穗沪，总盘2亿级、单套3-5万…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248400" y="2777490"/>
            <a:ext cx="121920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416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元——深圳是唯一既无补贴又无收储的一线）；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248400" y="3091815"/>
            <a:ext cx="121920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416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广州卖旧买新补贴续期或加码（2026-12-31到期，若金九银十…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248400" y="3406140"/>
            <a:ext cx="121920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416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去化不及预期，10-11月大概率宣布续期扩容）；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248400" y="3720465"/>
            <a:ext cx="121920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416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深圳公积金带押过户与使用场景扩围（北京已示范，9·20新公…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248400" y="4034790"/>
            <a:ext cx="121920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416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积金条例施行是技术窗口）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248400" y="4349115"/>
            <a:ext cx="121920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416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中概率：深圳房票扩围至城中村改造；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248400" y="4663440"/>
            <a:ext cx="121920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416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深圳国企收购二手作保租房试点；广州公积金提取扩围；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248400" y="4977765"/>
            <a:ext cx="121920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416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广州房票一二手联动落地细则；深圳好房子/装修提取类工具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248400" y="5292090"/>
            <a:ext cx="121920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416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低概率：深圳取消核心区套数限制；首付再降；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248400" y="5606415"/>
            <a:ext cx="121920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416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直接财政补贴（现房销售大范围铺开宜稳慎试点）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E8E8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5F62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专家库 · 智见点评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078230"/>
            <a:ext cx="11277600" cy="525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1416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盯什么：三个窗口、四个信号</a:t>
            </a:r>
            <a:endParaRPr lang="en-US" sz="3450" dirty="0"/>
          </a:p>
        </p:txBody>
      </p:sp>
      <p:sp>
        <p:nvSpPr>
          <p:cNvPr id="4" name="Shape 2"/>
          <p:cNvSpPr/>
          <p:nvPr/>
        </p:nvSpPr>
        <p:spPr>
          <a:xfrm>
            <a:off x="914400" y="1638300"/>
            <a:ext cx="685800" cy="38100"/>
          </a:xfrm>
          <a:prstGeom prst="rect">
            <a:avLst/>
          </a:prstGeom>
          <a:solidFill>
            <a:srgbClr val="002FA7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847850"/>
            <a:ext cx="10363200" cy="0"/>
          </a:xfrm>
          <a:prstGeom prst="line">
            <a:avLst/>
          </a:prstGeom>
          <a:noFill/>
          <a:ln w="9525">
            <a:solidFill>
              <a:srgbClr val="E8E8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902458"/>
            <a:ext cx="12192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416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触发窗口：金九银十＞政治局会议定调＞9·20新公积金条例【研判推断】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3302508"/>
            <a:ext cx="12192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416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信号① 金九银十去化环比：回落则政策加码概率上升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3702558"/>
            <a:ext cx="12192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416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信号② 深圳二手网签同比：深圳是「留白最大」城市，量能是风向标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4102608"/>
            <a:ext cx="12192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416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信号③ 沪穗补贴盘消耗（各2亿元）：用完即止，节奏＝置换预期温度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4502658"/>
            <a:ext cx="12192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416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信号④ 广州补贴到期前（12-31）续期表态：10-11月窗口期官方口风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E8E8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5F62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专家库 · 智见点评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078230"/>
            <a:ext cx="11277600" cy="525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1416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五项不确定性：成立则基调下修</a:t>
            </a:r>
            <a:endParaRPr lang="en-US" sz="3450" dirty="0"/>
          </a:p>
        </p:txBody>
      </p:sp>
      <p:sp>
        <p:nvSpPr>
          <p:cNvPr id="4" name="Shape 2"/>
          <p:cNvSpPr/>
          <p:nvPr/>
        </p:nvSpPr>
        <p:spPr>
          <a:xfrm>
            <a:off x="914400" y="1638300"/>
            <a:ext cx="685800" cy="38100"/>
          </a:xfrm>
          <a:prstGeom prst="rect">
            <a:avLst/>
          </a:prstGeom>
          <a:solidFill>
            <a:srgbClr val="002FA7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847850"/>
            <a:ext cx="10363200" cy="0"/>
          </a:xfrm>
          <a:prstGeom prst="line">
            <a:avLst/>
          </a:prstGeom>
          <a:noFill/>
          <a:ln w="9525">
            <a:solidFill>
              <a:srgbClr val="E8E8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225040"/>
            <a:ext cx="121920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416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沪补贴2亿元年内用尽：追加还是提前结束，节奏难测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914400" y="2539365"/>
            <a:ext cx="121920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416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收储价与租金回报率（3-4%基准）匹配度：决定收储真实规模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14400" y="2853690"/>
            <a:ext cx="121920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416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14400" y="3091815"/>
            <a:ext cx="121920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416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同比基数：四城二手同比全面转正大概率要到2027年——勿把环…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14400" y="3406140"/>
            <a:ext cx="121920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416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比连涨误读为同比转正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914400" y="3720465"/>
            <a:ext cx="121920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416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广州内生动力：二手同比-4.7%四城最弱（70城2026年7月）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914400" y="4034790"/>
            <a:ext cx="121920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416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⑤ 四季度量能：量能回落+补贴盘耗尽→需收储放量与城中村货币化…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914400" y="4349115"/>
            <a:ext cx="121920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416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安置，而非又一轮公积金微调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248400" y="2171700"/>
            <a:ext cx="5029200" cy="2924175"/>
          </a:xfrm>
          <a:prstGeom prst="roundRect">
            <a:avLst>
              <a:gd name="adj" fmla="val 2606"/>
            </a:avLst>
          </a:prstGeom>
          <a:solidFill>
            <a:srgbClr val="002FA7"/>
          </a:solidFill>
          <a:ln/>
        </p:spPr>
      </p:sp>
      <p:sp>
        <p:nvSpPr>
          <p:cNvPr id="15" name="Shape 13"/>
          <p:cNvSpPr/>
          <p:nvPr/>
        </p:nvSpPr>
        <p:spPr>
          <a:xfrm>
            <a:off x="6248400" y="2200275"/>
            <a:ext cx="5029200" cy="289560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9525">
            <a:solidFill>
              <a:srgbClr val="E4E4E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97625" y="3568700"/>
            <a:ext cx="158750" cy="158750"/>
          </a:xfrm>
          <a:prstGeom prst="ellipse">
            <a:avLst/>
          </a:prstGeom>
          <a:noFill/>
          <a:ln w="15875">
            <a:solidFill>
              <a:srgbClr val="002FA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77000" y="3648075"/>
            <a:ext cx="5953" cy="31750"/>
          </a:xfrm>
          <a:custGeom>
            <a:avLst/>
            <a:gdLst/>
            <a:ahLst/>
            <a:cxnLst/>
            <a:rect l="l" t="t" r="r" b="b"/>
            <a:pathLst>
              <a:path w="5953" h="31750">
                <a:moveTo>
                  <a:pt x="0" y="31750"/>
                </a:moveTo>
                <a:lnTo>
                  <a:pt x="0" y="0"/>
                </a:lnTo>
              </a:path>
            </a:pathLst>
          </a:custGeom>
          <a:noFill/>
          <a:ln w="15875">
            <a:solidFill>
              <a:srgbClr val="002FA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77000" y="3616325"/>
            <a:ext cx="5953" cy="5953"/>
          </a:xfrm>
          <a:custGeom>
            <a:avLst/>
            <a:gdLst/>
            <a:ahLst/>
            <a:cxnLst/>
            <a:rect l="l" t="t" r="r" b="b"/>
            <a:pathLst>
              <a:path w="5953" h="5953">
                <a:moveTo>
                  <a:pt x="0" y="0"/>
                </a:moveTo>
                <a:lnTo>
                  <a:pt x="79" y="0"/>
                </a:lnTo>
              </a:path>
            </a:pathLst>
          </a:custGeom>
          <a:noFill/>
          <a:ln w="15875">
            <a:solidFill>
              <a:srgbClr val="002FA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67500" y="2398395"/>
            <a:ext cx="117729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416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边界条件：①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667500" y="2722245"/>
            <a:ext cx="117729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416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无盘子约束的全局性财政补贴/降利率降税费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667500" y="3046095"/>
            <a:ext cx="117729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416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（“强刺激重启”论）；②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667500" y="3369945"/>
            <a:ext cx="117729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416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深圳取消核心区套数限制（“总量放松”论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667500" y="3693795"/>
            <a:ext cx="117729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416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）；③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667500" y="4017645"/>
            <a:ext cx="117729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416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四季度量能明显回落+补贴盘耗尽+无收储对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667500" y="4341495"/>
            <a:ext cx="117729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416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冲（“二次探底”论）——成立则主基调按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667500" y="4665345"/>
            <a:ext cx="117729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416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对应框架重估【研判推断】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E8E8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5F62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专家库 · 智见点评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715500" y="4381500"/>
            <a:ext cx="2476500" cy="2476500"/>
          </a:xfrm>
          <a:custGeom>
            <a:avLst/>
            <a:gdLst/>
            <a:ahLst/>
            <a:cxnLst/>
            <a:rect l="l" t="t" r="r" b="b"/>
            <a:pathLst>
              <a:path w="2476500" h="2476500">
                <a:moveTo>
                  <a:pt x="2476500" y="2476500"/>
                </a:moveTo>
                <a:lnTo>
                  <a:pt x="2476500" y="0"/>
                </a:lnTo>
                <a:arcTo hR="2476500" wR="2476500" stAng="16200000" swAng="-5400000"/>
                <a:close/>
              </a:path>
            </a:pathLst>
          </a:custGeom>
          <a:solidFill>
            <a:srgbClr val="002FA7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078230"/>
            <a:ext cx="11277600" cy="525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1416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结语：闭环是标尺，窗口在眼前</a:t>
            </a:r>
            <a:endParaRPr lang="en-US" sz="3450" dirty="0"/>
          </a:p>
        </p:txBody>
      </p:sp>
      <p:sp>
        <p:nvSpPr>
          <p:cNvPr id="5" name="Shape 3"/>
          <p:cNvSpPr/>
          <p:nvPr/>
        </p:nvSpPr>
        <p:spPr>
          <a:xfrm>
            <a:off x="914400" y="1638300"/>
            <a:ext cx="685800" cy="38100"/>
          </a:xfrm>
          <a:prstGeom prst="rect">
            <a:avLst/>
          </a:prstGeom>
          <a:solidFill>
            <a:srgbClr val="002FA7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1847850"/>
            <a:ext cx="10363200" cy="0"/>
          </a:xfrm>
          <a:prstGeom prst="line">
            <a:avLst/>
          </a:prstGeom>
          <a:noFill/>
          <a:ln w="9525">
            <a:solidFill>
              <a:srgbClr val="E8E8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24000" y="2190750"/>
            <a:ext cx="9753600" cy="0"/>
          </a:xfrm>
          <a:prstGeom prst="line">
            <a:avLst/>
          </a:prstGeom>
          <a:noFill/>
          <a:ln w="9525">
            <a:solidFill>
              <a:srgbClr val="E8E8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2171700"/>
            <a:ext cx="609600" cy="38100"/>
          </a:xfrm>
          <a:prstGeom prst="rect">
            <a:avLst/>
          </a:prstGeom>
          <a:solidFill>
            <a:srgbClr val="2E9E6B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411730"/>
            <a:ext cx="1219200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416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广深4月底先行、京沪8月跟进——四城拼成一个闭环。深圳留白是下一轮的最大看点。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914400" y="3055620"/>
            <a:ext cx="12192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416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范式判断：存量循环修复，非强刺激——期限+盘子约束、工具集中…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14400" y="3455670"/>
            <a:ext cx="12192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416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于公积金与交易环节【研判推断】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3855720"/>
            <a:ext cx="12192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416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有效性标尺：闭环是否打通——上海循环最完整，四城唯一新房同比…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4255770"/>
            <a:ext cx="12192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416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正增长（+3.0%）【市场事实】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14400" y="4655820"/>
            <a:ext cx="12192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416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下一步：金九银十＞政治局会议定调＞9·20新公积金条例，三窗口…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E8E8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5F62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专家库 · 智见点评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1582400" y="419100"/>
            <a:ext cx="95250" cy="95250"/>
          </a:xfrm>
          <a:prstGeom prst="rect">
            <a:avLst/>
          </a:prstGeom>
          <a:solidFill>
            <a:srgbClr val="002FA7">
              <a:alpha val="8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093470"/>
            <a:ext cx="1127760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416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数据口径与来源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914400" y="2654427"/>
            <a:ext cx="12192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416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价格数据：国家统计局70城指数，2026年7月（8月17日发布）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3054477"/>
            <a:ext cx="12192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416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网签数据：沪/京/深官方口径（深圳为6月）；广州未提供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3454527"/>
            <a:ext cx="12192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416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政策文本：2026年节点官方原文核验（86号文/19号文/沪八条）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3854577"/>
            <a:ext cx="12192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416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免责：研判推断内容（P8/P9/P10等）非已出台政策，不构成投资建议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4254627"/>
            <a:ext cx="12192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416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来源：住建委/市政府/公积金中心/央视财经/统计局等10项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605790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5F62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2026-08-23 · 数据截至：政策2026-08-20 / 市场70城2026年7月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E8E8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5F62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专家库 · 智见点评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9715500" y="4381500"/>
            <a:ext cx="2476500" cy="2476500"/>
          </a:xfrm>
          <a:custGeom>
            <a:avLst/>
            <a:gdLst/>
            <a:ahLst/>
            <a:cxnLst/>
            <a:rect l="l" t="t" r="r" b="b"/>
            <a:pathLst>
              <a:path w="2476500" h="2476500">
                <a:moveTo>
                  <a:pt x="2476500" y="2476500"/>
                </a:moveTo>
                <a:lnTo>
                  <a:pt x="2476500" y="0"/>
                </a:lnTo>
                <a:arcTo hR="2476500" wR="2476500" stAng="16200000" swAng="-5400000"/>
                <a:close/>
              </a:path>
            </a:pathLst>
          </a:custGeom>
          <a:solidFill>
            <a:srgbClr val="002FA7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FA7"/>
          </a:solidFill>
          <a:ln/>
        </p:spPr>
      </p:sp>
      <p:sp>
        <p:nvSpPr>
          <p:cNvPr id="5" name="Text 3"/>
          <p:cNvSpPr/>
          <p:nvPr/>
        </p:nvSpPr>
        <p:spPr>
          <a:xfrm>
            <a:off x="533400" y="7620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>
                    <a:alpha val="7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专家库 · 智见点评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33400" y="2247900"/>
            <a:ext cx="11658600" cy="148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 · 欢迎提问</a:t>
            </a:r>
            <a:endParaRPr lang="en-US" sz="9750" dirty="0"/>
          </a:p>
        </p:txBody>
      </p:sp>
      <p:sp>
        <p:nvSpPr>
          <p:cNvPr id="7" name="Shape 5"/>
          <p:cNvSpPr/>
          <p:nvPr/>
        </p:nvSpPr>
        <p:spPr>
          <a:xfrm>
            <a:off x="533400" y="3695700"/>
            <a:ext cx="11125200" cy="133350"/>
          </a:xfrm>
          <a:prstGeom prst="rect">
            <a:avLst/>
          </a:prstGeom>
          <a:solidFill>
            <a:srgbClr val="002FA7"/>
          </a:solidFill>
          <a:ln/>
        </p:spPr>
      </p:sp>
      <p:sp>
        <p:nvSpPr>
          <p:cNvPr id="8" name="Text 6"/>
          <p:cNvSpPr/>
          <p:nvPr/>
        </p:nvSpPr>
        <p:spPr>
          <a:xfrm>
            <a:off x="533400" y="6217920"/>
            <a:ext cx="11658600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25" dirty="0">
                <a:solidFill>
                  <a:srgbClr val="FFFFFF">
                    <a:alpha val="6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专家库 · 智见点评</a:t>
            </a:r>
            <a:endParaRPr lang="en-US" sz="1425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1980-01-01T00:00:00Z</dcterms:created>
  <dcterms:modified xsi:type="dcterms:W3CDTF">1980-01-01T00:00:00Z</dcterms:modified>
</cp:coreProperties>
</file>