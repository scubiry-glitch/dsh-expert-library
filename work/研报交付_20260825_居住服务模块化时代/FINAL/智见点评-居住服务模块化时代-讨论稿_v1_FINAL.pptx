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开场：这是智见点评的融合研判讨论稿，主题是居住服务是否进入专业角色可拆分、可验证、可单独付费的时代。四位数研专家匿名标注 Y/C/L/X。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主基调结论先行：角色拆分已在发生，可单独付费尚未全面成立，中间隔着分账重构与责任界定。三组实证分别来自客户管家试点、平台量价背离、外部制度挤压。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五组数字均带口径与来源。7.4% vs 5.0% 的相对提升约四成，但只验证了转带看一段，带看转签、客诉、毛利尚未验证。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四条边界条件来自四位专家，是基调下修的触发条件。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客户管家是第一个可观测样本：咨询与履约首次分家。柱状图高度按真实数值归一。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量价背离是本轮研判的核心财务证据：单量增长近两成，经纪人规模没有同步扩大，利润近翻倍。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外部信号时间线：监管与公共平台同步压缩信息差生存空间。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四因叠加：信息成本坍塌是最底层变量，决策复杂度是需求侧推力，旧模式不可验证是制度根源，ACN 是内部条件。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机制链从信息贬值出发，经决策复杂度、角色拆分、结果可验证，最终落到分账付费与专业者供给的正反馈。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三位专家的洞察收敛到同一个判断：模块化不是去中介，而是重新定义专业与责任的边界。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路线图：短期验证、中期分账制度、长期主战场。纪律优先于扩张。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四点不确定性：样本外推纪律是共识底线，协同成本是最大运营暗礁。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所有数字带口径与来源；预测类结论标注研判推断。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收尾：讨论稿交付，等待用户确认是否继续（视频精修 / PPT 调整 / 转正式稿）。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2897505"/>
            <a:ext cx="11582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居住服务进入「专业角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3268980"/>
            <a:ext cx="11582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色可拆分、可验证、可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3640455"/>
            <a:ext cx="11582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单独付费」时代？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A86F1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0B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D8E2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362200"/>
            <a:ext cx="6705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 · 融合研判</a:t>
            </a:r>
            <a:pPr algn="l" indent="0" marL="0">
              <a:buNone/>
            </a:pPr>
            <a:r>
              <a:rPr lang="en-US" sz="18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</a:t>
            </a:r>
            <a:pPr algn="l" indent="0" marL="0">
              <a:buNone/>
            </a:pPr>
            <a:r>
              <a:rPr lang="en-US" sz="18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讨论稿 v1</a:t>
            </a:r>
            <a:endParaRPr lang="en-US" sz="18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8E2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主基调：会，而且已经启动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Shape 5"/>
          <p:cNvSpPr/>
          <p:nvPr/>
        </p:nvSpPr>
        <p:spPr>
          <a:xfrm>
            <a:off x="550842" y="1989117"/>
            <a:ext cx="174667" cy="174667"/>
          </a:xfrm>
          <a:custGeom>
            <a:avLst/>
            <a:gdLst/>
            <a:ahLst/>
            <a:cxnLst/>
            <a:rect l="l" t="t" r="r" b="b"/>
            <a:pathLst>
              <a:path w="174667" h="174667">
                <a:moveTo>
                  <a:pt x="78751" y="7128"/>
                </a:moveTo>
                <a:arcTo hR="8731" wR="8731" stAng="11434791" swAng="9530419"/>
                <a:lnTo>
                  <a:pt x="105093" y="55656"/>
                </a:lnTo>
                <a:arcTo hR="17463" wR="17463" stAng="10158158" swAng="-4116317"/>
                <a:lnTo>
                  <a:pt x="167539" y="78751"/>
                </a:lnTo>
                <a:arcTo hR="8731" wR="8731" stAng="16834791" swAng="9530419"/>
                <a:lnTo>
                  <a:pt x="119010" y="105093"/>
                </a:lnTo>
                <a:arcTo hR="17463" wR="17463" stAng="15558158" swAng="-4116317"/>
                <a:lnTo>
                  <a:pt x="95916" y="167539"/>
                </a:lnTo>
                <a:arcTo hR="8731" wR="8731" stAng="634791" swAng="9530419"/>
                <a:lnTo>
                  <a:pt x="69574" y="119010"/>
                </a:lnTo>
                <a:arcTo hR="17463" wR="17463" stAng="20958158" swAng="-4116317"/>
                <a:lnTo>
                  <a:pt x="7128" y="95916"/>
                </a:lnTo>
                <a:arcTo hR="8731" wR="8731" stAng="6034791" swAng="9530419"/>
                <a:lnTo>
                  <a:pt x="55656" y="69574"/>
                </a:lnTo>
                <a:arcTo hR="17463" wR="17463" stAng="4758158" swAng="-4116317"/>
                <a:close/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025" y="1989138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3" y="2006600"/>
            <a:ext cx="34925" cy="6548"/>
          </a:xfrm>
          <a:custGeom>
            <a:avLst/>
            <a:gdLst/>
            <a:ahLst/>
            <a:cxnLst/>
            <a:rect l="l" t="t" r="r" b="b"/>
            <a:pathLst>
              <a:path w="34925" h="6548">
                <a:moveTo>
                  <a:pt x="34925" y="0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0863" y="2128838"/>
            <a:ext cx="34925" cy="34925"/>
          </a:xfrm>
          <a:prstGeom prst="ellipse">
            <a:avLst/>
          </a:pr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50" y="195834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会，而且已经启动。依据不是概念推演，是三组实证。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33400" y="2781300"/>
            <a:ext cx="3606800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188" y="3402806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arcTo hR="28575" wR="28575" stAng="0" swAng="-5400000"/>
                <a:lnTo>
                  <a:pt x="28575" y="0"/>
                </a:lnTo>
                <a:arcTo hR="28575" wR="28575" stAng="16200000" swAng="-5400000"/>
                <a:lnTo>
                  <a:pt x="0" y="42863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" y="3317996"/>
            <a:ext cx="21404" cy="55321"/>
          </a:xfrm>
          <a:custGeom>
            <a:avLst/>
            <a:gdLst/>
            <a:ahLst/>
            <a:cxnLst/>
            <a:rect l="l" t="t" r="r" b="b"/>
            <a:pathLst>
              <a:path w="21404" h="55321">
                <a:moveTo>
                  <a:pt x="0" y="0"/>
                </a:moveTo>
                <a:arcTo hR="28575" wR="28575" stAng="17072025" swAng="9055950"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631" y="3403735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arcTo hR="28575" wR="28575" stAng="21597436" swAng="-4528786"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9619" y="3317081"/>
            <a:ext cx="57150" cy="57150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900" y="34861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3400" y="3371850"/>
            <a:ext cx="3416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3900" y="397383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客户管家承接线索 2026.5–7（内部样本单源）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2600" y="2781300"/>
            <a:ext cx="3606800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7400" y="3345656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7388" y="3345656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3100" y="3486150"/>
            <a:ext cx="8242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3400" y="3371850"/>
            <a:ext cx="717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83100" y="3973830"/>
            <a:ext cx="8242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商机转带看率 · 客户管家 vs 大盘 5.0%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51800" y="2781300"/>
            <a:ext cx="3606800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8278019" y="3331369"/>
            <a:ext cx="100013" cy="100013"/>
          </a:xfrm>
          <a:prstGeom prst="lin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0875" y="3324225"/>
            <a:ext cx="35719" cy="35719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49456" y="3402806"/>
            <a:ext cx="35719" cy="35719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2300" y="3486150"/>
            <a:ext cx="4483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33400" y="3371850"/>
            <a:ext cx="10934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42300" y="3973830"/>
            <a:ext cx="448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 利润率（搜狐 08-22）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单量同比增近两成而人员未扩（财新）；GTV 重回增长、利润近翻倍（36氪/TIKR）｜ Y/C/L/X 方向一致：价值锚点从信息差移向决策差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五组关键数字（均带口径）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A86F10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2779776"/>
            <a:ext cx="1409700" cy="19431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52788" y="3401282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arcTo hR="28575" wR="28575" stAng="0" swAng="-5400000"/>
                <a:lnTo>
                  <a:pt x="28575" y="0"/>
                </a:lnTo>
                <a:arcTo hR="28575" wR="28575" stAng="16200000" swAng="-5400000"/>
                <a:lnTo>
                  <a:pt x="0" y="42863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52800" y="3316472"/>
            <a:ext cx="21404" cy="55321"/>
          </a:xfrm>
          <a:custGeom>
            <a:avLst/>
            <a:gdLst/>
            <a:ahLst/>
            <a:cxnLst/>
            <a:rect l="l" t="t" r="r" b="b"/>
            <a:pathLst>
              <a:path w="21404" h="55321">
                <a:moveTo>
                  <a:pt x="0" y="0"/>
                </a:moveTo>
                <a:arcTo hR="28575" wR="28575" stAng="17072025" swAng="9055950"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231" y="3402211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arcTo hR="28575" wR="28575" stAng="21597436" swAng="-4528786"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4219" y="3315557"/>
            <a:ext cx="57150" cy="57150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8500" y="3484626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48000" y="3370326"/>
            <a:ext cx="1219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38500" y="4002786"/>
            <a:ext cx="120015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承接线索（5–7月）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0100" y="2779776"/>
            <a:ext cx="1409700" cy="19431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4900" y="3344132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4888" y="3344132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484626"/>
            <a:ext cx="10439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048000" y="3370326"/>
            <a:ext cx="2781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979926"/>
            <a:ext cx="10439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客户组转带看率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172200" y="2779776"/>
            <a:ext cx="1409700" cy="19431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398419" y="3329845"/>
            <a:ext cx="100013" cy="100013"/>
          </a:xfrm>
          <a:prstGeom prst="lin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275" y="3322701"/>
            <a:ext cx="35719" cy="35719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9856" y="3401282"/>
            <a:ext cx="35719" cy="35719"/>
          </a:xfrm>
          <a:prstGeom prst="ellipse">
            <a:avLst/>
          </a:pr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2700" y="3484626"/>
            <a:ext cx="8877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048000" y="3370326"/>
            <a:ext cx="4343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2700" y="3972306"/>
            <a:ext cx="8877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利润率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34300" y="2779776"/>
            <a:ext cx="1409700" cy="19431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525" y="3386995"/>
            <a:ext cx="36290" cy="50006"/>
          </a:xfrm>
          <a:custGeom>
            <a:avLst/>
            <a:gdLst/>
            <a:ahLst/>
            <a:cxnLst/>
            <a:rect l="l" t="t" r="r" b="b"/>
            <a:pathLst>
              <a:path w="36290" h="50006">
                <a:moveTo>
                  <a:pt x="0" y="14288"/>
                </a:moveTo>
                <a:lnTo>
                  <a:pt x="0" y="50006"/>
                </a:lnTo>
                <a:cubicBezTo>
                  <a:pt x="0" y="50006"/>
                  <a:pt x="21646" y="46077"/>
                  <a:pt x="28575" y="35719"/>
                </a:cubicBezTo>
                <a:cubicBezTo>
                  <a:pt x="36290" y="24146"/>
                  <a:pt x="28575" y="0"/>
                  <a:pt x="28575" y="0"/>
                </a:cubicBez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42659" y="3408333"/>
            <a:ext cx="40791" cy="39384"/>
          </a:xfrm>
          <a:custGeom>
            <a:avLst/>
            <a:gdLst/>
            <a:ahLst/>
            <a:cxnLst/>
            <a:rect l="l" t="t" r="r" b="b"/>
            <a:pathLst>
              <a:path w="40791" h="39384">
                <a:moveTo>
                  <a:pt x="14288" y="3665"/>
                </a:moveTo>
                <a:cubicBezTo>
                  <a:pt x="3572" y="12666"/>
                  <a:pt x="0" y="39384"/>
                  <a:pt x="0" y="39384"/>
                </a:cubicBezTo>
                <a:cubicBezTo>
                  <a:pt x="0" y="39384"/>
                  <a:pt x="26718" y="35812"/>
                  <a:pt x="35719" y="25096"/>
                </a:cubicBezTo>
                <a:cubicBezTo>
                  <a:pt x="40791" y="19095"/>
                  <a:pt x="40719" y="9880"/>
                  <a:pt x="35076" y="4308"/>
                </a:cubicBezTo>
                <a:arcTo hR="15573" wR="15573" stAng="18819908" swAng="-5027240"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89094" y="3308412"/>
            <a:ext cx="92869" cy="92871"/>
          </a:xfrm>
          <a:custGeom>
            <a:avLst/>
            <a:gdLst/>
            <a:ahLst/>
            <a:cxnLst/>
            <a:rect l="l" t="t" r="r" b="b"/>
            <a:pathLst>
              <a:path w="92869" h="92871">
                <a:moveTo>
                  <a:pt x="0" y="71439"/>
                </a:moveTo>
                <a:arcTo hR="157163" wR="157163" stAng="12064758" swAng="693015"/>
                <a:arcTo hR="92012" wR="92012" stAng="12721383" swAng="3499940"/>
                <a:cubicBezTo>
                  <a:pt x="92869" y="19433"/>
                  <a:pt x="87297" y="53580"/>
                  <a:pt x="50006" y="78583"/>
                </a:cubicBezTo>
                <a:arcTo hR="160020" wR="160020" stAng="3462353" swAng="687487"/>
                <a:close/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3375" y="3343561"/>
            <a:ext cx="50006" cy="36290"/>
          </a:xfrm>
          <a:custGeom>
            <a:avLst/>
            <a:gdLst/>
            <a:ahLst/>
            <a:cxnLst/>
            <a:rect l="l" t="t" r="r" b="b"/>
            <a:pathLst>
              <a:path w="50006" h="36290">
                <a:moveTo>
                  <a:pt x="35719" y="36290"/>
                </a:moveTo>
                <a:lnTo>
                  <a:pt x="0" y="36290"/>
                </a:lnTo>
                <a:cubicBezTo>
                  <a:pt x="0" y="36290"/>
                  <a:pt x="3929" y="14645"/>
                  <a:pt x="14288" y="7715"/>
                </a:cubicBezTo>
                <a:cubicBezTo>
                  <a:pt x="25860" y="0"/>
                  <a:pt x="50006" y="8072"/>
                  <a:pt x="50006" y="8072"/>
                </a:cubicBezTo>
              </a:path>
            </a:pathLst>
          </a:custGeom>
          <a:noFill/>
          <a:ln w="14288">
            <a:solidFill>
              <a:srgbClr val="0B7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4800" y="3484626"/>
            <a:ext cx="7315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≈2</a:t>
            </a:r>
            <a:pPr algn="l" indent="0" marL="0">
              <a:buNone/>
            </a:pPr>
            <a:r>
              <a:rPr lang="en-US" sz="1350" b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048000" y="3370326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24800" y="3972306"/>
            <a:ext cx="731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利润近翻倍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6088380"/>
            <a:ext cx="12192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转带看率 vs 大盘 5.0%（相对约四成）；GTV 重回增长（36氪/TIKR）；Q2 单量增近两成、人员未扩（财新）；客户管家为单源内部样本，以 2 万线索随机对照为准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边界条件：基调下修的四个前提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A86F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8E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909953"/>
            <a:ext cx="1097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775" y="2114741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23094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43050" y="2105216"/>
            <a:ext cx="5953" cy="142875"/>
          </a:xfrm>
          <a:custGeom>
            <a:avLst/>
            <a:gdLst/>
            <a:ahLst/>
            <a:cxnLst/>
            <a:rect l="l" t="t" r="r" b="b"/>
            <a:pathLst>
              <a:path w="5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4800" y="2136966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1613" y="2121091"/>
            <a:ext cx="142875" cy="15875"/>
          </a:xfrm>
          <a:custGeom>
            <a:avLst/>
            <a:gdLst/>
            <a:ahLst/>
            <a:cxnLst/>
            <a:rect l="l" t="t" r="r" b="b"/>
            <a:pathLst>
              <a:path w="142875" h="15875">
                <a:moveTo>
                  <a:pt x="0" y="15875"/>
                </a:moveTo>
                <a:lnTo>
                  <a:pt x="7938" y="15875"/>
                </a:lnTo>
                <a:arcTo hR="134938" wR="134938" stAng="5400000" swAng="-1684349"/>
                <a:arcTo hR="134938" wR="134938" stAng="7084349" swAng="-1684349"/>
                <a:lnTo>
                  <a:pt x="142875" y="15875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675" y="2136966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3363" y="2248091"/>
            <a:ext cx="79375" cy="5953"/>
          </a:xfrm>
          <a:custGeom>
            <a:avLst/>
            <a:gdLst/>
            <a:ahLst/>
            <a:cxnLst/>
            <a:rect l="l" t="t" r="r" b="b"/>
            <a:pathLst>
              <a:path w="79375" h="5953">
                <a:moveTo>
                  <a:pt x="0" y="0"/>
                </a:moveTo>
                <a:lnTo>
                  <a:pt x="7937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3550" y="2098548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分账与责任两道门槛（Y）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47800" y="235762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可单独付费尚未全面成立；ACN 需从房客源分佣升级为角色模块分账，责任界定先行。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2814828"/>
            <a:ext cx="1097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775" y="3019616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313582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79550" y="3002149"/>
            <a:ext cx="127000" cy="158777"/>
          </a:xfrm>
          <a:custGeom>
            <a:avLst/>
            <a:gdLst/>
            <a:ahLst/>
            <a:cxnLst/>
            <a:rect l="l" t="t" r="r" b="b"/>
            <a:pathLst>
              <a:path w="127000" h="158777">
                <a:moveTo>
                  <a:pt x="127000" y="87316"/>
                </a:moveTo>
                <a:cubicBezTo>
                  <a:pt x="127000" y="127004"/>
                  <a:pt x="99219" y="146847"/>
                  <a:pt x="66199" y="158357"/>
                </a:cubicBezTo>
                <a:arcTo hR="7938" wR="7938" stAng="4276817" swAng="2348977"/>
                <a:cubicBezTo>
                  <a:pt x="27781" y="146847"/>
                  <a:pt x="0" y="127004"/>
                  <a:pt x="0" y="87316"/>
                </a:cubicBezTo>
                <a:lnTo>
                  <a:pt x="0" y="31754"/>
                </a:lnTo>
                <a:arcTo hR="7938" wR="7938" stAng="10800000" swAng="5400000"/>
                <a:cubicBezTo>
                  <a:pt x="23813" y="23816"/>
                  <a:pt x="43656" y="14291"/>
                  <a:pt x="57468" y="2226"/>
                </a:cubicBezTo>
                <a:arcTo hR="9287" wR="9287" stAng="13769437" swAng="4861127"/>
                <a:cubicBezTo>
                  <a:pt x="83423" y="14370"/>
                  <a:pt x="103188" y="23816"/>
                  <a:pt x="119063" y="23816"/>
                </a:cubicBezTo>
                <a:arcTo hR="7938" wR="7938" stAng="16200000" swAng="5400000"/>
                <a:close/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9238" y="3065653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3550" y="3003423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三个制度条件（L）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447800" y="326250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结果可验证 · 分账可执行 · 责任可追偿；窗口期约 12–18 个月（研判推断）。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09600" y="3719703"/>
            <a:ext cx="1097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6775" y="3924491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4040696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650" y="3970520"/>
            <a:ext cx="95275" cy="95271"/>
          </a:xfrm>
          <a:custGeom>
            <a:avLst/>
            <a:gdLst/>
            <a:ahLst/>
            <a:cxnLst/>
            <a:rect l="l" t="t" r="r" b="b"/>
            <a:pathLst>
              <a:path w="95275" h="95271">
                <a:moveTo>
                  <a:pt x="95275" y="23820"/>
                </a:moveTo>
                <a:lnTo>
                  <a:pt x="28751" y="90337"/>
                </a:lnTo>
                <a:arcTo hR="16841" wR="16841" stAng="2699427" swAng="10800000"/>
                <a:lnTo>
                  <a:pt x="71479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4800" y="39705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47625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956" y="391099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63500" y="6350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11300" y="39070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47625"/>
                </a:moveTo>
                <a:lnTo>
                  <a:pt x="4762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15269" y="395068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6350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3550" y="3908298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从业制度迟到补课（X）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447800" y="416737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只拆责任不建制度，会把一人包办的模糊责任升级为无人负责的碎片化甩锅。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609600" y="4624578"/>
            <a:ext cx="1097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6775" y="4829366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600" y="4945571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27175" y="4812430"/>
            <a:ext cx="94802" cy="102701"/>
          </a:xfrm>
          <a:custGeom>
            <a:avLst/>
            <a:gdLst/>
            <a:ahLst/>
            <a:cxnLst/>
            <a:rect l="l" t="t" r="r" b="b"/>
            <a:pathLst>
              <a:path w="94802" h="102701">
                <a:moveTo>
                  <a:pt x="0" y="86785"/>
                </a:moveTo>
                <a:arcTo hR="39688" wR="39688" stAng="8592193" swAng="-5892816"/>
                <a:lnTo>
                  <a:pt x="83661" y="67259"/>
                </a:lnTo>
                <a:arcTo hR="39688" wR="39688" stAng="2640255" swAng="-10680511"/>
                <a:lnTo>
                  <a:pt x="13891" y="24714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4123" y="4867425"/>
            <a:ext cx="94802" cy="102701"/>
          </a:xfrm>
          <a:custGeom>
            <a:avLst/>
            <a:gdLst/>
            <a:ahLst/>
            <a:cxnLst/>
            <a:rect l="l" t="t" r="r" b="b"/>
            <a:pathLst>
              <a:path w="94802" h="102701">
                <a:moveTo>
                  <a:pt x="94802" y="15916"/>
                </a:moveTo>
                <a:arcTo hR="39688" wR="39688" stAng="19392193" swAng="-5892816"/>
                <a:lnTo>
                  <a:pt x="11141" y="35442"/>
                </a:lnTo>
                <a:arcTo hR="39688" wR="39688" stAng="13440255" swAng="-10680511"/>
                <a:lnTo>
                  <a:pt x="80832" y="77987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3550" y="4813173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不破坏 ACN 协同（C）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447800" y="507225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模块结果必须可验证、付费与成交脱钩可单列，否则模块化退化为变相提佣。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偏离观点降级规则：任一条件不成立，主基调需下修。匿名标注：Y 渠道崛起派 · C 存量统筹派 · L 制度派 · X 海外监管派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事实一：供给侧角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1529715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色开始制度性分化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2230755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42887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A86F1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84120"/>
            <a:ext cx="76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52600" y="2428875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2600" y="2484120"/>
            <a:ext cx="6286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懂盘者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7450" y="242887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7450" y="2484120"/>
            <a:ext cx="76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带看撮合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5650" y="2428875"/>
            <a:ext cx="4953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5650" y="2484120"/>
            <a:ext cx="495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67150" y="2428875"/>
            <a:ext cx="4953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150" y="2484120"/>
            <a:ext cx="495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8650" y="2428875"/>
            <a:ext cx="4953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8650" y="2484120"/>
            <a:ext cx="4953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275272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07970"/>
            <a:ext cx="76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租赁管家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2423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包办经纪人首次拆为「咨询角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36709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 + 履约角色」（L）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41757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收入与成交脱钩，买方第一次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46043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可为决策服务单独付费（C）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6088380"/>
            <a:ext cx="11277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单源内部样本、选择效应未排除、仅验证转带看一段；转签/客诉/毛利未验证，不可外推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5724525" y="2876550"/>
            <a:ext cx="5553075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24525" y="3371850"/>
            <a:ext cx="5553075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4525" y="3867150"/>
            <a:ext cx="5553075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2625" y="2381250"/>
            <a:ext cx="2700338" cy="1981200"/>
          </a:xfrm>
          <a:prstGeom prst="rect">
            <a:avLst/>
          </a:prstGeom>
          <a:solidFill>
            <a:srgbClr val="A86F10"/>
          </a:solidFill>
          <a:ln/>
        </p:spPr>
      </p:sp>
      <p:sp>
        <p:nvSpPr>
          <p:cNvPr id="29" name="Text 27"/>
          <p:cNvSpPr/>
          <p:nvPr/>
        </p:nvSpPr>
        <p:spPr>
          <a:xfrm>
            <a:off x="5438775" y="2259330"/>
            <a:ext cx="334803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3262E"/>
                </a:solidFill>
              </a:rPr>
              <a:t>7.4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438775" y="4411980"/>
            <a:ext cx="334803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</a:rPr>
              <a:t>客户管家</a:t>
            </a:r>
            <a:endParaRPr lang="en-US" sz="825" dirty="0"/>
          </a:p>
        </p:txBody>
      </p:sp>
      <p:sp>
        <p:nvSpPr>
          <p:cNvPr id="31" name="svg2pptx-gradient-s0004-0000"/>
          <p:cNvSpPr/>
          <p:nvPr/>
        </p:nvSpPr>
        <p:spPr>
          <a:xfrm>
            <a:off x="8539163" y="3023801"/>
            <a:ext cx="2700338" cy="1338649"/>
          </a:xfrm>
          <a:prstGeom prst="rect">
            <a:avLst/>
          </a:prstGeom>
          <a:gradFill rotWithShape="1">
            <a:gsLst>
              <a:gs pos="0">
                <a:srgbClr val="A86F10">
                  <a:alpha val="75000"/>
                </a:srgbClr>
              </a:gs>
              <a:gs pos="100000">
                <a:srgbClr val="764E0B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5438775" y="2901881"/>
            <a:ext cx="890111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3262E"/>
                </a:solidFill>
              </a:rPr>
              <a:t>5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438775" y="4411980"/>
            <a:ext cx="890111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</a:rPr>
              <a:t>同期大盘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438775" y="28117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438775" y="29356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5438775" y="30594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438775" y="31832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5438775" y="33070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438775" y="34309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438775" y="35547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438775" y="36785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5438775" y="38023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事实二：平台端量价背离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1771650"/>
            <a:ext cx="5922264" cy="43243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9525">
            <a:solidFill>
              <a:srgbClr val="A86F1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0650" y="3457575"/>
            <a:ext cx="5255514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0650" y="3952875"/>
            <a:ext cx="5255514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0650" y="4448175"/>
            <a:ext cx="5255514" cy="0"/>
          </a:xfrm>
          <a:prstGeom prst="line">
            <a:avLst/>
          </a:prstGeom>
          <a:noFill/>
          <a:ln w="9525">
            <a:solidFill>
              <a:srgbClr val="4E6874">
                <a:alpha val="10000"/>
              </a:srgbClr>
            </a:solidFill>
            <a:prstDash val="solid"/>
          </a:ln>
        </p:spPr>
      </p:sp>
      <p:sp>
        <p:nvSpPr>
          <p:cNvPr id="8" name="svg2pptx-gradient-s0005-0000"/>
          <p:cNvSpPr/>
          <p:nvPr/>
        </p:nvSpPr>
        <p:spPr>
          <a:xfrm>
            <a:off x="1428750" y="4547235"/>
            <a:ext cx="1675638" cy="396240"/>
          </a:xfrm>
          <a:prstGeom prst="rect">
            <a:avLst/>
          </a:prstGeom>
          <a:gradFill rotWithShape="1">
            <a:gsLst>
              <a:gs pos="0">
                <a:srgbClr val="A86F10">
                  <a:alpha val="75000"/>
                </a:srgbClr>
              </a:gs>
              <a:gs pos="100000">
                <a:srgbClr val="764E0B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1104900" y="4425315"/>
            <a:ext cx="232333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3262E"/>
                </a:solidFill>
              </a:rPr>
              <a:t>20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104900" y="4993005"/>
            <a:ext cx="232333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</a:rPr>
              <a:t>二手成交单量</a:t>
            </a:r>
            <a:endParaRPr lang="en-US" sz="825" dirty="0"/>
          </a:p>
        </p:txBody>
      </p:sp>
      <p:sp>
        <p:nvSpPr>
          <p:cNvPr id="11" name="svg2pptx-gradient-s0005-0001"/>
          <p:cNvSpPr/>
          <p:nvPr/>
        </p:nvSpPr>
        <p:spPr>
          <a:xfrm>
            <a:off x="3180588" y="4943475"/>
            <a:ext cx="1675638" cy="7144"/>
          </a:xfrm>
          <a:prstGeom prst="rect">
            <a:avLst/>
          </a:prstGeom>
          <a:gradFill rotWithShape="1">
            <a:gsLst>
              <a:gs pos="0">
                <a:srgbClr val="A86F10">
                  <a:alpha val="75000"/>
                </a:srgbClr>
              </a:gs>
              <a:gs pos="100000">
                <a:srgbClr val="764E0B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1104900" y="4821555"/>
            <a:ext cx="58270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3262E"/>
                </a:solidFill>
              </a:rPr>
              <a:t>0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104900" y="4993005"/>
            <a:ext cx="58270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</a:rPr>
              <a:t>经纪人规模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932426" y="2962275"/>
            <a:ext cx="1675638" cy="1981200"/>
          </a:xfrm>
          <a:prstGeom prst="rect">
            <a:avLst/>
          </a:prstGeom>
          <a:solidFill>
            <a:srgbClr val="A86F10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2840355"/>
            <a:ext cx="93306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13262E"/>
                </a:solidFill>
              </a:rPr>
              <a:t>100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104900" y="4993005"/>
            <a:ext cx="933069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</a:rPr>
              <a:t>利润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104900" y="30213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104900" y="31451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104900" y="32689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104900" y="33928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104900" y="35166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104900" y="36404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104900" y="37642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104900" y="38881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104900" y="40119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104900" y="41357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104900" y="42595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104900" y="438340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104900" y="450723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104900" y="4631055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104900" y="4754880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A86F10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9564" y="283845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行业第一次靠「效率」而非「规模」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7179564" y="317182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兑现增长（C）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7179564" y="358140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模块化分工的财务镜像：同样线索池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7179564" y="391477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、更少的人、更结构化的服务（L）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7179564" y="432435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人均效能替代人海扩张，为「少而精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7179564" y="465772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」专业者供给创造财务前提（X）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「近两成 / 近翻倍」为公开报道表述，图中按 ≈+20% / ≈+100% 归一示意，非精确值（研判推断）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11364"/>
            </a:avLst>
          </a:prstGeom>
          <a:solidFill>
            <a:srgbClr val="0B7A8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事实三：外部制度环境挤压信息租金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04900" y="2781300"/>
            <a:ext cx="9982200" cy="0"/>
          </a:xfrm>
          <a:prstGeom prst="line">
            <a:avLst/>
          </a:prstGeom>
          <a:noFill/>
          <a:ln w="19050">
            <a:solidFill>
              <a:srgbClr val="D8E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24307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07-31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292608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青岛通报 22 家中介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8700" y="315849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合规端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302514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30780"/>
            <a:ext cx="4373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4373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深圳国企零中介费平台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158490"/>
            <a:ext cx="437388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价格端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502158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30780"/>
            <a:ext cx="83667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83667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新华社资金协同治理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58490"/>
            <a:ext cx="83667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履约端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701802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40" y="2430780"/>
            <a:ext cx="12024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2040" y="2926080"/>
            <a:ext cx="120243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财新：单量增近两成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2040" y="3158490"/>
            <a:ext cx="120243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901446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430780"/>
            <a:ext cx="80314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26080"/>
            <a:ext cx="80314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36氪/TIKR：GTV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116580"/>
            <a:ext cx="80314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重回增长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348990"/>
            <a:ext cx="803148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11010900" y="2705100"/>
            <a:ext cx="152400" cy="1524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430780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2926080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成都租房官方避坑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3158490"/>
            <a:ext cx="102489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信息端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14400" y="40614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价格端、合规端、履约端、信息端四方挤压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4400" y="45662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静态房源信息正在公共化、廉价化，捆绑定价里的信息费被外部力量归零（L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4400" y="49949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证据窗：2025-08-25 — 2026-08-25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归因：为什么是此刻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A86F1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3266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信息成本坍塌：静态信息边际成本趋零，靠信息差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52793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吃饭的角色被压缩（L）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89941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决策复杂度上升：决策支持难被 AI 平权；家庭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19468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 资产在房子，「买得对」才是问题（Y）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旧模式不可验证：多重委托+双向收费+结果捆绑；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386143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海外仅在可拆、可验、可追前提下拆分（X）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3291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内部条件具备：ACN 六环节自然延伸；14.6%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452818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利润率提供分账改革空间（Y）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48400" y="22021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海外分级持证对照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8400" y="24003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8400" y="2455545"/>
            <a:ext cx="1028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香港分级发牌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53300" y="2400300"/>
            <a:ext cx="10287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3300" y="2455545"/>
            <a:ext cx="1028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台湾签章负责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58200" y="2400300"/>
            <a:ext cx="115938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455545"/>
            <a:ext cx="115938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新加坡CEA分级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8400" y="2724150"/>
            <a:ext cx="170878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8400" y="2779395"/>
            <a:ext cx="170878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德州TREC两级+赔偿基金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33385" y="2724150"/>
            <a:ext cx="1026033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3385" y="2779395"/>
            <a:ext cx="102603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北卡BIC督导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B7A8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机制链：模块化如何自我强化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3093149"/>
            <a:ext cx="176784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321749"/>
            <a:ext cx="266700" cy="2667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0804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737039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静态信息贬值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4043743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信息费被外部力量归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4234244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3093149"/>
            <a:ext cx="176784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321749"/>
            <a:ext cx="266700" cy="2667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80804"/>
            <a:ext cx="50215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737039"/>
            <a:ext cx="981456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决策复杂度上升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3743"/>
            <a:ext cx="98145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顾问价值升值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3093149"/>
            <a:ext cx="176784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3321749"/>
            <a:ext cx="266700" cy="2667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80804"/>
            <a:ext cx="9319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3737039"/>
            <a:ext cx="76657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专业角色拆分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0680" y="4038029"/>
            <a:ext cx="766572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 × 履约 ×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440680" y="4180904"/>
            <a:ext cx="766572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模块，客户管家为首个样本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7360920" y="3093149"/>
            <a:ext cx="176784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3321749"/>
            <a:ext cx="266700" cy="2667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24" name="Text 22"/>
          <p:cNvSpPr/>
          <p:nvPr/>
        </p:nvSpPr>
        <p:spPr>
          <a:xfrm>
            <a:off x="2339340" y="3380804"/>
            <a:ext cx="107670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737039"/>
            <a:ext cx="55168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模块结果可验证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89520" y="4043743"/>
            <a:ext cx="551688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过程透明、责任可溯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0" y="3093149"/>
            <a:ext cx="176784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3321749"/>
            <a:ext cx="266700" cy="266700"/>
          </a:xfrm>
          <a:prstGeom prst="ellipse">
            <a:avLst/>
          </a:prstGeom>
          <a:solidFill>
            <a:srgbClr val="0B7A8C"/>
          </a:solidFill>
          <a:ln/>
        </p:spPr>
      </p:sp>
      <p:sp>
        <p:nvSpPr>
          <p:cNvPr id="29" name="Text 27"/>
          <p:cNvSpPr/>
          <p:nvPr/>
        </p:nvSpPr>
        <p:spPr>
          <a:xfrm>
            <a:off x="6637020" y="3380804"/>
            <a:ext cx="6469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38360" y="3775139"/>
            <a:ext cx="336804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分账/付费与专业者供给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738360" y="4043743"/>
            <a:ext cx="33680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与成交脱钩、可单列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38360" y="4234244"/>
            <a:ext cx="33680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；职业化正反馈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58440" y="3840861"/>
            <a:ext cx="152400" cy="0"/>
          </a:xfrm>
          <a:prstGeom prst="lin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10840" y="38027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E6874"/>
          </a:solidFill>
          <a:ln/>
        </p:spPr>
      </p:sp>
      <p:sp>
        <p:nvSpPr>
          <p:cNvPr id="35" name="Shape 33"/>
          <p:cNvSpPr/>
          <p:nvPr/>
        </p:nvSpPr>
        <p:spPr>
          <a:xfrm>
            <a:off x="4907280" y="3840861"/>
            <a:ext cx="152400" cy="0"/>
          </a:xfrm>
          <a:prstGeom prst="lin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59680" y="38027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E6874"/>
          </a:solidFill>
          <a:ln/>
        </p:spPr>
      </p:sp>
      <p:sp>
        <p:nvSpPr>
          <p:cNvPr id="37" name="Shape 35"/>
          <p:cNvSpPr/>
          <p:nvPr/>
        </p:nvSpPr>
        <p:spPr>
          <a:xfrm>
            <a:off x="7056120" y="3840861"/>
            <a:ext cx="152400" cy="0"/>
          </a:xfrm>
          <a:prstGeom prst="lin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08520" y="38027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E6874"/>
          </a:solidFill>
          <a:ln/>
        </p:spPr>
      </p:sp>
      <p:sp>
        <p:nvSpPr>
          <p:cNvPr id="39" name="Shape 37"/>
          <p:cNvSpPr/>
          <p:nvPr/>
        </p:nvSpPr>
        <p:spPr>
          <a:xfrm>
            <a:off x="9204960" y="3840861"/>
            <a:ext cx="152400" cy="0"/>
          </a:xfrm>
          <a:prstGeom prst="lin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57360" y="38027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4E6874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量化口径建议：模块渗透率 · 建议采纳率 · 删选项后满意度 · 转带看/带看转签 · 客诉 · 复购 · 模块贡献毛利 · 协同成本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洞察：拆的不是人，是责任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1809750"/>
            <a:ext cx="7505700" cy="126365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1575" y="2260600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68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47850" y="2251075"/>
            <a:ext cx="5953" cy="142875"/>
          </a:xfrm>
          <a:custGeom>
            <a:avLst/>
            <a:gdLst/>
            <a:ahLst/>
            <a:cxnLst/>
            <a:rect l="l" t="t" r="r" b="b"/>
            <a:pathLst>
              <a:path w="5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9600" y="2282825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6413" y="2266950"/>
            <a:ext cx="142875" cy="15875"/>
          </a:xfrm>
          <a:custGeom>
            <a:avLst/>
            <a:gdLst/>
            <a:ahLst/>
            <a:cxnLst/>
            <a:rect l="l" t="t" r="r" b="b"/>
            <a:pathLst>
              <a:path w="142875" h="15875">
                <a:moveTo>
                  <a:pt x="0" y="15875"/>
                </a:moveTo>
                <a:lnTo>
                  <a:pt x="7938" y="15875"/>
                </a:lnTo>
                <a:arcTo hR="134938" wR="134938" stAng="5400000" swAng="-1684349"/>
                <a:arcTo hR="134938" wR="134938" stAng="7084349" swAng="-1684349"/>
                <a:lnTo>
                  <a:pt x="142875" y="15875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8475" y="2282825"/>
            <a:ext cx="47625" cy="79375"/>
          </a:xfrm>
          <a:custGeom>
            <a:avLst/>
            <a:gdLst/>
            <a:ahLst/>
            <a:cxnLst/>
            <a:rect l="l" t="t" r="r" b="b"/>
            <a:pathLst>
              <a:path w="47625" h="79375">
                <a:moveTo>
                  <a:pt x="23813" y="7938"/>
                </a:moveTo>
                <a:lnTo>
                  <a:pt x="47625" y="71438"/>
                </a:lnTo>
                <a:arcTo hR="39688" wR="39688" stAng="3187806" swAng="4424388"/>
                <a:close/>
                <a:lnTo>
                  <a:pt x="23813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8163" y="2393950"/>
            <a:ext cx="79375" cy="5953"/>
          </a:xfrm>
          <a:custGeom>
            <a:avLst/>
            <a:gdLst/>
            <a:ahLst/>
            <a:cxnLst/>
            <a:rect l="l" t="t" r="r" b="b"/>
            <a:pathLst>
              <a:path w="79375" h="5953">
                <a:moveTo>
                  <a:pt x="0" y="0"/>
                </a:moveTo>
                <a:lnTo>
                  <a:pt x="7937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8350" y="2244408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拆的不是人，是责任（L）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752600" y="250348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收费从结果佣金部分转向过程服务费；行为模式从居间向委托迁移。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914400" y="3206750"/>
            <a:ext cx="7505700" cy="126365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1575" y="3657600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738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68388" y="3640175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4038" y="3703638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8350" y="3641408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终点不是去中介，是经纪职业化（C）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752600" y="390048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收入与单次成交脱钩后，职业稳定性与专业积累才形成正反馈。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14400" y="4603750"/>
            <a:ext cx="7505700" cy="1263650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1575" y="5054600"/>
            <a:ext cx="361950" cy="361950"/>
          </a:xfrm>
          <a:prstGeom prst="ellipse">
            <a:avLst/>
          </a:prstGeom>
          <a:noFill/>
          <a:ln w="14288">
            <a:solidFill>
              <a:srgbClr val="4E6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708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76413" y="5148263"/>
            <a:ext cx="47625" cy="47625"/>
          </a:xfrm>
          <a:prstGeom prst="ellipse">
            <a:avLst/>
          </a:pr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6413" y="5060950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47625" y="111125"/>
                </a:moveTo>
                <a:lnTo>
                  <a:pt x="115094" y="111125"/>
                </a:lnTo>
                <a:arcTo hR="27781" wR="27781" stAng="5400000" swAng="-10800000"/>
                <a:lnTo>
                  <a:pt x="27781" y="55563"/>
                </a:lnTo>
                <a:arcTo hR="27781" wR="27781" stAng="5400000" swAng="10800000"/>
                <a:lnTo>
                  <a:pt x="95250" y="0"/>
                </a:lnTo>
              </a:path>
            </a:pathLst>
          </a:cu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1663" y="5037137"/>
            <a:ext cx="47625" cy="47625"/>
          </a:xfrm>
          <a:prstGeom prst="ellipse">
            <a:avLst/>
          </a:prstGeom>
          <a:noFill/>
          <a:ln w="15875">
            <a:solidFill>
              <a:srgbClr val="A86F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8350" y="5038408"/>
            <a:ext cx="1106805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从业者只有两条出路（Y）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752600" y="5297488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3262E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成为懂盘者式的深度专业者，或成为模块化链条上的执行节点。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经纪行业正在变成重服务业：这是模块化时代的行业级结论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B7A8C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A86F10"/>
          </a:solidFill>
          <a:ln/>
        </p:spPr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11364"/>
            </a:avLst>
          </a:prstGeom>
          <a:solidFill>
            <a:srgbClr val="0B7A8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展望：短中长期路线图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63200" cy="1619250"/>
          </a:xfrm>
          <a:prstGeom prst="roundRect">
            <a:avLst>
              <a:gd name="adj" fmla="val 5882"/>
            </a:avLst>
          </a:prstGeom>
          <a:solidFill>
            <a:srgbClr val="0B7A8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57375"/>
            <a:ext cx="10363200" cy="1590675"/>
          </a:xfrm>
          <a:prstGeom prst="roundRect">
            <a:avLst>
              <a:gd name="adj" fmla="val 5988"/>
            </a:avLst>
          </a:prstGeom>
          <a:solidFill>
            <a:srgbClr val="FFFFFF"/>
          </a:solidFill>
          <a:ln w="9525">
            <a:solidFill>
              <a:srgbClr val="DD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938" y="2597150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0B7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938" y="2652713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0B7A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0938" y="2708275"/>
            <a:ext cx="63500" cy="5953"/>
          </a:xfrm>
          <a:custGeom>
            <a:avLst/>
            <a:gdLst/>
            <a:ahLst/>
            <a:cxnLst/>
            <a:rect l="l" t="t" r="r" b="b"/>
            <a:pathLst>
              <a:path w="63500" h="5953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5875">
            <a:solidFill>
              <a:srgbClr val="0B7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1563" y="2676525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0B7A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1563" y="2597150"/>
            <a:ext cx="47625" cy="31750"/>
          </a:xfrm>
          <a:custGeom>
            <a:avLst/>
            <a:gdLst/>
            <a:ahLst/>
            <a:cxnLst/>
            <a:rect l="l" t="t" r="r" b="b"/>
            <a:pathLst>
              <a:path w="47625" h="31750">
                <a:moveTo>
                  <a:pt x="0" y="15875"/>
                </a:moveTo>
                <a:lnTo>
                  <a:pt x="15875" y="31750"/>
                </a:lnTo>
                <a:lnTo>
                  <a:pt x="47625" y="0"/>
                </a:lnTo>
              </a:path>
            </a:pathLst>
          </a:custGeom>
          <a:noFill/>
          <a:ln w="15875">
            <a:solidFill>
              <a:srgbClr val="0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3500" y="20707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短期验证纪律：2 万条线索随机对照（客户管家组 vs 传统直分组，60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33500" y="24993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天，转化/客诉/NPS/贡献毛利）；转化提升但毛利或满意度不升，则不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33500" y="29279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扩张。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684270"/>
            <a:ext cx="1219200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短期（12–18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14400" y="4074795"/>
            <a:ext cx="1219200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个月，研判推断）：增「删选项后满意度」检验与「归责清晰度」一票否决（Y/X）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14400" y="4541520"/>
            <a:ext cx="1219200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中期：ACN 从一单分蛋糕到服务链分账；3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14400" y="4932045"/>
            <a:ext cx="1219200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城试点（自营/加盟/混合）；先增值后核心、卖方先于买方（Y）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长期：二手是主战场（链条长、低频、决策复杂，L）；一手受渠道分销约束。责任部门：智见牵头，客户产品/ACN规则/财务分账/法务合规设计 3 城试点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不确定性：四点风险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A86F10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2628710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 单源样本：7.4% vs 5%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048000" y="2885885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选择效应未排除，随机对照前不得外推（四位共识）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048000" y="3219260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 协同成本：转带看漏单、责任扯皮是最大暗礁，法务与 ACN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048000" y="3476435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规则先行（L）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048000" y="3809810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 AI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3048000" y="4066985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平权：可能压缩懂盘者中间层，价值锚点放决策与履约而非信息（L）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048000" y="4400360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 零中介费扩大 ×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3048000" y="4657535"/>
            <a:ext cx="121920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监管缺位：试点预留毛利安全垫（Y）；服务费定价与责任界定无规则（X）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政策该管信息披露、资金监管、责任划分；把服务费压到零只会消灭专业化供给（L）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数据口径与来源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A86F1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43275"/>
            <a:ext cx="10363200" cy="0"/>
          </a:xfrm>
          <a:prstGeom prst="line">
            <a:avLst/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612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数据来源：贝壳S分享 · 财新 · 搜狐 · 36氪 · TIKR · 新华社 · 深圳国企 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68986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青岛 · 成都 · 内部材料（多源）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781550"/>
            <a:ext cx="10363200" cy="0"/>
          </a:xfrm>
          <a:prstGeom prst="line">
            <a:avLst/>
          </a:prstGeom>
          <a:noFill/>
          <a:ln w="9525">
            <a:solidFill>
              <a:srgbClr val="D8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995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口径：客户管家为单源内部样本，以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12813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万线索随机对照为准；约/≈为表述换算，研判推断为估计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5137785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时段：2026Q2 及 2026 年 5–7 月；证据窗 2025-08-25 —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66410"/>
            <a:ext cx="1219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2026-08-25；区域：全国多城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8E2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智见点评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EF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72690"/>
            <a:ext cx="121920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326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 · 讨论稿交付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5810250" y="4000500"/>
            <a:ext cx="571500" cy="28575"/>
          </a:xfrm>
          <a:prstGeom prst="rect">
            <a:avLst/>
          </a:prstGeom>
          <a:solidFill>
            <a:srgbClr val="A86F1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311015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4E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</a:t>
            </a:r>
            <a:endParaRPr lang="en-US" sz="97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