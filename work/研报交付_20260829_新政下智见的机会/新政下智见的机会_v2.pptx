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封面（v2 战略版）：主标题「新政下智见的机会」，副标题「1+N 新政 × 智见机会扫描 · v2 战略版」，Token 主线金句「每次制度开票，都是一次 Token 的铸造。」本稿为 v2 战略版：在 v1（audit 零 findings、数字与 md 逐 token 核验一致）基础上换装战略标题、框架条带与落款，全部数字零改动；依据《新政下智见的机会》底稿 v2（战略版，2026-08-29）生成：1+N 开出的每张制度发票，都对应一种可审计的 Token 交付；智见的机会坐标，落在每一处「必须被看见、必须被核验、必须能审计」的制度节点上。输入含《角色重写_十二主体影响_v5.4》、六类客户渲染源稿、贝壳优势合作前提（优势 3/4/5 作 Token 三层支撑素材）与 t1-t5 分报告；全文数字一律以底稿为准、数字全程带口径，测算/估算/目标假设/研判推断逐项标注，md 无数字处不出现数字。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卷首速览。页首「框架五句话」条带（v2 战略版新增）：一个必然——估值函数更换→定价权再分配；三个倒计时——2026Q4（白名单覆盖率＝第一检验）、首单窗（2026Q4-2027H1 两灯塔首单窗口）、2027-03（信托新旧切换）；三层引擎——标尺定锚、工程定本、信用立信；两台发动机——F1+K1，其余 24 卡＝期权；一条纪律——三不＝三卖。机会编号按客户线归类——A＝中央部委 3 张、B＝地方监管 4 张、F＝金融机构 5 张、K＝城投/国企 5 张、D＝开发商线 4 张、C＝个人端 5 张，合计 26 张。Top3：第一名 F1 押品年度重估的规模化供给（S 级）——个贷 25 条「押品每年重估、不得以再评估净值追加贷款」，把 36.29 万亿元存量按揭（2026-06，Wind EDB）变成强制、常年滚动的合规需求，是订阅制、抗惜贷、与「银行年费 1000 万起/3000 万锚」（目标假设）直接同构的唯一一张卡，窗口 2026Q4-2027H1，错过则大行内部化先行；第二名 K1 收储定价与 DSCR 测算底稿（S 级）——城市更新办法把「经营性收入足额覆盖本息」焊死为城投生死线，收储贴息（约 3 万亿元、100-200 万套，测算口径）并联后按揭止跌概率上修至 70% 以上，左海案例（单套低约 10%、续约复购）已证明付费意愿与能力匹配；第三名 B1 白名单直报核验（入口型高优先）——开发贷 26 条把白名单直报写进办法、可问责，2026Q4 白名单覆盖率是第一检验，它自身不产生大收入，但它是收储工作台与银行风险工作台两个收入灯塔的政府侧入口——差异报告进入协调机制会议材料之日，就是粘性开始之时。Token 视角看 Top3：三张 Top 卡均已具备 Token 形态雏形——F1＝重估 Token（旗舰，Token 贷 2800 万试单背书该形态，授信额≠收入）、K1＝定价 Token（左海底稿体系的 Token 化延伸）、B1＝核验 Token（申报 vs 事实对照，天然为监管链路上的「流转」设计）——它们共同验证一句话：每次制度开票，都是一次 Token 的铸造。Token 化成熟度四档（26 卡）：已试点 1（F1，Token 形态已被客户接受并落地）、可铸造 14（定义与证据链清晰，90 天-12 个月可出标准件）、需工程 9（依赖细则出台或模块开发，先铸标准件、后放量）、远期 2（C4/C5，只沉淀不铸造）。优先级为「付费意愿×能力匹配×时间窗」三维综合判断，详见第八章；「付费者」栏区分现金付费方与免费换标准的入口方。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制度逻辑（v2 战略版标题金句：Token 不是产品，是定价权——Token 的本质不是交付物形态，而是「谁有权给交付定价」的制度位置）。先立判断——1+N 不是一轮刺激政策，而是一份「交付的定价说明书」：它重新分配的不是钱，是知情权（谁能看见项目）、控制权（谁摸得着资金）、责任（谁为风险签字）（v5.4 核心判断）。旧模式里所有人赚「预期」的钱，新模式里只能赚「交付」的钱。「制度性需求开票」：每一个条款都把某类责任、知情权或控制权分配给某个主体，分配即产生强制性合规动作——例如 25 条开给银行的票是「每年重估」，26 条开给地方政府的票是「白名单守门」，城市更新 7/11 条开给城投的票是「经营性收入足额覆盖本息」，34 条开给全体系的数据票是「全口径统计＋严防数据造假」。条款就是发票，开票对象就是付费方（或免费换标准的入口方）；智见的机会坐标，就是「制度节点（条款）× 智见资产（数据＋专家＋方法论＋生态）」的交点。Token 定义：Token＝智见交付物的最小可审计单元，必须同时满足三性——可验证（证据链回写：谁在何时、基于哪个版本、什么证据、经谁审批、能否重放）、可计价（订阅/按次/按量三种计价方式，年费三包＋按次计费）、可流转（在客户之间与监管链路上被接受：银行的审批链、监管的检查链、国企的审计链都能认）。一句话：制度发票开出需求，Token 是需求的交付形态——每张制度发票都对应一种可审计的 Token 交付。文件群：央行、金监总局 2026-08-27 印发《意见》及五部试行办法（开发贷/个贷/商业地产/城市更新〔金监总局、住建部联署〕/信托〔2027-03-01 施行〕），加证监会 2025-12-27 资本市场支持文件；九项 2003-2016 年央行旧通知与 1998 年《个人住房贷款管理办法》同步废止；七个文件第一次共用同一把尺子「基于项目」。同时立三条边界：失灵变量排序（惜贷＞注水＞数据断供＞俘获＞通道）；「账户级的真」与「补充真」分层——智见定位是「补充真＋可审计的过程」；科斯式起点——风险有主、部分有价、暂不可易。不做会怎样（v2 新增三条推演）：官方标定——标准被官方直接标定、入场券作废，智见只剩免费劳务；竞品接走——同一批制度发票被竞品先铸、Token 定价权易主；银行自建——大行 AVM 内部化、存量重估的入口从此关闭。三条路的共同点：都不需要智见在场——这就是「现在做」的全部理由。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三层支撑（素材提炼自《贝壳优势_合作前提》优势 3/4/5，提炼不照搬）：标尺层（优势 3）——Token 的「锚」从标尺来：估值框架开源化（中房协「好房子」标准：安全耐久、健康舒适、绿色低碳、智慧便捷；不动产 CAPM：Rf＋β×ERP＋流动性溢价＋政策风险溢价；NOI/DSCR 现金流模型打通收储定价、押品估值与 REITs 分派对标）；指数体系价格基期 2020-01、活跃基期 2024-01、子指数 7 项、信心暂无基期暂缓对外、只给同环比。Token 的数值可以换、锚不换；口径纪律（克制比发布更能积累公信力）是锚的信用底座。工程层（优势 4）——成本曲线由此决定：专家 skill＋专用 agent harness（任务编排/工具调用/证据链回写/多步推演）＋垂类模型（不动产语料微调）＋专用终端（对话＋底稿＋审批一体）；token 用量少、缓存复用，单位成本随量收敛——幅度待灯塔实测、不承诺比例（口径纪律）；五链（Identity/Version/Evidence/Approval/Replay）支撑可审计可复现；路线 A（只使用 skill）是可被抄走的文档，路线 B（harness＋垂类模型＋终端三层一体）是工程资产——合作方无法在合同期内自建；私有化部署、数据不出域、离线可用是银行/国企采购的硬门槛。信用层（优势 5）——Token 被银行/监管接受的原因：四本账（事实/假设/方法/责任）＋同条件重放＋五问可答（谁做的/哪个版本/依据什么/谁批准/能否重放），把「信任」从关系资产转化为可审计资产。生命周期四步：铸造（交付物生成＋证据链回写，锚定标尺）→流转（在客户审批链/监管检查链上被接受、被引用）→重放（同条件复现，结果一致）→审计（五问可答，责任归客户决策者）；与「三不」纪律一体两面——铸不了的（无证据链）、越权的（签章/定价决策）、预测型的（趋势承诺）都不是 Token。先例证据：中行广州 Token 贷 2026-08 落地试单、授信 2800 万（授信额≠收入，不得混用）——金融机构已接受「一枚押品一枚重估 Token（含三分归因底稿）」这种交付形态本身，这是 F1 卡可铸性的最直接背书。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锚单实证（2026-08-29 政研通 CLI 实测）：政研通指标目录接口（realestate.indicators.catalog）实测返回结构化目录——version=analytics-v1.1、更新日期 2026-07-11、audience=gov、约 20+ 条指标，每条自带 tier（A/B 分层＝可计价）、confidence（高/中/低＝置信度标注）、level（城·区·商圈·小区四级贯通＝可流转颗粒度）、status=confirmed 与公式引用（可验证）。这份目录本身就是标尺层「已铸造 Token 的目录」——Token 三性不是设计理想，而是已在产品化的现状。三个最硬的证据条目：①贝壳官方房价/租金指数（重复交易法·固定样本·基期 2018-11=100，直接入库不做客户端重算——不经手、不修饰，天然满足「可复测」）；②去化周期（研究院直接交付、仅城市级、冷热分档 &lt;6/6-12/12-24/&gt;24 个月——现成的核验语言，B1 白名单核验与 F 线项目画像可直接引用其分档体系）；③带看转化率（＝成交÷带看，系统计算——需要成交与带看两源交叉才能成立的指标，单一数据商造不出，这正是「平台交叉数据」的护城河型 Token）。注意目录自身的口径纪律：租赁类指数 confidence 标注为「低」——敢把低置信度印在目录上，正是可审计性卖点的实物证明。同时如实记账：timeseries 接口两次调用（北京×租金回报率、北京×二手成交量）均返回成功但 series 为空（dataView=internal）——时序数值仍未透出，本稿全部数值仍以 Wind EDB 为准，全文未使用任何 zyt 数值、未编造。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客户一/二（v2 战略版金句：部委「免费的不是服务，是定价权的入场券」＝本页页标题；监管「守门人要的不是数据，是免责的底稿」＝客户二面板标题）。客户一·中央部委：1+N 开给中央部委的不是数据采购单，是知情权再分配的补票——部委要「制度执行的底稿」，监测需求从「景气描述」升级为「执行核验」。A1 政策执行追踪·失灵变量仪表盘：按条文号追踪执行——白名单覆盖率、主办行投放节奏、期房转现房节奏；34 条「全口径统计＋严防数据造假」天然需要第三方「交易事实」交叉核验「申报口径」（对应失灵③：主办行数据不强制共享）；90 天＝政策日历上线、三锚指标卡可核验。A2 好房子认证追踪：开发贷 13/14 条「好房子」优先支持——谁认证、什么标准、如何挂钩需要实证底稿；细则出台后 30 天内上线追踪页。A3 全流通监测：卖「基线＋归因分解」而不是「预言结论」，期房占比基线 2027 年验证节点。三条不做什么：不做趋势承诺（信心指数暂无基期、暂缓对外）；不做政策效果评估结论；政府端免费投入设上限（≤ 总成本 20%），以「部委/协会采纳智见口径」的书面里程碑为继续投入闸门。客户二·地方监管：角色被新政重写三处——白名单直报守门人（开发贷 26 条）、城更项目库「卖项目给资本」的招商人（项目库＝新的招商产品手册）、收储贴息闭环的枢纽（约 3 万亿元、100-200 万套，测算口径）。免费换三样的结构不变、兑换率变了：「标准」的含金量从「参考口径」升格为「制度性交叉核验源」候选——34 条细则、好房子认证细则、白名单直报细则三个窗口，决定贝壳口径能否进入部委工作流。B1 不设收入预期，价值在标准卡位与两灯塔入口——「申报口径 vs 交易事实」差异报告进入协调机制会议材料之日，就是粘性开始之时；B2 付费方是城投/银行，监管免费；B3 订单跟着政策日历走，盯 2026Q4-2027H1 贴息落地信号再扩投入；B4 公积金组合贷计入方式未定处如实标注待答、不编结论。共性纪律：不做低毛利大屏定制（只做白标标准件）、不做舆情发布主体、不设收入预期。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客户三·金融机构（v2 战略版标题金句：36 万亿的年度重估，是订阅制的天花板——「36 万亿」即 36.29 万亿元存量按揭（2026-06，Wind EDB）的约数表述，正文口径一律用 36.29）：新政给银行类客户开出的是「存量合规账单」而非「增量投放账单」。最强一张卡是 F1 押品年度重估的规模化供给（S 级，Top1）：个贷 25 条「押品每年重估、不得以再评估净值追加贷款」＋19 条孰低原则，把 36.29 万亿元存量按揭（2026-06，Wind EDB；自 2025-03 峰值 37.90 连降 8 个季度、累计 -1.61 万亿约 -4.2%）变成强制、常年滚动的合规需求——海量笔数、单笔小额，大行自建 AVM 成本高、中小行无数据底座；年度重估是每年重复的订阅需求，天然匹配「银行年费 1000 万起/3000 万锚」（目标假设，2026-08-10 董事长会议定调，非对外承诺；需首单验证单行重估规模×单价能否支撑该锚）。先例背书：中行广州 Token 贷 2026-08 落地试单、授信 2800 万——2800 万为授信规模、非合同收入，不得混用。F2 项目级去化/回款核验（A）：开发贷 15/16 条放款进度=实物进度、销售回款先还本项目贷款——只做市场侧核验，工程侧让位造价监理（21 条接口是他们的）；惜贷空转则顺延。F3 风险定价参照（A）：净息差约 1.5% 下「少做是理性」，但被要求「该做的敢做」——城市/项目级风险分层参照，输出「参照层＋条件化结果」，定价决策永远在银行。F4 并购尽调（B）：封闭账户＝实时真实项目报表、尽调成本骤降；2027H1 后、依赖失灵③解除。F5 城更/商地现金流核验（B）：商地 13/36 条；租金回报率约 2% 出头 vs 资金成本约 3%（测算口径）不修复则菜单空转。F6 如实记账五扇被关小的门：23 条风控核心银行独立开展（一切结论类外部输出进不了门——「做底稿不做签章」不是商业谦让，是制度逼出来的唯一活路，主产品 B 的一切宣传口径必须钉在「数据、底稿、监测信号」上）；工程核验让位造价监理；失灵③数据断供——只能卖「补充真」；惜贷（失灵①）——唯独 F1 存量重估不受影响，这是 S 级定位的根本原因；名单制准入 12-18 个月（估算口径）＋「银行内部化」风险——对冲是绑定 36 万亿存量中中小行＋城商行段落，大行卖数据层不卖结论层。纪律：不做签章与结论类输出、不做工程核验、不做预测产品；千万级假设不写对外承诺，收入兑现节奏按 12-18 个月准入周期计。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客户四·保租房国企/城投（v2 战略版标题金句：谁把闭环算清，谁给闭环定价——闭环＝「收房→运营→退出」全链，算清的底稿本身就是定价权）：城投转型不是「换赛道」，是把「土地财政的杠杆放大器」改造成「存量资产运营商」——转型主线三段式：大扫除（城市更新办法 13 条：政府应付款、无收益公益资产不可质押；缴地价贷款全链条禁止，《意见》5 条）、换跑道（保租房/城市更新/持有型物业三跑道，托底拿地终结；土地出让金自 2021 年 8.7 万亿峰值近腰斩，财政部口径）、生死线（借款人须为「市场化运营主体」且经营性收入足额覆盖本息，7、11 条；资格是挣出来的，不是批出来的）。K1 收储定价与 DSCR 测算底稿（S 级，Top2）：团购房贷批量收房以「评估值 80%」为锚、租金覆盖本息为前提——收储价/租金/改造成本/运营成本统一测算，NOI→DSCR 基准/压力双情景对齐监管压力测试惯例；左海模式（历史指数修正中性定价，单套低约 10%、省数千万、续约复购——已签约口径）扩展为批量收房定价底稿：批量＝组合定价＋批量压测；保租租金与出租率假设是最大变量，也是数据缺口红利。收储贴息（约 3 万亿元、100-200 万套，测算口径）并联后按揭止跌概率上修至 70% 以上（研判推断）；2026Q4-2027H1 是城投转型融资需求最集中的窗口。K2 全链估值（高）：任何环节单独估值都过不了审计——退出倒推定价，把「2% vs 3%」闸门算到具体项目层面，闸门开则产品即售。K3 城更测算书（高）：与 B2 政府版同源同口径，一次铸造、监管与城投双侧流转。K4 资产盘活报告（中高）：存量资产盘点、盘活路径与退出通道测算。K5 合规甄别底稿（中高）：财政性收入不得计入经营性收入——四本账的「事实」账就是防注水装置，谁先立标准谁吃红利。本章不做什么：不帮注水、不替客户拍板收储价（责任账永远记在客户名下）、不做签章、不做收入承诺（按收储额定价优化分成是目标假设，谨慎设计、不写承诺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客户五/六（v2 战略版金句：开发商「不赚开发商的钱，赚围绕开发商交易的钱」＝本页页标题，付费方排序即此逻辑；C 端「C 端不收费，收费的是信任的复利」＝客户六面板标题，C 端工具的价值在平台转化与银行合规获客侧兑现）。客户五·开发商：新政把开发商从「买家」变成「被分析对象」——开发商侧付费能力在缩表（开发投资累计同比 -19.2%、销售面积 -11.8%，Wind EDB，2026-07），旧利润就是制度租金、租金随制度取消。付费方排序：整合者（并购买方）＞收储方（政府/国企）＞银行（贷后与好房子评审）＞开发商自身（仅轻订阅）。D1 并购尽调前筛（开发商侧最高优先级）：封闭账户＝实时真实项目报表、尽调成本骤降——项目级市场画像卡是先筛后尽调的第一层漏斗；边界诚实：主办行专户流水是「账户级的真」，贝壳数据只是「颗粒度更粗的补充真」——不替代主办行数据、不替代法定尽调；买方付费、卖方引流。D2 土储处置底稿：退地/转让/被收储的可复现底稿，对接主 A 八步闭环，随收储放量放大。D3 好房子品质定价：中房协标准＋贝壳数据构建可验证画像，对银行与标准制定方收费。D4 投后复盘：S 层标准化扩展，待两灯塔后铺开。本章不做：不做榜单/排名（与缩表赛跑）、不做趋势性判断、开发商侧不设收入目标。客户六·C 端：新政把「选择风险」制度化地交给购房者，C 端第一次有了刚性信息需求——但付费方不是购房者，是平台（转化与信任）与银行（合规获客）。C1 红线合规可贷能力测算器（中高，引流型）：月供收入比≤50%/全债务支出比≤60% 硬红线（个贷 10 条）下「我能贷多少」，公积金组合贷计入方式未定处明确标注、不编结论；40 年期限月供 -15%、总利息 +39%、本金上限 +17.5%（测算口径：100 万/3.06%/等额本息）。C2 置换决策沙盘（高，转化型）：带押过户＋利率置换，单笔省约 4.5 万元、省 15-30 天（300 万贷款、30 天过桥、日万五，测算口径）；内置「卖亏」情景——量的修复不等于价转正（二手价格同比 -5.4% 仍深度负增长）。C3 交付风险提示（中）：只做「提示」不做「评级」。C4 滞留乘客监测（低/公益）：第 37 条新老划断下的存量期房业主——做难而正确的事，不以 ROI 立项。C5 个人研究 Agent（远期）：先慢后快、不抢跑。本章不做：不输出必须买/必然涨、不编独立收费、不抢跑远期 Agent、不做风险评级；经纪人赋权——工具必须同步进经纪人工作台（t4 定调：中小代理是被忽略者，工具赋能不能只做 C 端）。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优先级矩阵（v2 战略版标题金句：资源只给发动机，期权排队——两台发动机 F1+K1 拿资源，其余 24 张卡按期权管理、不占发动机的资源配置）。评分口径——付费意愿（现金付费强度与确定性，★1-5）、能力匹配（智见资产与该需求的吻合度，★1-5）、时间窗（需求时效性——现在不做就错过的程度，★1-5）；综合排序结合 t1-t5 各分报告优先级判断，与「两灯塔（收储＋银行）是发动机、其余是期权」的总体判断一致。26 卡分布：S 级 2 张（F1 押品年度重估、K1 收储定价与 DSCR）；A 级 2 张（F2 去化/回款核验、F3 风险定价参照）；高 7 张（B1 白名单直报核验、K3 城更项目库测算书、D1 并购尽调前筛、C2 置换决策沙盘、B2 城更项目库核验、B3 收储闭环监测、K2 闭环全链估值）；战略投入 3 张（A1 政策执行追踪、A2 好房子认证追踪、A3 全流通监测——必须做的标准投入、不设收入预期）；中高 4 张（K4 资产盘活报告、K5 合规甄别底稿、D2 土储处置底稿、C1 红线合规测算）；中 3 张（B4 政策日历、D3 好房子品质定价、C3 交付风险提示）；B 级期权 2 张（F4 并购尽调服务、F5 城更/商地现金流核验）；低 2 张（D4 投后复盘订阅、C4 滞留乘客监测·低/公益）；远期 1 张（C5 个人研究 Agent）。Token 化成熟度列：已试点 1（F1，Token 贷背书）、可铸造 14（定义与证据链清晰，90 天-12 个月可出标准件）、需工程 9（依赖细则出台或模块开发，先铸标准件后放量）、远期 2（C4/C5，只沉淀不铸造）。时间窗评分扣分说明：收储线扣「贴息节奏」（止跌概率 55-60%→70%+ 取决于贴息落地并联）；银行线扣「准入周期」（12-18 个月，估算口径）；D1/F4 扣「失灵③解除」；C 端全线扣「观望期」（L 型磨底 2-3 年、付费意愿最弱）。凡扣分项均在对应机会卡与第十章风险表写明对冲。竞争壁垒（第四层过程壁垒）：第一层数据底座最易被误认为壁垒实则最脆弱；第二层标准与共识是慢变量且可能被架空；第三层审计工程是重工程；第四层「三不=三卖」最不可复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落地清单：90 天（2026Q4）八项，每项带 Token 交付物——①F1 产品化：年度重估批量化引擎 MVP（重估底稿三分归因自动生成），目标 1 家试点行完成「重估闭环演示＋书面评估意见」，验证锚为中行 Token 贷复盘、江苏银行复制谈判（沿用现口径），交付重估 Token 铸模 MVP：先铸 1 枚标准件（单押品原型＋三分归因底稿模板），验证三性；②K1 产品化：收储定价模块升级批量压测＋D 层补租赁出租率数据，1-2 个收储项目试跑（萧山环投在谈推进、贵州/辽宁复制），交付定价 Token 铸模：DSCR 基准/压力双情景底稿模板＋批量压测参数包；③B1 试点：白名单项目监测模块 1-2 城市试点（北京/南京优先），差异报告模板定型，交付核验 Token 模板（四段式）；④A1 上线：政策日历（1+N 七文件＋地方细则映射）＋三锚指标卡，交付政策 Token 首批铸造；⑤C1 MVP：红线合规测算器（含公积金计入方式未定标注）；⑥C2 MVP：置换决策沙盘（绑定带押过户落地城市）；⑦D1 试点：项目画像卡数据包与 1-2 家整合者访谈；⑧口径与纪律交付物：40/50 城口径分层说明、信心指数重启条件、复现边界声明，交付 Token 铸造规范 v0.1（三性定义＋五问可答模板＋三不铸造禁区）。12 个月（至 2027Q3）八项：①F1 首单单行年度合同签约（首单年费对照 1000 万起/3000 万锚——目标假设；重估 Token 批量铸造，随量收敛首次实测）；②K1 放量：收储工作台年费客户数增长＋收储监测模块试点省上线（收入锚：贵州/辽宁复制落地）；③B1 验证：2026Q4 白名单覆盖率公布时差异报告被引用/进入会议材料（核验 Token 流转验证——监管链路被接受）；④A 线验证：部委工作流接入与复现底稿采用次数、期房占比基线建立（2027-03 信托切换前后）；⑤F2/F3 打包进机构基础包（40/50 城分层口径）；⑥D1 验证：2027H1 并购案例中「数据前筛」被采用 1-2 例（画像 Token 跨买方流转）；⑦C1 进阶：银行采用为预审参考（银行侧按调用计费起点）；⑧B2/K3 验证：城更贷款放量后首批入库项目、测算口径被 1-2 个省引用（测算书 Token 政府与城投双侧流转）。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不做什么（v2 战略版标题金句：拒绝清单比机会清单更值钱——机会决定上限，拒绝清单决定「可审计」这个定位能不能活下来）——可审计性从拒绝开始。伪机会七条逐条证伪：①工程监理/核验执行——核验的要害在现场（实物进度比对、隐蔽工程、工地驻场），人力密集、物理世界交付，与智见资产是两个成本结构，核验出错还承担金融核验连带责任（59-60 条违规通报主管部门）；正确姿势：只做「谁核的、何时核的、依据什么口径核的」的留痕底座。②信贷定价/风控决策——个贷 23 条「风控核心事项银行独立开展」把风控责任钉死在银行身上，任何第三方替银行定价/下风险结论都是替银行签字；正确姿势：做差异归因（数据/方法/假设三分）与授信参考底稿，把「决定」两个字永远留给银行。③评估签章——签章是法定资质＋无限责任（名单制、追索、连带），智见没有牌照也不该要牌照；正确姿势：签章利润让给持牌方，赚「持续监测＋复现底稿」的订阅钱。④卖数据给银行——失灵③下「银行→市场」无强制共享条款、银行有独占激励，平台数据只是「颗粒度更粗的补充真」，卖数据一次性、可替代，还有「新数据租金」的伦理骂名；正确姿势：数据只作底稿的输入，卖「组织好的证据链」。⑤替客户预测市场——市场底未确认（L 型磨底仍需 2-3 年）预测最有卖相，但预测不可审计，一次预测错误会连坐整个「可审计」定位；正确姿势：只做条件化推演——「不同假设下结果如何」，把预测权留给客户。⑥收储/估值替客户拍板——收储是财政性资金，审计追责链上谁签字谁是第一被告；左海案例的价值在「帮买方省约 10%」的中性定价证据而非替买方决策；正确姿势：四本账的责任账永远记在客户名下。⑦大屏低毛利定制——成都样板「一城一建、项目制」无规模复制，人力吞噬毛利、交付完即结束；正确姿势：大屏只做白标标准件，定制需求转化为底座复用。三不＝三卖（对外话术）：不卖签章，卖能进审批工作流的底稿（比签章更常用、更持续）；不卖预测，卖可复现的条件化推演（比预测更贵、更不可替代）；不卖决策，卖客户自己的决策有据可查（比代决策更安全、更长久）。收口升级——不铸三种坏 Token：不做不可审计的 Token（无证据链不做，五问不可答即不铸）；不做越权的 Token（签章/定价决策是「可追责的责任状」，铸得出来、流转不出去——没有任何审批链会接受一张替自己担责的纸）；不做预测型 Token（预测不可重放，铸一枚预测 Token 就是铸一枚不可复现的伪币）。好 Token 的三性（可验证/可计价/可流转）与三不（不签章/不预测/不代决策）是一体两面：前者定义铸造标准，后者定义铸造禁区。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风险与依赖（v2 战略版标题金句：每个失灵变量都有对冲，才配叫战略——无对冲的风险表只是风险清单，带对冲才是可执行的战略）：每个 Top 机会的失灵变量与对冲。Token 风险视角三条：①数据断供（失灵③）＝Token 断锚——Token 的「锚」在标尺层（指数/估值框架），事实层（贝壳成交/租赁数据进 D 层）断供则证据链缺环、可验证打折；对冲：锚定标尺而非数据条数（数值可换、锚不换）、授权数据＋政研通公开自爬双轨供给、数据只作底稿输入不作产品本体——断供不毁铸造机制，只让事实层变薄。②Token 租金之雷（垄断定价反噬，呼应 v5.4「谁审计数据垄断者」）——Token 若按垄断性口径定价，就是新数据租金的 Token 化版本，客户一旦找到替代锚，整个计价体系塌方；对冲：标尺开源化（卖标尺不卖数）、Token 计价透明可审计（按量/按次/订阅三档，单价随量收敛）、不签章不垄断——让出的结论利润就是避免反噬的代价。③token 工程投入与灯塔实测节奏＝成本兑现前提——单位成本随量收敛的幅度未经灯塔实测（不承诺比例，贝壳优势合作前提口径），若实测不收敛则「随量收敛」叙事落空；对冲：先试点实测再承诺（F1 试点行闭环演示、K1 左海复购即实测场景）、收费模式并行（年费三包＋按次计费）、把「幅度待实测」写进对外口径。全局风险：失灵③数据断供是全局杀手，三个 Top 机会的风险节均已逐卡回应；银行准入周期 12-18 个月（估算口径）——两灯塔中最慢的钱，收入兑现节奏如实计入；政策细则不确定性（公积金组合贷计入、好房子认证细则、信托切换抢跑）——细则未定处如实标注待答；监管执行是终局变量——产品全部锚定「制度执行」而非「市场涨跌」，审计与追责不因政策反复而取消。四窗口观察指标（全部沿用既有口径）：2026Q4 看白名单贷款覆盖率（失灵①第一检验）、主办行投放节奏、首批「市场化运营主体」资格认定城投名单、城更项目库入库数、收储贴息细则落地信号、好房子认证细则出台；2027-03 看信托新旧切换、警惕过渡期抢跑；2027H1 看按揭余额止跌与否（无工具 55-60%／收储并联 70%+，研判推断）、首轮押品年度重估执行与监管检查启动、团购房贷投放量、保租房 REITs 扩募/新发数量与分派率、首单银行年度合同金额（对照千万级锚）；滚动看期房销售占比与归因分解（防分母假象/赶末班车扭曲）、开发贷利差分项目评级分层是否可观察（科斯式起点检验信号）、数据前筛在并购案例中的采用数、测算口径被引用省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口径声明：数字全程带口径（v2 战略版：标题区加「2026Q4 先签先赢」——先签不是抢跑，是两台发动机在窗口内的先手卡位；行动主轴一句：60 天内让两台发动机各转出第一枚可演示的 Token，60 天两灯塔为 STAID 分层汇报大纲口径，落款改为底稿 v2（战略版））。产品配置口径（政研通任务给定/既有方案）：白名单 300 人（领导直问）、40 城/50 城指数（40 深 50 广：40 城价格＋活跃＋成交全口径、50 城价格覆盖）、价格/活跃/信心三维指数（价格基期 2020-01、活跃基期 2024-01、信心暂无基期暂缓对外）、政研通 CLI/API（Python＋TS 双版本，2026-08 交付记录）、政策库「中央—部委—省—市—区县」映射、1000+ 收储主体、八步闭环、四本账、60 天两灯塔（STAID 分层汇报大纲口径）、银行准入周期 12-18 个月（任务给定口径，标注为估算）、政府端免费投入上限 ≤ 总成本 20%（STAID 口径）。Token 口径：Token＝交付物最小可审计单元（可验证/可计价/可流转），三性定义、五问可答、Token 化成熟度四档为本稿口径；垂类模型 token 节省/质量提升幅度未经灯塔实测，不承诺具体比例（待实测后补充）；收费模式＝年费三包＋按次计费。政研通通道实测口径（2026-08-29，本稿撰写期实测）：catalog 接口调用成功并首次透出结构化指标目录（analytics-v1.1、2026-07-11 更新、audience=gov、约 20+ 条指标）；timeseries 接口两次调用均返回成功但 series 为空（dataView=internal）——时序数值仍未透出，本稿全部数值仍以 Wind EDB 为准，全文未使用任何 zyt 数值、未编造。已签约/试单案例口径（不得混用为收入）：左海案例——福州左海集团分散式收储试点，以旧换新收 8 套、国企间划转收 3000 多套，历史指数修正评估模型中性定价，相较财政窗口指导价区间单套低约 10%、帮买方省数千万、客户续约复购（已签约案例）；中行广州 Token 贷 2026-08 试单、授信 2800 万——授信规模、非合同收入；萧山环投签约（在谈）、江苏银行复制谈判（沿用现口径）。目标假设（不写对外承诺）：银行年费 1000 万起、3000 万为合适锚（2026-08-10 董事长会议定调）；按收储额定价优化分成。测算/估算/研判推断口径（v5.4 同源，Wind EDB：中国人民银行、国家统计局，月度截至 2026-07、季度截至 2026Q2）：按揭余额 36.29 万亿元（2026-06，指标 W1409719）；利率存量 3.05%/新发 3.06%；销售面积 -11.8%；开发投资 -19.2%；70 城新宅价格 -3.4%；二手价格 -6.3→-5.4（S2707425）；北京二手 -8.7→-4.5、销售 5 月转正（S0147146）；净息差约 1.5%（金监总局 2026Q2）；租金回报率约 2% 出头 vs 资金成本约 3%（测算）；土地出让金自 2021 年 8.7 万亿峰值近腰斩（财政部口径）；收储贴息约 3 万亿元、100-200 万套（测算）；带押过户单笔省 15-30 天、约 4.5 万元（测算）；40 年期限月供 -15%、总利息 +39%、本金上限 +17.5%（100 万/3.06%/等额本息，测算）；止跌概率 55-60%、并联后 70% 以上（研判推断）；期房占比三年内降至三成以下、中位约 45-55%（研判推断）；换手率提升 10-20%（必要不充分）。未核实项如实标注：单行重估工作量与重估市场单价（须首单验证）、保租租金/出租率覆盖城市数、公积金组合贷计入红线方式（细则未出）、预售资金监管账户公开时点、南京销售面积口径更新滞后（最新 2026-02）。融合纪律：新增汇总未引入任何新编数字；对外引用须经渲染与匿名化处理（专家对外仅列「领域·首字母」）。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结语（v2 战略版：标题区加「2026Q4 先签先赢」）：回到主线——每次制度开票，都是一次 Token 的铸造。1+N 开出的每张制度发票，都对应一种可审计的 Token 交付：F1 重估 Token、K1 定价 Token、B1 核验 Token 三张 Top 卡已具备 Token 形态雏形，26 张机会卡按「已试点/可铸造/需工程/远期」四档排开铸造节奏；行动主轴：60 天内让两台发动机各转出第一枚可演示的 Token；智见的机会坐标，落在每一处「必须被看见、必须被核验、必须能审计」的制度节点上。落款：98wiki ｜ 智见 / 机会扫描 · 底稿 v2（战略版）· 2026-08-29 · 不构成投资建议；对外引用须经渲染与匿名化处理。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F3F7F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EC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ECF1FB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E9F0F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E9EFFA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E8EFFA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E7EEFA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2D5BD8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28" name="Text 26"/>
          <p:cNvSpPr/>
          <p:nvPr/>
        </p:nvSpPr>
        <p:spPr>
          <a:xfrm>
            <a:off x="609600" y="2803208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新政下智见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609600" y="3460433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的机会</a:t>
            </a:r>
            <a:endParaRPr lang="en-US" sz="4800" dirty="0"/>
          </a:p>
        </p:txBody>
      </p:sp>
      <p:sp>
        <p:nvSpPr>
          <p:cNvPr id="30" name="Shape 28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0134600" y="990600"/>
            <a:ext cx="1143000" cy="457200"/>
          </a:xfrm>
          <a:prstGeom prst="roundRect">
            <a:avLst>
              <a:gd name="adj" fmla="val 12500"/>
            </a:avLst>
          </a:prstGeom>
          <a:noFill/>
          <a:ln w="19050">
            <a:solidFill>
              <a:srgbClr val="2D5B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0200" y="1087755"/>
            <a:ext cx="29718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5486400" y="1981200"/>
            <a:ext cx="6705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1+N 新政 × 智见机会扫描 · v2 战略版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5486400" y="2324100"/>
            <a:ext cx="6705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｜「每次制度开票，都是一次 Token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5486400" y="2667000"/>
            <a:ext cx="6705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的铸造。」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5486400" y="3467100"/>
            <a:ext cx="5791200" cy="0"/>
          </a:xfrm>
          <a:prstGeom prst="line">
            <a:avLst/>
          </a:prstGeom>
          <a:noFill/>
          <a:ln w="13335">
            <a:solidFill>
              <a:srgbClr val="D9E1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710940"/>
            <a:ext cx="670560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 · 机会扫描 v2 · 战略版</a:t>
            </a:r>
            <a:pPr algn="l" indent="0" marL="0">
              <a:buNone/>
            </a:pPr>
            <a:r>
              <a:rPr lang="en-US" sz="172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2026-08-29</a:t>
            </a:r>
            <a:endParaRPr lang="en-US" sz="172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卷首速览：26 张机会卡与 Token 四档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021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框架五句话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400300"/>
            <a:ext cx="2556891" cy="24765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55545"/>
            <a:ext cx="255689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一个必然：估值函数更换→定价权再分配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724150"/>
            <a:ext cx="252222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79395"/>
            <a:ext cx="252222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三个倒计时：2026Q4/首单窗/2027-03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12820" y="2724150"/>
            <a:ext cx="1818132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2820" y="2779395"/>
            <a:ext cx="181813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三层引擎：标尺/工程/信用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048000"/>
            <a:ext cx="2519553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03245"/>
            <a:ext cx="251955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两台发动机：F1+K1，其余 24 卡=期权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10153" y="3048000"/>
            <a:ext cx="1490091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0153" y="3103245"/>
            <a:ext cx="149009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一条纪律：三不=三卖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34785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卡六线分布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676650"/>
            <a:ext cx="704660" cy="24765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31895"/>
            <a:ext cx="70466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部委 A3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95260" y="3676650"/>
            <a:ext cx="97136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5260" y="3731895"/>
            <a:ext cx="97136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地方监管 B4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2819" y="3676650"/>
            <a:ext cx="70466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2819" y="3731895"/>
            <a:ext cx="70466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F5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23679" y="3676650"/>
            <a:ext cx="70466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3679" y="3731895"/>
            <a:ext cx="70466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城投 K5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04538" y="3676650"/>
            <a:ext cx="83801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04538" y="3731895"/>
            <a:ext cx="83801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开发商 D4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18748" y="3676650"/>
            <a:ext cx="705993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8748" y="3731895"/>
            <a:ext cx="70599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 C5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48400" y="2171700"/>
            <a:ext cx="5029200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05575" y="247650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8400" y="259270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23602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重估 Token（S · Top1）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7086600" y="26193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押品年度重估：36.29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7086600" y="28194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万亿存量按揭的强制订阅刚需，抗惜贷；窗口 2026Q4-2027H1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6248400" y="3276600"/>
            <a:ext cx="5029200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5575" y="358140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8400" y="369760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86600" y="34651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定价 Token（S · Top2）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7086600" y="37242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收储定价与 DSCR 底稿：左海已验证复购；2026Q4-2027H1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7086600" y="39243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城投融资窗口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6248400" y="4381500"/>
            <a:ext cx="5029200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5575" y="468630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8400" y="480250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86600" y="45700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核验 Token（入口型高）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7086600" y="48291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白名单直报核验：「直报 vs 事实」差异报告；2026Q4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7086600" y="50292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覆盖率＝第一检验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6818"/>
            </a:avLst>
          </a:prstGeom>
          <a:solidFill>
            <a:srgbClr val="2D5BD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不是产品，是定价权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23050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057400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16455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472690"/>
            <a:ext cx="11963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1+N 开票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3000" y="2779395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《意见》＋五办法＋证监会文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2969895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件，共用「基于项目」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00450" y="1828800"/>
            <a:ext cx="23050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29050" y="2057400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16455"/>
            <a:ext cx="6096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29050" y="2472690"/>
            <a:ext cx="92773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六类客户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29050" y="2779395"/>
            <a:ext cx="92773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知情权 · 控制权 ·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29050" y="2969895"/>
            <a:ext cx="92773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责任的再分配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86500" y="1828800"/>
            <a:ext cx="23050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5100" y="2057400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116455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5100" y="2472690"/>
            <a:ext cx="6591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张机会卡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15100" y="2779395"/>
            <a:ext cx="6591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八字段：触点条款→Token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15100" y="2969895"/>
            <a:ext cx="6591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形态与经济学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72550" y="1828800"/>
            <a:ext cx="23050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1150" y="2057400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25" name="Text 23"/>
          <p:cNvSpPr/>
          <p:nvPr/>
        </p:nvSpPr>
        <p:spPr>
          <a:xfrm>
            <a:off x="5562600" y="2116455"/>
            <a:ext cx="7543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01150" y="2472690"/>
            <a:ext cx="39052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交付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01150" y="2779395"/>
            <a:ext cx="39052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每张发票对应一种可审计交付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5650" y="2576513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48050" y="25384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30" name="Shape 28"/>
          <p:cNvSpPr/>
          <p:nvPr/>
        </p:nvSpPr>
        <p:spPr>
          <a:xfrm>
            <a:off x="5981700" y="2576513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34100" y="25384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32" name="Shape 30"/>
          <p:cNvSpPr/>
          <p:nvPr/>
        </p:nvSpPr>
        <p:spPr>
          <a:xfrm>
            <a:off x="8667750" y="2576513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20150" y="25384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0" y="3476625"/>
            <a:ext cx="10363200" cy="1133475"/>
          </a:xfrm>
          <a:prstGeom prst="roundRect">
            <a:avLst>
              <a:gd name="adj" fmla="val 5042"/>
            </a:avLst>
          </a:prstGeom>
          <a:solidFill>
            <a:srgbClr val="C98A2E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400" y="3505200"/>
            <a:ext cx="10363200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5375" y="39782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71438" y="95250"/>
                </a:moveTo>
                <a:cubicBezTo>
                  <a:pt x="73025" y="87313"/>
                  <a:pt x="76994" y="81756"/>
                  <a:pt x="83344" y="75406"/>
                </a:cubicBezTo>
                <a:cubicBezTo>
                  <a:pt x="91281" y="68263"/>
                  <a:pt x="95250" y="57944"/>
                  <a:pt x="95250" y="47625"/>
                </a:cubicBezTo>
                <a:arcTo hR="47625" wR="47625" stAng="0" swAng="-10800000"/>
                <a:cubicBezTo>
                  <a:pt x="0" y="55563"/>
                  <a:pt x="1588" y="65088"/>
                  <a:pt x="11906" y="75406"/>
                </a:cubicBezTo>
                <a:cubicBezTo>
                  <a:pt x="17462" y="80963"/>
                  <a:pt x="22225" y="87313"/>
                  <a:pt x="23813" y="95250"/>
                </a:cubicBez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9188" y="4105275"/>
            <a:ext cx="47625" cy="5953"/>
          </a:xfrm>
          <a:custGeom>
            <a:avLst/>
            <a:gdLst/>
            <a:ahLst/>
            <a:cxnLst/>
            <a:rect l="l" t="t" r="r" b="b"/>
            <a:pathLst>
              <a:path w="47625" h="5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7125" y="4137025"/>
            <a:ext cx="31750" cy="5953"/>
          </a:xfrm>
          <a:custGeom>
            <a:avLst/>
            <a:gdLst/>
            <a:ahLst/>
            <a:cxnLst/>
            <a:rect l="l" t="t" r="r" b="b"/>
            <a:pathLst>
              <a:path w="31750" h="5953">
                <a:moveTo>
                  <a:pt x="0" y="0"/>
                </a:moveTo>
                <a:lnTo>
                  <a:pt x="31750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33500" y="36957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33500" y="39624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三性：可验证——证据链回写，五问可答、同条件可重放；可计价——订阅/按次/按量；可流转——银行审批链 ·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333500" y="42291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监管检查链 · 国企审计链都认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14400" y="47929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不做会怎样——三条路的共同点：都不需要智见在场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4400" y="4991100"/>
            <a:ext cx="24955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5046345"/>
            <a:ext cx="24955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官方标定：标尺被收编，只剩免费劳务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486150" y="49911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86150" y="5046345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竞品接走：发票被先铸，定价权易主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924550" y="4991100"/>
            <a:ext cx="2272856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24550" y="5046345"/>
            <a:ext cx="227285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银行自建：AVM 内部化，入口关闭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条款就是发票——机会坐标＝制度节点×智见资产；1+N＝《意见》（2026-08-27）＋五办法＋证监会文件（2025-12-27）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2D5BD8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2D5BD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三层支撑：标尺定锚 · 工程定本 · 信用立信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533525"/>
            <a:ext cx="10363200" cy="685800"/>
          </a:xfrm>
          <a:prstGeom prst="roundRect">
            <a:avLst>
              <a:gd name="adj" fmla="val 8333"/>
            </a:avLst>
          </a:prstGeom>
          <a:solidFill>
            <a:srgbClr val="EEF3FB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1826895"/>
            <a:ext cx="12039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标尺层（优势 3）：定锚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28900" y="1845945"/>
            <a:ext cx="104775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估值框架开源化：好房子标准 · CAPM · NOI/DSCR · 指数体系：价格基期 2020-01 · 活跃 2024-01 · 子指数 7 项 · 卖标尺，不卖尺子量出的数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333625"/>
            <a:ext cx="10363200" cy="685800"/>
          </a:xfrm>
          <a:prstGeom prst="roundRect">
            <a:avLst>
              <a:gd name="adj" fmla="val 8333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2626995"/>
            <a:ext cx="12039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工程层（优势 4）：定本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28900" y="2630805"/>
            <a:ext cx="10477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skill＋harness＋垂类模型＋专用终端，三层一体 · 五链留痕，支撑可审计可复现 · 单位成本随量收敛（幅度待实测）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133725"/>
            <a:ext cx="10363200" cy="685800"/>
          </a:xfrm>
          <a:prstGeom prst="roundRect">
            <a:avLst>
              <a:gd name="adj" fmla="val 8333"/>
            </a:avLst>
          </a:prstGeom>
          <a:solidFill>
            <a:srgbClr val="EEF3FB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3427095"/>
            <a:ext cx="12039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信用层（优势 5）：立信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28900" y="3430905"/>
            <a:ext cx="10477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四本账＋同条件重放＋五问可答 · 「卖可审计的决策过程」成为工程标准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200525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4429125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88180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4844415"/>
            <a:ext cx="11963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铸造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3000" y="5151120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交付物生成＋证据链回写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00450" y="4200525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29050" y="4429125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88180"/>
            <a:ext cx="6096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29050" y="4844415"/>
            <a:ext cx="92773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流转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29050" y="5151120"/>
            <a:ext cx="92773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审批链/检查链上被接受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86500" y="4200525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5100" y="4429125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488180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15100" y="4844415"/>
            <a:ext cx="6591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重放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15100" y="5151120"/>
            <a:ext cx="6591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同条件复现，结果一致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72550" y="4200525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01150" y="4429125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34" name="Text 32"/>
          <p:cNvSpPr/>
          <p:nvPr/>
        </p:nvSpPr>
        <p:spPr>
          <a:xfrm>
            <a:off x="5562600" y="4488180"/>
            <a:ext cx="7543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01150" y="4844415"/>
            <a:ext cx="39052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201150" y="5151120"/>
            <a:ext cx="39052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五问可答，责任归客户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5650" y="4852988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48050" y="48148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39" name="Shape 37"/>
          <p:cNvSpPr/>
          <p:nvPr/>
        </p:nvSpPr>
        <p:spPr>
          <a:xfrm>
            <a:off x="5981700" y="4852988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34100" y="48148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41" name="Shape 39"/>
          <p:cNvSpPr/>
          <p:nvPr/>
        </p:nvSpPr>
        <p:spPr>
          <a:xfrm>
            <a:off x="8667750" y="4852988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0150" y="48148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先例背书：中行广州 Token 贷 2026-08 试单、授信 2800 万（授信额≠收入）；卖 Token，不卖原始数据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锚单实证：Token 三性是产品化现状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781490"/>
            <a:ext cx="5922264" cy="1666875"/>
          </a:xfrm>
          <a:prstGeom prst="roundRect">
            <a:avLst>
              <a:gd name="adj" fmla="val 3429"/>
            </a:avLst>
          </a:prstGeom>
          <a:solidFill>
            <a:srgbClr val="2D5BD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10065"/>
            <a:ext cx="5922264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3625" y="3549841"/>
            <a:ext cx="158750" cy="158750"/>
          </a:xfrm>
          <a:prstGeom prst="ellipse">
            <a:avLst/>
          </a:pr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3629216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3597466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3000566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政研通指标目录（2026-08-29 实测）：analytics-v1.1 · 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326726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 条指标——tier（A/B＝可计价）·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3500" y="353396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confidence（高/中/低）·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33500" y="3800666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level（城·区·商圈·小区四级贯通）·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33500" y="406736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status=confirmed＋公式引用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89064" y="1771650"/>
            <a:ext cx="4288536" cy="43243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98A2E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9564" y="2390775"/>
            <a:ext cx="3907536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6739" y="268605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9564" y="28022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17764" y="257937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贝壳官方房价/租金指数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8017764" y="2836545"/>
            <a:ext cx="113538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重复交易法 · 固定样本 · 基期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17764" y="3027045"/>
            <a:ext cx="113538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2018-11=100，直接入库不重算——天然可复测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79564" y="3476625"/>
            <a:ext cx="3907536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36739" y="3781425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9564" y="38976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17764" y="366522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去化周期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8017764" y="39243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研究院直接交付、仅城市级；冷热分档 &lt;6 /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8017764" y="41243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 / 12-24 / &gt;24 个月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7179564" y="4581525"/>
            <a:ext cx="3907536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36739" y="4886325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9564" y="50025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17764" y="477012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带看转化率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8017764" y="50292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＝成交÷带看，系统计算——两源交叉，单一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8017764" y="52292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数据商造不出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timeseries 两次调用 series 为空——数值仍以 Wind EDB 为准；租赁类指数 confidence 标「低」，正是可审计性的实物证明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免费的不是服务，是定价权的入场券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914400" y="1809750"/>
            <a:ext cx="8382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09750"/>
            <a:ext cx="8382000" cy="57150"/>
          </a:xfrm>
          <a:custGeom>
            <a:avLst/>
            <a:gdLst/>
            <a:ahLst/>
            <a:cxnLst/>
            <a:rect l="l" t="t" r="r" b="b"/>
            <a:pathLst>
              <a:path w="8382000" h="57150">
                <a:moveTo>
                  <a:pt x="0" y="57150"/>
                </a:moveTo>
                <a:arcTo hR="57150" wR="57150" stAng="10800000" swAng="5400000"/>
                <a:lnTo>
                  <a:pt x="8324850" y="0"/>
                </a:lnTo>
                <a:arcTo hR="57150" wR="57150" stAng="16200000" swAng="5400000"/>
                <a:lnTo>
                  <a:pt x="83820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2032635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客户一 · 中央部委（A1-A3）：制度执行的底稿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123950" y="23602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执行追踪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33410" y="23593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条全口径统计——「交易事实」核验「申报口径」；90 天政策日历＋三锚指标卡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123950" y="27031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好房子追踪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33410" y="27022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「好房子」第一次有了信贷价格；2027 年认证细则出台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1123950" y="30460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全流通监测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33410" y="30451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「流通事实」口径与 2027 年基线——现在建才来得及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914400" y="3600450"/>
            <a:ext cx="8382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600450"/>
            <a:ext cx="8382000" cy="57150"/>
          </a:xfrm>
          <a:custGeom>
            <a:avLst/>
            <a:gdLst/>
            <a:ahLst/>
            <a:cxnLst/>
            <a:rect l="l" t="t" r="r" b="b"/>
            <a:pathLst>
              <a:path w="8382000" h="57150">
                <a:moveTo>
                  <a:pt x="0" y="57150"/>
                </a:moveTo>
                <a:arcTo hR="57150" wR="57150" stAng="10800000" swAng="5400000"/>
                <a:lnTo>
                  <a:pt x="8324850" y="0"/>
                </a:lnTo>
                <a:arcTo hR="57150" wR="57150" stAng="16200000" swAng="5400000"/>
                <a:lnTo>
                  <a:pt x="83820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" y="3823335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客户二 · 地方监管：守门人要的不是数据，是免责的底稿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123950" y="41509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白名单核验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33410" y="4150042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 26 条可问责守门；2026Q4 白名单覆盖率＝第一检验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1123950" y="44938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城更项目库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33410" y="44929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入库与经营性收入核验（7/11 条）；防注水是产品内核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1123950" y="48367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收储闭环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33410" y="48358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全省台账、价格差异与贴息追踪——投入盯贴息节奏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1123950" y="51796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B4 政策日历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33410" y="51787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红线执行一致性；公积金计入方式未定、如实标注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免费换三样：标准 · 共识 · 数据入口（政府端投入 ≤ 总成本 20%）；地方监管新角色：白名单守门人 · 城更招商人 · 收储枢纽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2D5BD8"/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600" dirty="0"/>
          </a:p>
        </p:txBody>
      </p:sp>
      <p:sp>
        <p:nvSpPr>
          <p:cNvPr id="28" name="Shape 26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万亿的年度重估，是订阅制的天花板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533400" y="1714500"/>
            <a:ext cx="36068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19621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36.29</a:t>
            </a:r>
            <a:pPr algn="l" indent="0" marL="0">
              <a:buNone/>
            </a:pPr>
            <a:r>
              <a:rPr lang="en-US" sz="135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万亿元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23900" y="250698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存量按揭年度重估（2026-06）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2600" y="1714500"/>
            <a:ext cx="36068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3100" y="1962150"/>
            <a:ext cx="8242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pPr algn="l" indent="0" marL="0">
              <a:buNone/>
            </a:pPr>
            <a:r>
              <a:rPr lang="en-US" sz="135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 · Top1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83100" y="2506980"/>
            <a:ext cx="8242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订阅制、抗惜贷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51800" y="1714500"/>
            <a:ext cx="36068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2300" y="1962150"/>
            <a:ext cx="4483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2800</a:t>
            </a:r>
            <a:pPr algn="l" indent="0" marL="0">
              <a:buNone/>
            </a:pPr>
            <a:r>
              <a:rPr lang="en-US" sz="135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万元授信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42300" y="2506980"/>
            <a:ext cx="4483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贷试单（授信≠收入）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3400" y="3476625"/>
            <a:ext cx="11125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400" y="3067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F2 去化/回款核验（A）：卖「补充真」，不替代「账户级的真」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3400" y="4105275"/>
            <a:ext cx="11125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36957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 风险定价参照（A）：2027 年看开发贷利差分层可观察性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3400" y="4733925"/>
            <a:ext cx="11125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400" y="43243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F4 并购尽调（B）／F5 现金流核验（B）：2027H1 后的期权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400" y="49530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F6 被关小的门：23 条风控核心银行独立开展——做底稿不做签章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定调：存量合规账单，非增量投放账单；年费 1000 万起/3000 万锚＝目标假设；银行准入周期 12-18 个月（估算）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2D5BD8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2D5BD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客户四 · 城投/国企：谁把闭环算清，谁给闭环定价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533525"/>
            <a:ext cx="2476500" cy="19431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2181225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pPr algn="l" indent="0" marL="0">
              <a:buNone/>
            </a:pPr>
            <a:r>
              <a:rPr lang="en-US" sz="135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 · Top2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04900" y="2726055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收储定价与 DSCR 底稿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43300" y="1533525"/>
            <a:ext cx="2476500" cy="19431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3800" y="2287905"/>
            <a:ext cx="9372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10%</a:t>
            </a:r>
            <a:pPr algn="l" indent="0" marL="0">
              <a:buNone/>
            </a:pPr>
            <a:r>
              <a:rPr lang="en-US" sz="90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单套更低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733800" y="2726055"/>
            <a:ext cx="9372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左海中性定价（已签约）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33525"/>
            <a:ext cx="2476500" cy="19431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2700" y="2318385"/>
            <a:ext cx="67437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2% vs 3%</a:t>
            </a:r>
            <a:pPr algn="l" indent="0" marL="0">
              <a:buNone/>
            </a:pPr>
            <a:r>
              <a:rPr lang="en-US" sz="75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定价闸门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362700" y="2741295"/>
            <a:ext cx="6743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租金回报率 vs 资金成本（测算）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01100" y="1533525"/>
            <a:ext cx="2476500" cy="19431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1600" y="2287905"/>
            <a:ext cx="41148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3 万亿</a:t>
            </a:r>
            <a:pPr algn="l" indent="0" marL="0">
              <a:buNone/>
            </a:pPr>
            <a:r>
              <a:rPr lang="en-US" sz="90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测算口径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991600" y="2726055"/>
            <a:ext cx="4114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收储贴息（100-200 万套）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095750"/>
            <a:ext cx="10363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6861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 全链估值（高）：收房价→退出分派率一张表——分派率倒推定价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4724400"/>
            <a:ext cx="10363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3148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K3 城更测算书（高）：每项目一本审计级测算书，对接银团贷审——即期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5353050"/>
            <a:ext cx="10363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9434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K4 资产盘活报告（中高）：先盘「什么还能进金融市场」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55721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K5 合规甄别底稿（中高）：财政性 vs 经营性收入证据链——失灵②倒逼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生死线＝经营性收入足额覆盖本息（城市更新 7/11 条）；DSCR 双情景对齐监管惯例——帮过合规关，不帮注水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不赚开发商的钱，赚围绕开发商交易的钱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9E1F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0" y="1771650"/>
            <a:ext cx="4038600" cy="40957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D9E1F0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10028"/>
            <a:ext cx="6019800" cy="215265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510028"/>
            <a:ext cx="6019800" cy="57150"/>
          </a:xfrm>
          <a:custGeom>
            <a:avLst/>
            <a:gdLst/>
            <a:ahLst/>
            <a:cxnLst/>
            <a:rect l="l" t="t" r="r" b="b"/>
            <a:pathLst>
              <a:path w="6019800" h="57150">
                <a:moveTo>
                  <a:pt x="0" y="57150"/>
                </a:moveTo>
                <a:arcTo hR="57150" wR="57150" stAng="10800000" swAng="5400000"/>
                <a:lnTo>
                  <a:pt x="5962650" y="0"/>
                </a:lnTo>
                <a:arcTo hR="57150" wR="57150" stAng="16200000" swAng="5400000"/>
                <a:lnTo>
                  <a:pt x="60198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" y="2732913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客户五 · 开发商（D1-D4）：付费方不在开发商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123950" y="3060573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并购前筛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33410" y="3063431"/>
            <a:ext cx="1005859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项目级市场画像卡——先筛后尽调第一层漏斗；付费方＝整合者（高，借道客户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133410" y="3244406"/>
            <a:ext cx="1005859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三/四）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23950" y="3574923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 土储处置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33410" y="3573970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退地/转让/被收储路径比较底稿；随收储方打包（中高）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1123950" y="3917823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 好房子定价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33410" y="3916870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品质溢价可验证画像；付费方＝银行/标准方（中，等 2027 认证细则）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1123950" y="4260723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 投后复盘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33410" y="4259771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项目单独建账后复盘成必选项；轻订阅，S 层扩展（低）</a:t>
            </a:r>
            <a:endParaRPr lang="en-US" sz="1013" dirty="0"/>
          </a:p>
        </p:txBody>
      </p:sp>
      <p:sp>
        <p:nvSpPr>
          <p:cNvPr id="18" name="Shape 16"/>
          <p:cNvSpPr/>
          <p:nvPr/>
        </p:nvSpPr>
        <p:spPr>
          <a:xfrm>
            <a:off x="7239000" y="2035874"/>
            <a:ext cx="4038600" cy="3400425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39000" y="2035874"/>
            <a:ext cx="4038600" cy="57150"/>
          </a:xfrm>
          <a:custGeom>
            <a:avLst/>
            <a:gdLst/>
            <a:ahLst/>
            <a:cxnLst/>
            <a:rect l="l" t="t" r="r" b="b"/>
            <a:pathLst>
              <a:path w="4038600" h="57150">
                <a:moveTo>
                  <a:pt x="0" y="57150"/>
                </a:moveTo>
                <a:arcTo hR="57150" wR="57150" stAng="10800000" swAng="5400000"/>
                <a:lnTo>
                  <a:pt x="3981450" y="0"/>
                </a:lnTo>
                <a:arcTo hR="57150" wR="57150" stAng="16200000" swAng="5400000"/>
                <a:lnTo>
                  <a:pt x="40386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7448550" y="2258759"/>
            <a:ext cx="47434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客户六 · C 端：C 端不收费，收费的是信任的复利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7448550" y="2586419"/>
            <a:ext cx="4743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红线测算器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91347" y="2585466"/>
            <a:ext cx="370065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50%/60% 红线下「我能贷多少」；C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8491347" y="2775966"/>
            <a:ext cx="370065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端免费、银行侧获客（中高，引流型）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7448550" y="3119819"/>
            <a:ext cx="4743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置换沙盘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91347" y="3122676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带押过户单笔省约 4.5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8491347" y="3303651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万元（测算口径）——「算得清」第一次有价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491347" y="3484626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值（高，转化型）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7448550" y="3815144"/>
            <a:ext cx="4743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交付提示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91347" y="3818001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定位「提示不是评级」；信任资产，现房分销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8491347" y="3998976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入口（中）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7448550" y="4329494"/>
            <a:ext cx="4743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C4 滞留乘客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91347" y="4332351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存量期房交付监测；公益，无收入预期（低/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8491347" y="4513326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公益）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7448550" y="4843844"/>
            <a:ext cx="4743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C5 研究 Agent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91347" y="4842891"/>
            <a:ext cx="370065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C1-C3 三件套的收敛形态；工具期 1-2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8491347" y="5033391"/>
            <a:ext cx="370065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年后评估（远期）</a:t>
            </a:r>
            <a:endParaRPr lang="en-US" sz="1013" dirty="0"/>
          </a:p>
        </p:txBody>
      </p:sp>
      <p:sp>
        <p:nvSpPr>
          <p:cNvPr id="37" name="Text 3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开发商付费能力在缩表（开发投资 -19.2%、销售 -11.8%，Wind EDB，2026-07）——数据生态位不做收入战场；C 端工具同步赋能经纪人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资源只给发动机，期权排队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9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7449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卡优先级分布（付费意愿 × 能力匹配 × 时间窗）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600" y="1943100"/>
            <a:ext cx="1152716" cy="24765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1998345"/>
            <a:ext cx="11527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×2（F1·K1）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38515" y="1943100"/>
            <a:ext cx="1152716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38515" y="1998345"/>
            <a:ext cx="11527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×2（F2·F3）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7431" y="1943100"/>
            <a:ext cx="54464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7431" y="1998345"/>
            <a:ext cx="54464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 ×7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88270" y="1943100"/>
            <a:ext cx="1331405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8270" y="1998345"/>
            <a:ext cx="133140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 ×3（A1-A3）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95875" y="1943100"/>
            <a:ext cx="67799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5875" y="1998345"/>
            <a:ext cx="67799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 ×4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0065" y="1943100"/>
            <a:ext cx="54464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0065" y="1998345"/>
            <a:ext cx="54464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 ×3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70904" y="1943100"/>
            <a:ext cx="812673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0904" y="1998345"/>
            <a:ext cx="81267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期权 ×2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59777" y="1943100"/>
            <a:ext cx="54464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59777" y="1998345"/>
            <a:ext cx="54464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 ×2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80617" y="1943100"/>
            <a:ext cx="67799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0617" y="1998345"/>
            <a:ext cx="67799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 ×1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9600" y="2571750"/>
            <a:ext cx="109728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600" y="2571750"/>
            <a:ext cx="10972800" cy="57150"/>
          </a:xfrm>
          <a:custGeom>
            <a:avLst/>
            <a:gdLst/>
            <a:ahLst/>
            <a:cxnLst/>
            <a:rect l="l" t="t" r="r" b="b"/>
            <a:pathLst>
              <a:path w="10972800" h="57150">
                <a:moveTo>
                  <a:pt x="0" y="57150"/>
                </a:moveTo>
                <a:arcTo hR="57150" wR="57150" stAng="10800000" swAng="5400000"/>
                <a:lnTo>
                  <a:pt x="10915650" y="0"/>
                </a:lnTo>
                <a:arcTo hR="57150" wR="57150" stAng="16200000" swAng="5400000"/>
                <a:lnTo>
                  <a:pt x="109728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27" name="Text 25"/>
          <p:cNvSpPr/>
          <p:nvPr/>
        </p:nvSpPr>
        <p:spPr>
          <a:xfrm>
            <a:off x="819150" y="2794635"/>
            <a:ext cx="113728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三维评估（★1-5）＋ Token 化成熟度四档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819150" y="3122295"/>
            <a:ext cx="11372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付费意愿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85938" y="3121343"/>
            <a:ext cx="104060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现金付费强度与确定性（★1-5）——非现金卡（部委/监管）另行标注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819150" y="3465195"/>
            <a:ext cx="11372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能力匹配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85938" y="3464243"/>
            <a:ext cx="104060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智见资产与该需求的吻合度（★1-5）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819150" y="3808095"/>
            <a:ext cx="11372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785938" y="3807142"/>
            <a:ext cx="104060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现在不做就错过的程度（★1-5）——已含 t5 命门扣分：贴息节奏/准入周期/失灵③/观望期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819150" y="4150995"/>
            <a:ext cx="11372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成熟度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785938" y="4150042"/>
            <a:ext cx="104060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距一枚标准 Token 的距离：已试点（客户已接受落地）/可铸造/需工程/远期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 ×7＝B1·K3·D1·C2·B2·B3·K2；两灯塔（收储＋银行）是发动机、其余是期权；t5 脆弱性排序（开发商最脆弱→部委最稳）已计入扣分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落地清单：90 天与 12 个月的 Token 交付物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23012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天动作（2026Q4）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13478" y="2301240"/>
            <a:ext cx="969292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交付物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590800"/>
            <a:ext cx="50292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099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4290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8481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2672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6863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51054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5245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9436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" y="2748915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重估引擎 MVP（试点行闭环演示）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413478" y="2733675"/>
            <a:ext cx="96929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重估 Token 铸模：先铸 1 枚标准件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028700" y="31546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批量压测＋D 层补出租率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13478" y="3152775"/>
            <a:ext cx="96929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 Token 铸模：DSCR 双情景模板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28700" y="3573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白名单监测 1-2 城试点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13478" y="3579495"/>
            <a:ext cx="969292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 Token 模板：申报 vs 事实四段式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28700" y="3992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政策日历＋三锚指标卡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3478" y="3992880"/>
            <a:ext cx="969292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 Token 首批铸造（每锚一枚）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44119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红线合规测算器 MVP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13478" y="4425315"/>
            <a:ext cx="9692922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可贷能力 Token 铸模（公积金未定标注）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028700" y="48310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置换决策沙盘 MVP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3478" y="4831080"/>
            <a:ext cx="969292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置换决策 Token 铸模：净成本路径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52501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画像卡数据包＋整合者访谈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13478" y="5250180"/>
            <a:ext cx="969292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项目画像 Token 铸模：画像卡模板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8700" y="56692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口径与纪律交付物文档化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3478" y="5682615"/>
            <a:ext cx="9692922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铸造规范 v0.1：三性＋五问＋三不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362700" y="23164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个月动作（至 2027Q3）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8644" y="2301240"/>
            <a:ext cx="989175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交付物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248400" y="2590800"/>
            <a:ext cx="50292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48400" y="30099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48400" y="34290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48400" y="38481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8400" y="42672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48400" y="46863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48400" y="51054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48400" y="55245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48400" y="59436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2700" y="27355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首单：单行年度合同签约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48644" y="2733675"/>
            <a:ext cx="98917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重估 Token 批量铸造（随量收敛实测）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6362700" y="31546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放量：年费客户＋试点省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48644" y="31546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 Token 批量铸造＋监测 Token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62700" y="3573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差异报告进入会议材料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548644" y="35737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 Token 流转验证（监管链路）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62700" y="3992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线部委工作流接入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548644" y="39928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执行追踪/流通指标 Token 基线铸造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362700" y="4417695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F2/F3 机构基础包（40/50 城）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548644" y="44119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去化核验/定价参照 Token 标准件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362700" y="48310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并购前筛采用 1-2 例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548644" y="48310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 Token 跨买方流转验证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362700" y="52501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银行采用为预审参考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548644" y="5255895"/>
            <a:ext cx="989175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可贷能力 Token 流转进阶（按调用计费）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62700" y="56692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B2/K3 口径被 1-2 个省引用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548644" y="56692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测算书 Token 双侧流转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2D5B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拒绝清单比机会清单更值钱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23925" y="2324100"/>
            <a:ext cx="0" cy="1104900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50" y="2350770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23950" y="2777490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工程核验执行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23950" y="3103245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人力密集＋连带责任——只做留痕底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23950" y="3284220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81400" y="2324100"/>
            <a:ext cx="0" cy="1104900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1425" y="2350770"/>
            <a:ext cx="9324975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3781425" y="2777490"/>
            <a:ext cx="932497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信贷定价/风控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81425" y="3103245"/>
            <a:ext cx="932497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条红线：替定价＝替签字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8875" y="2324100"/>
            <a:ext cx="0" cy="1104900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8900" y="2350770"/>
            <a:ext cx="66675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438900" y="2777490"/>
            <a:ext cx="66675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评估签章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38900" y="3103245"/>
            <a:ext cx="66675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法定资质＋无限责任——让给持牌方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96350" y="2324100"/>
            <a:ext cx="0" cy="1104900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6375" y="2350770"/>
            <a:ext cx="4010025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096375" y="2777490"/>
            <a:ext cx="401002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卖数据给银行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096375" y="3103245"/>
            <a:ext cx="401002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失灵③＋可替代——只卖证据链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3925" y="3886200"/>
            <a:ext cx="0" cy="923925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3950" y="3912870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123950" y="4339590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替客户预测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23950" y="4665345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预测不可审计——只做条件化推演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81400" y="3886200"/>
            <a:ext cx="0" cy="923925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1425" y="3912870"/>
            <a:ext cx="9324975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3781425" y="4339590"/>
            <a:ext cx="932497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收储替拍板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781425" y="4665345"/>
            <a:ext cx="932497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审计第一被告——责任记客户名下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8875" y="3886200"/>
            <a:ext cx="0" cy="923925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8900" y="3912870"/>
            <a:ext cx="66675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6438900" y="4339590"/>
            <a:ext cx="66675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大屏低毛利定制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8900" y="4665345"/>
            <a:ext cx="66675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无产品沉淀——只做白标标准件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4400" y="5038725"/>
            <a:ext cx="10363200" cy="866775"/>
          </a:xfrm>
          <a:prstGeom prst="roundRect">
            <a:avLst>
              <a:gd name="adj" fmla="val 6593"/>
            </a:avLst>
          </a:prstGeom>
          <a:solidFill>
            <a:srgbClr val="C98A2E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400" y="5067300"/>
            <a:ext cx="103632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5375" y="54070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71438" y="95250"/>
                </a:moveTo>
                <a:cubicBezTo>
                  <a:pt x="73025" y="87313"/>
                  <a:pt x="76994" y="81756"/>
                  <a:pt x="83344" y="75406"/>
                </a:cubicBezTo>
                <a:cubicBezTo>
                  <a:pt x="91281" y="68263"/>
                  <a:pt x="95250" y="57944"/>
                  <a:pt x="95250" y="47625"/>
                </a:cubicBezTo>
                <a:arcTo hR="47625" wR="47625" stAng="0" swAng="-10800000"/>
                <a:cubicBezTo>
                  <a:pt x="0" y="55563"/>
                  <a:pt x="1588" y="65088"/>
                  <a:pt x="11906" y="75406"/>
                </a:cubicBezTo>
                <a:cubicBezTo>
                  <a:pt x="17462" y="80963"/>
                  <a:pt x="22225" y="87313"/>
                  <a:pt x="23813" y="95250"/>
                </a:cubicBez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9188" y="5534025"/>
            <a:ext cx="47625" cy="5953"/>
          </a:xfrm>
          <a:custGeom>
            <a:avLst/>
            <a:gdLst/>
            <a:ahLst/>
            <a:cxnLst/>
            <a:rect l="l" t="t" r="r" b="b"/>
            <a:pathLst>
              <a:path w="47625" h="5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7125" y="5565775"/>
            <a:ext cx="31750" cy="5953"/>
          </a:xfrm>
          <a:custGeom>
            <a:avLst/>
            <a:gdLst/>
            <a:ahLst/>
            <a:cxnLst/>
            <a:rect l="l" t="t" r="r" b="b"/>
            <a:pathLst>
              <a:path w="31750" h="5953">
                <a:moveTo>
                  <a:pt x="0" y="0"/>
                </a:moveTo>
                <a:lnTo>
                  <a:pt x="31750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33500" y="52578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三不＝三卖：不签章→卖底稿 · 不预测→卖条件化推演 · 不代决策→卖有据可查。不铸三种坏 Token：无证据链 · 越权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33500" y="55245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预测型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纪律不是限制，是智见唯一不可复制的护城河——「经得起审计」的前提，是先学会拒绝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每个失灵变量都有对冲，才配叫战略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9E1F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0" y="1771650"/>
            <a:ext cx="4038600" cy="40957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D9E1F0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71650"/>
            <a:ext cx="60198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1575" y="222885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450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52600" y="21126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断锚（失灵③）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752600" y="23717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数据断供＝证据链缺环、「可验证」打折——对冲：锚定标尺而非数据条数；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752600" y="25717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授权数据＋政研通自爬双轨；数据只作底稿输入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914400" y="3181350"/>
            <a:ext cx="60198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1575" y="363855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547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52600" y="35223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租金之雷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752600" y="37814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垄断定价反噬：客户找到替代锚则计价体系塌方——对冲：标尺开源化；计价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752600" y="39814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透明可审计；不签章不垄断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914400" y="4591050"/>
            <a:ext cx="60198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1575" y="504825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1644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52600" y="49320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实测节奏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752600" y="51911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单位成本随量收敛幅度未经灯塔实测——对冲：先试点实测再承诺；年费三包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752600" y="53911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＋按次并行；不提前承诺比例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7429500" y="3477006"/>
            <a:ext cx="3657600" cy="0"/>
          </a:xfrm>
          <a:prstGeom prst="line">
            <a:avLst/>
          </a:prstGeom>
          <a:noFill/>
          <a:ln w="19050">
            <a:solidFill>
              <a:srgbClr val="D9E1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53300" y="3400806"/>
            <a:ext cx="152400" cy="1524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26" name="Text 24"/>
          <p:cNvSpPr/>
          <p:nvPr/>
        </p:nvSpPr>
        <p:spPr>
          <a:xfrm>
            <a:off x="7353300" y="3126486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53300" y="3621786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白名单覆盖率＝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53300" y="3812286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失灵①第一检验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53300" y="4082796"/>
            <a:ext cx="120777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主办行投放节奏 ·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353300" y="4178046"/>
            <a:ext cx="120777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首批「市场化运营主体」名单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7353300" y="4273296"/>
            <a:ext cx="120777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城更入库数 · 贴息细则信号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8572500" y="3400806"/>
            <a:ext cx="152400" cy="1524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33" name="Text 31"/>
          <p:cNvSpPr/>
          <p:nvPr/>
        </p:nvSpPr>
        <p:spPr>
          <a:xfrm>
            <a:off x="7239000" y="3126486"/>
            <a:ext cx="281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2027-03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39000" y="3621786"/>
            <a:ext cx="281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信托新旧切换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39000" y="3854196"/>
            <a:ext cx="28194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存量到期结清 ·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7239000" y="4016121"/>
            <a:ext cx="28194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警惕过渡期抢跑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9791700" y="3400806"/>
            <a:ext cx="152400" cy="1524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38" name="Text 36"/>
          <p:cNvSpPr/>
          <p:nvPr/>
        </p:nvSpPr>
        <p:spPr>
          <a:xfrm>
            <a:off x="7239000" y="3126486"/>
            <a:ext cx="5257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2027H1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39000" y="3621786"/>
            <a:ext cx="5257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按揭止跌与否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39000" y="3899916"/>
            <a:ext cx="5257800" cy="8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无工具 55-60%／收储并联</a:t>
            </a:r>
            <a:endParaRPr lang="en-US" sz="525" dirty="0"/>
          </a:p>
        </p:txBody>
      </p:sp>
      <p:sp>
        <p:nvSpPr>
          <p:cNvPr id="41" name="Text 39"/>
          <p:cNvSpPr/>
          <p:nvPr/>
        </p:nvSpPr>
        <p:spPr>
          <a:xfrm>
            <a:off x="7239000" y="3985641"/>
            <a:ext cx="5257800" cy="8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70%+（研判推断）· 首轮重估执行</a:t>
            </a:r>
            <a:endParaRPr lang="en-US" sz="525" dirty="0"/>
          </a:p>
        </p:txBody>
      </p:sp>
      <p:sp>
        <p:nvSpPr>
          <p:cNvPr id="42" name="Text 40"/>
          <p:cNvSpPr/>
          <p:nvPr/>
        </p:nvSpPr>
        <p:spPr>
          <a:xfrm>
            <a:off x="7239000" y="4071366"/>
            <a:ext cx="5257800" cy="8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首单合同对照千万级锚</a:t>
            </a:r>
            <a:endParaRPr lang="en-US" sz="525" dirty="0"/>
          </a:p>
        </p:txBody>
      </p:sp>
      <p:sp>
        <p:nvSpPr>
          <p:cNvPr id="43" name="Shape 41"/>
          <p:cNvSpPr/>
          <p:nvPr/>
        </p:nvSpPr>
        <p:spPr>
          <a:xfrm>
            <a:off x="11010900" y="3400806"/>
            <a:ext cx="152400" cy="1524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44" name="Text 42"/>
          <p:cNvSpPr/>
          <p:nvPr/>
        </p:nvSpPr>
        <p:spPr>
          <a:xfrm>
            <a:off x="7239000" y="3126486"/>
            <a:ext cx="3924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39000" y="3621786"/>
            <a:ext cx="3924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结构性信号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39000" y="3907536"/>
            <a:ext cx="392430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期房占比归因分解 · 利差分层可观察性</a:t>
            </a:r>
            <a:endParaRPr lang="en-US" sz="450" dirty="0"/>
          </a:p>
        </p:txBody>
      </p:sp>
      <p:sp>
        <p:nvSpPr>
          <p:cNvPr id="47" name="Text 45"/>
          <p:cNvSpPr/>
          <p:nvPr/>
        </p:nvSpPr>
        <p:spPr>
          <a:xfrm>
            <a:off x="7239000" y="3983736"/>
            <a:ext cx="392430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数据前筛采用数 · 口径被引用省数</a:t>
            </a:r>
            <a:endParaRPr lang="en-US" sz="450" dirty="0"/>
          </a:p>
        </p:txBody>
      </p:sp>
      <p:sp>
        <p:nvSpPr>
          <p:cNvPr id="48" name="Text 4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所有机会的共同前提＝数据授权（贝壳数据能否进 D 层）；银行准入周期 12-18 个月（估算口径）如实计入兑现节奏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口径声明：数字全程带口径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1529715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｜ 2026Q4 先签先赢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2200275"/>
            <a:ext cx="7505700" cy="2705100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00275"/>
            <a:ext cx="7505700" cy="57150"/>
          </a:xfrm>
          <a:custGeom>
            <a:avLst/>
            <a:gdLst/>
            <a:ahLst/>
            <a:cxnLst/>
            <a:rect l="l" t="t" r="r" b="b"/>
            <a:pathLst>
              <a:path w="7505700" h="57150">
                <a:moveTo>
                  <a:pt x="0" y="57150"/>
                </a:moveTo>
                <a:arcTo hR="57150" wR="57150" stAng="10800000" swAng="5400000"/>
                <a:lnTo>
                  <a:pt x="7448550" y="0"/>
                </a:lnTo>
                <a:arcTo hR="57150" wR="57150" stAng="16200000" swAng="5400000"/>
                <a:lnTo>
                  <a:pt x="75057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2423160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口径声明要点（详见底稿第十一章）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123950" y="2750820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zyt 实测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24050" y="2749868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catalog 首次透出 analytics-v1.1 目录；timeseries 两次调用 series 为空——数值以 Wind EDB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1924050" y="2940367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为准，未用 zyt 数值、未编造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1123950" y="3284220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案例口径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24050" y="3283267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左海（已签约）：以旧换新 8 套＋国企间划转 3000 多套、单套低约 10%；Token 贷授信 2800 万≠收入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1123950" y="3627120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目标假设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24050" y="3626167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银行年费 1000 万起/3000 万锚（2026-08-10 定调）；按收储额定价优化分成——均不写对外承诺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1123950" y="3970020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基期与配置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24050" y="3969068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价格基期 2020-01 · 活跃基期 2024-01 · 信心暂缓；贝壳官方指数 2018-11=100；白名单 300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1924050" y="4159568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人（领导直问）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1123950" y="4503420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未核实项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24050" y="4506278"/>
            <a:ext cx="102679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单行重估工作量与单价 · 保租出租率覆盖城市数 · 公积金组合贷计入方式 · 资金监管公开时点——如实标注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914400" y="5000625"/>
            <a:ext cx="7505700" cy="866775"/>
          </a:xfrm>
          <a:prstGeom prst="roundRect">
            <a:avLst>
              <a:gd name="adj" fmla="val 6593"/>
            </a:avLst>
          </a:prstGeom>
          <a:solidFill>
            <a:srgbClr val="2D5BD8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5029200"/>
            <a:ext cx="75057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3625" y="5368925"/>
            <a:ext cx="158750" cy="158750"/>
          </a:xfrm>
          <a:prstGeom prst="ellipse">
            <a:avLst/>
          </a:pr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5448300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5416550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33500" y="52197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标注规范：测算/估算/目标假设/研判推断逐项标注，新增汇总未引入任何新编数字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33500" y="54864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；Wind EDB 月度截至 2026-07、季度截至 2026Q2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6073140"/>
            <a:ext cx="112776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/ 机会扫描 · 底稿 v2（战略版）· 2026-08-29 ｜ 行动主轴：60 天内让两台发动机各转出第一枚可演示的 Token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2D5BD8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/>
        </p:spPr>
      </p:sp>
      <p:sp>
        <p:nvSpPr>
          <p:cNvPr id="32" name="Shape 3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F3F7F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EC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ECF1FB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E9F0F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E9EFFA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E8EFFA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E7EE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4400" y="2348865"/>
            <a:ext cx="11277600" cy="662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350" i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2026Q4 先签先赢 ｜</a:t>
            </a:r>
            <a:endParaRPr lang="en-US" sz="4350" dirty="0"/>
          </a:p>
        </p:txBody>
      </p:sp>
      <p:sp>
        <p:nvSpPr>
          <p:cNvPr id="29" name="Text 27"/>
          <p:cNvSpPr/>
          <p:nvPr/>
        </p:nvSpPr>
        <p:spPr>
          <a:xfrm>
            <a:off x="914400" y="2948940"/>
            <a:ext cx="11277600" cy="662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350" i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每次制度开票，都是一次 Token 的铸造。</a:t>
            </a:r>
            <a:endParaRPr lang="en-US" sz="4350" dirty="0"/>
          </a:p>
        </p:txBody>
      </p:sp>
      <p:sp>
        <p:nvSpPr>
          <p:cNvPr id="30" name="Text 28"/>
          <p:cNvSpPr/>
          <p:nvPr/>
        </p:nvSpPr>
        <p:spPr>
          <a:xfrm>
            <a:off x="914400" y="392430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/ 机会扫描 · 底稿 v2（战略版）· 2026-08-29 · 不构成投资建议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14400" y="4610100"/>
            <a:ext cx="10363200" cy="0"/>
          </a:xfrm>
          <a:prstGeom prst="line">
            <a:avLst/>
          </a:prstGeom>
          <a:noFill/>
          <a:ln w="13335">
            <a:solidFill>
              <a:srgbClr val="2D5B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9530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525399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</a:t>
            </a:r>
            <a:endParaRPr lang="en-US" sz="21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