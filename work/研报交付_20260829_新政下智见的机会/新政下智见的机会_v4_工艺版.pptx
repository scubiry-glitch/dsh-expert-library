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封面（v4 工艺版）：主标题「新政下智见的机会」，副题「1+N 新政下的机会坐标 · 工艺版 v4」，Token 主线金句「每次制度开票，都是一次 Token 的铸造」。封面四格数字条因 pptfast 封面页不渲染组件（工具硬规范：cover 页无组件槽位），改以副题条带呈现并在第 2 页卷首速览用 KPI 卡正式落格，四格口径为：36.29 万亿元＝个人住房贷款余额（2026-06，Wind EDB W1409719）；26 张机会卡、其中 S 级 2 张（F1 押品年度重估、K1 收储定价与 DSCR）＝两台发动机；12-18 个月＝银行名单制准入周期（估算口径）；2026Q4＝白名单覆盖率公布、失灵①第一检验时点。一句话战略：1+N 新政换掉了中国房地产的估值函数——从「关系与暗箱定价」换成「数据、核验、审计定价」；智见的机会不是「卖数据」，是铸造这个新函数里流通的 Token（一枚可验证、可计价、可流转的最小交付单元）：谁定标尺、谁造流水线、谁先被审批链接受，谁就拿走未来十年不动产定价权的入口。全文数字一律以《新政下智见的机会_底稿_v4_工艺版.md》为准、数字全程带口径，测算/估算/研判推断/待补逐项标注，底稿无数字处不出现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卷首速览（30 秒版本）。四格数字条：36.29 万亿元＝个人住房贷款余额（2026-06，Wind EDB W1409719），每年强制重估是订阅现金流基数；26 张机会卡、S 级 2 张（F1 押品年度重估、K1 收储定价与 DSCR）＝资源只给两台发动机，四档成熟度 1/14/9/2；12-18 个月＝银行名单制准入周期（估算口径）；2026Q4＝白名单覆盖率公布、失灵①第一检验时点。六主体结论（全口径）：①中央部委——从「景气监测」到「执行核验」：《意见》34 条全口径统计需要交易事实交叉核验申报口径，免费投入设上限 ≤ 总成本 20%；②地方监管——白名单守门、卖项目、收储枢纽三个新角色都需要核验工具：2026Q4 白名单覆盖率＝第一检验，领导直问白名单 300 人；③金融机构——开的是「存量合规账单」不是「增量投放账单」：36.29 万亿存量按揭年度重估是订阅制刚需，净息差约 1.5%（金监总局 2026Q2）；④保租房国企/城投——生死线＝经营性收入足额覆盖本息：收储贴息约 3 万亿元、100-200 万套（测算），左海单套低约 10%；⑤开发商——从「买家」变「被分析对象」：开发投资 -19.2%、销售面积 -11.8%（2026-07），做数据生态位不做收入战场；⑥C 端个人——选择风险制度化，三件套承接需求：红线 50%/60%、40 年本金上限 +17.5%、付费方不是购房者。核心判断三行：一、1+N 换掉的是估值函数——知情权、控制权、责任三重再分配，每次制度开票都是一次 Token 的铸造；二、两台发动机，其余全是期权——F1（36.29 万亿×每年重估）＋K1（约 3 万亿贴息×1000+ 收储主体），其余 24 张机会卡排队不抢资源；三、可审计性是唯一不可复制的护城河——三不＝三卖（不签章卖底稿、不预测卖推演、不代决策卖可查）。风险与倒计时：①2026Q4 白名单覆盖率（不做则从立标准降级为买标准）；②首单银行年度合同（准入 12-18 个月，2026Q4-2027H1 启动，晚启动一年收入推到 2028 年）；③2027-03-01 信托切换＋2027 年内三项细则（上线即默认窗口只有一次）。全局杀手＝失灵③数据断供。见底稿卷首速览、§8.5-8.6。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总论·一个必然（见底稿 §一）。论点：1+N 不是一轮政策波动，是中国不动产的「估值函数更换」——凡函数更换，必有定价权再分配；定价权再分配，从不等任何人。论据链三条：①制度把「看不见」写成「必须看见」——《意见》34 条全口径统计＋严防数据造假，申报口径必须有交易事实交叉核验；个贷 25 条「押品每年重估」，36.29 万亿元存量按揭每年必须重估一次；开发贷 26 条白名单直报可问责；城更 7/11 条「经营性收入足额覆盖本息」，没有审计级现金流底稿进不了库、拿不到银团贷款。②制度的执行者缺证据——净息差约 1.5%（金监总局 2026Q2），惜贷是银行的理性；1000+ 收储主体（STAID 口径）面对约 2% 租金回报率 vs 约 3% 资金成本（测算口径）的闸门，没有中性定价底稿就不敢收房。③需求自带付费结构——重估每年强制、直报每项目强制、覆盖测算每入库项目强制，制度发票已经开出，票面金额就是行业的合规预算。根本原因：Token 的铸造权是窗口资产，不是长坡资产——制度开票后的 12-24 个月是口径定型期，谁的标准先被审批链接受谁就是「默认」；三种易主方式：官方标定（34 条可把主办行数据定为法定来源）、竞品接走（榜单渠道换「审计工程」外壳）、银行自建（头部行 AVM 内部化），三条路都不需要智见在场，错过即出局。钥匙＝三重再分配：知情权（谁能看见项目——信息从「集团内部人」流向「项目托管人」，平台真实成交数据有升格为基础设施的可能）、控制权（谁摸得着资金——资金控制权逐级上收到「项目」，钱跟项目走、不跟老板走）、责任（谁为风险签字——从「事后救火」到「事前签字」，责任第一次被写进岗位）；旧模式里所有人赚「预期」的钱，新模式里所有人只能赚「交付」的钱，每一次再分配都是一张制度发票，每一张发票都对应一种 Token。结构性原因＝三重错位（融资主体错位/信息错位/激励错位），预售制是一项隐性金融制度，1+N 先显性化、再收缩融资功能保留销售功能（37 条新老划断保证渐进）；七个文件第一次共用同一把尺子「基于项目」。见底稿 §一。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总论·利率-余额背离（点睛图 2·零轴发散条的页面化；见底稿 §1.4）。核心背离：新发放按揭利率 3.06%（2026Q2）连续四季走平、历史低位，而个人住房贷款余额自 2025-03 峰值 37.90 万亿元连降 8 个季度至 36.29 万亿元（2026-06，Wind EDB W1409719），累计 -1.61 万亿元（约 -4.2%）——利率降到历史低位而余额仍在降，周期性工具已经失效，只剩制度变量可用。同口径数据底座：商品房销售面积累计同比 -11.8%（2026-07，S0073300；2026-02 曾探 -13.5%，跌幅二次走阔）；70 城新宅价格当月同比 -3.4%（2026-07，S2707411；2025-10 最窄 -2.6% 后再度走阔）；开发投资累计同比 -19.2%（2026-07，S0029657；-17.2→-18.0→-19.2 持续探底）；二手住宅价格同比全国 -5.4%（2026-07，连续 5 个月收窄，年初 -6.3），北京 -8.7→-4.5 且销售面积 5 月转正——先行个案，个案≠全国、收窄≠转正。商业银行净息差约 1.5%（金监总局 2026Q2）；租金回报率约 2% 出头 vs 资金成本约 3%（测算口径）；土地出让金自 2021 年 8.7 万亿峰值接近腰斩（财政部口径）。背离的含义：旧引擎熄火，刺激的边际收益归零；旧通知集中废止，宣告「热了收紧、冷了放松」的补丁式监管谢幕。政策的函数变了：过去是 f(市场热度) 的周期调节，现在是 g(制度架构) 的恒定约束——g 管十年，周期工具管当下十二个月，并联才成立；这套文件只是金融子系统的总则，住房、土地、财税三翼尚未联动。观察清单（待补）：期房/现房占比基线、30 城二手成交量同比、白名单授信覆盖率、公积金贷款余额、收储专项债发行额、信托投向房地产余额等。见底稿 §1.4。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三性与三层支撑（见底稿 §1.5）。定义：Token＝一枚可验证、可计价、可流转的最小交付单元——像一张带防伪码的电子回执。三性：①可验证——证据链回写：谁在何时、基于哪个版本、什么证据、经谁审批、能否重放；②可计价——订阅/按次/按量，收费模式＝年费三包＋按次计费，按次适合低频高价值单次决策；③可流转——在银行审批链、监管检查链、国企审计链上被接受。三层支撑：标尺层——Token 的「锚」从标尺来，卖标尺不卖尺子量出的数：中房协「好房子」标准作价值锚、不动产 CAPM 定折现率、NOI/DSCR 现金流模型；指数体系（价格基期 2020-01/活跃基期 2024-01/子指数 7 项/信心暂缓对外/只给同环比）。工程层——harness＋垂类模型＋专用终端：token 用量少、缓存复用，单位成本随量收敛——幅度待灯塔实测、不承诺比例；路线 A（只使用 skill）是可被抄走的文档，路线 B（三层一体）是工程资产。信用层——四本账（事实/假设/方法/责任）＋同条件重放＋五问可答（谁做的/哪个版本/依据什么/谁批准/能否重放）。护城河四层：数据底座（入场券不是壁垒）→标准与共识（政策周期约 18-24 个月）→审计工程（四本账/五链/同条件重放）→过程壁垒「三不＝三卖」。先例：中行广州 Token 贷 2026-08 落地试单、授信 2800 万——授信额≠收入，不得混用。锚单实证（政研通 CLI 实测，2026-08-29）：指标目录接口透出结构化目录——analytics-v1.1、2026-07-11 更新、约 20+ 条指标，每条自带 tier（可计价分层）/confidence（置信度）/level（城·区·商圈·小区四级贯通）/status=confirmed；三个硬证据：贝壳官方房价/租金指数（重复交易法·基期 2018-11=100，直接入库不重算）、去化周期（研究院直接交付，冷热分档 &lt;6/6-12/12-24/&gt;24 个月）、带看转化率（=成交÷带看，需两源交叉，单一数据商造不出）；目录自身纪律：租赁类指数 confidence 标注「低」——敢把低置信度印在目录上，正是可审计性卖点的实物证明。与新政三重关系：需求发生器、合法性授予者、时间窗定义者。见底稿 §1.5。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客户一·中央部委（金句章名：从「景气描述」到「执行核验」；见底稿 §二）。角色对照补第三行（超容量入 notes）：数据来源——旧为地方报送为主、口径不一、更新滞后；新为 34 条全口径统计＋严防数据造假，需「交易事实」交叉核验「申报口径」。推论全量：①「政策出台后发生了什么」从问答题变必答题，三个时间锚钉在日历上——2026Q4 白名单覆盖率、2027H1 按揭余额止跌（无周期工具并联概率约 55-60%，研判推断）、2027-03 信托切换；每条都需要可复现底稿，而统计局的 70 城只有指数、没有底稿。②34 条口径需要交叉核验源：主办行数据不强制共享（失灵③），部委更需要独立事实源——贝壳全链路（挂牌/带看/成交/租赁）是「流通事实」独家底座，对比 70 城（月度、仅同环比）与住建网签（行政记录、无价格）。③「标准」的含金量升格（研判推断）：免费换三样（标准/共识/数据入口）的结构不变，但兑换率变了——若 34 条实施细则把平台数据列为补充来源，引用即采用，替换成本最高时点出现。④边界钉死：只描述已发生、不帮涨不帮降；政策效果复现限定为「已发生事实＋透明假设」的同条件重放，不做反事实承诺（防止被引用为政策评估结论）。机会与风险：机会＝执行追踪 Token（每锚/每指标一枚，含指标卡＋复现底稿，A1）——三锚指标卡与政策库映射跨客户缓存复用，边际成本随复用趋零；A2 好房子认证追踪（认证 vs 非认证去化对比底稿）、A3 全流通监测（期房占比基线，中位 45-55%，研判推断）。风险＝标准被架空：若 34 条把主办行数据定为法定来源，贝壳口径被跳过——不是被杀，是被绕开（→失灵③）；对冲＝免费投入设上限（≤ 总成本 20%），以「部委/协会采纳智见口径」的书面里程碑作继续投入闸门。条款依据补：新办法即行适用于新签合同（细则密集出台期＝窗口期）。见底稿 §二。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客户二·地方监管（金句章名：从「卖地给开发商」到「卖项目给资本」；见底稿 §三）。角色对照第三行（超容量入 notes）：城更项目库——旧无对应物；新＝新的招商产品手册，项目库入库与经营性收入核验（B2，失灵②最危险处：把财政性收入化妆成经营性收入，城更通道就变成新的隐性债务入口——入库测算与核验底稿（小区级租金/出租率/空置做事实底座）是标准卡位，也是与「窗口指导式定价」最大的区分度）。条款依据全量：开发贷 26 条（白名单直报城市融资协调机制——条文固化而非首创）·城更办法 7/11 条（经营性收入足额覆盖本息）、8 条（禁净地供应前征收补偿）、9 条（大额银团）、13 条（禁隐性增信）·个贷 10 条（50%/60% 硬红线）。推论与数据：①白名单守门需要核验工具（B1）：2026Q4 白名单覆盖率是失灵①的第一检验——辖区项目真实性核验（直报 vs 事实）、去化/进度/资金风险监测，输出差异报告，领导直问四段式（结论—依据—口径—待补数据，白名单 300 人）。②收储枢纽需要全省台账（B3）：收储价格 vs 市场公允价差异监测（沿用左海口径：历史指数修正中性定价，单套低约 10%）、贴息资金使用追踪、REITs 分派率预演——收储贴息并联后按揭止跌概率上修至 70% 以上（研判推断），放量前备好仪表盘。③边界钉死：大屏只做白标标准件（成都样板「一城一建、项目制」无规模复制），不做低毛利定制；舆情过审后再对外，平台不做「风险裁判」。机会与风险：机会＝核验 Token（每白名单项目一枚，含申报 vs 事实对照底稿，B1）——进入协调机制会议材料即 Token 的「流转」实现；B2 入库核验 Token（与 K3 共用测算内核，一次铸造、监管与城投双侧流转）、B3 收储进度 Token、B4 政策 Token（公积金组合贷计入方式未定处标注待答，不编结论）。风险＝不产生收入（天花板低，非现金标准入口）（→失灵③：数据授权受阻则小区级价格独有性消失）；对冲＝白标＋公开数据组合降低授权依赖，底座复用控投入；收入锚定后续国企收储与银行风险两个灯塔。见底稿 §三。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客户三·金融机构（金句章名：从「资金贩子」到「责任承包商」；金句中「36 万亿」＝36.29 万亿元的约数表述，正文口径一律 36.29；见底稿 §四）。角色对照补两行（超容量入 notes）：审什么——旧审集团财报、抵押物估值；新审工程进度、资金流向（放款进度＝实物进度）。收入——旧收利差；新责任无限、收益只有利差，惜贷是理性。条款依据全量：个贷 25 条（押品每年重估、不得以再评估净值追加贷款）、19 条（孰低原则）、23 条（名单制＋追偿＋风控核心事项银行独立开展——最硬的一刀）、22 条（放款后置到竣工备案）·开发贷 15/16 条（放款=实物进度/回款先还本项目贷款）、21 条（第三方工程核验外采接口）、13/14 条（「好房子」优先）·《意见》12 条（重大事项事先告知主办行）、34 条（全口径统计）·评估机构 59-60 条（名单制＋违规通报）。推论与数据：①最大的增量在存量重估（F1，S 级）：36.29 万亿元存量按揭（2026-06，W1409719）对应海量押品笔数，年度重估是强制、常年滚动的合规动作——订阅制、抗惜贷（惜贷压缩新增投放，但存量贷后需求放大），与「银行年费 1000 万起/3000 万锚」（目标假设，2026-08-10 董事长会议定调、非对外承诺）直接同构，是千万级合同的主支撑路径；产品＝年度重估批量化引擎（重估 Token：每押品一枚，含数据/方法/假设三分归因底稿＋贷后复核底稿），批量调值＋同城押品共用证据层，单位成本随批量收敛（「随量收敛」最典型的兑现处）；先例：中行 Token 贷 2800 万授信（授信≠收入）。②结论类输出被 23 条关死（F6 批判）：一切「结论/决策类」外部输出进不了门——「做底稿不做签章」不是商业谦让，是制度逼出来的唯一活路，宣传口径必须钉在「数据、底稿、监测信号」上。③准入周期 12-18 个月是硬约束（估算口径）：名单制准入（59-60 条）有门槛与时间成本——收入兑现节奏按 12-18 个月计，2026Q4-2027H1 先做试点行闭环演示＋书面评估意见；错过窗口则头部行自建 AVM 内部化、门被关上——对冲＝主攻中小行/城商行段落，大行卖数据层不卖结论层。④其余四卡是顺周期期权：F2 项目级去化/回款核验（2026Q4 看投放，惜贷空转则顺延）、F3 风险定价参照（2027 年开发贷利差分项目评级是否可观察分层——科斯式起点检验信号：风险有主、部分有价、暂不可易）、F4 并购尽调（依赖失灵③解除，2027H1 后）、F5 城更/商地现金流核验（租金回报率约 2% vs 资金成本约 3% 不修复则菜单空转，测算口径）。⑤边界钉死：只做市场侧去化核验，不做工程核验（21 条接口是造价咨询/监理的）；「帮银行做风控」的话术一律禁用；净息差约 1.5%（金监总局 2026Q2）下存量降 50bp 息差静态 -4bp、对冲后 -1~-2bp（估算口径）。机会与风险：机会＝重估 Token（旗舰）＋去化核验/定价参照/尽调前筛/租金核验 Token（F1-F5，后四卡打包进机构基础包，40/50 城分层口径）。风险＝23 条从严解释（重估被归入「风控核心」→S 卡收缩为数据层供应商，年费量级降一个数量级，估算口径）（→失灵①/③）；对冲＝H1-1 假设检验（首批重估外部供应商占比），数据只作底稿输入、API 与私有化双形态。见底稿 §四。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客户四·保租房国企/城投（金句章名：从「杠杆放大器」到「存量资产运营商」；见底稿 §五）。角色对照第三行（超容量入 notes）：现金管道——旧为一级开发垫资＋托底拿地；新为保租房/城市更新/持有型物业三跑道。条款依据全量：城更办法 7/11 条（借款人须为「市场化运营主体」且经营性收入足额覆盖本息——生死线）、9 条（大额项目银团）、13 条（禁隐性增信）·《意见》5 条（缴地价贷款全链条禁止）·保租房闭环全链条（保障房开发贷保本微利→团购房贷 ≤30 年/评估值 80%→租赁经营贷→REITs 退出）。推论与数据：①收储定价与 DSCR 测算底稿（K1，S 级）：团购房贷批量收房以「评估值 80%」为锚、租金覆盖本息为前提——定价 Token（每收储批次一枚，含 DSCR 基准/压力双情景底稿＋审批快照）；左海模式（历史指数修正中性定价，单套低约 10%、帮买方省数千万、续约复购——已签约口径）扩展为批量＝组合定价＋批量压测，批量收房时单位成本按套收敛；窗口 2026Q4-2027H1 城投转型融资需求最集中（收储贴息并联后止跌概率上修至 70% 以上，研判推断）。②全闭环现金流底稿机（K2）：从收房价到退出分派率一张表走到底——任何一环节单独估值都过不了审计；分派率倒推定价把「约 2% vs 约 3%」（测算口径）闸门算到项目层面；保租租金与出租率假设是最大变量，也是 D 层数据缺口红利（待补）。③城更项目库测算书（K3）：经营性收入足额覆盖本息是入场券，每项目一本审计级测算书直接对接银团贷审——与 B2 同源同口径，一次铸造、政府与城投双侧流转；12 个月验证锚＝测算口径被 1-2 个省引用。④四本账＝资格自证文件（K5）：财政性收入 vs 经营性收入的区分证据链——这条需求不是客户自发的，是失灵②倒逼的，谁先立标准谁吃红利；责任账永远记在客户名下（「在任不出事、离任查得清」）。⑤边界钉死：帮客户过合规关、不是帮注水——财政性收入不得计入经营性收入、DSCR 压力情景对齐监管惯例；按收储额定价优化分成为目标假设，不写承诺。机会与风险：机会＝定价 Token（旗舰之二）＋全链估值/测算书/盘活/合规 Token（K1-K5）；变现＝单项目咨询（左海模式，贵州/辽宁复制路径）为近期现金牛，年费订阅为中期主形态。风险＝收储贴息节奏是命门（不落地则 1000+ 收储主体不动，止跌概率回 55-60% 档）（→失灵②注水：收储滑向「接盘」，工作台从中性定价工具变共谋工具，左海口碑全毁）；对冲＝订单跟政策日历走，落地前以标准口径建设与左海复购维持；事实账防注水是产品红线。见底稿 §五。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客户五·开发商（金句章名：从「买家」到「被分析对象」；见底稿 §六）。角色对照补两行（超容量入 notes）：项目——旧为集团资金池（信息混同）；新为封闭水池（项目单独建账、资金不得混同、不得划拨集团/关联方）。土储——旧为融资工具；新为纯成本项（「以地融资」通道全断，历史高价地存货减值先于新项目竞争出现）。条款依据全量：开发贷 13 条（项目单独建账/不得混同/不得缴地价分红）、4 条（集团风险与项目风险分开评估）·《意见》5 条（全链条禁缴土地出让金贷款）·证监会文件 6/8/9 条（基于项目＋募集资金穿透式专户监管＋零容忍）·开发贷 13/14 条（「好房子」优先支持）。推论与数据：①并购重组是真主角（D1）：项目封闭账户＝实时、真实、第三方托管的项目报表——尽调成本骤降、信息不对称骤减；谁把「项目级真实报表」最先转化为整合能力，谁定义出清后的行业结构；整合者（头部房企/建筑央企/AMC/外资特殊机会基金）需要先筛后尽调——项目画像 Token（每标的一枚，含区位供需/去化速度/价格趋势/竞品对照/拿地成本追溯），定位「第一层漏斗」，不替代主办行数据、不替代法定尽调；同一画像 Token 可流转多个潜在买方（买方付费、卖方引流）。②土储变包袱（D2）：退地 vs 转让 vs 被收储——处置决策底稿（历史拿地成本×当前市场价×时间成本×路径比较），对接主 A 收储工作台八步闭环；主场景是收储方付费，开发商侧仅作争议调解的底稿化，不设收入预期。③「好房子」第一次有了信贷价格（D3）：开发贷 13/14 条把品质供给与利率、额度分层挂钩——谁认证、什么标准、如何挂钩，是 2027 年最值得跟踪的执行点（研判推断）；品质 Token 付费方是银行与标准制定方。④项目化合规下的复盘从可选项变必选项（D4）：现房化把项目周期拉长 2-3 年（研判推断）——但开发商付费能力缩表（开发投资 -19.2%、销售 -11.8%，2026-07），定位 S 层标准化扩展、不设大合同预期。⑤边界钉死：不卖榜单/排名（与缩表赛跑）；不承诺结果、不做趋势性判断，只做条件化推演。机会与风险：机会＝项目画像 Token（D1，借道客户三/四合同与复购）＋处置决策 Token（D2，随主 A 打包）＋品质 Token（D3）＋复盘 Token（D4，轻订阅）。风险＝付费方在出清——开发商自身订阅预算最先被砍（→失灵①惜贷：主办行不投放，开发商现金流持续恶化）；对冲＝D1-D4 全部挂靠客户三/四的合同与复购，开发商侧不设收入目标；规则比规模更重要。见底稿 §六。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客户六·C 端个人（金句章名：从「影子出资人」到「受保护的消费者」；见底稿 §七）。角色对照补一行（超容量入 notes）：救济——旧无；新有利率置换（24 条）、失收展期（26 条）。条款依据全量：个贷 10 条（月供收入比 ≤50%、全债务支出比 ≤60% 硬红线）、13 条（期限最长 40 年）、20 条（带押过户）、22 条（放款后置到竣工备案）、24 条（存量利率置换）·37 条（新老划断：存量期房「滞留乘客」交付风险不变甚至恶化）·第十三章（公积金缺席：组合贷如何计入红线——最大待答问题，细则未出）。推论与数据：①红线合规可贷能力测算（C1）：购房者第一次需要精确测算「我能贷多少」——银行将第一次依法「保护性拒贷」，被拒一次就是记录＋时间损失；40 年期限月供 -15%、总利息 +39%、同等月供能力本金上限 +17.5%（测算口径：100 万/3.06%/等额本息）；可贷能力 Token（每测算一枚，含合规边界底稿）——C 端免费（引流），银行侧预审按调用计费；公积金计入方式未定处明确标注、不编结论。②置换决策沙盘（C2）：带押过户单笔省约 4.5 万元、省 15-30 天（测算口径）；摩擦下降理论上提升均衡换手率 10-20%（必要不充分条件，研判推断）；沙盘必须内置「卖亏」情景——量的修复不等于价转正（收窄≠转正：全国 -5.4% 仍深度负增长；个案≠全国：北京 -8.7→-4.5 是先行个案），诚实的工具才能建立信任。③交付风险提示（C3）＋滞留乘客监测（C4）：只做「提示」不做「评级」（专户流水在主办行）；C4 服务被制度遗忘的存量，纯公益/信任资产，不以 ROI 立项。④三件套替代远期 Agent 叙事（C5 远期）：三件套是政策直接开票的三个 C 端需求，12 个月内可落地；个人不动产研究 Agent 是收敛形态，工具期 1-2 年后评估、不抢跑。⑤边界钉死：不输出必须买/必然涨；不编独立收费（全部走引流/生态内嵌/银行侧合规获客）；经纪人赋权——工具同步进经纪人工作台（中小代理是第十二章被忽略者之二，赋权与引流一体两面）。机会与风险：机会＝可贷能力 Token（C1，银行侧计价）＋置换决策 Token（C2，转化价值）＋交付提示 Token（C3，信任资产）＋交付监测 Token（C4，公益）＋研究 Token（C5，远期）。风险＝观望期拉长（L 型磨底 2-3 年，研判推断）＋红线一体两面（越线即触发监管）（→失灵①惜贷/基本面）；对冲＝C 端价值不在当期收入，在数据入口＋口碑＋信任，信任换转化。见底稿 §七。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优先级收口（见底稿 §8.6）。传导时序三锚：2026Q4 看白名单覆盖率与主办行投放（检验惜贷）；2027H1 看按揭余额能否止跌——无周期工具并联止跌概率约 55-60%，收储贴息（约 3 万亿、100-200 万套，测算口径）落地并联后上修至 70% 以上；2027-03 看信托新旧切换，警惕过渡期抢跑。优先级收口：两台发动机，其余全是期权——资源只给 F1（押品年度重估，36.29 万亿×每年重估＝订阅现金流）与 K1（收储定价与 DSCR，约 3 万亿贴息×1000+ 收储主体）；期权队列 24 卡只报名号——A1-A3、B1-B4、F2-F5、K2-K5、D1-D4、C1-C5（B1 是两灯塔的政府侧入口，例外地排入 90 天）。Token 化成熟度四档：已试点 1 / 可铸造 14 / 需工程 9 / 远期 2（即 1/14/9/2）——先铸标准件，再谈放量。90 天（2026Q4）8 项：F1 重估引擎 MVP（1 家试点行闭环演示）；K1 批量压测＋D 层补数据；B1 白名单监测 1-2 城试点（北京/南京优先）；A1 政策日历＋三锚指标卡上线；C1 红线测算器 MVP；C2 置换沙盘 MVP；D1 画像卡数据包与整合者访谈；Token 铸造规范 v0.1 发布。12 个月（至 2027Q3）8 项：F1 首单年度合同（对照 1000 万起/3000 万锚，目标假设）；K1 收储工作台年费放量＋监测模块试点省上线；B1 差异报告进入协调机制会议材料；A 线部委工作流引用＋期房占比基线；F2/F3 打包机构基础包；D1 并购前筛被采用 1-2 例；C1 银行预审参考采用；B2/K3 测算口径被 1-2 个省引用。60 天与本周：60 天＝两台发动机各转出第一枚可演示的 Token（F1 试点行「重估闭环演示＋书面评估意见」、K1 批量压测＋左海续约复购推进）；本周三件事——锁定 1 家试点银行＋1 个收储项目的演示范围、把 Token 铸造规范 v0.1（三性定义＋五问模板＋三不禁区）发全体交付团队、B1 白名单监测模块选定北京/南京首城。不做什么收口：三不＝三卖，不铸三种坏 Token——不做不可审计的 Token（无证据链不做）、不做越权的 Token（签章/定价决策类不做）、不做预测型 Token（趋势承诺不做）。最大不确定性：监管自身的执行是终局变量——若 2027 年下行压力超预期，新老划断弹性化、白名单扩容、利率窗口指导都可能让旧模式借壳回归；短期回暖不急于加大供地，短期下行不重启总量刺激。见底稿 §8.6。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可证伪预言与失灵变量排序（见底稿 §8.4-8.5）。可证伪预言表（研判推断，区间＋中位）：①期房销售占比三年内降至三成以下——中位约 45-55%；可证伪观察点＝新增预售证「封顶/竣工后取证」占比（主锚）、期房价差收窄至 5% 以内（辅锚）；必须归因分解——防总量萎缩的分母假象与「赶末班车」扭曲；时间窗 2027 年基线、三年内验证。②主办银行制催生项目信贷二级市场——中位约 50%，分歧最大；观察点＝开发贷 ABS 与信贷资产流转成交额、「转让后主办行责任移转」细则——责任不随份额移转，则二级市场只在银团内部打转；2027H1 后。③出现 3-5 家 F+EPC+O 千亿级运营商——中位约 30%，最脆弱；观察点＝央企新签 F+EPC 类合同占比、央企-城投合资项目公司数（先行信号）；千亿级按管理规模/合同额计；长期，最弱。风险产权（科斯式起点）背景：交付风险归房企（工程能力=融资资格）、项目信用风险归主办银行（利差与拨备；银团可分散、不可转嫁）、市场风险归购房人与投资者（选择自负）、流动性风险归资本市场（RMBS/CMBS/REITs 的折价就是价格）——风险产权不可转让、没有独立定价市场，检验信号＝开发贷利差是否出现分项目评级的可观察分层（2027 年观察项）。失灵变量排序（按风险权重，定性排序不编权重）：①银行惜贷（启动器）——净息差约 1.5% 之下少做是理性，主办行不投放则放款时点、进度匹配全部空转；第一检验＝2026Q4 白名单覆盖率、开发投资 -19.2% 斜率能否在 2027 年收窄至 -10% 以内。②项目现金流注水（最危险）——把财政性收入化妆成经营性收入，城更通道变成新的隐性债务入口；不是失灵，是反向利用，且直接污染风险定价的信息底座。③知情权二次垄断/数据断供（全局杀手）——「银行→市场」无强制共享条款、银行有独占激励；断供则并购尽调、评估基建、REITs 核验三处推论同时落空；盲购，通道再宽没人敢走。④评估核验被俘获（可对冲）——名单制、追索、头部化在降低概率；孰低原则降低对单一结论的依赖。⑤并购通道容量不足（可调节）——法拍、AMC 受让、信托合作处置都是替代通道；防交互风险：惜贷×通道不足=出清停滞。见底稿 §8.2、§8.4、§8.5。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来源披露与免责（见底稿 §十）。逐通道状态：Wind CLI（主定量源）——已透出数值，本轮采用；中国人民银行、国家统计局数据（月度截至 2026-07、季度截至 2026Q2）；指标代码：W1409719（按揭余额）、M0058005/X1390479（按揭利率）、S0073300（销售面积）、S0029657（开发投资）、S2707411（新宅价格）、S2707425/S0147146（二手价格/北京）。政研通 zyt（趋势性/补充源）——catalog 接口已透出结构化指标目录（analytics-v1.1、2026-07-11、audience=gov、约 20+ 条，tier/confidence/level/status 齐备）——仅作标尺层实证引用；timeseries 接口调用成功但返回空序列（dataView=internal）——时序数值未透出，标注待补；本稿未使用任何 zyt 数值、未编造。beike 通道——未配置，未引用。四级标注说明：测算（模型算，给参数）/估算（量级推断）/研判推断（分析性判断）/待补（观察清单项）；正文每个非引用数字均落此四档；未核实项（单行重估工作量、重估市场单价、公积金组合贷计入方式、保租出租率覆盖城市数、token 节省幅度）如实标注待补，不编造。条款来源：1+N 文件群原文，条号以正文为准（《意见》34/5/12 条；开发贷 13-16/21/26/57 条；个贷 10/13/19-25/37 条；商地 13/36 条；城更 7/8/9/11/13 条；信托 2027-03-01 施行；证监会文件 6/8/9 条；评估机构 59-60 条）。案例口径：左海案例（已签约、单套低约 10%、续约复购）、中行 Token 贷（授信 2800 万、授信额≠收入）、萧山环投（在谈）、江苏银行复制谈判（沿用现口径）。免责：行业研究，不构成投资建议；测算/估算/研判推断非官方统计。见底稿 §十。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收尾（ending 页，无组件——工具规范：boundary 页只渲染标题区）。收束金句（可脱离上下文传播）：每次制度开票，都是一次 Token 的铸造——1+N 把靠关系解决的问题变成靠数据、核验、审计解决的问题，谁定标尺、谁造流水线、谁先被审批链接受，谁就拿走未来十年不动产定价权的入口。成败不在条文，在未来十二个月每个签字者的选择。行动主轴：两台发动机（F1 押品年度重估 36.29 万亿×每年重估＝订阅现金流；K1 收储定价与 DSCR 约 3 万亿贴息×1000+ 收储主体），60 天内各转出第一枚可演示的 Token；2026Q4 先签先赢——白名单覆盖率公布即失灵①第一检验，直报核验的「标准卡位窗」关闭前把 B1 白名单监测落进北京/南京首城；首单银行年度合同在准入周期 12-18 个月（估算口径）约束下于 2026Q4-2027H1 启动。三重再分配闭环：知情权、控制权、责任的每一次再分配都是一张制度发票，每一张发票都对应一种 Token。最大不确定性：监管自身的执行是终局变量——若 2027 年下行压力超预期，新老划断弹性化、白名单扩容、利率窗口指导都可能让旧模式借壳回归；两份定力（短期回暖不急于加大供地、短期下行不重启总量刺激）是一枚硬币的两面。落款：98wiki ｜ 智见 / 机会扫描 · 工艺版 v4 · 2026-08-29；免责：行业研究，不构成投资建议；测算/估算/研判推断非官方统计。见底稿 §八、§十。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F2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F1F7F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F1F6F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F0F6F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EFF5F3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EFF5F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EEF5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ED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EDF4F1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ECF3F1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BF3F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EBF3F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EAF2EF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EAF2EF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E9F2E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E8F1EE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E7F0ED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E6F0EC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E6F0EC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E5EFEB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E4E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E4EEEA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E3EEEA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0E6A55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" y="2803208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新政下智见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09600" y="3460433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的机会</a:t>
            </a:r>
            <a:endParaRPr lang="en-US" sz="4800" dirty="0"/>
          </a:p>
        </p:txBody>
      </p:sp>
      <p:sp>
        <p:nvSpPr>
          <p:cNvPr id="30" name="Shape 28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A9741F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· 行业研究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134600" y="990600"/>
            <a:ext cx="114300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0E6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0200" y="1087755"/>
            <a:ext cx="2971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5486400" y="2057400"/>
            <a:ext cx="6705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 新政下的机会坐标 · 工艺版 v4 ｜「每次制度开票，都是一次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86400" y="2286000"/>
            <a:ext cx="6705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的铸造」｜36.29 万亿存量按揭 · 26 卡（S 级 2 张）· 准入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0" y="2514600"/>
            <a:ext cx="6705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12-18 个月（估算）· 2026Q4 白名单第一检验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0" y="3124200"/>
            <a:ext cx="5791200" cy="0"/>
          </a:xfrm>
          <a:prstGeom prst="line">
            <a:avLst/>
          </a:prstGeom>
          <a:noFill/>
          <a:ln w="13335">
            <a:solidFill>
              <a:srgbClr val="D3E1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398520"/>
            <a:ext cx="6705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 · 机会扫描 · 工艺版</a:t>
            </a:r>
            <a:pPr algn="l" indent="0" marL="0">
              <a:buNone/>
            </a:pPr>
            <a:r>
              <a:rPr lang="en-US" sz="14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2026-08-29</a:t>
            </a:r>
            <a:pPr algn="l" indent="0" marL="0">
              <a:buNone/>
            </a:pPr>
            <a:r>
              <a:rPr lang="en-US" sz="14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v4 工艺版</a:t>
            </a:r>
            <a:endParaRPr lang="en-US" sz="142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E6A5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卷首速览：六主体一页读完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24050" y="2462403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66962" y="2462403"/>
            <a:ext cx="1053478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93650" y="2462403"/>
            <a:ext cx="76081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809750" y="2751963"/>
            <a:ext cx="8572500" cy="0"/>
          </a:xfrm>
          <a:prstGeom prst="line">
            <a:avLst/>
          </a:prstGeom>
          <a:noFill/>
          <a:ln w="19050">
            <a:solidFill>
              <a:srgbClr val="143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9750" y="3171063"/>
            <a:ext cx="85725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9750" y="3590163"/>
            <a:ext cx="85725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09750" y="4009263"/>
            <a:ext cx="85725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09750" y="4428363"/>
            <a:ext cx="85725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09750" y="4847463"/>
            <a:ext cx="85725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09750" y="5266563"/>
            <a:ext cx="85725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4050" y="28967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中央部委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66962" y="2896743"/>
            <a:ext cx="105347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景气监测→执行核验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93650" y="2896743"/>
            <a:ext cx="760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《意见》34 条；免费 ≤20%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4050" y="33158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地方监管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66962" y="3315843"/>
            <a:ext cx="105347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守门人要免责底稿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93650" y="3315843"/>
            <a:ext cx="760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 白名单覆盖率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4050" y="37349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66962" y="3734943"/>
            <a:ext cx="105347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存量合规账单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93650" y="3734943"/>
            <a:ext cx="760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 万亿年度重估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4050" y="41540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国企/城投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66962" y="4154043"/>
            <a:ext cx="105347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覆盖本息＝生死线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93650" y="4154043"/>
            <a:ext cx="760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贴息约 3 万亿（测算）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4050" y="45731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66962" y="4573143"/>
            <a:ext cx="105347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买家→被分析对象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93650" y="4573143"/>
            <a:ext cx="760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 -19.2%、销售 -11.8%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924050" y="49922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端个人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66962" y="4992243"/>
            <a:ext cx="105347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选择风险制度化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93650" y="4992243"/>
            <a:ext cx="760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 50%/60%；+17.5%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09750" y="5365623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口径详见第 6-11 页与底稿卷首速览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核心判断：①1+N 换掉估值函数 ②两台发动机，其余全是期权 ③可审计性＝唯一护城河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3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一个必然：估值函数更换，必有定价权再分配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33400" y="16078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A97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23900" y="2087880"/>
            <a:ext cx="120015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 不是一轮政策波动，是中国不动产的「估值函数更换」——定价权再分配，从不等任何人。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23900" y="2486025"/>
            <a:ext cx="1200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总论 · 一个必然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82724" y="3177540"/>
            <a:ext cx="1074267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旧模式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77812" y="3177540"/>
            <a:ext cx="584758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新模式（1+N 之后）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3400" y="3467100"/>
            <a:ext cx="11125200" cy="0"/>
          </a:xfrm>
          <a:prstGeom prst="line">
            <a:avLst/>
          </a:prstGeom>
          <a:noFill/>
          <a:ln w="19050">
            <a:solidFill>
              <a:srgbClr val="143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" y="3886200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3400" y="4305300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400" y="4724400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700" y="3611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82724" y="3611880"/>
            <a:ext cx="107426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项目信息混在集团资金池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77812" y="3611880"/>
            <a:ext cx="58475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信息流向项目托管人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700" y="40309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82724" y="4030980"/>
            <a:ext cx="107426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资金跟老板走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77812" y="4030980"/>
            <a:ext cx="58475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钱跟项目走，控制权上收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700" y="4450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82724" y="4450080"/>
            <a:ext cx="107426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事后救火，写进预案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7812" y="4450080"/>
            <a:ext cx="58475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事前签字，写进岗位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3400" y="4876800"/>
            <a:ext cx="11125200" cy="600075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/>
        </p:spPr>
      </p:sp>
      <p:sp>
        <p:nvSpPr>
          <p:cNvPr id="24" name="Shape 22"/>
          <p:cNvSpPr/>
          <p:nvPr/>
        </p:nvSpPr>
        <p:spPr>
          <a:xfrm>
            <a:off x="533400" y="4905375"/>
            <a:ext cx="11125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482" y="511957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" y="516731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000" y="523081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2500" y="50958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铸造权是窗口资产：开票后 12-24 个月定型——官方标定/竞品接走/银行自建，都不需要智见在场（错过即出局）。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论据链：34 条全口径统计交叉核验｜个贷 25 条 36.29 万亿按揭每年重估｜开发贷 26 条白名单直报｜城更 7/11 条覆盖本息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0E6A55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E6A55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为什么是现在：利率走平，余额连降 8 个季度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533525"/>
            <a:ext cx="2476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1781175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3.06%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04900" y="2333625"/>
            <a:ext cx="1200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新发放利率四季走平（2026Q2）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104900" y="2535555"/>
            <a:ext cx="12001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 EDB M0058005/X1390479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3543300" y="1533525"/>
            <a:ext cx="2476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3800" y="1804035"/>
            <a:ext cx="9372600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</a:t>
            </a:r>
            <a:pPr algn="l" indent="0" marL="0">
              <a:buNone/>
            </a:pPr>
            <a:r>
              <a:rPr lang="en-US" sz="1275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万亿元</a:t>
            </a:r>
            <a:endParaRPr lang="en-US" sz="2775" dirty="0"/>
          </a:p>
        </p:txBody>
      </p:sp>
      <p:sp>
        <p:nvSpPr>
          <p:cNvPr id="14" name="Text 12"/>
          <p:cNvSpPr/>
          <p:nvPr/>
        </p:nvSpPr>
        <p:spPr>
          <a:xfrm>
            <a:off x="914400" y="1724025"/>
            <a:ext cx="4914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33800" y="2348865"/>
            <a:ext cx="9372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按揭余额，自峰值 37.90 连降 8 季度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733800" y="2535555"/>
            <a:ext cx="9372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W1409719（2026-06）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6172200" y="1533525"/>
            <a:ext cx="2476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2700" y="1781175"/>
            <a:ext cx="6743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-11.8%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4400" y="1724025"/>
            <a:ext cx="7543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62700" y="2348865"/>
            <a:ext cx="6743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商品房销售面积累计同比（2026-07）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362700" y="2535555"/>
            <a:ext cx="67437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 EDB S0073300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8801100" y="1533525"/>
            <a:ext cx="2476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91600" y="1781175"/>
            <a:ext cx="4114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-19.2%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4400" y="1724025"/>
            <a:ext cx="1017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91600" y="2333625"/>
            <a:ext cx="4114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开发投资累计同比（2026-07）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991600" y="2535555"/>
            <a:ext cx="41148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 EDB S0029657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914400" y="3467100"/>
            <a:ext cx="10363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0575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旧引擎熄火：利率走平而余额连降，累计 -1.61 万亿（约 -4.2%）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" y="4095750"/>
            <a:ext cx="10363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6861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政策函数变了：从 f(市场热度) 的周期调节，到 g(制度架构) 的恒定约束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14400" y="4724400"/>
            <a:ext cx="10363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3148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管十年，周期工具管当下十二个月——并联才成立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49434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旧通知集中废止，补丁式监管谢幕；住房、土地、财税三翼尚未联动（边界）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 城新宅 -3.4%、二手 -5.4%（2026-07，连续 5 个月收窄）；净息差约 1.5%（金监总局 2026Q2）｜Wind EDB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三性：可验证、可计价、可流转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914400" y="18402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三性——一枚可验证、可计价、可流转的最小交付单元（带防伪码的电子回执）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038350"/>
            <a:ext cx="1450086" cy="247650"/>
          </a:xfrm>
          <a:prstGeom prst="roundRect">
            <a:avLst>
              <a:gd name="adj" fmla="val 50000"/>
            </a:avLst>
          </a:prstGeom>
          <a:solidFill>
            <a:srgbClr val="A9741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93595"/>
            <a:ext cx="145008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 · 证据链回写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40686" y="2038350"/>
            <a:ext cx="1706118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0686" y="2093595"/>
            <a:ext cx="170611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可计价 · 订阅/按次/按量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23004" y="2038350"/>
            <a:ext cx="1450086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3004" y="2093595"/>
            <a:ext cx="145008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可流转 · 三链被接受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438400"/>
            <a:ext cx="8382000" cy="685800"/>
          </a:xfrm>
          <a:prstGeom prst="roundRect">
            <a:avLst>
              <a:gd name="adj" fmla="val 8333"/>
            </a:avLst>
          </a:prstGeom>
          <a:solidFill>
            <a:srgbClr val="E8F0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2724150"/>
            <a:ext cx="1203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标尺层——锚从标尺来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628900" y="2735580"/>
            <a:ext cx="10477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卖标尺，不卖尺子量出的数 · 「好房子」标准 × 不动产 CAPM × NOI/DSCR 现金流模型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238500"/>
            <a:ext cx="8382000" cy="685800"/>
          </a:xfrm>
          <a:prstGeom prst="roundRect">
            <a:avLst>
              <a:gd name="adj" fmla="val 8333"/>
            </a:avLst>
          </a:prstGeom>
          <a:solidFill>
            <a:srgbClr val="E8F0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3509010"/>
            <a:ext cx="12039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工程层——成本曲线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2628900" y="3550920"/>
            <a:ext cx="10477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harness＋垂类模型＋专用终端，路线 B＝工程资产 · 单位成本随量收敛——幅度待灯塔实测，不承诺比例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4038600"/>
            <a:ext cx="8382000" cy="685800"/>
          </a:xfrm>
          <a:prstGeom prst="roundRect">
            <a:avLst>
              <a:gd name="adj" fmla="val 8333"/>
            </a:avLst>
          </a:prstGeom>
          <a:solidFill>
            <a:srgbClr val="E8F0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4331970"/>
            <a:ext cx="12039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信用层——被接受的原因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28900" y="4335780"/>
            <a:ext cx="10477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四本账＋同条件重放＋五问可答 · 信任从关系资产变成可审计资产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876800"/>
            <a:ext cx="8382000" cy="600075"/>
          </a:xfrm>
          <a:prstGeom prst="roundRect">
            <a:avLst>
              <a:gd name="adj" fmla="val 9524"/>
            </a:avLst>
          </a:prstGeom>
          <a:solidFill>
            <a:srgbClr val="0E6A55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905375"/>
            <a:ext cx="8382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3625" y="5111750"/>
            <a:ext cx="158750" cy="158750"/>
          </a:xfrm>
          <a:prstGeom prst="ellipse">
            <a:avLst/>
          </a:prstGeom>
          <a:noFill/>
          <a:ln w="15875">
            <a:solidFill>
              <a:srgbClr val="0E6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5191125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0E6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5159375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0E6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33500" y="50958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先例：中行广州 Token 贷 2026-08 落地试单、授信 2800 万——授信额≠收入，不得混用。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锚单实证（政研通 CLI，2026-08-29）：贝壳官方指数直接入库 · 去化周期 · 带看转化率——敢把低置信度印在目录上（见底稿 §1.5）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0E6A55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600" dirty="0"/>
          </a:p>
        </p:txBody>
      </p:sp>
      <p:sp>
        <p:nvSpPr>
          <p:cNvPr id="30" name="Shape 28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829800" y="5638800"/>
            <a:ext cx="2362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· 行业研究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3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中央部委：从「景气描述」到「执行核验」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33400" y="16078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A97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23900" y="2087880"/>
            <a:ext cx="120015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免费的不是服务，是定价权的入场券——1+N 开给部委的，是知情权再分配的补票。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582517" y="2672715"/>
            <a:ext cx="1014288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旧角色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03265" y="2672715"/>
            <a:ext cx="48221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新角色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3400" y="2962275"/>
            <a:ext cx="11125200" cy="0"/>
          </a:xfrm>
          <a:prstGeom prst="line">
            <a:avLst/>
          </a:prstGeom>
          <a:noFill/>
          <a:ln w="19050">
            <a:solidFill>
              <a:srgbClr val="14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400" y="33813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" y="38004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31070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监测对象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82517" y="3107055"/>
            <a:ext cx="1014288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问涨跌快慢（景气描述）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03265" y="3107055"/>
            <a:ext cx="48221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按条文号追问执行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700" y="35261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口径地位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82517" y="3526155"/>
            <a:ext cx="1014288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参考口径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03265" y="3526155"/>
            <a:ext cx="48221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交叉核验源候选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9147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条款｜《意见》34 条：全口径统计＋交叉核验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400" y="42576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条款｜开发贷 13/14 条好房子优先；个贷 20/22/24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6005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推论｜三锚：2026Q4 白名单、2027H1 止跌 55-60%、2027-03 信托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3400" y="5076825"/>
            <a:ext cx="11125200" cy="600075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" y="5105400"/>
            <a:ext cx="11125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482" y="531960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5367338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5430838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52959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机会：执行追踪 Token 每锚一枚（A1）｜风险：标准被架空＝被绕开（→失灵③）；对冲：免费投入 ≤ 总成本 20%。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 城只有指数、没有底稿；机会卡 A1 执行追踪 / A2 好房子认证 / A3 全流通监测（见底稿 §二）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3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地方监管：从「卖地给开发商」到「卖项目给资本」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33400" y="16078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A97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23900" y="2087880"/>
            <a:ext cx="120015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守门人要的不是数据，是免责的底稿——「申报 vs 事实」的差异，第一次成为监管责任。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576875" y="2672715"/>
            <a:ext cx="1014852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旧角色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37280" y="2672715"/>
            <a:ext cx="66881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新角色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3400" y="2962275"/>
            <a:ext cx="11125200" cy="0"/>
          </a:xfrm>
          <a:prstGeom prst="line">
            <a:avLst/>
          </a:prstGeom>
          <a:noFill/>
          <a:ln w="19050">
            <a:solidFill>
              <a:srgbClr val="14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400" y="33813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" y="38004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31070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6875" y="3107055"/>
            <a:ext cx="101485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协调机制参与者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7280" y="3107055"/>
            <a:ext cx="6688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可问责守门人（26 条）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700" y="35261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收入/收储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76875" y="3526155"/>
            <a:ext cx="101485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土地出让金近腰斩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7280" y="3526155"/>
            <a:ext cx="6688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收储枢纽（约 3 万亿，测算）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9147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条款｜开发贷 26 条：白名单直报，条文固化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400" y="42576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条款｜城更 7/11 条覆盖本息；个贷 10 条红线 50%/60%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6005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推论｜2026Q4 白名单覆盖率＝失灵①第一检验（直问 300 人）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3400" y="5076825"/>
            <a:ext cx="11125200" cy="600075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" y="5105400"/>
            <a:ext cx="11125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482" y="531960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5367338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5430838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52959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机会：核验 Token 进会议材料＝流转实现（B1）｜风险：不产生收入；数据授权受阻则小区级价格独有性消失（→失灵③）。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是两灯塔的政府侧入口；机会卡 B1 直报核验 / B2 项目库 / B3 收储监测 / B4 政策日历（白标，见底稿 §三）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3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金融机构：从「资金贩子」到「责任承包商」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33400" y="16078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A97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23900" y="2087880"/>
            <a:ext cx="120015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银行审的不再是财报，是工地——36 万亿的年度重估，是订阅制的天花板。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01842" y="2672715"/>
            <a:ext cx="112235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旧角色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99623" y="2672715"/>
            <a:ext cx="652577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新角色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3400" y="2962275"/>
            <a:ext cx="11125200" cy="0"/>
          </a:xfrm>
          <a:prstGeom prst="line">
            <a:avLst/>
          </a:prstGeom>
          <a:noFill/>
          <a:ln w="19050">
            <a:solidFill>
              <a:srgbClr val="14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400" y="33813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" y="38004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31070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1842" y="3107055"/>
            <a:ext cx="112235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授信时估一次，贷后不管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9623" y="3107055"/>
            <a:ext cx="652577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每年重估＋孰低（25/19 条）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700" y="35261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1842" y="3526155"/>
            <a:ext cx="112235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事后清收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23" y="3526155"/>
            <a:ext cx="652577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事前签字（57 条点名处罚）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9147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条款｜个贷 25 条每年重估；23 条风控核心独立开展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400" y="42576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条款｜开发贷 15/16 条：放款进度＝实物进度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6005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推论｜F1（S）：36.29 万亿×每年重估＝订阅需求（W1409719）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3400" y="5076825"/>
            <a:ext cx="11125200" cy="600075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" y="5105400"/>
            <a:ext cx="11125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482" y="531960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5367338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5430838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52959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机会：重估 Token＋F2-F5 基础包｜风险：23 条从严则年费降一档（估算）；准入 12-18 个月（估算）。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净息差约 1.5%（金监总局 2026Q2）下惜贷是理性——存量重估抗惜贷；年费 1000 万起/3000 万锚＝目标假设（见底稿 §四）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3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保租房国企/城投：从「放大器」到「存量运营商」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33400" y="16078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A97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23900" y="2087880"/>
            <a:ext cx="120015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谁把闭环算清，谁给闭环定价——城投缺的就是这本账。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59082" y="2672715"/>
            <a:ext cx="1106631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旧角色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93227" y="2672715"/>
            <a:ext cx="803217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新角色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3400" y="2962275"/>
            <a:ext cx="11125200" cy="0"/>
          </a:xfrm>
          <a:prstGeom prst="line">
            <a:avLst/>
          </a:prstGeom>
          <a:noFill/>
          <a:ln w="19050">
            <a:solidFill>
              <a:srgbClr val="14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400" y="33813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" y="38004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31070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59082" y="3107055"/>
            <a:ext cx="110663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政府隐性担保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3227" y="3107055"/>
            <a:ext cx="803217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资产收益率＝新信用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700" y="35261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59082" y="3526155"/>
            <a:ext cx="110663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杠杆放大器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3227" y="3526155"/>
            <a:ext cx="803217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存量运营商（应付款不可质押）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9147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条款｜城更 7/11 条生死线；9 条银团；13 条禁隐性增信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400" y="42576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条款｜《意见》5 条：缴地价贷款全链条禁止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6005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推论｜K1（S）：评估值 80% 为锚——左海单套低约 10%（已签约）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3400" y="5076825"/>
            <a:ext cx="11125200" cy="600075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" y="5105400"/>
            <a:ext cx="11125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482" y="531960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5367338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5430838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52959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机会：定价＋全链估值 Token（K1-K5）｜风险：贴息不落地则 1000+ 主体不动；接盘＝共谋（→失灵②）。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 2026Q4-2027H1；贴息并联后止跌概率上修至 70% 以上（研判推断，见底稿 §五）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3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开发商：从「买家」到「被分析对象」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33400" y="16078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A97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23900" y="2087880"/>
            <a:ext cx="120015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不赚开发商的钱，赚围绕开发商交易的钱——开发商是数据标的物，不是付费方。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427732" y="2672715"/>
            <a:ext cx="1029766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旧角色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32804" y="2672715"/>
            <a:ext cx="629259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新角色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3400" y="2962275"/>
            <a:ext cx="11125200" cy="0"/>
          </a:xfrm>
          <a:prstGeom prst="line">
            <a:avLst/>
          </a:prstGeom>
          <a:noFill/>
          <a:ln w="19050">
            <a:solidFill>
              <a:srgbClr val="14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400" y="33813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" y="38004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31070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7732" y="3107055"/>
            <a:ext cx="10297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融资驱动，借新还旧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2804" y="3107055"/>
            <a:ext cx="62925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经营驱动，回款还贷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700" y="35261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付费地位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7732" y="3526155"/>
            <a:ext cx="10297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显性付费者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32804" y="3526155"/>
            <a:ext cx="629259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付费缩表（制度租金取消）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9147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条款｜开发贷 13 条项目单独建账；《意见》5 条禁缴地价贷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400" y="42576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条款｜证监会 6/8/9 条：基于项目＋穿透式专户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6005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推论｜D1 画像 Token：封闭账户＝真实报表、尽调成本骤降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3400" y="5076825"/>
            <a:ext cx="11125200" cy="600075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" y="5105400"/>
            <a:ext cx="11125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482" y="531960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5367338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5430838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52959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机会：四卡全借道客户三/四合同复购｜风险：付费方在出清，订阅预算最先被砍（→失灵①）；不卖榜单、不设收入目标。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开发投资 -19.2%、销售面积 -11.8%（2026-07）；D1「第一层漏斗」＝买方付费、卖方引流（见底稿 §六）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3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端个人：从「影子出资人」到「受保护的消费者」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33400" y="16078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A97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23900" y="2087880"/>
            <a:ext cx="120015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端不收费，收费的是信任的复利——红线与卖点是一体两面，越线即触发监管。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03485" y="2672715"/>
            <a:ext cx="1122191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旧角色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82408" y="2672715"/>
            <a:ext cx="694299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新角色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3400" y="2962275"/>
            <a:ext cx="11125200" cy="0"/>
          </a:xfrm>
          <a:prstGeom prst="line">
            <a:avLst/>
          </a:prstGeom>
          <a:noFill/>
          <a:ln w="19050">
            <a:solidFill>
              <a:srgbClr val="14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400" y="33813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" y="38004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31070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3485" y="3107055"/>
            <a:ext cx="1122191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影子出资人，最后受偿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82408" y="3107055"/>
            <a:ext cx="694299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受保护的消费者（红线＋专户）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700" y="35261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3485" y="3526155"/>
            <a:ext cx="1122191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交付风险（烂尾）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82408" y="3526155"/>
            <a:ext cx="694299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选择风险（红线＝预算约束）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400" y="39147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条款｜个贷 10 条红线 50%/60%；13 条 40 年；20 条带押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400" y="42576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条款｜37 条新老划断：存量期房交付风险不变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6005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推论｜40 年：月供 -15%、利息 +39%、本金上限 +17.5%（测算）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3400" y="5076825"/>
            <a:ext cx="11125200" cy="600075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" y="5105400"/>
            <a:ext cx="11125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482" y="531960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5367338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5430838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52959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机会：三件套 12 个月落地；银行侧计费、C 端引流（省约 4.5 万/单，测算）｜风险：磨底 2-3 年（研判推断）。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三件套＝C1 红线测算 / C2 置换沙盘 / C3 交付提示；C4 滞留乘客监测（公益）；工具进经纪人工作台（见底稿 §七）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3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优先级收口：两台发动机，其余全是期权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533400" y="1714500"/>
            <a:ext cx="26670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61210"/>
            <a:ext cx="120015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F1+K1</a:t>
            </a:r>
            <a:pPr algn="l" indent="0" marL="0">
              <a:buNone/>
            </a:pPr>
            <a:r>
              <a:rPr lang="en-US" sz="9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两台发动机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723900" y="2522220"/>
            <a:ext cx="12001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资源只给这两张 S 卡，其余全是期权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2800" y="1714500"/>
            <a:ext cx="26670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3300" y="1962150"/>
            <a:ext cx="9182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1/14/9/2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43300" y="2537460"/>
            <a:ext cx="91821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化四档：已试点/可铸造/需工程/远期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43300" y="2716530"/>
            <a:ext cx="91821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卡盘点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172200" y="1714500"/>
            <a:ext cx="26670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700" y="1962150"/>
            <a:ext cx="6362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2700" y="2506980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项清单（2026Q4）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2716530"/>
            <a:ext cx="63627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例外排入——两灯塔政府侧入口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8991600" y="1714500"/>
            <a:ext cx="26670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2100" y="1962150"/>
            <a:ext cx="3543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2100" y="2506980"/>
            <a:ext cx="354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项清单（至 2027Q3）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82100" y="2716530"/>
            <a:ext cx="35433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收入锚定两灯塔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533400" y="36480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32385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天：F1 试点行闭环演示、K1 批量压测＋D 层补数据、B1 京/宁试点、铸造规范 v0.1 发布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3400" y="427672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400" y="38671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个月：F1 首单年度合同（对照 1000 万起/3000 万锚＝目标假设）、K1 年费放量、B1 进会议材料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3400" y="4905375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400" y="4495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个月：测算口径被 1-2 个省引用、F2/F3 打包机构基础包、D1 并购前筛被采用 1-2 例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3400" y="51244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天：两台发动机各转出第一枚可演示的 Token——F1 重估闭环演示＋K1 批量压测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期权队列 24 卡：A1-A3、B1-B4、F2-F5、K2-K5、D1-D4、C1-C5；三不＝三卖，不铸坏 Token（见底稿 §8.6）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3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可证伪预言与失灵变量排序（研判推断）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647700" y="18440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42520" y="1844040"/>
            <a:ext cx="90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概率区间（中位）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3098" y="1844040"/>
            <a:ext cx="7062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可证伪观察点 · 时间窗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3400" y="2133600"/>
            <a:ext cx="11125200" cy="0"/>
          </a:xfrm>
          <a:prstGeom prst="line">
            <a:avLst/>
          </a:prstGeom>
          <a:noFill/>
          <a:ln w="19050">
            <a:solidFill>
              <a:srgbClr val="143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3400" y="2552700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400" y="2971800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" y="3390900"/>
            <a:ext cx="11125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22783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期房销售占比三年内降至三成以下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42520" y="2278380"/>
            <a:ext cx="90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中位约 45-55%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3098" y="2278380"/>
            <a:ext cx="70623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新增预售证「封顶/竣工后取证」占比（主锚）；2027 年基线，三年内验证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700" y="26974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主办银行制催生项目信贷二级市场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42520" y="2697480"/>
            <a:ext cx="90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中位约 50%（分歧最大）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3098" y="2697480"/>
            <a:ext cx="70623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 ABS 与信贷资产流转成交额；责任移转细则——2027H1 后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700" y="3116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 3-5 家 F+EPC+O 千亿级运营商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42520" y="3116580"/>
            <a:ext cx="90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中位约 30%（最脆弱）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3098" y="3116580"/>
            <a:ext cx="70623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央企新签 F+EPC 类合同占比、央企-城投合资项目公司数；长期，最弱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3400" y="3489960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研判推断·概率区间聚合（须归因分解，防分母假象）；见底稿 §8.4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3400" y="3790950"/>
            <a:ext cx="1920240" cy="1438275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000" y="4019550"/>
            <a:ext cx="266700" cy="26670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24" name="Text 22"/>
          <p:cNvSpPr/>
          <p:nvPr/>
        </p:nvSpPr>
        <p:spPr>
          <a:xfrm>
            <a:off x="533400" y="407860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2000" y="4457700"/>
            <a:ext cx="11963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银行惜贷（启动器）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762000" y="4726305"/>
            <a:ext cx="1196340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净息差约 1.5% 下少做是理性——第一检验：2026Q4</a:t>
            </a:r>
            <a:endParaRPr lang="en-US" sz="450" dirty="0"/>
          </a:p>
        </p:txBody>
      </p:sp>
      <p:sp>
        <p:nvSpPr>
          <p:cNvPr id="27" name="Text 25"/>
          <p:cNvSpPr/>
          <p:nvPr/>
        </p:nvSpPr>
        <p:spPr>
          <a:xfrm>
            <a:off x="762000" y="4802505"/>
            <a:ext cx="1196340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白名单覆盖率</a:t>
            </a:r>
            <a:endParaRPr lang="en-US" sz="450" dirty="0"/>
          </a:p>
        </p:txBody>
      </p:sp>
      <p:sp>
        <p:nvSpPr>
          <p:cNvPr id="28" name="Shape 26"/>
          <p:cNvSpPr/>
          <p:nvPr/>
        </p:nvSpPr>
        <p:spPr>
          <a:xfrm>
            <a:off x="2834640" y="3790950"/>
            <a:ext cx="1920240" cy="1438275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4019550"/>
            <a:ext cx="266700" cy="26670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30" name="Text 28"/>
          <p:cNvSpPr/>
          <p:nvPr/>
        </p:nvSpPr>
        <p:spPr>
          <a:xfrm>
            <a:off x="533400" y="4078605"/>
            <a:ext cx="5326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63240" y="4434840"/>
            <a:ext cx="966216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注水（最危险）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063240" y="4733925"/>
            <a:ext cx="96621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财政性收入化妆成经营性收入—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063240" y="4867275"/>
            <a:ext cx="96621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—反向利用，污染定价信息底座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135880" y="3790950"/>
            <a:ext cx="1920240" cy="1438275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64480" y="4019550"/>
            <a:ext cx="266700" cy="26670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36" name="Text 34"/>
          <p:cNvSpPr/>
          <p:nvPr/>
        </p:nvSpPr>
        <p:spPr>
          <a:xfrm>
            <a:off x="533400" y="4078605"/>
            <a:ext cx="9928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64480" y="4465320"/>
            <a:ext cx="736092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数据断供（全局杀手）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64480" y="4733925"/>
            <a:ext cx="73609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所有机会依赖数据授权——断供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64480" y="4867275"/>
            <a:ext cx="73609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 Token 断锚，盲购没人敢走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37120" y="3790950"/>
            <a:ext cx="1920240" cy="1438275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65720" y="4019550"/>
            <a:ext cx="266700" cy="26670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42" name="Text 40"/>
          <p:cNvSpPr/>
          <p:nvPr/>
        </p:nvSpPr>
        <p:spPr>
          <a:xfrm>
            <a:off x="2872740" y="4078605"/>
            <a:ext cx="98526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65720" y="4434840"/>
            <a:ext cx="50596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俘获（可对冲）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665720" y="4737735"/>
            <a:ext cx="505968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名单制＋追索＋孰低原则，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65720" y="4899660"/>
            <a:ext cx="505968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降低概率与单一结论依赖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738360" y="3790950"/>
            <a:ext cx="1920240" cy="1438275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66960" y="4019550"/>
            <a:ext cx="266700" cy="26670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48" name="Text 46"/>
          <p:cNvSpPr/>
          <p:nvPr/>
        </p:nvSpPr>
        <p:spPr>
          <a:xfrm>
            <a:off x="7475220" y="4078605"/>
            <a:ext cx="52501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966960" y="4457700"/>
            <a:ext cx="2758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通道不足（可调节）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9966960" y="4737735"/>
            <a:ext cx="27584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法拍/AMC/信托合作替代；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966960" y="4899660"/>
            <a:ext cx="27584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惜贷×通道不足＝出清停滞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29840" y="4510087"/>
            <a:ext cx="152400" cy="0"/>
          </a:xfrm>
          <a:prstGeom prst="line">
            <a:avLst/>
          </a:prstGeom>
          <a:noFill/>
          <a:ln w="14288">
            <a:solidFill>
              <a:srgbClr val="5470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82240" y="44719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4706A"/>
          </a:solidFill>
          <a:ln/>
        </p:spPr>
      </p:sp>
      <p:sp>
        <p:nvSpPr>
          <p:cNvPr id="54" name="Shape 52"/>
          <p:cNvSpPr/>
          <p:nvPr/>
        </p:nvSpPr>
        <p:spPr>
          <a:xfrm>
            <a:off x="4831080" y="4510087"/>
            <a:ext cx="152400" cy="0"/>
          </a:xfrm>
          <a:prstGeom prst="line">
            <a:avLst/>
          </a:prstGeom>
          <a:noFill/>
          <a:ln w="14288">
            <a:solidFill>
              <a:srgbClr val="54706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83480" y="44719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4706A"/>
          </a:solidFill>
          <a:ln/>
        </p:spPr>
      </p:sp>
      <p:sp>
        <p:nvSpPr>
          <p:cNvPr id="56" name="Shape 54"/>
          <p:cNvSpPr/>
          <p:nvPr/>
        </p:nvSpPr>
        <p:spPr>
          <a:xfrm>
            <a:off x="7132320" y="4510087"/>
            <a:ext cx="152400" cy="0"/>
          </a:xfrm>
          <a:prstGeom prst="line">
            <a:avLst/>
          </a:prstGeom>
          <a:noFill/>
          <a:ln w="14288">
            <a:solidFill>
              <a:srgbClr val="5470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84720" y="44719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4706A"/>
          </a:solidFill>
          <a:ln/>
        </p:spPr>
      </p:sp>
      <p:sp>
        <p:nvSpPr>
          <p:cNvPr id="58" name="Shape 56"/>
          <p:cNvSpPr/>
          <p:nvPr/>
        </p:nvSpPr>
        <p:spPr>
          <a:xfrm>
            <a:off x="9433560" y="4510087"/>
            <a:ext cx="152400" cy="0"/>
          </a:xfrm>
          <a:prstGeom prst="line">
            <a:avLst/>
          </a:prstGeom>
          <a:noFill/>
          <a:ln w="14288">
            <a:solidFill>
              <a:srgbClr val="54706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85960" y="44719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4706A"/>
          </a:solidFill>
          <a:ln/>
        </p:spPr>
      </p:sp>
      <p:sp>
        <p:nvSpPr>
          <p:cNvPr id="60" name="Text 58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概率与排序均为研判推断；阶梯为定性排序，不编权重（见底稿 §8.4-8.5）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来源披露与免责声明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A9741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52725"/>
            <a:ext cx="5029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212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 CLI（主定量源）：已透出数值，本轮采用——月度截至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307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2026-07、季度截至 2026Q2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457575"/>
            <a:ext cx="5029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指标代码：W1409719/M0058005/X1390479/S0073300/S0029657/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1356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S2707411/S2707425/S0147146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952875"/>
            <a:ext cx="5029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309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政研通 zyt：catalog 透出结构化目录——仅标尺层实证引用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657725"/>
            <a:ext cx="5029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262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timeseries 空序列（dataView=internal）＝待补——未使用任何 zyt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3357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5362575"/>
            <a:ext cx="5029200" cy="0"/>
          </a:xfrm>
          <a:prstGeom prst="line">
            <a:avLst/>
          </a:prstGeom>
          <a:noFill/>
          <a:ln w="9525">
            <a:solidFill>
              <a:srgbClr val="D3E1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310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beike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0406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通道：未配置，未引用；四级标注＝测算/估算/研判推断/待补，未编造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5359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条款与案例：1+N 文件群原文；左海（已签约）；中行 Token 贷（授信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7454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2800 万≠收入）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48400" y="2171700"/>
            <a:ext cx="5029200" cy="866775"/>
          </a:xfrm>
          <a:prstGeom prst="roundRect">
            <a:avLst>
              <a:gd name="adj" fmla="val 6593"/>
            </a:avLst>
          </a:prstGeom>
          <a:solidFill>
            <a:srgbClr val="DC2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6248400" y="2200275"/>
            <a:ext cx="50292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2D6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7482" y="254782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7000" y="259556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7000" y="265906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7500" y="23907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免责：行业研究，不构成投资建议；测算/估算/研判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67500" y="26574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推断非官方统计。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3E1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工艺版 · 2026-08-29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F2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F1F7F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F1F6F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F0F6F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EFF5F3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EFF5F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EEF5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ED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EDF4F1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ECF3F1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BF3F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EBF3F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EAF2EF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EAF2EF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E9F2E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E8F1EE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E7F0ED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E6F0EC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E6F0EC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E5EFEB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E4E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E4EEEA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E3EEE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A9741F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· 行业研究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2297430"/>
            <a:ext cx="11277600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75" i="1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 先签先赢 ｜</a:t>
            </a:r>
            <a:endParaRPr lang="en-US" sz="4575" dirty="0"/>
          </a:p>
        </p:txBody>
      </p:sp>
      <p:sp>
        <p:nvSpPr>
          <p:cNvPr id="29" name="Text 27"/>
          <p:cNvSpPr/>
          <p:nvPr/>
        </p:nvSpPr>
        <p:spPr>
          <a:xfrm>
            <a:off x="914400" y="2926080"/>
            <a:ext cx="11277600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75" i="1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每次制度开票，都是一次 Token 的铸造</a:t>
            </a:r>
            <a:endParaRPr lang="en-US" sz="4575" dirty="0"/>
          </a:p>
        </p:txBody>
      </p:sp>
      <p:sp>
        <p:nvSpPr>
          <p:cNvPr id="30" name="Text 28"/>
          <p:cNvSpPr/>
          <p:nvPr/>
        </p:nvSpPr>
        <p:spPr>
          <a:xfrm>
            <a:off x="914400" y="3901440"/>
            <a:ext cx="11277600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75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机会扫描 · 工艺版 v4 · 2026-08-29 · 不构成投资建议</a:t>
            </a:r>
            <a:endParaRPr lang="en-US" sz="2475" dirty="0"/>
          </a:p>
        </p:txBody>
      </p:sp>
      <p:sp>
        <p:nvSpPr>
          <p:cNvPr id="31" name="Shape 29"/>
          <p:cNvSpPr/>
          <p:nvPr/>
        </p:nvSpPr>
        <p:spPr>
          <a:xfrm>
            <a:off x="914400" y="4610100"/>
            <a:ext cx="10363200" cy="0"/>
          </a:xfrm>
          <a:prstGeom prst="line">
            <a:avLst/>
          </a:prstGeom>
          <a:noFill/>
          <a:ln w="13335">
            <a:solidFill>
              <a:srgbClr val="0E6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9530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525399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