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封面（v3 简明版）：主标题「新政下智见的机会 · 简明版」，金句「每次制度开票，都是一次 Token 的铸造。」本稿为 v3 简明版：在 v2 战略版基础上压缩为十页任务页，看得懂优先——每页只讲一件事，条款对照每行不超过三个短句；依据《新政下智见的机会》底稿 v3（简明版，2026-08-29）生成，与完整版同源同数字：1+N 新政把估值函数从「关系与暗箱」换成「数据、核验、审计」，智见的机会不是卖数据，是铸造新函数里流通的 Token。全文数字一律以底稿为准、数字全程带口径，测算/估算/目标假设/研判推断逐项标注，底稿无数字处不出现数字。开场先立问题：这个铸造权是我们的，还是别人的——全书十页都挂在这一个问题与框架五句话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卷首速览：先给一句话战略，再给框架五句话——全书十页都挂在这五句上。一句话战略：1+N 新政把中国房地产的估值函数从「关系与暗箱」换成「数据、核验、审计」；智见的机会不是卖数据，是铸造新函数里流通的 Token；问题只有一句话——铸造权是我们的，还是别人的。框架五句话逐条带读：一个必然——估值函数更换，定价权必须再分配，铸造权不会消失只会易主；三个倒计时——2026Q4 白名单覆盖率公布、首单银行合同窗（名单制准入 12-18 个月）、2027-03 信托切换与细则潮；三层引擎——标尺层定锚（卖标尺不卖数）、工程层造线、信用层立信（四本账五问）；两台发动机——F1 银行重估订阅＋K1 收储定价，其余 24 张机会卡都是期权；一条纪律——三不＝三卖，可审计性是唯一不可复制的护城河。本页不出现底稿之外的任何数字。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为什么必须做：三个倒计时＋三种死法。制度改了三件事——《意见》34 条全口径统计＋严防数据造假，核验需求被制度化；个贷办法 25 条押品每年重估、不得以再评估净值追加贷款，存量按揭变成常年滚动需求（36.29 万亿元、2026-06、Wind EDB，数字在第 7 页与第 10 页展开）；开发贷办法 26 条白名单直报、可问责，「申报 vs 事实」的差异第一次成为监管责任。三个倒计时：①白名单覆盖率公布（2026Q4）——差异报告的标准卡位窗关闭，智见从立标准降级为买标准的用户；②首单银行年度合同（2026Q4-2027H1 启动）——名单制准入要 12-18 个月，晚启动一年收入兑现推到 2028 年，同期头部行自建 AVM 内部化；③信托切换＋细则潮（2027-03-01 施行＋2027 年内三项细则）——上线即默认的窗口只有一次，再入场是在别人口径里做填空题。不做的三种死法：官方标定（细则把主办行数据定为法定来源）、竞品接走（榜单渠道商套上审计工程外壳）、银行自建（头部行 AVM 内部化、重估永不外采）——共同点是都不需要智见在场。为什么是现在：净息差约 1.5%（金监总局 2026Q2），惜贷是理性；1000+ 收储主体面对约 2% 租金回报率 vs 约 3% 资金成本（测算口径）的闸门，没有中性定价底稿就不敢收房——需求是写进细则的合规成本。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Token 是什么：一张带防伪码的电子回执。一句话结论：智见卖的不是数据、不是报告，是一枚枚可验证、可计价、可流转的最小交付单元——银行审批链、监管检查链、国企审计链都能认它。三性缺一不算 Token：可验证——证据链回写，谁在何时、基于哪个版本、什么证据、经谁审批、能否重放；可计价——订阅、按次、按量三种收法；可流转——在客户的审批链和监管的检查链上被接受、被引用。三层支撑每层一行：标尺层定锚——估值框架开源＋40/50 城口径分层，卖标尺不卖尺子量出的数；工程层造线——skill＋agent harness＋垂类模型＋专用终端，合作方无法在合同期内自建；信用层立信——四本账（事实/假设/方法/责任）＋同条件重放＋五问可答，把信任变成可审计资产。先例：中行广州 Token 贷 2026-08 落地试单、授信 2800 万——授信额不等于收入，不得混用；它证明银行已接受一枚押品一枚重估 Token 这种交付形态本身。实证（2026-08-29 政研通 CLI 实测）：指标目录实测返回 analytics-v1.1，约 20+ 条指标自带分层/置信度/四级贯通；最硬的三条——贝壳官方房价/租金指数（重复交易法，基期 2018-11=100，直接入库不重算）、去化周期冷热分档（&lt;6/6-12/12-24/&gt;24 个月）、带看转化率（成交÷带看，两源交叉才成立，单一数据商造不出）；租赁类指数置信度标注为低——敢把低置信度印在目录上，正是可审计性卖点的实物证明。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六类客户（上）：部委、监管、金融，每家一张条款对照小表。中央部委（A 线）：免费换的是定价权入场券——34 条全口径统计要交易事实交叉核验（A1 执行追踪·失灵变量仪表盘）、好房子认证细则要分级分档可核验依据（A2 分级数据基线）；《意见》7/11 条对应 A3 全周期现金流复现底稿（本页未列）；纪律：政府端免费投入 ≤ 总成本 20%（STAID 口径），以「部委/协会采纳智见口径」书面里程碑为继续投入闸门。地方监管（B 线）：守门人要的是出了事能自证的底稿——B1 差异报告（四段式）是两台发动机的政府侧入口，2026Q4 白名单覆盖率是第一检验，呈报口径：白名单 300 人（领导直问）；收储贴息落地对应 B3 收储监测（台账订阅计价）；B2 项目库核验（与 K3 同源同口径）、B4 政策日历本页未列，见底稿 v3 §3.2。金融机构（F 线）：新政给银行开的是存量合规账单——个贷 25 条把年度重估计为强制（F1 重估 Token 订阅，发动机①，36.29 万亿元见第 7 页）；净息差约 1.5%（金监总局 2026Q2）下惜贷是理性，放款要可复现证据（F3 风险定价参照）；个贷 23 条风控独立开展对应 F2 数据前筛（做底稿不做签章）、开发贷 21 条第三方留痕对应 F4/F5 核验与机构基础包、批判卡 F6（替银行做信贷决策的门被关小）本页未列，见底稿 v3 §3.3。多卡共用同一套数据底座——每多进一个工作流，底座复用摊薄全部产品的边际成本。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六类客户（下）：城投、开发商、C 端。保租房国企/城投（K 线）：城市更新办法把「经营性收入足额覆盖本息」焊死为生死线——谁把闭环算清，谁给闭环定价；团购房贷批量收房要收储定价（K1 定价 Token，发动机②：左海模式单套低约 10%、省数千万、续约复购——已签约口径，复制为批量定价）；《意见》7/11 条要 DSCR 双情景测算（K3 测算书，政府-城投同源同口径）；土地财政退坡（出让金自 8.7 万亿峰值近腰斩，财政部口径）对应 K2 闭环全链估值，收储贴息约 3 万亿/100-200 万套（测算口径）放大需求；团购房贷期限延长带来本金上限约 +17.5%（测算口径），K4/K5 一句带过——本页未列者见底稿 v3 §3.4。定价闸门：租金回报率约 2% vs 资金成本约 3%（测算口径）——没有中性底稿，1000+ 主体不敢收房。开发商（D 线）：付费能力在缩表（开发投资 -19.2%、销售面积 -11.8%，Wind EDB 2026-07）——不赚开发商的钱，赚围绕开发商交易的钱；第三章杠杆拆除下并购出清要项目级画像（D1 并购尽调前筛，整合者付费，最高优先级）；好房子标准落地要甄别可贷资产（D3 甄别数据包，银行付费）；D2 处置底稿（收储方付费）、D4 轻订阅本页未列，见底稿 v3 §3.5。C 端（C 线）：全线引流不收费——收费的是信任的复利；个贷 10 条月供比 ≤50%、全债务比 ≤60% 红线下要算清合规边界（C1 红线合规测算器，贝壳 APP 高频工具位）；带押过户推广带来置换路径算账（C2 置换沙盘，单省约 4.5 万/单——测算口径）；C3 提示位（转现房分销）、C4 公益、C5 远期只沉淀不铸造——见底稿 v3 §3.6。按揭止跌概率 55-60%（2027H1 前，研判推断；贴息并联上修 70%+）决定 C 线节奏。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优先级：两台发动机，其余全是期权。一句话结论：26 张卡里只有 F1、K1 配得上主线资源（S 级 2 张），B1 是标准卡位的引信（高 7 张之首）。F1 押品年度重估订阅（金融线）：36.29 万亿元（存量按揭余额，2026-06，Wind EDB）× 每年重估＝订阅现金流，中行 Token 贷授信 2800 万已背书形态（授信≠收入），首单对照年费 1000 万起/3000 万锚——目标假设，非承诺。K1 收储定价与 DSCR 底稿（城投线）：左海模式单套低约 10%、省数千万、续约复购（已签约口径）验证付费意愿，复制为批量收房定价；收储贴息约 3 万亿/100-200 万套（测算口径）并联，2026Q4-2027H1 是城投转型融资需求最集中的窗口。B1 差异报告：自身不设大收入预期，价值在标准卡位——差异报告进入协调机制会议材料之日，就是粘性开始之时。期权队列 24 张不占主线资源：A1-A3 战略（部委工作流）、D1 画像（高）、C2 置换（高），其余按中/中高/B/低/远期排序，全清单见完整版 v2。Token 化成熟度四档（26 卡逐卡评估）：已试点 1（F1）、可铸造 14（定义与证据链清晰，90 天-12 个月可出标准件）、需工程 9（依赖细则或模块开发，先铸标准件后放量）、远期 2（C4/C5，只沉淀不铸造）。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90 天八项清单（2026Q4，8 项＝8 枚 Token 铸模），每项一行。①F1 产品化：重估引擎 MVP，1 家试点行完成闭环演示——交付重估 Token 标准件（单押品＋三分归因模板）；②K1 产品化：批量压测＋租赁数据补层——交付定价 Token（DSCR 双情景模板）；③B1 试点：白名单监测 1-2 城（北京/南京优先）——交付核验 Token 模板（四段式差异报告）；④A1 上线：政策日历＋三锚指标卡——交付政策 Token 首批（每锚一枚）；⑤C1 MVP：红线测算器上线——交付可贷能力 Token 模板；⑥C2 MVP：置换沙盘（绑定带押过户落地城市）——交付置换决策 Token 模板；⑦D1 试点：项目画像卡＋整合者访谈——交付画像 Token 模板；⑧口径与纪律交付物成文——交付 Token 铸造规范 v0.1（三性＋五问＋三不禁区）。节奏：第 1、2 项是两台发动机的产品化，优先级最高；第 3 项对准 2026Q4 白名单覆盖率公布时点；第 8 项把纪律变成交付物。12 个月清单（至 2027Q3，8 项）见完整版 v2：F1 首单年度合同（对照 1000 万起/3000 万锚，目标假设）、K1 年费客户放量＋试点省上线、B1 差异报告进入协调机制会议材料、A 线部委工作流引用验证、F2/F3 机构基础包打包、D1 被采用 1-2 例、C1 银行预审采用（按调用计费起点）、B2/K3 口径被 1-2 个省引用。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不做什么＋风险。三不＝三卖（对外话术）：不卖签章，卖能进审批工作流的底稿；不卖预测，卖可复现的条件化推演；不卖决策，卖客户自己的决策有据可查——可审计性从拒绝开始。不铸三种坏 Token：铸不了的（无证据链）、越权的（签章/定价决策）、预测型的（趋势承诺）。伪机会 7 条（一句话死法，讲稿备查）：①工程监理/核验执行——人力密集＋59-60 条责任连带；②信贷定价/风控决策——个贷 23 条红线，替银行签字即责任模糊；③评估签章——法定资质＋无限责任，无牌即非法；④卖数据给银行——银行要「账户级的真」，补充真无付费理由；⑤替客户预测市场——一次打脸连坐全部底稿可信；⑥给开发商做纾困融资方案——付费方在缩表，制度租金随制度取消；⑦大而全数据门户——与贝壳主站自我竞争，且无审计纵深。Top3 命门与对冲（不对冲就不开工）：F1 的命门是个贷 23 条被从严解释、外部供应商被挡——对冲是主攻中小行/城商行（自建不经济），合同写明「证据非决策」边界；K1 的命门是贴息节奏不落地（止跌概率仅 55-60%，研判推断）——对冲是与 B3 监测并联（政府侧先进入）、按项目制收费降低试错成本；B1 的命门是细则把核验权收归官方——对冲是免费换标准卡位口径、差异报告四段式即官方检查的现成格式。Token 三大风险：断锚（标尺失灵＝全局杀手，用口径纪律对冲）、租金之雷（平台数据只做证据层）、实测节奏（成本收敛幅度待灯塔实测，不承诺比例）。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口径与行动。核心数字口径表 12 组全文照录（底稿 v3 第七章）：36.29 万亿元＝存量按揭余额（2026-06，Wind EDB，W1409719）；2800 万＝中行广州 Token 贷授信额，授信不等于收入、不得混用；1000 万起/3000 万锚＝银行年费目标假设、非承诺；白名单 300 人＝领导直问口径；左海单套低约 10%＝已签约案例口径、续约复购；约 4.5 万/单＝带押过户节省（测算口径）；8.7 万亿＝土地出让金峰值（财政部口径）、现已近腰斩；约 3 万亿/100-200 万套＝收储贴息规模（测算口径）；+17.5%＝购房贷款期限延长带来的本金上限提升（测算口径）；55-60%→70%+＝按揭止跌概率（研判推断）；四档 1/14/9/2＝Token 化成熟度（26 卡逐卡评估）；analytics-v1.1＝政研通指标目录 2026-08-29 实测、timeseries 空序列（dataView=internal）、数值仍以 Wind EDB 为准。行动主轴：60 天内让两台发动机各转出第一枚可演示的 Token；本周三件事——锁定 1 家试点银行＋1 个收储项目演示范围、Token 铸造规范 v0.1 发全体交付团队、B1 监测模块选定北京/南京首城。护城河一段话：数据底座只是入场券；标准与共识是慢变量（被审批链接受即成默认）；审计工程是成本结构差异；「三不＝三卖」的过程壁垒最深——不可复制的不是能力，是纪律。收尾金句：2026Q4，先签先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收尾页（工具门禁要求 ending 页收尾；本页不承载内容组件）。落款：98wiki ｜ 智见 / 机会扫描 · 底稿 v3（简明版）· 2026-08-29。结束语：2026Q4，先签先赢——三个倒计时里最近的一个就是白名单覆盖率公布，口径定型窗关闭前被审批链接受的那把尺子，就是行业默认。每次制度开票，都是一次 Token 的铸造；铸造权是我们的，还是别人的，答案在 60 天内两台发动机各自转出的第一枚可演示 Token 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295275"/>
          </a:xfrm>
          <a:prstGeom prst="rect">
            <a:avLst/>
          </a:prstGeom>
          <a:solidFill>
            <a:srgbClr val="F5F8F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85750"/>
            <a:ext cx="12192000" cy="295275"/>
          </a:xfrm>
          <a:prstGeom prst="rect">
            <a:avLst/>
          </a:prstGeom>
          <a:solidFill>
            <a:srgbClr val="F4F8FD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71500"/>
            <a:ext cx="12192000" cy="295275"/>
          </a:xfrm>
          <a:prstGeom prst="rect">
            <a:avLst/>
          </a:prstGeom>
          <a:solidFill>
            <a:srgbClr val="F4F7FD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857250"/>
            <a:ext cx="12192000" cy="295275"/>
          </a:xfrm>
          <a:prstGeom prst="rect">
            <a:avLst/>
          </a:prstGeom>
          <a:solidFill>
            <a:srgbClr val="F3F7FD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143000"/>
            <a:ext cx="12192000" cy="295275"/>
          </a:xfrm>
          <a:prstGeom prst="rect">
            <a:avLst/>
          </a:prstGeom>
          <a:solidFill>
            <a:srgbClr val="F3F6FC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1428750"/>
            <a:ext cx="12192000" cy="295275"/>
          </a:xfrm>
          <a:prstGeom prst="rect">
            <a:avLst/>
          </a:prstGeom>
          <a:solidFill>
            <a:srgbClr val="F2F6FC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1714500"/>
            <a:ext cx="12192000" cy="295275"/>
          </a:xfrm>
          <a:prstGeom prst="rect">
            <a:avLst/>
          </a:prstGeom>
          <a:solidFill>
            <a:srgbClr val="F1F5FC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2000250"/>
            <a:ext cx="12192000" cy="295275"/>
          </a:xfrm>
          <a:prstGeom prst="rect">
            <a:avLst/>
          </a:prstGeom>
          <a:solidFill>
            <a:srgbClr val="F1F5FC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2286000"/>
            <a:ext cx="12192000" cy="295275"/>
          </a:xfrm>
          <a:prstGeom prst="rect">
            <a:avLst/>
          </a:prstGeom>
          <a:solidFill>
            <a:srgbClr val="F0F5FC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2571750"/>
            <a:ext cx="12192000" cy="295275"/>
          </a:xfrm>
          <a:prstGeom prst="rect">
            <a:avLst/>
          </a:prstGeom>
          <a:solidFill>
            <a:srgbClr val="F0F4FC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2857500"/>
            <a:ext cx="12192000" cy="295275"/>
          </a:xfrm>
          <a:prstGeom prst="rect">
            <a:avLst/>
          </a:prstGeom>
          <a:solidFill>
            <a:srgbClr val="EFF4FC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3143250"/>
            <a:ext cx="12192000" cy="295275"/>
          </a:xfrm>
          <a:prstGeom prst="rect">
            <a:avLst/>
          </a:prstGeom>
          <a:solidFill>
            <a:srgbClr val="EEF3FC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3429000"/>
            <a:ext cx="12192000" cy="295275"/>
          </a:xfrm>
          <a:prstGeom prst="rect">
            <a:avLst/>
          </a:prstGeom>
          <a:solidFill>
            <a:srgbClr val="EEF3FB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3714750"/>
            <a:ext cx="12192000" cy="295275"/>
          </a:xfrm>
          <a:prstGeom prst="rect">
            <a:avLst/>
          </a:prstGeom>
          <a:solidFill>
            <a:srgbClr val="EDF2FB"/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4000500"/>
            <a:ext cx="12192000" cy="295275"/>
          </a:xfrm>
          <a:prstGeom prst="rect">
            <a:avLst/>
          </a:prstGeom>
          <a:solidFill>
            <a:srgbClr val="ECF2FB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4286250"/>
            <a:ext cx="12192000" cy="295275"/>
          </a:xfrm>
          <a:prstGeom prst="rect">
            <a:avLst/>
          </a:prstGeom>
          <a:solidFill>
            <a:srgbClr val="ECF1FB"/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4572000"/>
            <a:ext cx="12192000" cy="295275"/>
          </a:xfrm>
          <a:prstGeom prst="rect">
            <a:avLst/>
          </a:prstGeom>
          <a:solidFill>
            <a:srgbClr val="EBF1FB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4857750"/>
            <a:ext cx="12192000" cy="295275"/>
          </a:xfrm>
          <a:prstGeom prst="rect">
            <a:avLst/>
          </a:prstGeom>
          <a:solidFill>
            <a:srgbClr val="EBF1FB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5143500"/>
            <a:ext cx="12192000" cy="295275"/>
          </a:xfrm>
          <a:prstGeom prst="rect">
            <a:avLst/>
          </a:prstGeom>
          <a:solidFill>
            <a:srgbClr val="EAF0FB"/>
          </a:solidFill>
          <a:ln/>
        </p:spPr>
      </p:sp>
      <p:sp>
        <p:nvSpPr>
          <p:cNvPr id="21" name="Shape 19"/>
          <p:cNvSpPr/>
          <p:nvPr/>
        </p:nvSpPr>
        <p:spPr>
          <a:xfrm>
            <a:off x="0" y="5429250"/>
            <a:ext cx="12192000" cy="295275"/>
          </a:xfrm>
          <a:prstGeom prst="rect">
            <a:avLst/>
          </a:prstGeom>
          <a:solidFill>
            <a:srgbClr val="E9F0FB"/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5715000"/>
            <a:ext cx="12192000" cy="295275"/>
          </a:xfrm>
          <a:prstGeom prst="rect">
            <a:avLst/>
          </a:prstGeom>
          <a:solidFill>
            <a:srgbClr val="E9EFFA"/>
          </a:solidFill>
          <a:ln/>
        </p:spPr>
      </p:sp>
      <p:sp>
        <p:nvSpPr>
          <p:cNvPr id="23" name="Shape 21"/>
          <p:cNvSpPr/>
          <p:nvPr/>
        </p:nvSpPr>
        <p:spPr>
          <a:xfrm>
            <a:off x="0" y="6000750"/>
            <a:ext cx="12192000" cy="295275"/>
          </a:xfrm>
          <a:prstGeom prst="rect">
            <a:avLst/>
          </a:prstGeom>
          <a:solidFill>
            <a:srgbClr val="E8EFFA"/>
          </a:solidFill>
          <a:ln/>
        </p:spPr>
      </p:sp>
      <p:sp>
        <p:nvSpPr>
          <p:cNvPr id="24" name="Shape 22"/>
          <p:cNvSpPr/>
          <p:nvPr/>
        </p:nvSpPr>
        <p:spPr>
          <a:xfrm>
            <a:off x="0" y="6286500"/>
            <a:ext cx="12192000" cy="295275"/>
          </a:xfrm>
          <a:prstGeom prst="rect">
            <a:avLst/>
          </a:prstGeom>
          <a:solidFill>
            <a:srgbClr val="E8EEFA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6572250"/>
            <a:ext cx="12192000" cy="295275"/>
          </a:xfrm>
          <a:prstGeom prst="rect">
            <a:avLst/>
          </a:prstGeom>
          <a:solidFill>
            <a:srgbClr val="E7EEFA"/>
          </a:solidFill>
          <a:ln/>
        </p:spPr>
      </p:sp>
      <p:sp>
        <p:nvSpPr>
          <p:cNvPr id="26" name="Shape 24"/>
          <p:cNvSpPr/>
          <p:nvPr/>
        </p:nvSpPr>
        <p:spPr>
          <a:xfrm>
            <a:off x="0" y="0"/>
            <a:ext cx="4876800" cy="6858000"/>
          </a:xfrm>
          <a:prstGeom prst="rect">
            <a:avLst/>
          </a:prstGeom>
          <a:solidFill>
            <a:srgbClr val="2D5BD8"/>
          </a:solidFill>
          <a:ln/>
        </p:spPr>
      </p:sp>
      <p:sp>
        <p:nvSpPr>
          <p:cNvPr id="27" name="Shape 25"/>
          <p:cNvSpPr/>
          <p:nvPr/>
        </p:nvSpPr>
        <p:spPr>
          <a:xfrm>
            <a:off x="0" y="4953000"/>
            <a:ext cx="1905000" cy="1905000"/>
          </a:xfrm>
          <a:custGeom>
            <a:avLst/>
            <a:gdLst/>
            <a:ahLst/>
            <a:cxnLst/>
            <a:rect l="l" t="t" r="r" b="b"/>
            <a:pathLst>
              <a:path w="1905000" h="1905000">
                <a:moveTo>
                  <a:pt x="0" y="1905000"/>
                </a:moveTo>
                <a:lnTo>
                  <a:pt x="0" y="0"/>
                </a:lnTo>
                <a:lnTo>
                  <a:pt x="1905000" y="1905000"/>
                </a:lnTo>
                <a:close/>
              </a:path>
            </a:pathLst>
          </a:custGeom>
          <a:solidFill>
            <a:srgbClr val="004C38"/>
          </a:solidFill>
          <a:ln/>
        </p:spPr>
      </p:sp>
      <p:sp>
        <p:nvSpPr>
          <p:cNvPr id="28" name="Text 26"/>
          <p:cNvSpPr/>
          <p:nvPr/>
        </p:nvSpPr>
        <p:spPr>
          <a:xfrm>
            <a:off x="609600" y="2474595"/>
            <a:ext cx="11582400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新政下智见</a:t>
            </a:r>
            <a:endParaRPr lang="en-US" sz="4800" dirty="0"/>
          </a:p>
        </p:txBody>
      </p:sp>
      <p:sp>
        <p:nvSpPr>
          <p:cNvPr id="29" name="Text 27"/>
          <p:cNvSpPr/>
          <p:nvPr/>
        </p:nvSpPr>
        <p:spPr>
          <a:xfrm>
            <a:off x="609600" y="3131820"/>
            <a:ext cx="11582400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的机会 ·</a:t>
            </a:r>
            <a:endParaRPr lang="en-US" sz="4800" dirty="0"/>
          </a:p>
        </p:txBody>
      </p:sp>
      <p:sp>
        <p:nvSpPr>
          <p:cNvPr id="30" name="Text 28"/>
          <p:cNvSpPr/>
          <p:nvPr/>
        </p:nvSpPr>
        <p:spPr>
          <a:xfrm>
            <a:off x="609600" y="3789045"/>
            <a:ext cx="11582400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简明版</a:t>
            </a:r>
            <a:endParaRPr lang="en-US" sz="4800" dirty="0"/>
          </a:p>
        </p:txBody>
      </p:sp>
      <p:sp>
        <p:nvSpPr>
          <p:cNvPr id="31" name="Shape 29"/>
          <p:cNvSpPr/>
          <p:nvPr/>
        </p:nvSpPr>
        <p:spPr>
          <a:xfrm>
            <a:off x="5486400" y="1371600"/>
            <a:ext cx="228600" cy="228600"/>
          </a:xfrm>
          <a:prstGeom prst="ellipse">
            <a:avLst/>
          </a:prstGeom>
          <a:solidFill>
            <a:srgbClr val="C98A2E"/>
          </a:solidFill>
          <a:ln/>
        </p:spPr>
      </p:sp>
      <p:sp>
        <p:nvSpPr>
          <p:cNvPr id="32" name="Text 30"/>
          <p:cNvSpPr/>
          <p:nvPr/>
        </p:nvSpPr>
        <p:spPr>
          <a:xfrm>
            <a:off x="5943600" y="1356360"/>
            <a:ext cx="117348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 · 行业研究</a:t>
            </a:r>
            <a:endParaRPr lang="en-US" sz="2400" dirty="0"/>
          </a:p>
        </p:txBody>
      </p:sp>
      <p:sp>
        <p:nvSpPr>
          <p:cNvPr id="33" name="Shape 31"/>
          <p:cNvSpPr/>
          <p:nvPr/>
        </p:nvSpPr>
        <p:spPr>
          <a:xfrm>
            <a:off x="10134600" y="990600"/>
            <a:ext cx="1143000" cy="457200"/>
          </a:xfrm>
          <a:prstGeom prst="roundRect">
            <a:avLst>
              <a:gd name="adj" fmla="val 12500"/>
            </a:avLst>
          </a:prstGeom>
          <a:noFill/>
          <a:ln w="19050">
            <a:solidFill>
              <a:srgbClr val="2D5B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220200" y="1087755"/>
            <a:ext cx="297180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95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Internal</a:t>
            </a:r>
            <a:endParaRPr lang="en-US" sz="1950" dirty="0"/>
          </a:p>
        </p:txBody>
      </p:sp>
      <p:sp>
        <p:nvSpPr>
          <p:cNvPr id="35" name="Text 33"/>
          <p:cNvSpPr/>
          <p:nvPr/>
        </p:nvSpPr>
        <p:spPr>
          <a:xfrm>
            <a:off x="5486400" y="1981200"/>
            <a:ext cx="67056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i="1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1+N 新政 × 智见机会扫描</a:t>
            </a:r>
            <a:endParaRPr lang="en-US" sz="2250" dirty="0"/>
          </a:p>
        </p:txBody>
      </p:sp>
      <p:sp>
        <p:nvSpPr>
          <p:cNvPr id="36" name="Text 34"/>
          <p:cNvSpPr/>
          <p:nvPr/>
        </p:nvSpPr>
        <p:spPr>
          <a:xfrm>
            <a:off x="5486400" y="2324100"/>
            <a:ext cx="67056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i="1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｜「每次制度开票，都是一次 Token</a:t>
            </a:r>
            <a:endParaRPr lang="en-US" sz="2250" dirty="0"/>
          </a:p>
        </p:txBody>
      </p:sp>
      <p:sp>
        <p:nvSpPr>
          <p:cNvPr id="37" name="Text 35"/>
          <p:cNvSpPr/>
          <p:nvPr/>
        </p:nvSpPr>
        <p:spPr>
          <a:xfrm>
            <a:off x="5486400" y="2667000"/>
            <a:ext cx="67056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i="1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的铸造。」</a:t>
            </a:r>
            <a:endParaRPr lang="en-US" sz="2250" dirty="0"/>
          </a:p>
        </p:txBody>
      </p:sp>
      <p:sp>
        <p:nvSpPr>
          <p:cNvPr id="38" name="Shape 36"/>
          <p:cNvSpPr/>
          <p:nvPr/>
        </p:nvSpPr>
        <p:spPr>
          <a:xfrm>
            <a:off x="5486400" y="3467100"/>
            <a:ext cx="5791200" cy="0"/>
          </a:xfrm>
          <a:prstGeom prst="line">
            <a:avLst/>
          </a:prstGeom>
          <a:noFill/>
          <a:ln w="13335">
            <a:solidFill>
              <a:srgbClr val="D9E1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0" y="3710940"/>
            <a:ext cx="6705600" cy="262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25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智见点评团队 · 机会扫描 v3 · 简明版</a:t>
            </a:r>
            <a:pPr algn="l" indent="0" marL="0">
              <a:buNone/>
            </a:pPr>
            <a:r>
              <a:rPr lang="en-US" sz="1725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·    2026-08-29</a:t>
            </a:r>
            <a:endParaRPr lang="en-US" sz="1725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887730"/>
            <a:ext cx="11582400" cy="525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速览：一句话战略与框架五句话</a:t>
            </a:r>
            <a:endParaRPr lang="en-US" sz="3450" dirty="0"/>
          </a:p>
        </p:txBody>
      </p:sp>
      <p:sp>
        <p:nvSpPr>
          <p:cNvPr id="4" name="Shape 2"/>
          <p:cNvSpPr/>
          <p:nvPr/>
        </p:nvSpPr>
        <p:spPr>
          <a:xfrm>
            <a:off x="609600" y="1543050"/>
            <a:ext cx="457200" cy="0"/>
          </a:xfrm>
          <a:prstGeom prst="line">
            <a:avLst/>
          </a:prstGeom>
          <a:noFill/>
          <a:ln w="38100">
            <a:solidFill>
              <a:srgbClr val="C98A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6800" y="1543050"/>
            <a:ext cx="10515600" cy="0"/>
          </a:xfrm>
          <a:prstGeom prst="line">
            <a:avLst/>
          </a:prstGeom>
          <a:noFill/>
          <a:ln w="15240">
            <a:solidFill>
              <a:srgbClr val="D9E1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9600" y="1714500"/>
            <a:ext cx="10972800" cy="866775"/>
          </a:xfrm>
          <a:prstGeom prst="roundRect">
            <a:avLst>
              <a:gd name="adj" fmla="val 6593"/>
            </a:avLst>
          </a:prstGeom>
          <a:solidFill>
            <a:srgbClr val="C98A2E"/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743075"/>
            <a:ext cx="10972800" cy="8382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C7D4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0575" y="208280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71438" y="95250"/>
                </a:moveTo>
                <a:cubicBezTo>
                  <a:pt x="73025" y="87313"/>
                  <a:pt x="76994" y="81756"/>
                  <a:pt x="83344" y="75406"/>
                </a:cubicBezTo>
                <a:cubicBezTo>
                  <a:pt x="91281" y="68263"/>
                  <a:pt x="95250" y="57944"/>
                  <a:pt x="95250" y="47625"/>
                </a:cubicBezTo>
                <a:arcTo hR="47625" wR="47625" stAng="0" swAng="-10800000"/>
                <a:cubicBezTo>
                  <a:pt x="0" y="55563"/>
                  <a:pt x="1588" y="65088"/>
                  <a:pt x="11906" y="75406"/>
                </a:cubicBezTo>
                <a:cubicBezTo>
                  <a:pt x="17462" y="80963"/>
                  <a:pt x="22225" y="87313"/>
                  <a:pt x="23813" y="95250"/>
                </a:cubicBezTo>
              </a:path>
            </a:pathLst>
          </a:custGeom>
          <a:noFill/>
          <a:ln w="15875">
            <a:solidFill>
              <a:srgbClr val="C98A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4388" y="2209800"/>
            <a:ext cx="47625" cy="5953"/>
          </a:xfrm>
          <a:custGeom>
            <a:avLst/>
            <a:gdLst/>
            <a:ahLst/>
            <a:cxnLst/>
            <a:rect l="l" t="t" r="r" b="b"/>
            <a:pathLst>
              <a:path w="47625" h="5953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/>
          <a:ln w="15875">
            <a:solidFill>
              <a:srgbClr val="C98A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325" y="2241550"/>
            <a:ext cx="31750" cy="5953"/>
          </a:xfrm>
          <a:custGeom>
            <a:avLst/>
            <a:gdLst/>
            <a:ahLst/>
            <a:cxnLst/>
            <a:rect l="l" t="t" r="r" b="b"/>
            <a:pathLst>
              <a:path w="31750" h="5953">
                <a:moveTo>
                  <a:pt x="0" y="0"/>
                </a:moveTo>
                <a:lnTo>
                  <a:pt x="31750" y="0"/>
                </a:lnTo>
              </a:path>
            </a:pathLst>
          </a:custGeom>
          <a:noFill/>
          <a:ln w="15875">
            <a:solidFill>
              <a:srgbClr val="C98A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8700" y="1933575"/>
            <a:ext cx="11772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一句话战略：新政把估值函数从「关系与暗箱」换成「数据、核验、审计」。智见不卖数据——铸造新函数里流通的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28700" y="2200275"/>
            <a:ext cx="11772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Token。唯一问题：铸造权是我们的，还是别人的。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23900" y="2863215"/>
            <a:ext cx="120777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框架层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337547" y="2863215"/>
            <a:ext cx="10464053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09600" y="3152775"/>
            <a:ext cx="10972800" cy="0"/>
          </a:xfrm>
          <a:prstGeom prst="line">
            <a:avLst/>
          </a:prstGeom>
          <a:noFill/>
          <a:ln w="19050">
            <a:solidFill>
              <a:srgbClr val="182A4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9600" y="3571875"/>
            <a:ext cx="10972800" cy="0"/>
          </a:xfrm>
          <a:prstGeom prst="line">
            <a:avLst/>
          </a:prstGeom>
          <a:noFill/>
          <a:ln w="9525">
            <a:solidFill>
              <a:srgbClr val="D9E1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9600" y="3990975"/>
            <a:ext cx="10972800" cy="0"/>
          </a:xfrm>
          <a:prstGeom prst="line">
            <a:avLst/>
          </a:prstGeom>
          <a:noFill/>
          <a:ln w="9525">
            <a:solidFill>
              <a:srgbClr val="D9E1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9600" y="4410075"/>
            <a:ext cx="10972800" cy="0"/>
          </a:xfrm>
          <a:prstGeom prst="line">
            <a:avLst/>
          </a:prstGeom>
          <a:noFill/>
          <a:ln w="9525">
            <a:solidFill>
              <a:srgbClr val="D9E1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9600" y="4829175"/>
            <a:ext cx="10972800" cy="0"/>
          </a:xfrm>
          <a:prstGeom prst="line">
            <a:avLst/>
          </a:prstGeom>
          <a:noFill/>
          <a:ln w="9525">
            <a:solidFill>
              <a:srgbClr val="D9E1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9600" y="5248275"/>
            <a:ext cx="10972800" cy="0"/>
          </a:xfrm>
          <a:prstGeom prst="line">
            <a:avLst/>
          </a:prstGeom>
          <a:noFill/>
          <a:ln w="9525">
            <a:solidFill>
              <a:srgbClr val="D9E1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3900" y="3297555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一个必然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337547" y="3297555"/>
            <a:ext cx="1046405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估值函数更换，定价权必须再分配——铸造权不会消失，只会易主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23900" y="3716655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三个倒计时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337547" y="3716655"/>
            <a:ext cx="1046405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2026Q4 白名单公布 · 首单银行合同窗 · 2027-03 信托切换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23900" y="4135755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三层引擎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337547" y="4135755"/>
            <a:ext cx="1046405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标尺层定锚（卖标尺不卖数）→ 工程层造线 → 信用层立信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23900" y="4554855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两台发动机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337547" y="4554855"/>
            <a:ext cx="1046405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F1 银行重估订阅＋K1 收储定价；其余机会卡都是期权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23900" y="4973955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一条纪律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337547" y="4973955"/>
            <a:ext cx="1046405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三不＝三卖——可审计性是唯一不可复制的护城河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09600" y="6400800"/>
            <a:ext cx="11582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Token＝可验证、可计价、可流转的最小交付单元，像一张带防伪码的电子回执；与完整版（v2）同源同数字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9E1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2026-08-29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Internal · 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887730"/>
            <a:ext cx="11582400" cy="525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为什么必须做：三个倒计时与三种死法</a:t>
            </a:r>
            <a:endParaRPr lang="en-US" sz="3450" dirty="0"/>
          </a:p>
        </p:txBody>
      </p:sp>
      <p:sp>
        <p:nvSpPr>
          <p:cNvPr id="4" name="Shape 2"/>
          <p:cNvSpPr/>
          <p:nvPr/>
        </p:nvSpPr>
        <p:spPr>
          <a:xfrm>
            <a:off x="609600" y="1543050"/>
            <a:ext cx="457200" cy="0"/>
          </a:xfrm>
          <a:prstGeom prst="line">
            <a:avLst/>
          </a:prstGeom>
          <a:noFill/>
          <a:ln w="38100">
            <a:solidFill>
              <a:srgbClr val="C98A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6800" y="1543050"/>
            <a:ext cx="10515600" cy="0"/>
          </a:xfrm>
          <a:prstGeom prst="line">
            <a:avLst/>
          </a:prstGeom>
          <a:noFill/>
          <a:ln w="15240">
            <a:solidFill>
              <a:srgbClr val="D9E1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3900" y="1844040"/>
            <a:ext cx="120777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倒计时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168775" y="1844040"/>
            <a:ext cx="963282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时点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868961" y="1844040"/>
            <a:ext cx="6932639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错过的后果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9600" y="2133600"/>
            <a:ext cx="10972800" cy="0"/>
          </a:xfrm>
          <a:prstGeom prst="line">
            <a:avLst/>
          </a:prstGeom>
          <a:noFill/>
          <a:ln w="19050">
            <a:solidFill>
              <a:srgbClr val="182A4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9600" y="2552700"/>
            <a:ext cx="10972800" cy="0"/>
          </a:xfrm>
          <a:prstGeom prst="line">
            <a:avLst/>
          </a:prstGeom>
          <a:noFill/>
          <a:ln w="9525">
            <a:solidFill>
              <a:srgbClr val="D9E1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9600" y="2971800"/>
            <a:ext cx="10972800" cy="0"/>
          </a:xfrm>
          <a:prstGeom prst="line">
            <a:avLst/>
          </a:prstGeom>
          <a:noFill/>
          <a:ln w="9525">
            <a:solidFill>
              <a:srgbClr val="D9E1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9600" y="3390900"/>
            <a:ext cx="10972800" cy="0"/>
          </a:xfrm>
          <a:prstGeom prst="line">
            <a:avLst/>
          </a:prstGeom>
          <a:noFill/>
          <a:ln w="9525">
            <a:solidFill>
              <a:srgbClr val="D9E1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3900" y="2278380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白名单覆盖率公布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168775" y="2278380"/>
            <a:ext cx="9632825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2026Q4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868961" y="2278380"/>
            <a:ext cx="6932639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口径定型窗关闭：从「立标准」降为「买标准」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23900" y="2697480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首单银行年度合同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168775" y="2697480"/>
            <a:ext cx="9632825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2026Q4-2027H1 启动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868961" y="2697480"/>
            <a:ext cx="6932639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准入要 12-18 个月：晚一年，收入推到 2028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23900" y="3116580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信托切换＋细则潮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168775" y="3116580"/>
            <a:ext cx="9632825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2027-03-01 施行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868961" y="3116580"/>
            <a:ext cx="6932639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「上线即默认」只有一次：再入场是填空题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09600" y="3802380"/>
            <a:ext cx="121920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不做的三种死法（铸造权归谁）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09600" y="4000500"/>
            <a:ext cx="2228850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7D4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9600" y="4055745"/>
            <a:ext cx="22288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官方标定：主办行数据成法定来源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914650" y="4000500"/>
            <a:ext cx="2362200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7D4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14650" y="4055745"/>
            <a:ext cx="23622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竞品接走：渠道商套上「审计」外壳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353050" y="4000500"/>
            <a:ext cx="2406206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7D4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53050" y="4055745"/>
            <a:ext cx="2406206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银行自建：AVM 内部化，重估不外采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09600" y="4629150"/>
            <a:ext cx="10972800" cy="600075"/>
          </a:xfrm>
          <a:prstGeom prst="roundRect">
            <a:avLst>
              <a:gd name="adj" fmla="val 9524"/>
            </a:avLst>
          </a:prstGeom>
          <a:solidFill>
            <a:srgbClr val="DC2626"/>
          </a:solidFill>
          <a:ln/>
        </p:spPr>
      </p:sp>
      <p:sp>
        <p:nvSpPr>
          <p:cNvPr id="30" name="Shape 28"/>
          <p:cNvSpPr/>
          <p:nvPr/>
        </p:nvSpPr>
        <p:spPr>
          <a:xfrm>
            <a:off x="609600" y="4657725"/>
            <a:ext cx="1097280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7D4E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58682" y="4871927"/>
            <a:ext cx="158877" cy="142986"/>
          </a:xfrm>
          <a:custGeom>
            <a:avLst/>
            <a:gdLst/>
            <a:ahLst/>
            <a:cxnLst/>
            <a:rect l="l" t="t" r="r" b="b"/>
            <a:pathLst>
              <a:path w="158877" h="142986">
                <a:moveTo>
                  <a:pt x="156750" y="119173"/>
                </a:moveTo>
                <a:lnTo>
                  <a:pt x="93250" y="8048"/>
                </a:lnTo>
                <a:arcTo hR="15875" wR="15875" stAng="19827518" swAng="-7255037"/>
                <a:lnTo>
                  <a:pt x="2127" y="119173"/>
                </a:lnTo>
                <a:arcTo hR="15875" wR="15875" stAng="12600161" swAng="-7231094"/>
                <a:lnTo>
                  <a:pt x="143018" y="142985"/>
                </a:lnTo>
                <a:arcTo hR="15875" wR="15875" stAng="5396476" swAng="-7196478"/>
              </a:path>
            </a:pathLst>
          </a:custGeom>
          <a:noFill/>
          <a:ln w="15875">
            <a:solidFill>
              <a:srgbClr val="DC262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38200" y="4919663"/>
            <a:ext cx="5953" cy="31750"/>
          </a:xfrm>
          <a:custGeom>
            <a:avLst/>
            <a:gdLst/>
            <a:ahLst/>
            <a:cxnLst/>
            <a:rect l="l" t="t" r="r" b="b"/>
            <a:pathLst>
              <a:path w="5953" h="31750">
                <a:moveTo>
                  <a:pt x="0" y="0"/>
                </a:moveTo>
                <a:lnTo>
                  <a:pt x="0" y="31750"/>
                </a:lnTo>
              </a:path>
            </a:pathLst>
          </a:custGeom>
          <a:noFill/>
          <a:ln w="15875">
            <a:solidFill>
              <a:srgbClr val="DC262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38200" y="4983163"/>
            <a:ext cx="5953" cy="5953"/>
          </a:xfrm>
          <a:custGeom>
            <a:avLst/>
            <a:gdLst/>
            <a:ahLst/>
            <a:cxnLst/>
            <a:rect l="l" t="t" r="r" b="b"/>
            <a:pathLst>
              <a:path w="5953" h="5953">
                <a:moveTo>
                  <a:pt x="0" y="0"/>
                </a:moveTo>
                <a:lnTo>
                  <a:pt x="79" y="0"/>
                </a:lnTo>
              </a:path>
            </a:pathLst>
          </a:custGeom>
          <a:noFill/>
          <a:ln w="15875">
            <a:solidFill>
              <a:srgbClr val="DC262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8700" y="4848225"/>
            <a:ext cx="11772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三条路的共同点：都不需要智见在场。铸造权是窗口资产，不是长坡资产——错过即出局。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09600" y="6400800"/>
            <a:ext cx="11582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每条「必须被看见、被核验、能审计」的条款都是制度发票；开票后 12-24 个月是口径定型期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9E1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2026-08-29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Internal · 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887730"/>
            <a:ext cx="11582400" cy="525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是什么：带防伪码的电子回执</a:t>
            </a:r>
            <a:endParaRPr lang="en-US" sz="3450" dirty="0"/>
          </a:p>
        </p:txBody>
      </p:sp>
      <p:sp>
        <p:nvSpPr>
          <p:cNvPr id="4" name="Shape 2"/>
          <p:cNvSpPr/>
          <p:nvPr/>
        </p:nvSpPr>
        <p:spPr>
          <a:xfrm>
            <a:off x="609600" y="1543050"/>
            <a:ext cx="457200" cy="0"/>
          </a:xfrm>
          <a:prstGeom prst="line">
            <a:avLst/>
          </a:prstGeom>
          <a:noFill/>
          <a:ln w="38100">
            <a:solidFill>
              <a:srgbClr val="C98A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6800" y="1543050"/>
            <a:ext cx="10515600" cy="0"/>
          </a:xfrm>
          <a:prstGeom prst="line">
            <a:avLst/>
          </a:prstGeom>
          <a:noFill/>
          <a:ln w="15240">
            <a:solidFill>
              <a:srgbClr val="D9E1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9600" y="1744980"/>
            <a:ext cx="121920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三性：缺一不算 Token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09600" y="1943100"/>
            <a:ext cx="1962150" cy="247650"/>
          </a:xfrm>
          <a:prstGeom prst="roundRect">
            <a:avLst>
              <a:gd name="adj" fmla="val 50000"/>
            </a:avLst>
          </a:prstGeom>
          <a:solidFill>
            <a:srgbClr val="C98A2E"/>
          </a:solidFill>
          <a:ln/>
        </p:spPr>
      </p:sp>
      <p:sp>
        <p:nvSpPr>
          <p:cNvPr id="8" name="Text 6"/>
          <p:cNvSpPr/>
          <p:nvPr/>
        </p:nvSpPr>
        <p:spPr>
          <a:xfrm>
            <a:off x="609600" y="1998345"/>
            <a:ext cx="19621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A0E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可验证：证据链回写、可重放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647950" y="1943100"/>
            <a:ext cx="1871472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7D4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47950" y="1998345"/>
            <a:ext cx="1871472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可计价：订阅 / 按次 / 按量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95622" y="1943100"/>
            <a:ext cx="2084832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7D4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5622" y="1998345"/>
            <a:ext cx="2084832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可流转：审批/检查/审计链都认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23900" y="2701290"/>
            <a:ext cx="120777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层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761681" y="2701290"/>
            <a:ext cx="11039919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干什么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799461" y="2701290"/>
            <a:ext cx="10002139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600" y="2990850"/>
            <a:ext cx="10972800" cy="0"/>
          </a:xfrm>
          <a:prstGeom prst="line">
            <a:avLst/>
          </a:prstGeom>
          <a:noFill/>
          <a:ln w="19050">
            <a:solidFill>
              <a:srgbClr val="182A4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9600" y="3409950"/>
            <a:ext cx="10972800" cy="0"/>
          </a:xfrm>
          <a:prstGeom prst="line">
            <a:avLst/>
          </a:prstGeom>
          <a:noFill/>
          <a:ln w="9525">
            <a:solidFill>
              <a:srgbClr val="D9E1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9600" y="3829050"/>
            <a:ext cx="10972800" cy="0"/>
          </a:xfrm>
          <a:prstGeom prst="line">
            <a:avLst/>
          </a:prstGeom>
          <a:noFill/>
          <a:ln w="9525">
            <a:solidFill>
              <a:srgbClr val="D9E1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9600" y="4248150"/>
            <a:ext cx="10972800" cy="0"/>
          </a:xfrm>
          <a:prstGeom prst="line">
            <a:avLst/>
          </a:prstGeom>
          <a:noFill/>
          <a:ln w="9525">
            <a:solidFill>
              <a:srgbClr val="D9E1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3900" y="3135630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标尺层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761681" y="3135630"/>
            <a:ext cx="11039919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定锚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799461" y="3135630"/>
            <a:ext cx="10002139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估值框架开源＋40/50 城口径分层——卖标尺不卖数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23900" y="3554730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工程层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761681" y="3554730"/>
            <a:ext cx="11039919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造线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799461" y="3554730"/>
            <a:ext cx="10002139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skill＋harness＋垂类模型＋终端——合同期内无法自建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23900" y="3973830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信用层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761681" y="3973830"/>
            <a:ext cx="11039919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立信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799461" y="3973830"/>
            <a:ext cx="10002139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四本账＋同条件重放＋五问可答——信任变成可审计资产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09600" y="4629150"/>
            <a:ext cx="10972800" cy="600075"/>
          </a:xfrm>
          <a:prstGeom prst="roundRect">
            <a:avLst>
              <a:gd name="adj" fmla="val 9524"/>
            </a:avLst>
          </a:prstGeom>
          <a:solidFill>
            <a:srgbClr val="2D5BD8"/>
          </a:solidFill>
          <a:ln/>
        </p:spPr>
      </p:sp>
      <p:sp>
        <p:nvSpPr>
          <p:cNvPr id="30" name="Shape 28"/>
          <p:cNvSpPr/>
          <p:nvPr/>
        </p:nvSpPr>
        <p:spPr>
          <a:xfrm>
            <a:off x="609600" y="4657725"/>
            <a:ext cx="1097280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7D4E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58825" y="4864100"/>
            <a:ext cx="158750" cy="158750"/>
          </a:xfrm>
          <a:prstGeom prst="ellipse">
            <a:avLst/>
          </a:prstGeom>
          <a:noFill/>
          <a:ln w="15875">
            <a:solidFill>
              <a:srgbClr val="2D5BD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38200" y="4943475"/>
            <a:ext cx="5953" cy="31750"/>
          </a:xfrm>
          <a:custGeom>
            <a:avLst/>
            <a:gdLst/>
            <a:ahLst/>
            <a:cxnLst/>
            <a:rect l="l" t="t" r="r" b="b"/>
            <a:pathLst>
              <a:path w="5953" h="31750">
                <a:moveTo>
                  <a:pt x="0" y="31750"/>
                </a:moveTo>
                <a:lnTo>
                  <a:pt x="0" y="0"/>
                </a:lnTo>
              </a:path>
            </a:pathLst>
          </a:custGeom>
          <a:noFill/>
          <a:ln w="15875">
            <a:solidFill>
              <a:srgbClr val="2D5BD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38200" y="4911725"/>
            <a:ext cx="5953" cy="5953"/>
          </a:xfrm>
          <a:custGeom>
            <a:avLst/>
            <a:gdLst/>
            <a:ahLst/>
            <a:cxnLst/>
            <a:rect l="l" t="t" r="r" b="b"/>
            <a:pathLst>
              <a:path w="5953" h="5953">
                <a:moveTo>
                  <a:pt x="0" y="0"/>
                </a:moveTo>
                <a:lnTo>
                  <a:pt x="79" y="0"/>
                </a:lnTo>
              </a:path>
            </a:pathLst>
          </a:custGeom>
          <a:noFill/>
          <a:ln w="15875">
            <a:solidFill>
              <a:srgbClr val="2D5B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8700" y="4848225"/>
            <a:ext cx="11772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先例：中行广州 Token 贷 2026-08 试单、授信 2800 万（授信≠收入）。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09600" y="6400800"/>
            <a:ext cx="11582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实证（2026-08-29 政研通实测）：指标目录 analytics-v1.1——敢标低置信度，正是可审计性的实物证明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9E1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2026-08-29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Internal · 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887730"/>
            <a:ext cx="11582400" cy="525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六类客户（上）：部委 · 监管 · 金融</a:t>
            </a:r>
            <a:endParaRPr lang="en-US" sz="3450" dirty="0"/>
          </a:p>
        </p:txBody>
      </p:sp>
      <p:sp>
        <p:nvSpPr>
          <p:cNvPr id="4" name="Shape 2"/>
          <p:cNvSpPr/>
          <p:nvPr/>
        </p:nvSpPr>
        <p:spPr>
          <a:xfrm>
            <a:off x="609600" y="1543050"/>
            <a:ext cx="457200" cy="0"/>
          </a:xfrm>
          <a:prstGeom prst="line">
            <a:avLst/>
          </a:prstGeom>
          <a:noFill/>
          <a:ln w="38100">
            <a:solidFill>
              <a:srgbClr val="C98A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6800" y="1543050"/>
            <a:ext cx="10515600" cy="0"/>
          </a:xfrm>
          <a:prstGeom prst="line">
            <a:avLst/>
          </a:prstGeom>
          <a:noFill/>
          <a:ln w="15240">
            <a:solidFill>
              <a:srgbClr val="D9E1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3900" y="1844040"/>
            <a:ext cx="120777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部委条款 · 免费换标准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31876" y="1844040"/>
            <a:ext cx="8269724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对方要做什么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174532" y="1844040"/>
            <a:ext cx="4627068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智见做什么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9600" y="2133600"/>
            <a:ext cx="10972800" cy="0"/>
          </a:xfrm>
          <a:prstGeom prst="line">
            <a:avLst/>
          </a:prstGeom>
          <a:noFill/>
          <a:ln w="19050">
            <a:solidFill>
              <a:srgbClr val="182A4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9600" y="2552700"/>
            <a:ext cx="10972800" cy="0"/>
          </a:xfrm>
          <a:prstGeom prst="line">
            <a:avLst/>
          </a:prstGeom>
          <a:noFill/>
          <a:ln w="9525">
            <a:solidFill>
              <a:srgbClr val="D9E1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9600" y="2971800"/>
            <a:ext cx="10972800" cy="0"/>
          </a:xfrm>
          <a:prstGeom prst="line">
            <a:avLst/>
          </a:prstGeom>
          <a:noFill/>
          <a:ln w="9525">
            <a:solidFill>
              <a:srgbClr val="D9E1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3900" y="2278380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《意见》34 条（全口径统计）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31876" y="2278380"/>
            <a:ext cx="826972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申报口径用交易事实交叉核验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174532" y="2278380"/>
            <a:ext cx="462706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 执行追踪仪表盘（免费）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23900" y="2697480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好房子认证细则（2027 年内）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31876" y="2697480"/>
            <a:ext cx="826972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分级分档的可核验依据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174532" y="2697480"/>
            <a:ext cx="462706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 分级数据基线（免费）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23900" y="3253740"/>
            <a:ext cx="120777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监管条款 · 免责底稿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418059" y="3253740"/>
            <a:ext cx="8383541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对方要做什么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862950" y="3253740"/>
            <a:ext cx="493865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智见做什么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09600" y="3543300"/>
            <a:ext cx="10972800" cy="0"/>
          </a:xfrm>
          <a:prstGeom prst="line">
            <a:avLst/>
          </a:prstGeom>
          <a:noFill/>
          <a:ln w="19050">
            <a:solidFill>
              <a:srgbClr val="182A4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9600" y="3962400"/>
            <a:ext cx="10972800" cy="0"/>
          </a:xfrm>
          <a:prstGeom prst="line">
            <a:avLst/>
          </a:prstGeom>
          <a:noFill/>
          <a:ln w="9525">
            <a:solidFill>
              <a:srgbClr val="D9E1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9600" y="4381500"/>
            <a:ext cx="10972800" cy="0"/>
          </a:xfrm>
          <a:prstGeom prst="line">
            <a:avLst/>
          </a:prstGeom>
          <a:noFill/>
          <a:ln w="9525">
            <a:solidFill>
              <a:srgbClr val="D9E1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3900" y="3688080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开发贷办法 26 条（白名单直报）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418059" y="3688080"/>
            <a:ext cx="8383541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「申报 vs 事实」核验、可问责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862950" y="3688080"/>
            <a:ext cx="493865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B1 差异报告（2026Q4 第一检验）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23900" y="4107180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收储贴息落地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418059" y="4107180"/>
            <a:ext cx="8383541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全省收储台账监测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862950" y="4107180"/>
            <a:ext cx="493865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B3 收储监测（台账订阅计价）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23900" y="4663440"/>
            <a:ext cx="120777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金融条款 · 年度重估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5223639" y="4663440"/>
            <a:ext cx="7577961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对方要做什么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8035975" y="4663440"/>
            <a:ext cx="476562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智见做什么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609600" y="4953000"/>
            <a:ext cx="10972800" cy="0"/>
          </a:xfrm>
          <a:prstGeom prst="line">
            <a:avLst/>
          </a:prstGeom>
          <a:noFill/>
          <a:ln w="19050">
            <a:solidFill>
              <a:srgbClr val="182A4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09600" y="5372100"/>
            <a:ext cx="10972800" cy="0"/>
          </a:xfrm>
          <a:prstGeom prst="line">
            <a:avLst/>
          </a:prstGeom>
          <a:noFill/>
          <a:ln w="9525">
            <a:solidFill>
              <a:srgbClr val="D9E1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09600" y="5791200"/>
            <a:ext cx="10972800" cy="0"/>
          </a:xfrm>
          <a:prstGeom prst="line">
            <a:avLst/>
          </a:prstGeom>
          <a:noFill/>
          <a:ln w="9525">
            <a:solidFill>
              <a:srgbClr val="D9E1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3900" y="5097780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个贷办法 25 条（年度重估）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223639" y="5097780"/>
            <a:ext cx="7577961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每年重估全部押品、留底稿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035975" y="5097780"/>
            <a:ext cx="4765625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F1 重估 Token 订阅（发动机①）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23900" y="5516880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净息差约 1.5%、惜贷（金监总局 2026Q2）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223639" y="5516880"/>
            <a:ext cx="7577961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放款要可复现证据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035975" y="5516880"/>
            <a:ext cx="4765625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F3 风险定价参照（40/50 城分层）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9E1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2026-08-29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Internal · 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887730"/>
            <a:ext cx="11582400" cy="525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六类客户（下）：城投 · 开发商 · C 端</a:t>
            </a:r>
            <a:endParaRPr lang="en-US" sz="3450" dirty="0"/>
          </a:p>
        </p:txBody>
      </p:sp>
      <p:sp>
        <p:nvSpPr>
          <p:cNvPr id="4" name="Shape 2"/>
          <p:cNvSpPr/>
          <p:nvPr/>
        </p:nvSpPr>
        <p:spPr>
          <a:xfrm>
            <a:off x="609600" y="1543050"/>
            <a:ext cx="457200" cy="0"/>
          </a:xfrm>
          <a:prstGeom prst="line">
            <a:avLst/>
          </a:prstGeom>
          <a:noFill/>
          <a:ln w="38100">
            <a:solidFill>
              <a:srgbClr val="C98A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6800" y="1543050"/>
            <a:ext cx="10515600" cy="0"/>
          </a:xfrm>
          <a:prstGeom prst="line">
            <a:avLst/>
          </a:prstGeom>
          <a:noFill/>
          <a:ln w="15240">
            <a:solidFill>
              <a:srgbClr val="D9E1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3900" y="1844040"/>
            <a:ext cx="120777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城投条款 · 闭环定价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314079" y="1844040"/>
            <a:ext cx="8487521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对方要做什么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241578" y="1844040"/>
            <a:ext cx="5560022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智见做什么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9600" y="2133600"/>
            <a:ext cx="10972800" cy="0"/>
          </a:xfrm>
          <a:prstGeom prst="line">
            <a:avLst/>
          </a:prstGeom>
          <a:noFill/>
          <a:ln w="19050">
            <a:solidFill>
              <a:srgbClr val="182A4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9600" y="2552700"/>
            <a:ext cx="10972800" cy="0"/>
          </a:xfrm>
          <a:prstGeom prst="line">
            <a:avLst/>
          </a:prstGeom>
          <a:noFill/>
          <a:ln w="9525">
            <a:solidFill>
              <a:srgbClr val="D9E1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9600" y="2971800"/>
            <a:ext cx="10972800" cy="0"/>
          </a:xfrm>
          <a:prstGeom prst="line">
            <a:avLst/>
          </a:prstGeom>
          <a:noFill/>
          <a:ln w="9525">
            <a:solidFill>
              <a:srgbClr val="D9E1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3900" y="2278380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团购房贷（批量收房）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314079" y="2278380"/>
            <a:ext cx="8487521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收储定价、租金覆盖本息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241578" y="2278380"/>
            <a:ext cx="5560022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K1 定价 Token（发动机②·左海复制）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23900" y="2697480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《意见》7/11 条（收入覆盖）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14079" y="2697480"/>
            <a:ext cx="8487521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DSCR 双情景测算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241578" y="2697480"/>
            <a:ext cx="5560022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K3 测算书（政府-城投同源同口径）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23900" y="3253740"/>
            <a:ext cx="120777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开发商条款 · 只赚交易的钱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706768" y="3253740"/>
            <a:ext cx="8094832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对方要做什么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551673" y="3253740"/>
            <a:ext cx="5249927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智见做什么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09600" y="3543300"/>
            <a:ext cx="10972800" cy="0"/>
          </a:xfrm>
          <a:prstGeom prst="line">
            <a:avLst/>
          </a:prstGeom>
          <a:noFill/>
          <a:ln w="19050">
            <a:solidFill>
              <a:srgbClr val="182A4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9600" y="3962400"/>
            <a:ext cx="10972800" cy="0"/>
          </a:xfrm>
          <a:prstGeom prst="line">
            <a:avLst/>
          </a:prstGeom>
          <a:noFill/>
          <a:ln w="9525">
            <a:solidFill>
              <a:srgbClr val="D9E1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9600" y="4381500"/>
            <a:ext cx="10972800" cy="0"/>
          </a:xfrm>
          <a:prstGeom prst="line">
            <a:avLst/>
          </a:prstGeom>
          <a:noFill/>
          <a:ln w="9525">
            <a:solidFill>
              <a:srgbClr val="D9E1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3900" y="3688080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第三章（杠杆拆除、资金封闭）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06768" y="3688080"/>
            <a:ext cx="8094832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并购出清要项目级画像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551673" y="3688080"/>
            <a:ext cx="5249927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D1 并购尽调前筛（整合者付费）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23900" y="4107180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「好房子」标准落地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06768" y="4107180"/>
            <a:ext cx="8094832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甄别可贷资产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551673" y="4107180"/>
            <a:ext cx="5249927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D3 甄别数据包（银行付费）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23900" y="4663440"/>
            <a:ext cx="120777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端条款 · 全线不收费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4389405" y="4663440"/>
            <a:ext cx="841219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对方要做什么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6422032" y="4663440"/>
            <a:ext cx="6379568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智见做什么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609600" y="4953000"/>
            <a:ext cx="10972800" cy="0"/>
          </a:xfrm>
          <a:prstGeom prst="line">
            <a:avLst/>
          </a:prstGeom>
          <a:noFill/>
          <a:ln w="19050">
            <a:solidFill>
              <a:srgbClr val="182A4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09600" y="5372100"/>
            <a:ext cx="10972800" cy="0"/>
          </a:xfrm>
          <a:prstGeom prst="line">
            <a:avLst/>
          </a:prstGeom>
          <a:noFill/>
          <a:ln w="9525">
            <a:solidFill>
              <a:srgbClr val="D9E1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09600" y="5791200"/>
            <a:ext cx="10972800" cy="0"/>
          </a:xfrm>
          <a:prstGeom prst="line">
            <a:avLst/>
          </a:prstGeom>
          <a:noFill/>
          <a:ln w="9525">
            <a:solidFill>
              <a:srgbClr val="D9E1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3900" y="5097780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个贷办法 10 条（红线）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389405" y="5097780"/>
            <a:ext cx="8412195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算清合规边界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422032" y="5097780"/>
            <a:ext cx="637956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C1 红线合规测算器（免费工具位）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23900" y="5516880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带押过户推广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389405" y="5516880"/>
            <a:ext cx="8412195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置换路径算账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422032" y="5516880"/>
            <a:ext cx="637956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C2 置换沙盘（转化型）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9E1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2026-08-29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Internal · 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887730"/>
            <a:ext cx="11582400" cy="525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优先级：两台发动机，其余全是期权</a:t>
            </a:r>
            <a:endParaRPr lang="en-US" sz="3450" dirty="0"/>
          </a:p>
        </p:txBody>
      </p:sp>
      <p:sp>
        <p:nvSpPr>
          <p:cNvPr id="4" name="Shape 2"/>
          <p:cNvSpPr/>
          <p:nvPr/>
        </p:nvSpPr>
        <p:spPr>
          <a:xfrm>
            <a:off x="609600" y="1543050"/>
            <a:ext cx="457200" cy="0"/>
          </a:xfrm>
          <a:prstGeom prst="line">
            <a:avLst/>
          </a:prstGeom>
          <a:noFill/>
          <a:ln w="38100">
            <a:solidFill>
              <a:srgbClr val="C98A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6800" y="1543050"/>
            <a:ext cx="10515600" cy="0"/>
          </a:xfrm>
          <a:prstGeom prst="line">
            <a:avLst/>
          </a:prstGeom>
          <a:noFill/>
          <a:ln w="15240">
            <a:solidFill>
              <a:srgbClr val="D9E1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9600" y="1714500"/>
            <a:ext cx="10972800" cy="1035050"/>
          </a:xfrm>
          <a:prstGeom prst="roundRect">
            <a:avLst>
              <a:gd name="adj" fmla="val 5521"/>
            </a:avLst>
          </a:prstGeom>
          <a:solidFill>
            <a:srgbClr val="FFFFFF"/>
          </a:solidFill>
          <a:ln w="9525">
            <a:solidFill>
              <a:srgbClr val="C7D4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6775" y="2051050"/>
            <a:ext cx="361950" cy="361950"/>
          </a:xfrm>
          <a:prstGeom prst="ellipse">
            <a:avLst/>
          </a:prstGeom>
          <a:noFill/>
          <a:ln w="14288">
            <a:solidFill>
              <a:srgbClr val="5C6A8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9600" y="2167255"/>
            <a:ext cx="876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47800" y="2034858"/>
            <a:ext cx="1135380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F1 押品年度重估订阅（S · 发动机①）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1447800" y="2293938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182A4E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36.29 万亿元 × 每年重估＝订阅现金流；2800 万授信背书形态；年费 1000 万起/3000 万锚（目标假设）</a:t>
            </a:r>
            <a:endParaRPr lang="en-US" sz="1125" dirty="0"/>
          </a:p>
        </p:txBody>
      </p:sp>
      <p:sp>
        <p:nvSpPr>
          <p:cNvPr id="11" name="Shape 9"/>
          <p:cNvSpPr/>
          <p:nvPr/>
        </p:nvSpPr>
        <p:spPr>
          <a:xfrm>
            <a:off x="609600" y="2882900"/>
            <a:ext cx="10972800" cy="1035050"/>
          </a:xfrm>
          <a:prstGeom prst="roundRect">
            <a:avLst>
              <a:gd name="adj" fmla="val 5521"/>
            </a:avLst>
          </a:prstGeom>
          <a:solidFill>
            <a:srgbClr val="FFFFFF"/>
          </a:solidFill>
          <a:ln w="9525">
            <a:solidFill>
              <a:srgbClr val="C7D4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6775" y="3219450"/>
            <a:ext cx="361950" cy="361950"/>
          </a:xfrm>
          <a:prstGeom prst="ellipse">
            <a:avLst/>
          </a:prstGeom>
          <a:noFill/>
          <a:ln w="14288">
            <a:solidFill>
              <a:srgbClr val="5C6A8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9600" y="3335655"/>
            <a:ext cx="876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447800" y="3203258"/>
            <a:ext cx="1135380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K1 收储定价与 DSCR 底稿（S · 发动机②）</a:t>
            </a:r>
            <a:endParaRPr lang="en-US" sz="1425" dirty="0"/>
          </a:p>
        </p:txBody>
      </p:sp>
      <p:sp>
        <p:nvSpPr>
          <p:cNvPr id="15" name="Text 13"/>
          <p:cNvSpPr/>
          <p:nvPr/>
        </p:nvSpPr>
        <p:spPr>
          <a:xfrm>
            <a:off x="1447800" y="3462337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182A4E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左海单套低约 10%、续约复购（已签约口径）；贴息约 3 万亿并联；窗口 2026Q4-2027H1</a:t>
            </a:r>
            <a:endParaRPr lang="en-US" sz="1125" dirty="0"/>
          </a:p>
        </p:txBody>
      </p:sp>
      <p:sp>
        <p:nvSpPr>
          <p:cNvPr id="16" name="Shape 14"/>
          <p:cNvSpPr/>
          <p:nvPr/>
        </p:nvSpPr>
        <p:spPr>
          <a:xfrm>
            <a:off x="609600" y="4051300"/>
            <a:ext cx="10972800" cy="1035050"/>
          </a:xfrm>
          <a:prstGeom prst="roundRect">
            <a:avLst>
              <a:gd name="adj" fmla="val 5521"/>
            </a:avLst>
          </a:prstGeom>
          <a:solidFill>
            <a:srgbClr val="FFFFFF"/>
          </a:solidFill>
          <a:ln w="9525">
            <a:solidFill>
              <a:srgbClr val="C7D4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6775" y="4387850"/>
            <a:ext cx="361950" cy="361950"/>
          </a:xfrm>
          <a:prstGeom prst="ellipse">
            <a:avLst/>
          </a:prstGeom>
          <a:noFill/>
          <a:ln w="14288">
            <a:solidFill>
              <a:srgbClr val="5C6A8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9600" y="4504055"/>
            <a:ext cx="876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447800" y="4371658"/>
            <a:ext cx="1135380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B1 差异报告（标准引信 · 高 7 张之首）</a:t>
            </a:r>
            <a:endParaRPr lang="en-US" sz="1425" dirty="0"/>
          </a:p>
        </p:txBody>
      </p:sp>
      <p:sp>
        <p:nvSpPr>
          <p:cNvPr id="20" name="Text 18"/>
          <p:cNvSpPr/>
          <p:nvPr/>
        </p:nvSpPr>
        <p:spPr>
          <a:xfrm>
            <a:off x="1447800" y="4630738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182A4E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白名单直报核验、四段式；2026Q4 覆盖率＝第一检验；两台发动机的政府侧入口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609600" y="5269230"/>
            <a:ext cx="121920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化成熟度四档（26 卡逐卡评估）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09600" y="5467350"/>
            <a:ext cx="1179386" cy="247650"/>
          </a:xfrm>
          <a:prstGeom prst="roundRect">
            <a:avLst>
              <a:gd name="adj" fmla="val 50000"/>
            </a:avLst>
          </a:prstGeom>
          <a:solidFill>
            <a:srgbClr val="C98A2E"/>
          </a:solidFill>
          <a:ln/>
        </p:spPr>
      </p:sp>
      <p:sp>
        <p:nvSpPr>
          <p:cNvPr id="23" name="Text 21"/>
          <p:cNvSpPr/>
          <p:nvPr/>
        </p:nvSpPr>
        <p:spPr>
          <a:xfrm>
            <a:off x="609600" y="5522595"/>
            <a:ext cx="1179386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A0E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已试点 1（F1）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865185" y="5467350"/>
            <a:ext cx="824675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7D4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865185" y="5522595"/>
            <a:ext cx="824675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可铸造 14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766060" y="5467350"/>
            <a:ext cx="749999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7D4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66060" y="5522595"/>
            <a:ext cx="749999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需工程 9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592258" y="5467350"/>
            <a:ext cx="1270064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7D4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92258" y="5522595"/>
            <a:ext cx="1270064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远期 2（C4/C5）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09600" y="6400800"/>
            <a:ext cx="11582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 卡里只有 F1、K1 配得上主线资源，其余 24 张按期权排队；优先级＝付费意愿 × 能力匹配 × 时间窗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9E1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2026-08-29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Internal · 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887730"/>
            <a:ext cx="11582400" cy="525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 天八项清单：每项一枚 Token</a:t>
            </a:r>
            <a:endParaRPr lang="en-US" sz="3450" dirty="0"/>
          </a:p>
        </p:txBody>
      </p:sp>
      <p:sp>
        <p:nvSpPr>
          <p:cNvPr id="4" name="Shape 2"/>
          <p:cNvSpPr/>
          <p:nvPr/>
        </p:nvSpPr>
        <p:spPr>
          <a:xfrm>
            <a:off x="609600" y="1543050"/>
            <a:ext cx="457200" cy="0"/>
          </a:xfrm>
          <a:prstGeom prst="line">
            <a:avLst/>
          </a:prstGeom>
          <a:noFill/>
          <a:ln w="38100">
            <a:solidFill>
              <a:srgbClr val="C98A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6800" y="1543050"/>
            <a:ext cx="10515600" cy="0"/>
          </a:xfrm>
          <a:prstGeom prst="line">
            <a:avLst/>
          </a:prstGeom>
          <a:noFill/>
          <a:ln w="15240">
            <a:solidFill>
              <a:srgbClr val="D9E1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9600" y="1930908"/>
            <a:ext cx="6096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333500" y="1930908"/>
            <a:ext cx="114681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动作（90 天 · 2026Q4）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926704" y="1930908"/>
            <a:ext cx="5874896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交付物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9600" y="2220468"/>
            <a:ext cx="10972800" cy="0"/>
          </a:xfrm>
          <a:prstGeom prst="line">
            <a:avLst/>
          </a:prstGeom>
          <a:noFill/>
          <a:ln w="19050">
            <a:solidFill>
              <a:srgbClr val="182A4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9600" y="2639568"/>
            <a:ext cx="10972800" cy="0"/>
          </a:xfrm>
          <a:prstGeom prst="line">
            <a:avLst/>
          </a:prstGeom>
          <a:noFill/>
          <a:ln w="9525">
            <a:solidFill>
              <a:srgbClr val="D9E1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9600" y="3058668"/>
            <a:ext cx="10972800" cy="0"/>
          </a:xfrm>
          <a:prstGeom prst="line">
            <a:avLst/>
          </a:prstGeom>
          <a:noFill/>
          <a:ln w="9525">
            <a:solidFill>
              <a:srgbClr val="D9E1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9600" y="3477768"/>
            <a:ext cx="10972800" cy="0"/>
          </a:xfrm>
          <a:prstGeom prst="line">
            <a:avLst/>
          </a:prstGeom>
          <a:noFill/>
          <a:ln w="9525">
            <a:solidFill>
              <a:srgbClr val="D9E1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9600" y="3896868"/>
            <a:ext cx="10972800" cy="0"/>
          </a:xfrm>
          <a:prstGeom prst="line">
            <a:avLst/>
          </a:prstGeom>
          <a:noFill/>
          <a:ln w="9525">
            <a:solidFill>
              <a:srgbClr val="D9E1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9600" y="4315968"/>
            <a:ext cx="10972800" cy="0"/>
          </a:xfrm>
          <a:prstGeom prst="line">
            <a:avLst/>
          </a:prstGeom>
          <a:noFill/>
          <a:ln w="9525">
            <a:solidFill>
              <a:srgbClr val="D9E1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9600" y="4735068"/>
            <a:ext cx="10972800" cy="0"/>
          </a:xfrm>
          <a:prstGeom prst="line">
            <a:avLst/>
          </a:prstGeom>
          <a:noFill/>
          <a:ln w="9525">
            <a:solidFill>
              <a:srgbClr val="D9E1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9600" y="5154168"/>
            <a:ext cx="10972800" cy="0"/>
          </a:xfrm>
          <a:prstGeom prst="line">
            <a:avLst/>
          </a:prstGeom>
          <a:noFill/>
          <a:ln w="9525">
            <a:solidFill>
              <a:srgbClr val="D9E1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9600" y="5573268"/>
            <a:ext cx="10972800" cy="0"/>
          </a:xfrm>
          <a:prstGeom prst="line">
            <a:avLst/>
          </a:prstGeom>
          <a:noFill/>
          <a:ln w="9525">
            <a:solidFill>
              <a:srgbClr val="D9E1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9600" y="2365248"/>
            <a:ext cx="6096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333500" y="2365248"/>
            <a:ext cx="114681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F1 产品化：重估引擎 MVP，1 家试点行闭环演示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926704" y="2365248"/>
            <a:ext cx="5874896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重估 Token 标准件（单押品＋三分归因）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09600" y="2784348"/>
            <a:ext cx="6096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333500" y="2784348"/>
            <a:ext cx="114681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K1 产品化：批量压测＋租赁数据补层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926704" y="2784348"/>
            <a:ext cx="5874896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定价 Token（DSCR 双情景模板）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09600" y="3203448"/>
            <a:ext cx="6096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333500" y="3203448"/>
            <a:ext cx="114681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B1 试点：白名单监测 1-2 城（北京/南京）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926704" y="3203448"/>
            <a:ext cx="5874896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核验 Token 模板（四段式差异报告）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09600" y="3622548"/>
            <a:ext cx="6096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333500" y="3622548"/>
            <a:ext cx="114681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 上线：政策日历＋三锚指标卡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926704" y="3622548"/>
            <a:ext cx="5874896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 Token 首批（每锚一枚）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09600" y="4041648"/>
            <a:ext cx="6096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333500" y="4041648"/>
            <a:ext cx="114681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C1 MVP：红线测算器上线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926704" y="4041648"/>
            <a:ext cx="5874896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可贷能力 Token 模板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09600" y="4460748"/>
            <a:ext cx="6096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333500" y="4460748"/>
            <a:ext cx="114681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C2 MVP：置换沙盘（绑定带押过户城市）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926704" y="4460748"/>
            <a:ext cx="5874896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置换决策 Token 模板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09600" y="4879848"/>
            <a:ext cx="6096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333500" y="4879848"/>
            <a:ext cx="114681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D1 试点：项目画像卡＋整合者访谈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926704" y="4879848"/>
            <a:ext cx="5874896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画像 Token 模板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09600" y="5298948"/>
            <a:ext cx="6096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333500" y="5298948"/>
            <a:ext cx="114681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口径与纪律交付物成文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926704" y="5298948"/>
            <a:ext cx="5874896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铸造规范 v0.1（三性＋五问＋三不禁区）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09600" y="6400800"/>
            <a:ext cx="11582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项＝8 枚 Token 铸模——先铸标准件验证三性，再批量铸造与流转；12 个月清单见完整版 v2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9E1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2026-08-29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Internal · 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887730"/>
            <a:ext cx="11582400" cy="525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不做什么与风险：三不＝三卖</a:t>
            </a:r>
            <a:endParaRPr lang="en-US" sz="3450" dirty="0"/>
          </a:p>
        </p:txBody>
      </p:sp>
      <p:sp>
        <p:nvSpPr>
          <p:cNvPr id="4" name="Shape 2"/>
          <p:cNvSpPr/>
          <p:nvPr/>
        </p:nvSpPr>
        <p:spPr>
          <a:xfrm>
            <a:off x="609600" y="1543050"/>
            <a:ext cx="457200" cy="0"/>
          </a:xfrm>
          <a:prstGeom prst="line">
            <a:avLst/>
          </a:prstGeom>
          <a:noFill/>
          <a:ln w="38100">
            <a:solidFill>
              <a:srgbClr val="C98A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6800" y="1543050"/>
            <a:ext cx="10515600" cy="0"/>
          </a:xfrm>
          <a:prstGeom prst="line">
            <a:avLst/>
          </a:prstGeom>
          <a:noFill/>
          <a:ln w="15240">
            <a:solidFill>
              <a:srgbClr val="D9E1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3900" y="1844040"/>
            <a:ext cx="120777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三不（对外话术）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113020" y="1844040"/>
            <a:ext cx="768858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三卖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09600" y="2133600"/>
            <a:ext cx="10972800" cy="0"/>
          </a:xfrm>
          <a:prstGeom prst="line">
            <a:avLst/>
          </a:prstGeom>
          <a:noFill/>
          <a:ln w="19050">
            <a:solidFill>
              <a:srgbClr val="182A4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9600" y="2552700"/>
            <a:ext cx="10972800" cy="0"/>
          </a:xfrm>
          <a:prstGeom prst="line">
            <a:avLst/>
          </a:prstGeom>
          <a:noFill/>
          <a:ln w="9525">
            <a:solidFill>
              <a:srgbClr val="D9E1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9600" y="2971800"/>
            <a:ext cx="10972800" cy="0"/>
          </a:xfrm>
          <a:prstGeom prst="line">
            <a:avLst/>
          </a:prstGeom>
          <a:noFill/>
          <a:ln w="9525">
            <a:solidFill>
              <a:srgbClr val="D9E1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9600" y="3390900"/>
            <a:ext cx="10972800" cy="0"/>
          </a:xfrm>
          <a:prstGeom prst="line">
            <a:avLst/>
          </a:prstGeom>
          <a:noFill/>
          <a:ln w="9525">
            <a:solidFill>
              <a:srgbClr val="D9E1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3900" y="2278380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不卖签章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13020" y="2278380"/>
            <a:ext cx="768858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卖能进审批工作流的底稿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23900" y="2697480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不卖预测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13020" y="2697480"/>
            <a:ext cx="768858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卖可复现的条件化推演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23900" y="3116580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不卖决策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13020" y="3116580"/>
            <a:ext cx="768858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卖客户自己的决策有据可查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23900" y="3672840"/>
            <a:ext cx="120777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Top3 机会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2160630" y="3672840"/>
            <a:ext cx="1064097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命门（失灵变量）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419232" y="3672840"/>
            <a:ext cx="6382368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对冲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09600" y="3962400"/>
            <a:ext cx="10972800" cy="0"/>
          </a:xfrm>
          <a:prstGeom prst="line">
            <a:avLst/>
          </a:prstGeom>
          <a:noFill/>
          <a:ln w="19050">
            <a:solidFill>
              <a:srgbClr val="182A4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9600" y="4381500"/>
            <a:ext cx="10972800" cy="0"/>
          </a:xfrm>
          <a:prstGeom prst="line">
            <a:avLst/>
          </a:prstGeom>
          <a:noFill/>
          <a:ln w="9525">
            <a:solidFill>
              <a:srgbClr val="D9E1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9600" y="4800600"/>
            <a:ext cx="10972800" cy="0"/>
          </a:xfrm>
          <a:prstGeom prst="line">
            <a:avLst/>
          </a:prstGeom>
          <a:noFill/>
          <a:ln w="9525">
            <a:solidFill>
              <a:srgbClr val="D9E1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9600" y="5219700"/>
            <a:ext cx="10972800" cy="0"/>
          </a:xfrm>
          <a:prstGeom prst="line">
            <a:avLst/>
          </a:prstGeom>
          <a:noFill/>
          <a:ln w="9525">
            <a:solidFill>
              <a:srgbClr val="D9E1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3900" y="4107180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F1 重估订阅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160630" y="4107180"/>
            <a:ext cx="1064097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个贷 23 条从严解释→供应商被挡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19232" y="4107180"/>
            <a:ext cx="638236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主攻中小行/城商行；合同写明「证据非决策」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23900" y="4526280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K1 收储定价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160630" y="4526280"/>
            <a:ext cx="1064097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贴息节奏不落地（止跌概率 55-60%）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19232" y="4526280"/>
            <a:ext cx="638236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 B3 监测并联；按项目制收费降试错成本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23900" y="4945380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B1 核验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160630" y="4945380"/>
            <a:ext cx="1064097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细则把核验权收归官方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419232" y="4945380"/>
            <a:ext cx="638236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免费换标准卡位口径；四段式即官方检查格式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09600" y="6400800"/>
            <a:ext cx="11582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不铸三种坏 Token：铸不了的 · 越权的 · 预测型的；在谁签章谁担责的体系里，拒绝构筑护城河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9E1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2026-08-29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Internal · 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887730"/>
            <a:ext cx="11582400" cy="525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口径与行动：数字带口径，60 天两灯塔</a:t>
            </a:r>
            <a:endParaRPr lang="en-US" sz="3450" dirty="0"/>
          </a:p>
        </p:txBody>
      </p:sp>
      <p:sp>
        <p:nvSpPr>
          <p:cNvPr id="4" name="Shape 2"/>
          <p:cNvSpPr/>
          <p:nvPr/>
        </p:nvSpPr>
        <p:spPr>
          <a:xfrm>
            <a:off x="609600" y="1543050"/>
            <a:ext cx="457200" cy="0"/>
          </a:xfrm>
          <a:prstGeom prst="line">
            <a:avLst/>
          </a:prstGeom>
          <a:noFill/>
          <a:ln w="38100">
            <a:solidFill>
              <a:srgbClr val="C98A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6800" y="1543050"/>
            <a:ext cx="10515600" cy="0"/>
          </a:xfrm>
          <a:prstGeom prst="line">
            <a:avLst/>
          </a:prstGeom>
          <a:noFill/>
          <a:ln w="15240">
            <a:solidFill>
              <a:srgbClr val="D9E1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9600" y="1714500"/>
            <a:ext cx="5334000" cy="1133475"/>
          </a:xfrm>
          <a:prstGeom prst="roundRect">
            <a:avLst>
              <a:gd name="adj" fmla="val 5042"/>
            </a:avLst>
          </a:prstGeom>
          <a:solidFill>
            <a:srgbClr val="C98A2E"/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743075"/>
            <a:ext cx="5334000" cy="110490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9525">
            <a:solidFill>
              <a:srgbClr val="C7D4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0575" y="221615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71438" y="95250"/>
                </a:moveTo>
                <a:cubicBezTo>
                  <a:pt x="73025" y="87313"/>
                  <a:pt x="76994" y="81756"/>
                  <a:pt x="83344" y="75406"/>
                </a:cubicBezTo>
                <a:cubicBezTo>
                  <a:pt x="91281" y="68263"/>
                  <a:pt x="95250" y="57944"/>
                  <a:pt x="95250" y="47625"/>
                </a:cubicBezTo>
                <a:arcTo hR="47625" wR="47625" stAng="0" swAng="-10800000"/>
                <a:cubicBezTo>
                  <a:pt x="0" y="55563"/>
                  <a:pt x="1588" y="65088"/>
                  <a:pt x="11906" y="75406"/>
                </a:cubicBezTo>
                <a:cubicBezTo>
                  <a:pt x="17462" y="80963"/>
                  <a:pt x="22225" y="87313"/>
                  <a:pt x="23813" y="95250"/>
                </a:cubicBezTo>
              </a:path>
            </a:pathLst>
          </a:custGeom>
          <a:noFill/>
          <a:ln w="15875">
            <a:solidFill>
              <a:srgbClr val="C98A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4388" y="2343150"/>
            <a:ext cx="47625" cy="5953"/>
          </a:xfrm>
          <a:custGeom>
            <a:avLst/>
            <a:gdLst/>
            <a:ahLst/>
            <a:cxnLst/>
            <a:rect l="l" t="t" r="r" b="b"/>
            <a:pathLst>
              <a:path w="47625" h="5953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/>
          <a:ln w="15875">
            <a:solidFill>
              <a:srgbClr val="C98A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325" y="2374900"/>
            <a:ext cx="31750" cy="5953"/>
          </a:xfrm>
          <a:custGeom>
            <a:avLst/>
            <a:gdLst/>
            <a:ahLst/>
            <a:cxnLst/>
            <a:rect l="l" t="t" r="r" b="b"/>
            <a:pathLst>
              <a:path w="31750" h="5953">
                <a:moveTo>
                  <a:pt x="0" y="0"/>
                </a:moveTo>
                <a:lnTo>
                  <a:pt x="31750" y="0"/>
                </a:lnTo>
              </a:path>
            </a:pathLst>
          </a:custGeom>
          <a:noFill/>
          <a:ln w="15875">
            <a:solidFill>
              <a:srgbClr val="C98A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8700" y="1933575"/>
            <a:ext cx="11772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行动主轴：60 天内两台发动机各转出第一枚可演示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28700" y="2200275"/>
            <a:ext cx="11772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Token。本周：锁定 1 家试点银行＋1 个收储项目；规范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28700" y="2466975"/>
            <a:ext cx="11772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v0.1 发团队；B1 首城北京/南京。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23900" y="3129915"/>
            <a:ext cx="120777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691744" y="3129915"/>
            <a:ext cx="10109856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口径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600" y="3419475"/>
            <a:ext cx="5334000" cy="0"/>
          </a:xfrm>
          <a:prstGeom prst="line">
            <a:avLst/>
          </a:prstGeom>
          <a:noFill/>
          <a:ln w="19050">
            <a:solidFill>
              <a:srgbClr val="182A4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9600" y="3838575"/>
            <a:ext cx="5334000" cy="0"/>
          </a:xfrm>
          <a:prstGeom prst="line">
            <a:avLst/>
          </a:prstGeom>
          <a:noFill/>
          <a:ln w="9525">
            <a:solidFill>
              <a:srgbClr val="D9E1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9600" y="4257675"/>
            <a:ext cx="5334000" cy="0"/>
          </a:xfrm>
          <a:prstGeom prst="line">
            <a:avLst/>
          </a:prstGeom>
          <a:noFill/>
          <a:ln w="9525">
            <a:solidFill>
              <a:srgbClr val="D9E1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9600" y="4676775"/>
            <a:ext cx="5334000" cy="0"/>
          </a:xfrm>
          <a:prstGeom prst="line">
            <a:avLst/>
          </a:prstGeom>
          <a:noFill/>
          <a:ln w="9525">
            <a:solidFill>
              <a:srgbClr val="D9E1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9600" y="5095875"/>
            <a:ext cx="5334000" cy="0"/>
          </a:xfrm>
          <a:prstGeom prst="line">
            <a:avLst/>
          </a:prstGeom>
          <a:noFill/>
          <a:ln w="9525">
            <a:solidFill>
              <a:srgbClr val="D9E1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9600" y="5514975"/>
            <a:ext cx="5334000" cy="0"/>
          </a:xfrm>
          <a:prstGeom prst="line">
            <a:avLst/>
          </a:prstGeom>
          <a:noFill/>
          <a:ln w="9525">
            <a:solidFill>
              <a:srgbClr val="D9E1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3900" y="3564255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36.29 万亿元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691744" y="3564255"/>
            <a:ext cx="10109856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存量按揭余额，2026-06，Wind EDB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23900" y="3983355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2800 万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691744" y="3983355"/>
            <a:ext cx="10109856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贷授信额（授信≠收入）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23900" y="4402455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1000 万起/3000 万锚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691744" y="4402455"/>
            <a:ext cx="10109856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银行年费目标假设，非承诺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23900" y="4821555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白名单 300 人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691744" y="4821555"/>
            <a:ext cx="10109856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领导直问口径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23900" y="5240655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左海单套低约 10%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691744" y="5240655"/>
            <a:ext cx="10109856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已签约案例口径，续约复购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362700" y="1844040"/>
            <a:ext cx="120777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347911" y="1844040"/>
            <a:ext cx="10092489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口径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6248400" y="2133600"/>
            <a:ext cx="5334000" cy="0"/>
          </a:xfrm>
          <a:prstGeom prst="line">
            <a:avLst/>
          </a:prstGeom>
          <a:noFill/>
          <a:ln w="19050">
            <a:solidFill>
              <a:srgbClr val="182A4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48400" y="2552700"/>
            <a:ext cx="5334000" cy="0"/>
          </a:xfrm>
          <a:prstGeom prst="line">
            <a:avLst/>
          </a:prstGeom>
          <a:noFill/>
          <a:ln w="9525">
            <a:solidFill>
              <a:srgbClr val="D9E1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48400" y="2971800"/>
            <a:ext cx="5334000" cy="0"/>
          </a:xfrm>
          <a:prstGeom prst="line">
            <a:avLst/>
          </a:prstGeom>
          <a:noFill/>
          <a:ln w="9525">
            <a:solidFill>
              <a:srgbClr val="D9E1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48400" y="3390900"/>
            <a:ext cx="5334000" cy="0"/>
          </a:xfrm>
          <a:prstGeom prst="line">
            <a:avLst/>
          </a:prstGeom>
          <a:noFill/>
          <a:ln w="9525">
            <a:solidFill>
              <a:srgbClr val="D9E1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48400" y="3810000"/>
            <a:ext cx="5334000" cy="0"/>
          </a:xfrm>
          <a:prstGeom prst="line">
            <a:avLst/>
          </a:prstGeom>
          <a:noFill/>
          <a:ln w="9525">
            <a:solidFill>
              <a:srgbClr val="D9E1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48400" y="4229100"/>
            <a:ext cx="5334000" cy="0"/>
          </a:xfrm>
          <a:prstGeom prst="line">
            <a:avLst/>
          </a:prstGeom>
          <a:noFill/>
          <a:ln w="9525">
            <a:solidFill>
              <a:srgbClr val="D9E1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248400" y="4648200"/>
            <a:ext cx="5334000" cy="0"/>
          </a:xfrm>
          <a:prstGeom prst="line">
            <a:avLst/>
          </a:prstGeom>
          <a:noFill/>
          <a:ln w="9525">
            <a:solidFill>
              <a:srgbClr val="D9E1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248400" y="5067300"/>
            <a:ext cx="5334000" cy="0"/>
          </a:xfrm>
          <a:prstGeom prst="line">
            <a:avLst/>
          </a:prstGeom>
          <a:noFill/>
          <a:ln w="9525">
            <a:solidFill>
              <a:srgbClr val="D9E1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62700" y="2278380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4.5 万/单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347911" y="2278380"/>
            <a:ext cx="10092489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带押过户节省——测算口径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362700" y="2697480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8.7 万亿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8347911" y="2697480"/>
            <a:ext cx="10092489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土地出让金峰值（财政部），现近腰斩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362700" y="3116580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3 万亿/100-200 万套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8347911" y="3116580"/>
            <a:ext cx="10092489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收储贴息规模——测算口径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362700" y="3535680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+17.5%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8347911" y="3535680"/>
            <a:ext cx="10092489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期限延长提升本金上限——测算口径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362700" y="3954780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55-60%→70%+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8347911" y="3954780"/>
            <a:ext cx="10092489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按揭止跌概率——研判推断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362700" y="4373880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四档 1/14/9/2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8347911" y="4373880"/>
            <a:ext cx="10092489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化成熟度（26 卡逐卡评估）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362700" y="4792980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analytics-v1.1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8347911" y="4792980"/>
            <a:ext cx="10092489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政研通目录实测；数值以 Wind EDB 为准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609600" y="6400800"/>
            <a:ext cx="11582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98wiki ｜ 智见 / 机会扫描 · 底稿 v3（简明版）· 2026-08-29 ｜ 护城河：不可复制的不是能力，是纪律</a:t>
            </a:r>
            <a:endParaRPr lang="en-US" sz="1500" dirty="0"/>
          </a:p>
        </p:txBody>
      </p:sp>
      <p:sp>
        <p:nvSpPr>
          <p:cNvPr id="57" name="Shape 55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9E1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2026-08-29</a:t>
            </a:r>
            <a:endParaRPr lang="en-US" sz="1500" dirty="0"/>
          </a:p>
        </p:txBody>
      </p:sp>
      <p:sp>
        <p:nvSpPr>
          <p:cNvPr id="59" name="Text 57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Internal · 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295275"/>
          </a:xfrm>
          <a:prstGeom prst="rect">
            <a:avLst/>
          </a:prstGeom>
          <a:solidFill>
            <a:srgbClr val="F5F8F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85750"/>
            <a:ext cx="12192000" cy="295275"/>
          </a:xfrm>
          <a:prstGeom prst="rect">
            <a:avLst/>
          </a:prstGeom>
          <a:solidFill>
            <a:srgbClr val="F4F8FD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71500"/>
            <a:ext cx="12192000" cy="295275"/>
          </a:xfrm>
          <a:prstGeom prst="rect">
            <a:avLst/>
          </a:prstGeom>
          <a:solidFill>
            <a:srgbClr val="F4F7FD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857250"/>
            <a:ext cx="12192000" cy="295275"/>
          </a:xfrm>
          <a:prstGeom prst="rect">
            <a:avLst/>
          </a:prstGeom>
          <a:solidFill>
            <a:srgbClr val="F3F7FD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143000"/>
            <a:ext cx="12192000" cy="295275"/>
          </a:xfrm>
          <a:prstGeom prst="rect">
            <a:avLst/>
          </a:prstGeom>
          <a:solidFill>
            <a:srgbClr val="F3F6FC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1428750"/>
            <a:ext cx="12192000" cy="295275"/>
          </a:xfrm>
          <a:prstGeom prst="rect">
            <a:avLst/>
          </a:prstGeom>
          <a:solidFill>
            <a:srgbClr val="F2F6FC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1714500"/>
            <a:ext cx="12192000" cy="295275"/>
          </a:xfrm>
          <a:prstGeom prst="rect">
            <a:avLst/>
          </a:prstGeom>
          <a:solidFill>
            <a:srgbClr val="F1F5FC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2000250"/>
            <a:ext cx="12192000" cy="295275"/>
          </a:xfrm>
          <a:prstGeom prst="rect">
            <a:avLst/>
          </a:prstGeom>
          <a:solidFill>
            <a:srgbClr val="F1F5FC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2286000"/>
            <a:ext cx="12192000" cy="295275"/>
          </a:xfrm>
          <a:prstGeom prst="rect">
            <a:avLst/>
          </a:prstGeom>
          <a:solidFill>
            <a:srgbClr val="F0F5FC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2571750"/>
            <a:ext cx="12192000" cy="295275"/>
          </a:xfrm>
          <a:prstGeom prst="rect">
            <a:avLst/>
          </a:prstGeom>
          <a:solidFill>
            <a:srgbClr val="F0F4FC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2857500"/>
            <a:ext cx="12192000" cy="295275"/>
          </a:xfrm>
          <a:prstGeom prst="rect">
            <a:avLst/>
          </a:prstGeom>
          <a:solidFill>
            <a:srgbClr val="EFF4FC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3143250"/>
            <a:ext cx="12192000" cy="295275"/>
          </a:xfrm>
          <a:prstGeom prst="rect">
            <a:avLst/>
          </a:prstGeom>
          <a:solidFill>
            <a:srgbClr val="EEF3FC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3429000"/>
            <a:ext cx="12192000" cy="295275"/>
          </a:xfrm>
          <a:prstGeom prst="rect">
            <a:avLst/>
          </a:prstGeom>
          <a:solidFill>
            <a:srgbClr val="EEF3FB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3714750"/>
            <a:ext cx="12192000" cy="295275"/>
          </a:xfrm>
          <a:prstGeom prst="rect">
            <a:avLst/>
          </a:prstGeom>
          <a:solidFill>
            <a:srgbClr val="EDF2FB"/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4000500"/>
            <a:ext cx="12192000" cy="295275"/>
          </a:xfrm>
          <a:prstGeom prst="rect">
            <a:avLst/>
          </a:prstGeom>
          <a:solidFill>
            <a:srgbClr val="ECF2FB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4286250"/>
            <a:ext cx="12192000" cy="295275"/>
          </a:xfrm>
          <a:prstGeom prst="rect">
            <a:avLst/>
          </a:prstGeom>
          <a:solidFill>
            <a:srgbClr val="ECF1FB"/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4572000"/>
            <a:ext cx="12192000" cy="295275"/>
          </a:xfrm>
          <a:prstGeom prst="rect">
            <a:avLst/>
          </a:prstGeom>
          <a:solidFill>
            <a:srgbClr val="EBF1FB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4857750"/>
            <a:ext cx="12192000" cy="295275"/>
          </a:xfrm>
          <a:prstGeom prst="rect">
            <a:avLst/>
          </a:prstGeom>
          <a:solidFill>
            <a:srgbClr val="EBF1FB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5143500"/>
            <a:ext cx="12192000" cy="295275"/>
          </a:xfrm>
          <a:prstGeom prst="rect">
            <a:avLst/>
          </a:prstGeom>
          <a:solidFill>
            <a:srgbClr val="EAF0FB"/>
          </a:solidFill>
          <a:ln/>
        </p:spPr>
      </p:sp>
      <p:sp>
        <p:nvSpPr>
          <p:cNvPr id="21" name="Shape 19"/>
          <p:cNvSpPr/>
          <p:nvPr/>
        </p:nvSpPr>
        <p:spPr>
          <a:xfrm>
            <a:off x="0" y="5429250"/>
            <a:ext cx="12192000" cy="295275"/>
          </a:xfrm>
          <a:prstGeom prst="rect">
            <a:avLst/>
          </a:prstGeom>
          <a:solidFill>
            <a:srgbClr val="E9F0FB"/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5715000"/>
            <a:ext cx="12192000" cy="295275"/>
          </a:xfrm>
          <a:prstGeom prst="rect">
            <a:avLst/>
          </a:prstGeom>
          <a:solidFill>
            <a:srgbClr val="E9EFFA"/>
          </a:solidFill>
          <a:ln/>
        </p:spPr>
      </p:sp>
      <p:sp>
        <p:nvSpPr>
          <p:cNvPr id="23" name="Shape 21"/>
          <p:cNvSpPr/>
          <p:nvPr/>
        </p:nvSpPr>
        <p:spPr>
          <a:xfrm>
            <a:off x="0" y="6000750"/>
            <a:ext cx="12192000" cy="295275"/>
          </a:xfrm>
          <a:prstGeom prst="rect">
            <a:avLst/>
          </a:prstGeom>
          <a:solidFill>
            <a:srgbClr val="E8EFFA"/>
          </a:solidFill>
          <a:ln/>
        </p:spPr>
      </p:sp>
      <p:sp>
        <p:nvSpPr>
          <p:cNvPr id="24" name="Shape 22"/>
          <p:cNvSpPr/>
          <p:nvPr/>
        </p:nvSpPr>
        <p:spPr>
          <a:xfrm>
            <a:off x="0" y="6286500"/>
            <a:ext cx="12192000" cy="295275"/>
          </a:xfrm>
          <a:prstGeom prst="rect">
            <a:avLst/>
          </a:prstGeom>
          <a:solidFill>
            <a:srgbClr val="E8EEFA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6572250"/>
            <a:ext cx="12192000" cy="295275"/>
          </a:xfrm>
          <a:prstGeom prst="rect">
            <a:avLst/>
          </a:prstGeom>
          <a:solidFill>
            <a:srgbClr val="E7EEFA"/>
          </a:solidFill>
          <a:ln/>
        </p:spPr>
      </p:sp>
      <p:sp>
        <p:nvSpPr>
          <p:cNvPr id="26" name="Shape 24"/>
          <p:cNvSpPr/>
          <p:nvPr/>
        </p:nvSpPr>
        <p:spPr>
          <a:xfrm>
            <a:off x="914400" y="1066800"/>
            <a:ext cx="228600" cy="228600"/>
          </a:xfrm>
          <a:prstGeom prst="ellipse">
            <a:avLst/>
          </a:prstGeom>
          <a:solidFill>
            <a:srgbClr val="C98A2E"/>
          </a:solidFill>
          <a:ln/>
        </p:spPr>
      </p:sp>
      <p:sp>
        <p:nvSpPr>
          <p:cNvPr id="27" name="Text 25"/>
          <p:cNvSpPr/>
          <p:nvPr/>
        </p:nvSpPr>
        <p:spPr>
          <a:xfrm>
            <a:off x="1371600" y="1051560"/>
            <a:ext cx="117348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2D5B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 · 行业研究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914400" y="1575435"/>
            <a:ext cx="11277600" cy="1508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900" i="1" dirty="0">
                <a:solidFill>
                  <a:srgbClr val="2D5B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2026Q4，</a:t>
            </a:r>
            <a:endParaRPr lang="en-US" sz="9900" dirty="0"/>
          </a:p>
        </p:txBody>
      </p:sp>
      <p:sp>
        <p:nvSpPr>
          <p:cNvPr id="29" name="Text 27"/>
          <p:cNvSpPr/>
          <p:nvPr/>
        </p:nvSpPr>
        <p:spPr>
          <a:xfrm>
            <a:off x="914400" y="2937510"/>
            <a:ext cx="11277600" cy="1508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900" i="1" dirty="0">
                <a:solidFill>
                  <a:srgbClr val="2D5B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先签先赢</a:t>
            </a:r>
            <a:endParaRPr lang="en-US" sz="9900" dirty="0"/>
          </a:p>
        </p:txBody>
      </p:sp>
      <p:sp>
        <p:nvSpPr>
          <p:cNvPr id="30" name="Text 28"/>
          <p:cNvSpPr/>
          <p:nvPr/>
        </p:nvSpPr>
        <p:spPr>
          <a:xfrm>
            <a:off x="914400" y="4415790"/>
            <a:ext cx="11277600" cy="43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85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98wiki ｜ 智见 / 机会扫描 · 底稿 v3（简明版）· 2026-08-29</a:t>
            </a:r>
            <a:endParaRPr lang="en-US" sz="2850" dirty="0"/>
          </a:p>
        </p:txBody>
      </p:sp>
      <p:sp>
        <p:nvSpPr>
          <p:cNvPr id="31" name="Shape 29"/>
          <p:cNvSpPr/>
          <p:nvPr/>
        </p:nvSpPr>
        <p:spPr>
          <a:xfrm>
            <a:off x="914400" y="5162550"/>
            <a:ext cx="10363200" cy="0"/>
          </a:xfrm>
          <a:prstGeom prst="line">
            <a:avLst/>
          </a:prstGeom>
          <a:noFill/>
          <a:ln w="13335">
            <a:solidFill>
              <a:srgbClr val="2D5B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550545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Contact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14400" y="5806440"/>
            <a:ext cx="1127760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2D5B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智见点评团队</a:t>
            </a:r>
            <a:endParaRPr lang="en-US" sz="21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1980-01-01T00:00:00Z</dcterms:created>
  <dcterms:modified xsi:type="dcterms:W3CDTF">1980-01-01T00:00:00Z</dcterms:modified>
</cp:coreProperties>
</file>